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51"/>
  </p:notesMasterIdLst>
  <p:sldIdLst>
    <p:sldId id="256" r:id="rId2"/>
    <p:sldId id="602" r:id="rId3"/>
    <p:sldId id="603" r:id="rId4"/>
    <p:sldId id="604" r:id="rId5"/>
    <p:sldId id="605" r:id="rId6"/>
    <p:sldId id="606" r:id="rId7"/>
    <p:sldId id="607" r:id="rId8"/>
    <p:sldId id="608" r:id="rId9"/>
    <p:sldId id="609" r:id="rId10"/>
    <p:sldId id="610" r:id="rId11"/>
    <p:sldId id="611" r:id="rId12"/>
    <p:sldId id="612" r:id="rId13"/>
    <p:sldId id="613" r:id="rId14"/>
    <p:sldId id="615" r:id="rId15"/>
    <p:sldId id="614" r:id="rId16"/>
    <p:sldId id="616" r:id="rId17"/>
    <p:sldId id="617" r:id="rId18"/>
    <p:sldId id="618" r:id="rId19"/>
    <p:sldId id="619" r:id="rId20"/>
    <p:sldId id="622" r:id="rId21"/>
    <p:sldId id="620" r:id="rId22"/>
    <p:sldId id="621" r:id="rId23"/>
    <p:sldId id="623" r:id="rId24"/>
    <p:sldId id="626" r:id="rId25"/>
    <p:sldId id="630" r:id="rId26"/>
    <p:sldId id="631" r:id="rId27"/>
    <p:sldId id="627" r:id="rId28"/>
    <p:sldId id="632" r:id="rId29"/>
    <p:sldId id="633" r:id="rId30"/>
    <p:sldId id="634" r:id="rId31"/>
    <p:sldId id="635" r:id="rId32"/>
    <p:sldId id="624" r:id="rId33"/>
    <p:sldId id="625" r:id="rId34"/>
    <p:sldId id="628" r:id="rId35"/>
    <p:sldId id="629" r:id="rId36"/>
    <p:sldId id="636" r:id="rId37"/>
    <p:sldId id="638" r:id="rId38"/>
    <p:sldId id="637" r:id="rId39"/>
    <p:sldId id="640" r:id="rId40"/>
    <p:sldId id="639" r:id="rId41"/>
    <p:sldId id="641" r:id="rId42"/>
    <p:sldId id="642" r:id="rId43"/>
    <p:sldId id="643" r:id="rId44"/>
    <p:sldId id="644" r:id="rId45"/>
    <p:sldId id="648" r:id="rId46"/>
    <p:sldId id="645" r:id="rId47"/>
    <p:sldId id="646" r:id="rId48"/>
    <p:sldId id="647" r:id="rId49"/>
    <p:sldId id="601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FF"/>
    <a:srgbClr val="7456E4"/>
    <a:srgbClr val="150559"/>
    <a:srgbClr val="10104E"/>
    <a:srgbClr val="130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82" autoAdjust="0"/>
    <p:restoredTop sz="94624" autoAdjust="0"/>
  </p:normalViewPr>
  <p:slideViewPr>
    <p:cSldViewPr>
      <p:cViewPr varScale="1">
        <p:scale>
          <a:sx n="79" d="100"/>
          <a:sy n="79" d="100"/>
        </p:scale>
        <p:origin x="113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4508-ED81-4412-A3ED-1594673E3525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D4A7F-B07C-4D14-8875-AB8960C9A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 dirty="0"/>
              <a:t>Computer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80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routing algorithm </a:t>
            </a:r>
            <a:r>
              <a:rPr lang="en-US" b="1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 </a:t>
            </a:r>
            <a:r>
              <a:rPr lang="en-US" dirty="0"/>
              <a:t>to determine </a:t>
            </a:r>
            <a:r>
              <a:rPr lang="en-US" dirty="0" smtClean="0"/>
              <a:t>good paths </a:t>
            </a:r>
            <a:r>
              <a:rPr lang="en-US" dirty="0"/>
              <a:t>(equivalently, routes), from senders to receivers, through the network </a:t>
            </a:r>
            <a:r>
              <a:rPr lang="en-US" dirty="0" smtClean="0"/>
              <a:t>of routers</a:t>
            </a:r>
          </a:p>
          <a:p>
            <a:r>
              <a:rPr lang="en-US" dirty="0" smtClean="0"/>
              <a:t>A </a:t>
            </a:r>
            <a:r>
              <a:rPr lang="en-US" dirty="0"/>
              <a:t>“</a:t>
            </a:r>
            <a:r>
              <a:rPr lang="en-US" b="1" dirty="0"/>
              <a:t>good</a:t>
            </a:r>
            <a:r>
              <a:rPr lang="en-US" dirty="0"/>
              <a:t>” </a:t>
            </a:r>
            <a:r>
              <a:rPr lang="en-US" dirty="0" smtClean="0"/>
              <a:t>path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one </a:t>
            </a:r>
            <a:r>
              <a:rPr lang="en-US" dirty="0"/>
              <a:t>that has the least </a:t>
            </a:r>
            <a:r>
              <a:rPr lang="en-US" dirty="0" smtClean="0"/>
              <a:t>cost</a:t>
            </a:r>
          </a:p>
          <a:p>
            <a:r>
              <a:rPr lang="en-US" dirty="0" smtClean="0"/>
              <a:t>The routing </a:t>
            </a:r>
            <a:r>
              <a:rPr lang="en-US" dirty="0"/>
              <a:t>algorithms that compute these paths are of fundamental </a:t>
            </a:r>
            <a:r>
              <a:rPr lang="en-US" dirty="0" smtClean="0"/>
              <a:t>importance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26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is used to formulate routing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A </a:t>
            </a:r>
            <a:r>
              <a:rPr lang="en-US" b="1" dirty="0"/>
              <a:t>graph </a:t>
            </a:r>
            <a:r>
              <a:rPr lang="en-US" i="1" dirty="0"/>
              <a:t>G </a:t>
            </a:r>
            <a:r>
              <a:rPr lang="en-US" dirty="0"/>
              <a:t>= 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 smtClean="0"/>
              <a:t>)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 </a:t>
            </a:r>
            <a:r>
              <a:rPr lang="en-US" dirty="0"/>
              <a:t>a set </a:t>
            </a:r>
            <a:r>
              <a:rPr lang="en-US" i="1" dirty="0"/>
              <a:t>N </a:t>
            </a:r>
            <a:r>
              <a:rPr lang="en-US" dirty="0"/>
              <a:t>of nodes and a collection </a:t>
            </a:r>
            <a:r>
              <a:rPr lang="en-US" i="1" dirty="0" smtClean="0"/>
              <a:t>E </a:t>
            </a:r>
            <a:r>
              <a:rPr lang="en-US" dirty="0" smtClean="0"/>
              <a:t>of edges</a:t>
            </a:r>
          </a:p>
          <a:p>
            <a:r>
              <a:rPr lang="en-US" dirty="0" smtClean="0"/>
              <a:t>Each </a:t>
            </a:r>
            <a:r>
              <a:rPr lang="en-US" dirty="0"/>
              <a:t>edge is a pair of </a:t>
            </a:r>
            <a:r>
              <a:rPr lang="en-US" dirty="0" smtClean="0"/>
              <a:t>nodes from </a:t>
            </a:r>
            <a:r>
              <a:rPr lang="en-US" i="1" dirty="0" smtClean="0"/>
              <a:t>N</a:t>
            </a:r>
          </a:p>
          <a:p>
            <a:r>
              <a:rPr lang="en-US" dirty="0" smtClean="0"/>
              <a:t>In </a:t>
            </a:r>
            <a:r>
              <a:rPr lang="en-US" dirty="0"/>
              <a:t>the context of network-layer routing, the nodes in the graph </a:t>
            </a:r>
            <a:r>
              <a:rPr lang="en-US" dirty="0" smtClean="0"/>
              <a:t>represent Routers</a:t>
            </a:r>
          </a:p>
          <a:p>
            <a:r>
              <a:rPr lang="en-US" dirty="0"/>
              <a:t>Routers</a:t>
            </a:r>
            <a:r>
              <a:rPr lang="en-US" dirty="0" smtClean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the points at which packet-forwarding decisions are made</a:t>
            </a:r>
          </a:p>
          <a:p>
            <a:r>
              <a:rPr lang="en-US" dirty="0"/>
              <a:t>Edges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connect these nodes and represent the physical links between these routers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graph model of a </a:t>
            </a:r>
            <a:r>
              <a:rPr lang="en-US" dirty="0" smtClean="0"/>
              <a:t>network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524000"/>
            <a:ext cx="662439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</a:t>
            </a:r>
            <a:r>
              <a:rPr lang="en-US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 edge </a:t>
            </a:r>
            <a:r>
              <a:rPr lang="en-US" dirty="0"/>
              <a:t>also has a value representing its </a:t>
            </a:r>
            <a:r>
              <a:rPr lang="en-US" dirty="0" smtClean="0">
                <a:solidFill>
                  <a:srgbClr val="0000FF"/>
                </a:solidFill>
              </a:rPr>
              <a:t>cost</a:t>
            </a:r>
          </a:p>
          <a:p>
            <a:r>
              <a:rPr lang="en-US" dirty="0" smtClean="0"/>
              <a:t>Typically, an </a:t>
            </a:r>
            <a:r>
              <a:rPr lang="en-US" dirty="0"/>
              <a:t>edge’s cost may reflect the physical length of the corresponding </a:t>
            </a:r>
            <a:r>
              <a:rPr lang="en-US" dirty="0" smtClean="0"/>
              <a:t>link, the link speed</a:t>
            </a:r>
            <a:r>
              <a:rPr lang="en-US" dirty="0"/>
              <a:t>, or the monetary cost associated with a </a:t>
            </a:r>
            <a:r>
              <a:rPr lang="en-US" dirty="0" smtClean="0"/>
              <a:t>link</a:t>
            </a:r>
          </a:p>
          <a:p>
            <a:r>
              <a:rPr lang="en-US" dirty="0" smtClean="0"/>
              <a:t>Lets not worry about </a:t>
            </a:r>
            <a:r>
              <a:rPr lang="en-US" dirty="0"/>
              <a:t>how they are </a:t>
            </a:r>
            <a:r>
              <a:rPr lang="en-US" dirty="0" smtClean="0"/>
              <a:t>determined</a:t>
            </a:r>
          </a:p>
          <a:p>
            <a:r>
              <a:rPr lang="en-US" dirty="0" smtClean="0"/>
              <a:t>For any </a:t>
            </a:r>
            <a:r>
              <a:rPr lang="en-US" dirty="0"/>
              <a:t>edge 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in </a:t>
            </a:r>
            <a:r>
              <a:rPr lang="en-US" i="1" dirty="0"/>
              <a:t>E</a:t>
            </a:r>
            <a:r>
              <a:rPr lang="en-US" dirty="0"/>
              <a:t>, we denote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as the cost of the edge between nodes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 smtClean="0"/>
              <a:t>y</a:t>
            </a:r>
            <a:endParaRPr lang="en-US" i="1" dirty="0"/>
          </a:p>
          <a:p>
            <a:r>
              <a:rPr lang="en-US" dirty="0"/>
              <a:t>If the pair 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does not belong to </a:t>
            </a:r>
            <a:r>
              <a:rPr lang="en-US" i="1" dirty="0"/>
              <a:t>E</a:t>
            </a:r>
            <a:r>
              <a:rPr lang="en-US" dirty="0"/>
              <a:t>, we set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dirty="0" smtClean="0"/>
              <a:t>!</a:t>
            </a:r>
          </a:p>
          <a:p>
            <a:r>
              <a:rPr lang="en-US" dirty="0" smtClean="0"/>
              <a:t>Also note that we’ll </a:t>
            </a:r>
            <a:r>
              <a:rPr lang="en-US" dirty="0"/>
              <a:t>only </a:t>
            </a:r>
            <a:r>
              <a:rPr lang="en-US" dirty="0" smtClean="0"/>
              <a:t>consider undirected </a:t>
            </a:r>
            <a:r>
              <a:rPr lang="en-US" dirty="0"/>
              <a:t>graphs (i.e., graphs whose edges do not have a direction) </a:t>
            </a:r>
            <a:endParaRPr lang="en-US" dirty="0" smtClean="0"/>
          </a:p>
          <a:p>
            <a:r>
              <a:rPr lang="en-US" i="1" dirty="0" smtClean="0"/>
              <a:t>c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 smtClean="0"/>
              <a:t>)</a:t>
            </a:r>
          </a:p>
          <a:p>
            <a:r>
              <a:rPr lang="en-US" dirty="0" smtClean="0"/>
              <a:t>However, in an algorithm cost may be considered different in different direction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A </a:t>
            </a:r>
            <a:r>
              <a:rPr lang="en-US" dirty="0">
                <a:solidFill>
                  <a:srgbClr val="0000FF"/>
                </a:solidFill>
              </a:rPr>
              <a:t>node </a:t>
            </a:r>
            <a:r>
              <a:rPr lang="en-US" i="1" dirty="0">
                <a:solidFill>
                  <a:srgbClr val="0000FF"/>
                </a:solidFill>
              </a:rPr>
              <a:t>y </a:t>
            </a:r>
            <a:r>
              <a:rPr lang="en-US" dirty="0">
                <a:solidFill>
                  <a:srgbClr val="0000FF"/>
                </a:solidFill>
              </a:rPr>
              <a:t>is said to be a </a:t>
            </a:r>
            <a:r>
              <a:rPr lang="en-US" b="1" dirty="0">
                <a:solidFill>
                  <a:srgbClr val="0000FF"/>
                </a:solidFill>
              </a:rPr>
              <a:t>neighbor </a:t>
            </a:r>
            <a:r>
              <a:rPr lang="en-US" dirty="0">
                <a:solidFill>
                  <a:srgbClr val="0000FF"/>
                </a:solidFill>
              </a:rPr>
              <a:t>of node </a:t>
            </a:r>
            <a:r>
              <a:rPr lang="en-US" i="1" dirty="0">
                <a:solidFill>
                  <a:srgbClr val="0000FF"/>
                </a:solidFill>
              </a:rPr>
              <a:t>x </a:t>
            </a:r>
            <a:r>
              <a:rPr lang="en-US" dirty="0" smtClean="0">
                <a:solidFill>
                  <a:srgbClr val="0000FF"/>
                </a:solidFill>
              </a:rPr>
              <a:t>if (</a:t>
            </a:r>
            <a:r>
              <a:rPr lang="en-US" i="1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rgbClr val="0000FF"/>
                </a:solidFill>
              </a:rPr>
              <a:t>) belongs to </a:t>
            </a:r>
            <a:r>
              <a:rPr lang="en-US" i="1" dirty="0">
                <a:solidFill>
                  <a:srgbClr val="0000FF"/>
                </a:solidFill>
              </a:rPr>
              <a:t>E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17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of 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</a:t>
            </a:r>
            <a:r>
              <a:rPr lang="en-US" dirty="0"/>
              <a:t>of a routing algorithm is to identify the least costly paths </a:t>
            </a:r>
            <a:r>
              <a:rPr lang="en-US" dirty="0" smtClean="0"/>
              <a:t>between sources </a:t>
            </a:r>
            <a:r>
              <a:rPr lang="en-US" dirty="0"/>
              <a:t>and </a:t>
            </a:r>
            <a:r>
              <a:rPr lang="en-US" dirty="0" smtClean="0"/>
              <a:t>destinations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path </a:t>
            </a:r>
            <a:r>
              <a:rPr lang="en-US" dirty="0" smtClean="0"/>
              <a:t>in </a:t>
            </a:r>
            <a:r>
              <a:rPr lang="en-US" dirty="0"/>
              <a:t>a graph </a:t>
            </a:r>
            <a:r>
              <a:rPr lang="en-US" i="1" dirty="0"/>
              <a:t>G </a:t>
            </a:r>
            <a:r>
              <a:rPr lang="en-US" dirty="0"/>
              <a:t>= 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) is a sequence of nodes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cost of a </a:t>
            </a:r>
            <a:r>
              <a:rPr lang="en-US" dirty="0" smtClean="0"/>
              <a:t>path is </a:t>
            </a:r>
            <a:r>
              <a:rPr lang="en-US" dirty="0"/>
              <a:t>simply the sum of all the edge costs along the </a:t>
            </a:r>
            <a:r>
              <a:rPr lang="en-US" dirty="0" smtClean="0"/>
              <a:t>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9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cost of a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</a:t>
            </a:r>
            <a:r>
              <a:rPr lang="en-US" dirty="0"/>
              <a:t>any two nodes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/>
              <a:t>y</a:t>
            </a:r>
            <a:r>
              <a:rPr lang="en-US" dirty="0"/>
              <a:t>, there are </a:t>
            </a:r>
            <a:r>
              <a:rPr lang="en-US" dirty="0" smtClean="0"/>
              <a:t>typically many </a:t>
            </a:r>
            <a:r>
              <a:rPr lang="en-US" dirty="0"/>
              <a:t>paths between the two </a:t>
            </a:r>
            <a:r>
              <a:rPr lang="en-US" dirty="0" smtClean="0"/>
              <a:t>nodes</a:t>
            </a:r>
          </a:p>
          <a:p>
            <a:r>
              <a:rPr lang="en-US" dirty="0" smtClean="0"/>
              <a:t>Each </a:t>
            </a:r>
            <a:r>
              <a:rPr lang="en-US" dirty="0"/>
              <a:t>path </a:t>
            </a:r>
            <a:r>
              <a:rPr lang="en-US" dirty="0" smtClean="0"/>
              <a:t>has a particular cost</a:t>
            </a:r>
          </a:p>
          <a:p>
            <a:r>
              <a:rPr lang="en-US" dirty="0" smtClean="0"/>
              <a:t>One </a:t>
            </a:r>
            <a:r>
              <a:rPr lang="en-US" dirty="0"/>
              <a:t>or </a:t>
            </a:r>
            <a:r>
              <a:rPr lang="en-US" dirty="0" smtClean="0"/>
              <a:t>more of </a:t>
            </a:r>
            <a:r>
              <a:rPr lang="en-US" dirty="0"/>
              <a:t>these paths is a </a:t>
            </a:r>
            <a:r>
              <a:rPr lang="en-US" b="1" dirty="0"/>
              <a:t>least-cost </a:t>
            </a:r>
            <a:r>
              <a:rPr lang="en-US" b="1" dirty="0" smtClean="0"/>
              <a:t>path</a:t>
            </a:r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0000FF"/>
                </a:solidFill>
              </a:rPr>
              <a:t>least-cost problem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 </a:t>
            </a:r>
            <a:r>
              <a:rPr lang="en-US" dirty="0" smtClean="0"/>
              <a:t>Find a path </a:t>
            </a:r>
            <a:r>
              <a:rPr lang="en-US" dirty="0"/>
              <a:t>between the source and destination that has least </a:t>
            </a:r>
            <a:r>
              <a:rPr lang="en-US" dirty="0" smtClean="0"/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371466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cost of 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8768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least-cost path between source node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i="1" dirty="0"/>
              <a:t> </a:t>
            </a:r>
            <a:r>
              <a:rPr lang="en-US" dirty="0"/>
              <a:t>and destination node </a:t>
            </a:r>
            <a:r>
              <a:rPr lang="en-US" i="1" dirty="0">
                <a:solidFill>
                  <a:srgbClr val="0000FF"/>
                </a:solidFill>
              </a:rPr>
              <a:t>w</a:t>
            </a:r>
            <a:r>
              <a:rPr lang="en-US" i="1" dirty="0"/>
              <a:t> </a:t>
            </a:r>
            <a:r>
              <a:rPr lang="en-US" i="1" dirty="0" smtClean="0"/>
              <a:t>??</a:t>
            </a:r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70" y="1447800"/>
            <a:ext cx="40850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74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cost of 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least-cost path between source node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i="1" dirty="0"/>
              <a:t> </a:t>
            </a:r>
            <a:r>
              <a:rPr lang="en-US" dirty="0"/>
              <a:t>and destination node </a:t>
            </a:r>
            <a:r>
              <a:rPr lang="en-US" i="1" dirty="0">
                <a:solidFill>
                  <a:srgbClr val="0000FF"/>
                </a:solidFill>
              </a:rPr>
              <a:t>w</a:t>
            </a:r>
            <a:r>
              <a:rPr lang="en-US" i="1" dirty="0"/>
              <a:t> </a:t>
            </a:r>
            <a:r>
              <a:rPr lang="en-US" i="1" dirty="0" smtClean="0"/>
              <a:t>??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(</a:t>
            </a:r>
            <a:r>
              <a:rPr lang="en-US" i="1" dirty="0" smtClean="0"/>
              <a:t>u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w</a:t>
            </a:r>
            <a:r>
              <a:rPr lang="en-US" dirty="0"/>
              <a:t>)</a:t>
            </a:r>
          </a:p>
          <a:p>
            <a:r>
              <a:rPr lang="en-US" dirty="0" smtClean="0"/>
              <a:t>Path Cost ? 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70" y="1447800"/>
            <a:ext cx="40850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2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cost of 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least-cost path between source node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i="1" dirty="0"/>
              <a:t> </a:t>
            </a:r>
            <a:r>
              <a:rPr lang="en-US" dirty="0"/>
              <a:t>and destination node </a:t>
            </a:r>
            <a:r>
              <a:rPr lang="en-US" i="1" dirty="0">
                <a:solidFill>
                  <a:srgbClr val="0000FF"/>
                </a:solidFill>
              </a:rPr>
              <a:t>w</a:t>
            </a:r>
            <a:r>
              <a:rPr lang="en-US" i="1" dirty="0"/>
              <a:t> </a:t>
            </a:r>
            <a:r>
              <a:rPr lang="en-US" i="1" dirty="0" smtClean="0"/>
              <a:t>??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(</a:t>
            </a:r>
            <a:r>
              <a:rPr lang="en-US" i="1" dirty="0" smtClean="0"/>
              <a:t>u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w</a:t>
            </a:r>
            <a:r>
              <a:rPr lang="en-US" dirty="0"/>
              <a:t>)</a:t>
            </a:r>
          </a:p>
          <a:p>
            <a:r>
              <a:rPr lang="en-US" dirty="0" smtClean="0"/>
              <a:t>Path Cost = 3</a:t>
            </a:r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70" y="1447800"/>
            <a:ext cx="40850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7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Shortest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all edges in the graph have the same </a:t>
            </a:r>
            <a:r>
              <a:rPr lang="en-US" dirty="0" smtClean="0"/>
              <a:t>cost</a:t>
            </a:r>
          </a:p>
          <a:p>
            <a:r>
              <a:rPr lang="en-US" dirty="0" smtClean="0"/>
              <a:t>The </a:t>
            </a:r>
            <a:r>
              <a:rPr lang="en-US" dirty="0"/>
              <a:t>least </a:t>
            </a:r>
            <a:r>
              <a:rPr lang="en-US" dirty="0" smtClean="0"/>
              <a:t>cost path </a:t>
            </a:r>
            <a:r>
              <a:rPr lang="en-US" dirty="0"/>
              <a:t>is also the </a:t>
            </a:r>
            <a:r>
              <a:rPr lang="en-US" b="1" dirty="0"/>
              <a:t>shortest path </a:t>
            </a:r>
            <a:r>
              <a:rPr lang="en-US" sz="2000" dirty="0">
                <a:solidFill>
                  <a:srgbClr val="0000FF"/>
                </a:solidFill>
              </a:rPr>
              <a:t>(that is, the path with the smallest number of </a:t>
            </a:r>
            <a:r>
              <a:rPr lang="en-US" sz="2000" dirty="0" smtClean="0">
                <a:solidFill>
                  <a:srgbClr val="0000FF"/>
                </a:solidFill>
              </a:rPr>
              <a:t>links between </a:t>
            </a:r>
            <a:r>
              <a:rPr lang="en-US" sz="2000" dirty="0">
                <a:solidFill>
                  <a:srgbClr val="0000FF"/>
                </a:solidFill>
              </a:rPr>
              <a:t>the source and the destination)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242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/>
              <a:t>least-cost path from node </a:t>
            </a:r>
            <a:r>
              <a:rPr lang="en-US" i="1" dirty="0"/>
              <a:t>u </a:t>
            </a:r>
            <a:r>
              <a:rPr lang="en-US" dirty="0" smtClean="0"/>
              <a:t>to z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77894"/>
            <a:ext cx="5410200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4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/>
              <a:t>least-cost path from node </a:t>
            </a:r>
            <a:r>
              <a:rPr lang="en-US" i="1" dirty="0"/>
              <a:t>u </a:t>
            </a:r>
            <a:r>
              <a:rPr lang="en-US" dirty="0"/>
              <a:t>to </a:t>
            </a:r>
            <a:r>
              <a:rPr lang="en-US" i="1" dirty="0"/>
              <a:t>z </a:t>
            </a:r>
            <a:r>
              <a:rPr lang="en-US" dirty="0"/>
              <a:t>in</a:t>
            </a:r>
          </a:p>
          <a:p>
            <a:r>
              <a:rPr lang="en-US" dirty="0" smtClean="0"/>
              <a:t>Did </a:t>
            </a:r>
            <a:r>
              <a:rPr lang="en-US" dirty="0"/>
              <a:t>you check all of the 17 </a:t>
            </a:r>
            <a:r>
              <a:rPr lang="en-US" dirty="0" smtClean="0"/>
              <a:t>possible paths </a:t>
            </a:r>
            <a:r>
              <a:rPr lang="en-US" dirty="0"/>
              <a:t>between </a:t>
            </a:r>
            <a:r>
              <a:rPr lang="en-US" i="1" dirty="0"/>
              <a:t>u </a:t>
            </a:r>
            <a:r>
              <a:rPr lang="en-US" dirty="0"/>
              <a:t>and </a:t>
            </a:r>
            <a:r>
              <a:rPr lang="en-US" i="1" dirty="0"/>
              <a:t>z</a:t>
            </a:r>
            <a:r>
              <a:rPr lang="en-US" dirty="0"/>
              <a:t>? </a:t>
            </a:r>
            <a:endParaRPr lang="en-US" dirty="0" smtClean="0"/>
          </a:p>
          <a:p>
            <a:r>
              <a:rPr lang="en-US" dirty="0" smtClean="0"/>
              <a:t>Probably </a:t>
            </a:r>
            <a:r>
              <a:rPr lang="en-US" dirty="0"/>
              <a:t>not</a:t>
            </a:r>
            <a:r>
              <a:rPr lang="en-US" dirty="0" smtClean="0"/>
              <a:t>!</a:t>
            </a:r>
          </a:p>
          <a:p>
            <a:r>
              <a:rPr lang="en-US" dirty="0" smtClean="0"/>
              <a:t>Such </a:t>
            </a:r>
            <a:r>
              <a:rPr lang="en-US" dirty="0"/>
              <a:t>a calculation is an example of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0000FF"/>
                </a:solidFill>
              </a:rPr>
              <a:t>centralized</a:t>
            </a:r>
            <a:r>
              <a:rPr lang="en-US" dirty="0" smtClean="0"/>
              <a:t> </a:t>
            </a:r>
            <a:r>
              <a:rPr lang="en-US" dirty="0"/>
              <a:t>routing algorithm—the routing algorithm was run in one </a:t>
            </a:r>
            <a:r>
              <a:rPr lang="en-US" dirty="0" smtClean="0"/>
              <a:t>location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your brain</a:t>
            </a:r>
          </a:p>
        </p:txBody>
      </p:sp>
    </p:spTree>
    <p:extLst>
      <p:ext uri="{BB962C8B-B14F-4D97-AF65-F5344CB8AC3E}">
        <p14:creationId xmlns:p14="http://schemas.microsoft.com/office/powerpoint/2010/main" val="395781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entralized </a:t>
            </a:r>
            <a:r>
              <a:rPr lang="en-US" dirty="0"/>
              <a:t>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centralized routing algorithm </a:t>
            </a:r>
            <a:r>
              <a:rPr lang="en-US" dirty="0"/>
              <a:t>computes the least-cost path between a </a:t>
            </a:r>
            <a:r>
              <a:rPr lang="en-US" dirty="0" smtClean="0"/>
              <a:t>source and </a:t>
            </a:r>
            <a:r>
              <a:rPr lang="en-US" dirty="0"/>
              <a:t>destination using complete, global knowledge about the </a:t>
            </a:r>
            <a:r>
              <a:rPr lang="en-US" dirty="0" smtClean="0"/>
              <a:t>network</a:t>
            </a:r>
          </a:p>
          <a:p>
            <a:r>
              <a:rPr lang="en-US" dirty="0" smtClean="0"/>
              <a:t>The algorithm </a:t>
            </a:r>
            <a:r>
              <a:rPr lang="en-US" dirty="0"/>
              <a:t>takes the connectivity between all nodes and all link costs as </a:t>
            </a:r>
            <a:r>
              <a:rPr lang="en-US" dirty="0" smtClean="0"/>
              <a:t>inputs</a:t>
            </a:r>
            <a:endParaRPr lang="en-US" dirty="0"/>
          </a:p>
          <a:p>
            <a:r>
              <a:rPr lang="en-US" dirty="0" smtClean="0"/>
              <a:t>Algorithms </a:t>
            </a:r>
            <a:r>
              <a:rPr lang="en-US" dirty="0"/>
              <a:t>with global state </a:t>
            </a:r>
            <a:r>
              <a:rPr lang="en-US" dirty="0" smtClean="0"/>
              <a:t>information are </a:t>
            </a:r>
            <a:r>
              <a:rPr lang="en-US" dirty="0"/>
              <a:t>often referred to as </a:t>
            </a:r>
            <a:r>
              <a:rPr lang="en-US" b="1" dirty="0"/>
              <a:t>link-state (LS) </a:t>
            </a:r>
            <a:r>
              <a:rPr lang="en-US" b="1" dirty="0" smtClean="0"/>
              <a:t>algorithms</a:t>
            </a:r>
          </a:p>
          <a:p>
            <a:r>
              <a:rPr lang="en-US" dirty="0" smtClean="0"/>
              <a:t>These must be </a:t>
            </a:r>
            <a:r>
              <a:rPr lang="en-US" dirty="0"/>
              <a:t>aware of </a:t>
            </a:r>
            <a:r>
              <a:rPr lang="en-US" dirty="0" smtClean="0"/>
              <a:t>the </a:t>
            </a:r>
            <a:r>
              <a:rPr lang="en-US" dirty="0"/>
              <a:t>cost of each link in the network</a:t>
            </a:r>
          </a:p>
        </p:txBody>
      </p:sp>
    </p:spTree>
    <p:extLst>
      <p:ext uri="{BB962C8B-B14F-4D97-AF65-F5344CB8AC3E}">
        <p14:creationId xmlns:p14="http://schemas.microsoft.com/office/powerpoint/2010/main" val="142510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centralized routing algorithm relies on a single entity (or a few controllers) that has complete knowledge of the network and computes routes for all </a:t>
            </a:r>
            <a:r>
              <a:rPr lang="en-US" dirty="0" smtClean="0"/>
              <a:t>nodes</a:t>
            </a:r>
            <a:endParaRPr lang="en-US" dirty="0"/>
          </a:p>
          <a:p>
            <a:r>
              <a:rPr lang="en-US" dirty="0" smtClean="0"/>
              <a:t>All </a:t>
            </a:r>
            <a:r>
              <a:rPr lang="en-US" dirty="0"/>
              <a:t>routers send their network information (topology, link costs) to a central controller </a:t>
            </a:r>
          </a:p>
          <a:p>
            <a:r>
              <a:rPr lang="en-US" dirty="0"/>
              <a:t>The controller computes the best paths (often using algorithms like </a:t>
            </a:r>
            <a:r>
              <a:rPr lang="en-US" dirty="0" err="1"/>
              <a:t>Dijkstra's</a:t>
            </a:r>
            <a:r>
              <a:rPr lang="en-US" dirty="0"/>
              <a:t> Algorithm) </a:t>
            </a:r>
          </a:p>
          <a:p>
            <a:r>
              <a:rPr lang="en-US" dirty="0"/>
              <a:t>Routes are distributed back to routers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4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876800"/>
          </a:xfrm>
        </p:spPr>
        <p:txBody>
          <a:bodyPr/>
          <a:lstStyle/>
          <a:p>
            <a:r>
              <a:rPr lang="en-US" dirty="0" smtClean="0"/>
              <a:t>For example</a:t>
            </a:r>
          </a:p>
          <a:p>
            <a:r>
              <a:rPr lang="en-US" dirty="0"/>
              <a:t>Link-State Routing (</a:t>
            </a:r>
            <a:r>
              <a:rPr lang="en-US" dirty="0" smtClean="0"/>
              <a:t>e.g</a:t>
            </a:r>
            <a:r>
              <a:rPr lang="en-US" dirty="0"/>
              <a:t>.</a:t>
            </a:r>
            <a:r>
              <a:rPr lang="en-US" dirty="0" smtClean="0"/>
              <a:t> </a:t>
            </a:r>
            <a:r>
              <a:rPr lang="en-US" dirty="0"/>
              <a:t>OSPF</a:t>
            </a:r>
            <a:r>
              <a:rPr lang="en-US" dirty="0" smtClean="0"/>
              <a:t>)</a:t>
            </a:r>
          </a:p>
          <a:p>
            <a:r>
              <a:rPr lang="en-US" dirty="0"/>
              <a:t>Open Shortest Path First (OSPF) is a link-state interior gateway routing protocol designed for IP </a:t>
            </a:r>
            <a:r>
              <a:rPr lang="en-US" dirty="0" smtClean="0"/>
              <a:t>networks</a:t>
            </a:r>
          </a:p>
          <a:p>
            <a:r>
              <a:rPr lang="en-US" dirty="0"/>
              <a:t>OSPF is called an </a:t>
            </a:r>
            <a:r>
              <a:rPr lang="en-US" i="1" dirty="0"/>
              <a:t>Interior Gateway Routing Protocol (IGP)</a:t>
            </a:r>
            <a:r>
              <a:rPr lang="en-US" dirty="0"/>
              <a:t> because it is specifically designed to route traffic </a:t>
            </a:r>
            <a:r>
              <a:rPr lang="en-US" i="1" dirty="0"/>
              <a:t>within a single autonomous </a:t>
            </a:r>
            <a:r>
              <a:rPr lang="en-US" i="1" dirty="0" smtClean="0"/>
              <a:t>system</a:t>
            </a:r>
          </a:p>
          <a:p>
            <a:r>
              <a:rPr lang="en-US" sz="2000" dirty="0">
                <a:solidFill>
                  <a:srgbClr val="0000FF"/>
                </a:solidFill>
              </a:rPr>
              <a:t>Does not handle routing policies between organizations</a:t>
            </a:r>
            <a:endParaRPr lang="en-US" sz="2000" dirty="0" smtClean="0">
              <a:solidFill>
                <a:srgbClr val="0000FF"/>
              </a:solidFill>
            </a:endParaRPr>
          </a:p>
          <a:p>
            <a:r>
              <a:rPr lang="en-US" dirty="0"/>
              <a:t>An Autonomous System (AS) is a network under one administrative control (e.g., a university, company, or </a:t>
            </a:r>
            <a:r>
              <a:rPr lang="en-US" dirty="0" smtClean="0"/>
              <a:t>ISP)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158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Advantages</a:t>
            </a:r>
          </a:p>
          <a:p>
            <a:r>
              <a:rPr lang="en-US" dirty="0"/>
              <a:t>Accurate routing decisions (global view) </a:t>
            </a:r>
          </a:p>
          <a:p>
            <a:r>
              <a:rPr lang="en-US" dirty="0" smtClean="0"/>
              <a:t>Optimal </a:t>
            </a:r>
            <a:r>
              <a:rPr lang="en-US" dirty="0"/>
              <a:t>paths are usually found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FF"/>
                </a:solidFill>
              </a:rPr>
              <a:t>Disadvantages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Single point of failure </a:t>
            </a:r>
          </a:p>
          <a:p>
            <a:r>
              <a:rPr lang="en-US" dirty="0"/>
              <a:t>High overhead (needs full network info) </a:t>
            </a:r>
          </a:p>
          <a:p>
            <a:r>
              <a:rPr lang="en-US" dirty="0"/>
              <a:t>Less scalable for very large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8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Decentralized </a:t>
            </a:r>
            <a:r>
              <a:rPr lang="en-US" dirty="0"/>
              <a:t>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calculation </a:t>
            </a:r>
            <a:r>
              <a:rPr lang="en-US" dirty="0"/>
              <a:t>of the least-cost path </a:t>
            </a:r>
            <a:r>
              <a:rPr lang="en-US" dirty="0" smtClean="0"/>
              <a:t>is carried </a:t>
            </a:r>
            <a:r>
              <a:rPr lang="en-US" dirty="0"/>
              <a:t>out in an iterative, distributed manner by the </a:t>
            </a:r>
            <a:r>
              <a:rPr lang="en-US" dirty="0" smtClean="0"/>
              <a:t>routers</a:t>
            </a:r>
          </a:p>
          <a:p>
            <a:r>
              <a:rPr lang="en-US" dirty="0" smtClean="0"/>
              <a:t>No </a:t>
            </a:r>
            <a:r>
              <a:rPr lang="en-US" dirty="0"/>
              <a:t>node has </a:t>
            </a:r>
            <a:r>
              <a:rPr lang="en-US" dirty="0" smtClean="0"/>
              <a:t>complete information </a:t>
            </a:r>
            <a:r>
              <a:rPr lang="en-US" dirty="0"/>
              <a:t>about the costs of all network </a:t>
            </a:r>
            <a:r>
              <a:rPr lang="en-US" dirty="0" smtClean="0"/>
              <a:t>links</a:t>
            </a:r>
          </a:p>
          <a:p>
            <a:r>
              <a:rPr lang="en-US" dirty="0" smtClean="0"/>
              <a:t>Each </a:t>
            </a:r>
            <a:r>
              <a:rPr lang="en-US" dirty="0"/>
              <a:t>node </a:t>
            </a:r>
            <a:r>
              <a:rPr lang="en-US" dirty="0" smtClean="0"/>
              <a:t>begins with </a:t>
            </a:r>
            <a:r>
              <a:rPr lang="en-US" dirty="0"/>
              <a:t>only the knowledge of the costs of its own directly attached </a:t>
            </a:r>
            <a:r>
              <a:rPr lang="en-US" dirty="0" smtClean="0"/>
              <a:t>links through </a:t>
            </a:r>
            <a:r>
              <a:rPr lang="en-US" dirty="0"/>
              <a:t>an iterative process of calculation and exchange of information with </a:t>
            </a:r>
            <a:r>
              <a:rPr lang="en-US" dirty="0" smtClean="0"/>
              <a:t>its neighboring nodes</a:t>
            </a:r>
          </a:p>
          <a:p>
            <a:r>
              <a:rPr lang="en-US" dirty="0" smtClean="0"/>
              <a:t>Each </a:t>
            </a:r>
            <a:r>
              <a:rPr lang="en-US" dirty="0"/>
              <a:t>node gradually calculates the least-cost path to a </a:t>
            </a:r>
            <a:r>
              <a:rPr lang="en-US" dirty="0" smtClean="0"/>
              <a:t>destination or </a:t>
            </a:r>
            <a:r>
              <a:rPr lang="en-US" dirty="0"/>
              <a:t>set of </a:t>
            </a:r>
            <a:r>
              <a:rPr lang="en-US" dirty="0" smtClean="0"/>
              <a:t>destinations</a:t>
            </a:r>
          </a:p>
          <a:p>
            <a:r>
              <a:rPr lang="en-US" dirty="0" smtClean="0"/>
              <a:t>E.g. distance-vector </a:t>
            </a:r>
            <a:r>
              <a:rPr lang="en-US" dirty="0"/>
              <a:t>(DV) </a:t>
            </a:r>
            <a:r>
              <a:rPr lang="en-US" dirty="0" smtClean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67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</a:t>
            </a:r>
            <a:r>
              <a:rPr lang="en-US" dirty="0"/>
              <a:t>each router to make decisions independently, based only on local information from </a:t>
            </a:r>
            <a:r>
              <a:rPr lang="en-US" dirty="0" smtClean="0"/>
              <a:t>neighbors</a:t>
            </a:r>
          </a:p>
          <a:p>
            <a:r>
              <a:rPr lang="en-US" dirty="0"/>
              <a:t>Routers exchange information only with </a:t>
            </a:r>
            <a:r>
              <a:rPr lang="en-US" dirty="0">
                <a:solidFill>
                  <a:srgbClr val="0000FF"/>
                </a:solidFill>
              </a:rPr>
              <a:t>neighbors</a:t>
            </a:r>
            <a:r>
              <a:rPr lang="en-US" dirty="0"/>
              <a:t> </a:t>
            </a:r>
          </a:p>
          <a:p>
            <a:r>
              <a:rPr lang="en-US" dirty="0"/>
              <a:t>Each router updates its routing table </a:t>
            </a:r>
            <a:r>
              <a:rPr lang="en-US" dirty="0">
                <a:solidFill>
                  <a:srgbClr val="0000FF"/>
                </a:solidFill>
              </a:rPr>
              <a:t>iteratively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No</a:t>
            </a:r>
            <a:r>
              <a:rPr lang="en-US" dirty="0"/>
              <a:t> global knowledge of the entire network </a:t>
            </a:r>
            <a:endParaRPr lang="en-US" dirty="0" smtClean="0"/>
          </a:p>
          <a:p>
            <a:r>
              <a:rPr lang="en-US" dirty="0"/>
              <a:t>Distance Vector Routing (e.g., RIP)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9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Routing Information Protocol (RIP) is a distance-vector routing protocol used to exchange routing information within small to medium-sized IP </a:t>
            </a:r>
            <a:r>
              <a:rPr lang="en-US" dirty="0" smtClean="0"/>
              <a:t>networks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Advantages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No single point of failure </a:t>
            </a:r>
          </a:p>
          <a:p>
            <a:r>
              <a:rPr lang="en-US" dirty="0"/>
              <a:t>Scales better in large/distributed networks </a:t>
            </a:r>
          </a:p>
          <a:p>
            <a:r>
              <a:rPr lang="en-US" dirty="0"/>
              <a:t>Simpler to implement </a:t>
            </a:r>
          </a:p>
          <a:p>
            <a:r>
              <a:rPr lang="en-US" dirty="0">
                <a:solidFill>
                  <a:srgbClr val="0000FF"/>
                </a:solidFill>
              </a:rPr>
              <a:t>Disadvantages</a:t>
            </a:r>
          </a:p>
          <a:p>
            <a:r>
              <a:rPr lang="en-US" dirty="0"/>
              <a:t>Slower convergence </a:t>
            </a:r>
          </a:p>
          <a:p>
            <a:r>
              <a:rPr lang="en-US" dirty="0"/>
              <a:t>May suffer from routing loops </a:t>
            </a:r>
          </a:p>
          <a:p>
            <a:r>
              <a:rPr lang="en-US" dirty="0"/>
              <a:t>Problems like count-to-infinity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60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Decentralized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Count to infinity problem:</a:t>
            </a:r>
          </a:p>
          <a:p>
            <a:r>
              <a:rPr lang="en-US" dirty="0"/>
              <a:t>It occurs when routers continuously increase the hop count to a destination that is no longer reachable, instead of realizing quickly that the destination is down</a:t>
            </a:r>
          </a:p>
          <a:p>
            <a:r>
              <a:rPr lang="en-US" dirty="0"/>
              <a:t>Routers keep “counting” upward (1, 2, 3, …) toward infinity because they mistakenly believe a path still exists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13634"/>
            <a:ext cx="3942332" cy="203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13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Alternate Classification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According </a:t>
            </a:r>
            <a:r>
              <a:rPr lang="en-US" dirty="0"/>
              <a:t>to whether </a:t>
            </a:r>
            <a:r>
              <a:rPr lang="en-US" dirty="0" smtClean="0"/>
              <a:t>they are </a:t>
            </a:r>
            <a:r>
              <a:rPr lang="en-US" dirty="0"/>
              <a:t>static or </a:t>
            </a:r>
            <a:r>
              <a:rPr lang="en-US" dirty="0" smtClean="0"/>
              <a:t>dynamic</a:t>
            </a:r>
          </a:p>
          <a:p>
            <a:r>
              <a:rPr lang="en-US" dirty="0" smtClean="0"/>
              <a:t>In </a:t>
            </a:r>
            <a:r>
              <a:rPr lang="en-US" dirty="0">
                <a:solidFill>
                  <a:srgbClr val="0000FF"/>
                </a:solidFill>
              </a:rPr>
              <a:t>static</a:t>
            </a:r>
            <a:r>
              <a:rPr lang="en-US" dirty="0"/>
              <a:t> routing algorithms, routes change very slowly </a:t>
            </a:r>
            <a:r>
              <a:rPr lang="en-US" dirty="0" smtClean="0"/>
              <a:t>overtime</a:t>
            </a:r>
            <a:r>
              <a:rPr lang="en-US" dirty="0"/>
              <a:t>, often as a result of human intervention (for example, a human manually </a:t>
            </a:r>
            <a:r>
              <a:rPr lang="en-US" dirty="0" smtClean="0"/>
              <a:t>editing a </a:t>
            </a:r>
            <a:r>
              <a:rPr lang="en-US" dirty="0"/>
              <a:t>link </a:t>
            </a:r>
            <a:r>
              <a:rPr lang="en-US" dirty="0" smtClean="0"/>
              <a:t>costs)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Dynamic</a:t>
            </a:r>
            <a:r>
              <a:rPr lang="en-US" dirty="0" smtClean="0"/>
              <a:t> </a:t>
            </a:r>
            <a:r>
              <a:rPr lang="en-US" dirty="0"/>
              <a:t>routing algorithms change the routing paths as the </a:t>
            </a:r>
            <a:r>
              <a:rPr lang="en-US" dirty="0" smtClean="0"/>
              <a:t>network traffic </a:t>
            </a:r>
            <a:r>
              <a:rPr lang="en-US" dirty="0"/>
              <a:t>loads or topology </a:t>
            </a:r>
            <a:r>
              <a:rPr lang="en-US" dirty="0" smtClean="0"/>
              <a:t>change</a:t>
            </a:r>
          </a:p>
          <a:p>
            <a:r>
              <a:rPr lang="en-US" dirty="0" smtClean="0"/>
              <a:t>A </a:t>
            </a:r>
            <a:r>
              <a:rPr lang="en-US" dirty="0"/>
              <a:t>dynamic algorithm can be run either </a:t>
            </a:r>
            <a:r>
              <a:rPr lang="en-US" dirty="0" smtClean="0">
                <a:solidFill>
                  <a:srgbClr val="0000FF"/>
                </a:solidFill>
              </a:rPr>
              <a:t>periodically </a:t>
            </a:r>
            <a:r>
              <a:rPr lang="en-US" dirty="0" smtClean="0"/>
              <a:t>or </a:t>
            </a:r>
            <a:r>
              <a:rPr lang="en-US" dirty="0"/>
              <a:t>in direct response to topology or link cost </a:t>
            </a:r>
            <a:r>
              <a:rPr lang="en-US" dirty="0" smtClean="0"/>
              <a:t>changes</a:t>
            </a:r>
          </a:p>
          <a:p>
            <a:r>
              <a:rPr lang="en-US" dirty="0" smtClean="0"/>
              <a:t>These algorithms are </a:t>
            </a:r>
            <a:r>
              <a:rPr lang="en-US" dirty="0"/>
              <a:t>more responsive to network </a:t>
            </a:r>
            <a:r>
              <a:rPr lang="en-US" dirty="0" smtClean="0"/>
              <a:t>changes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997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Routing 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Routes are manually configured by the network administrator and remain fixed unless changed </a:t>
            </a:r>
            <a:r>
              <a:rPr lang="en-US" dirty="0" smtClean="0"/>
              <a:t>manually</a:t>
            </a:r>
          </a:p>
          <a:p>
            <a:r>
              <a:rPr lang="en-US" dirty="0" smtClean="0"/>
              <a:t>No </a:t>
            </a:r>
            <a:r>
              <a:rPr lang="en-US" dirty="0"/>
              <a:t>automatic updates </a:t>
            </a:r>
          </a:p>
          <a:p>
            <a:r>
              <a:rPr lang="en-US" dirty="0" smtClean="0"/>
              <a:t>Routes </a:t>
            </a:r>
            <a:r>
              <a:rPr lang="en-US" dirty="0"/>
              <a:t>are predefined </a:t>
            </a:r>
          </a:p>
          <a:p>
            <a:r>
              <a:rPr lang="en-US" dirty="0" smtClean="0"/>
              <a:t>Simple </a:t>
            </a:r>
            <a:r>
              <a:rPr lang="en-US" dirty="0"/>
              <a:t>to understand and implement </a:t>
            </a:r>
          </a:p>
          <a:p>
            <a:r>
              <a:rPr lang="en-US" dirty="0" smtClean="0"/>
              <a:t>No </a:t>
            </a:r>
            <a:r>
              <a:rPr lang="en-US" dirty="0"/>
              <a:t>routing protocol </a:t>
            </a:r>
            <a:r>
              <a:rPr lang="en-US" dirty="0" smtClean="0"/>
              <a:t>required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FF"/>
                </a:solidFill>
              </a:rPr>
              <a:t>Predictable </a:t>
            </a:r>
            <a:r>
              <a:rPr lang="en-US" dirty="0" err="1" smtClean="0">
                <a:solidFill>
                  <a:srgbClr val="0000FF"/>
                </a:solidFill>
              </a:rPr>
              <a:t>behaviour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7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Routing </a:t>
            </a:r>
            <a:r>
              <a:rPr lang="en-US" dirty="0" err="1"/>
              <a:t>Algo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DisAdv</a:t>
            </a:r>
            <a:endParaRPr lang="en-US" dirty="0" smtClean="0"/>
          </a:p>
          <a:p>
            <a:r>
              <a:rPr lang="en-US" dirty="0" smtClean="0"/>
              <a:t>Not </a:t>
            </a:r>
            <a:r>
              <a:rPr lang="en-US" dirty="0"/>
              <a:t>scalable for large networks </a:t>
            </a:r>
          </a:p>
          <a:p>
            <a:r>
              <a:rPr lang="en-US" dirty="0" smtClean="0"/>
              <a:t>No </a:t>
            </a:r>
            <a:r>
              <a:rPr lang="en-US" dirty="0"/>
              <a:t>automatic adaptation to failures </a:t>
            </a:r>
          </a:p>
          <a:p>
            <a:r>
              <a:rPr lang="en-US" dirty="0" smtClean="0"/>
              <a:t>High </a:t>
            </a:r>
            <a:r>
              <a:rPr lang="en-US" dirty="0"/>
              <a:t>administrative </a:t>
            </a:r>
            <a:r>
              <a:rPr lang="en-US" dirty="0" smtClean="0"/>
              <a:t>effort</a:t>
            </a:r>
          </a:p>
          <a:p>
            <a:r>
              <a:rPr lang="en-US" dirty="0">
                <a:solidFill>
                  <a:srgbClr val="0000FF"/>
                </a:solidFill>
              </a:rPr>
              <a:t>For example </a:t>
            </a:r>
            <a:r>
              <a:rPr lang="en-US" dirty="0"/>
              <a:t>for a university lab which has:</a:t>
            </a:r>
          </a:p>
          <a:p>
            <a:pPr lvl="0"/>
            <a:r>
              <a:rPr lang="en-US" dirty="0"/>
              <a:t>20–30 computers </a:t>
            </a:r>
          </a:p>
          <a:p>
            <a:pPr lvl="0"/>
            <a:r>
              <a:rPr lang="en-US" dirty="0"/>
              <a:t>1 router connected to the internet </a:t>
            </a:r>
          </a:p>
          <a:p>
            <a:pPr lvl="0"/>
            <a:r>
              <a:rPr lang="en-US" dirty="0"/>
              <a:t>No frequent network changes</a:t>
            </a:r>
          </a:p>
          <a:p>
            <a:pPr lvl="0"/>
            <a:r>
              <a:rPr lang="en-US" dirty="0"/>
              <a:t>Can easily manage via static </a:t>
            </a:r>
            <a:r>
              <a:rPr lang="en-US" dirty="0" smtClean="0"/>
              <a:t>routing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Router configuration will include instructions for all traffic → send to ISP router (default route)</a:t>
            </a:r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29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Routing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Military / banking systems where route changes must be controlled</a:t>
            </a:r>
          </a:p>
          <a:p>
            <a:pPr lvl="0"/>
            <a:r>
              <a:rPr lang="en-US" dirty="0"/>
              <a:t>No automatic updates from unknown routers </a:t>
            </a:r>
          </a:p>
          <a:p>
            <a:pPr lvl="0"/>
            <a:r>
              <a:rPr lang="en-US" dirty="0"/>
              <a:t>Reduces risk of routing attacks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777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 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876800"/>
          </a:xfrm>
        </p:spPr>
        <p:txBody>
          <a:bodyPr/>
          <a:lstStyle/>
          <a:p>
            <a:r>
              <a:rPr lang="en-US" dirty="0" smtClean="0"/>
              <a:t>Uses </a:t>
            </a:r>
            <a:r>
              <a:rPr lang="en-US" dirty="0"/>
              <a:t>routing protocols like: </a:t>
            </a:r>
          </a:p>
          <a:p>
            <a:r>
              <a:rPr lang="en-US" dirty="0"/>
              <a:t>RIP </a:t>
            </a:r>
            <a:r>
              <a:rPr lang="en-US" dirty="0" smtClean="0"/>
              <a:t>: </a:t>
            </a:r>
            <a:r>
              <a:rPr lang="en-US" sz="1800" dirty="0">
                <a:solidFill>
                  <a:srgbClr val="0000FF"/>
                </a:solidFill>
              </a:rPr>
              <a:t>The Routing Information Protocol (RIP) is </a:t>
            </a:r>
            <a:r>
              <a:rPr lang="en-US" sz="1800" dirty="0" smtClean="0">
                <a:solidFill>
                  <a:srgbClr val="0000FF"/>
                </a:solidFill>
              </a:rPr>
              <a:t>a </a:t>
            </a:r>
            <a:r>
              <a:rPr lang="en-US" sz="1800" dirty="0">
                <a:solidFill>
                  <a:srgbClr val="0000FF"/>
                </a:solidFill>
              </a:rPr>
              <a:t>distance-vector </a:t>
            </a:r>
            <a:r>
              <a:rPr lang="en-US" sz="1800" dirty="0" smtClean="0">
                <a:solidFill>
                  <a:srgbClr val="0000FF"/>
                </a:solidFill>
              </a:rPr>
              <a:t>routing protocol</a:t>
            </a:r>
            <a:endParaRPr lang="en-US" sz="1800" dirty="0">
              <a:solidFill>
                <a:srgbClr val="0000FF"/>
              </a:solidFill>
            </a:endParaRPr>
          </a:p>
          <a:p>
            <a:pPr lvl="0"/>
            <a:r>
              <a:rPr lang="en-US" dirty="0"/>
              <a:t>OSPF </a:t>
            </a:r>
            <a:r>
              <a:rPr lang="en-US" sz="1800" dirty="0">
                <a:solidFill>
                  <a:srgbClr val="0000FF"/>
                </a:solidFill>
              </a:rPr>
              <a:t>: Open Shortest Path First (OSPF) is a link-state routing protocol used to find the best path between routers within an Autonomous System (AS)</a:t>
            </a:r>
          </a:p>
          <a:p>
            <a:pPr lvl="0"/>
            <a:r>
              <a:rPr lang="en-US" dirty="0"/>
              <a:t>BGP 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0000FF"/>
                </a:solidFill>
              </a:rPr>
              <a:t>Border Gateway Protocol constructs an autonomous systems graph based on the information exchanged between BGP </a:t>
            </a:r>
            <a:r>
              <a:rPr lang="en-US" sz="1800" dirty="0" smtClean="0">
                <a:solidFill>
                  <a:srgbClr val="0000FF"/>
                </a:solidFill>
              </a:rPr>
              <a:t>routers</a:t>
            </a:r>
            <a:endParaRPr lang="en-US" sz="1800" dirty="0">
              <a:solidFill>
                <a:srgbClr val="0000FF"/>
              </a:solidFill>
            </a:endParaRPr>
          </a:p>
          <a:p>
            <a:r>
              <a:rPr lang="en-US" dirty="0" smtClean="0"/>
              <a:t>Routers </a:t>
            </a:r>
            <a:r>
              <a:rPr lang="en-US" dirty="0"/>
              <a:t>exchange information </a:t>
            </a:r>
          </a:p>
          <a:p>
            <a:r>
              <a:rPr lang="en-US" dirty="0" smtClean="0"/>
              <a:t>Routes </a:t>
            </a:r>
            <a:r>
              <a:rPr lang="en-US" dirty="0"/>
              <a:t>adapt to network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50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 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Advantages</a:t>
            </a:r>
          </a:p>
          <a:p>
            <a:pPr lvl="0"/>
            <a:r>
              <a:rPr lang="en-US" dirty="0"/>
              <a:t>Automatically handles failures </a:t>
            </a:r>
          </a:p>
          <a:p>
            <a:pPr lvl="0"/>
            <a:r>
              <a:rPr lang="en-US" dirty="0"/>
              <a:t>Scalable for large networks </a:t>
            </a:r>
          </a:p>
          <a:p>
            <a:pPr lvl="0"/>
            <a:r>
              <a:rPr lang="en-US" dirty="0"/>
              <a:t>Less manual configuration </a:t>
            </a:r>
          </a:p>
          <a:p>
            <a:r>
              <a:rPr lang="en-US" dirty="0">
                <a:solidFill>
                  <a:srgbClr val="0000FF"/>
                </a:solidFill>
              </a:rPr>
              <a:t>Disadvantages</a:t>
            </a:r>
          </a:p>
          <a:p>
            <a:pPr lvl="0"/>
            <a:r>
              <a:rPr lang="en-US" dirty="0" smtClean="0"/>
              <a:t>CPU </a:t>
            </a:r>
            <a:r>
              <a:rPr lang="en-US" dirty="0"/>
              <a:t>in a router is used to compute and update </a:t>
            </a:r>
            <a:r>
              <a:rPr lang="en-US" dirty="0" smtClean="0"/>
              <a:t>routes </a:t>
            </a:r>
            <a:r>
              <a:rPr lang="en-US" dirty="0" smtClean="0">
                <a:sym typeface="Wingdings" panose="05000000000000000000" pitchFamily="2" charset="2"/>
              </a:rPr>
              <a:t> higher CPU </a:t>
            </a:r>
            <a:r>
              <a:rPr lang="en-US" dirty="0" smtClean="0"/>
              <a:t>and </a:t>
            </a:r>
            <a:r>
              <a:rPr lang="en-US" dirty="0"/>
              <a:t>memory usage </a:t>
            </a:r>
          </a:p>
          <a:p>
            <a:pPr lvl="0"/>
            <a:r>
              <a:rPr lang="en-US" dirty="0"/>
              <a:t>More complex </a:t>
            </a:r>
          </a:p>
          <a:p>
            <a:pPr lvl="0"/>
            <a:r>
              <a:rPr lang="en-US" dirty="0"/>
              <a:t>Possible security </a:t>
            </a:r>
            <a:r>
              <a:rPr lang="en-US" dirty="0" smtClean="0"/>
              <a:t>risks</a:t>
            </a:r>
          </a:p>
          <a:p>
            <a:pPr lvl="0"/>
            <a:endParaRPr lang="en-US" dirty="0"/>
          </a:p>
          <a:p>
            <a:pPr lvl="0"/>
            <a:r>
              <a:rPr lang="en-US" sz="2000" dirty="0">
                <a:solidFill>
                  <a:srgbClr val="0000FF"/>
                </a:solidFill>
              </a:rPr>
              <a:t>dynamic routing like </a:t>
            </a:r>
            <a:r>
              <a:rPr lang="en-US" sz="2000" dirty="0" smtClean="0">
                <a:solidFill>
                  <a:srgbClr val="0000FF"/>
                </a:solidFill>
              </a:rPr>
              <a:t>in Google </a:t>
            </a:r>
            <a:r>
              <a:rPr lang="en-US" sz="2000" dirty="0">
                <a:solidFill>
                  <a:srgbClr val="0000FF"/>
                </a:solidFill>
              </a:rPr>
              <a:t>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50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 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calculates:</a:t>
            </a:r>
          </a:p>
          <a:p>
            <a:r>
              <a:rPr lang="en-US" dirty="0"/>
              <a:t>Shortest paths </a:t>
            </a:r>
          </a:p>
          <a:p>
            <a:r>
              <a:rPr lang="en-US" dirty="0"/>
              <a:t>Best routes </a:t>
            </a:r>
          </a:p>
          <a:p>
            <a:r>
              <a:rPr lang="en-US" dirty="0"/>
              <a:t>Cost/metrics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72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open a website like Google or YouTube, your data travels across multiple networks </a:t>
            </a:r>
            <a:r>
              <a:rPr lang="en-US" dirty="0" smtClean="0"/>
              <a:t>worldwide</a:t>
            </a:r>
          </a:p>
          <a:p>
            <a:r>
              <a:rPr lang="en-US" dirty="0" smtClean="0"/>
              <a:t>Your university network</a:t>
            </a:r>
          </a:p>
          <a:p>
            <a:r>
              <a:rPr lang="en-US" dirty="0" smtClean="0"/>
              <a:t>ISPs like PTCL </a:t>
            </a:r>
            <a:r>
              <a:rPr lang="en-US" dirty="0" smtClean="0">
                <a:sym typeface="Wingdings" panose="05000000000000000000" pitchFamily="2" charset="2"/>
              </a:rPr>
              <a:t> to ensure uninterrupted internet service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Data centers and clouds (AWS and Google cloud etc.)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4G and 5G mobile networks (we switch between towers continuously)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Multinational companies (international presence)</a:t>
            </a: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29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use Dynamic routing because :</a:t>
            </a:r>
          </a:p>
          <a:p>
            <a:pPr lvl="0"/>
            <a:r>
              <a:rPr lang="en-US" dirty="0"/>
              <a:t>Servers are constantly added/removed </a:t>
            </a:r>
          </a:p>
          <a:p>
            <a:pPr lvl="0"/>
            <a:r>
              <a:rPr lang="en-US" dirty="0"/>
              <a:t>Load balancing is required </a:t>
            </a:r>
          </a:p>
          <a:p>
            <a:pPr lvl="0"/>
            <a:r>
              <a:rPr lang="en-US" dirty="0"/>
              <a:t>Failures must be handled instantly </a:t>
            </a:r>
          </a:p>
          <a:p>
            <a:pPr lvl="0"/>
            <a:r>
              <a:rPr lang="en-US" dirty="0"/>
              <a:t>Fastest available path </a:t>
            </a:r>
            <a:r>
              <a:rPr lang="en-US" dirty="0" smtClean="0"/>
              <a:t>to be calculated</a:t>
            </a:r>
            <a:endParaRPr lang="en-US" dirty="0"/>
          </a:p>
          <a:p>
            <a:pPr lvl="0"/>
            <a:r>
              <a:rPr lang="en-US" dirty="0"/>
              <a:t>High </a:t>
            </a:r>
            <a:r>
              <a:rPr lang="en-US" dirty="0" smtClean="0"/>
              <a:t>availability to be ensured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281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Classifying routing </a:t>
            </a:r>
            <a:r>
              <a:rPr lang="en-US" dirty="0" err="1" smtClean="0"/>
              <a:t>algos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According </a:t>
            </a:r>
            <a:r>
              <a:rPr lang="en-US" dirty="0"/>
              <a:t>to whether they are </a:t>
            </a:r>
            <a:r>
              <a:rPr lang="en-US" dirty="0" smtClean="0"/>
              <a:t>load sensitive or load-insensitive</a:t>
            </a:r>
          </a:p>
          <a:p>
            <a:r>
              <a:rPr lang="en-US" dirty="0" smtClean="0"/>
              <a:t>In </a:t>
            </a:r>
            <a:r>
              <a:rPr lang="en-US" dirty="0"/>
              <a:t>a </a:t>
            </a:r>
            <a:r>
              <a:rPr lang="en-US" b="1" dirty="0"/>
              <a:t>load-sensitive algorithm</a:t>
            </a:r>
            <a:r>
              <a:rPr lang="en-US" dirty="0"/>
              <a:t>, link costs vary </a:t>
            </a:r>
            <a:r>
              <a:rPr lang="en-US" dirty="0" smtClean="0"/>
              <a:t>dynamically to </a:t>
            </a:r>
            <a:r>
              <a:rPr lang="en-US" dirty="0"/>
              <a:t>reflect the current level of congestion in the underlying </a:t>
            </a:r>
            <a:r>
              <a:rPr lang="en-US" dirty="0" smtClean="0"/>
              <a:t>link</a:t>
            </a:r>
          </a:p>
          <a:p>
            <a:r>
              <a:rPr lang="en-US" dirty="0" smtClean="0"/>
              <a:t>A high cost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a link </a:t>
            </a:r>
            <a:r>
              <a:rPr lang="en-US" dirty="0"/>
              <a:t>is currently </a:t>
            </a:r>
            <a:r>
              <a:rPr lang="en-US" dirty="0" smtClean="0"/>
              <a:t>congested</a:t>
            </a:r>
          </a:p>
          <a:p>
            <a:r>
              <a:rPr lang="en-US" dirty="0" smtClean="0"/>
              <a:t>A </a:t>
            </a:r>
            <a:r>
              <a:rPr lang="en-US" dirty="0"/>
              <a:t>routing algorithm will </a:t>
            </a:r>
            <a:r>
              <a:rPr lang="en-US" dirty="0" smtClean="0"/>
              <a:t>tend to </a:t>
            </a:r>
            <a:r>
              <a:rPr lang="en-US" dirty="0"/>
              <a:t>choose routes around such a congested </a:t>
            </a:r>
            <a:r>
              <a:rPr lang="en-US" dirty="0" smtClean="0"/>
              <a:t>link</a:t>
            </a:r>
          </a:p>
          <a:p>
            <a:r>
              <a:rPr lang="en-US" dirty="0" smtClean="0"/>
              <a:t>Today’s </a:t>
            </a:r>
            <a:r>
              <a:rPr lang="en-US" dirty="0"/>
              <a:t>Internet routing algorithms (such as RIP, OSPF, </a:t>
            </a:r>
            <a:r>
              <a:rPr lang="en-US" dirty="0" smtClean="0"/>
              <a:t>and BGP</a:t>
            </a:r>
            <a:r>
              <a:rPr lang="en-US" dirty="0"/>
              <a:t>) are </a:t>
            </a:r>
            <a:r>
              <a:rPr lang="en-US" b="1" dirty="0"/>
              <a:t>load-insensitive</a:t>
            </a:r>
            <a:r>
              <a:rPr lang="en-US" dirty="0"/>
              <a:t>, as a link’s cost does not explicitly reflect its current (</a:t>
            </a:r>
            <a:r>
              <a:rPr lang="en-US" dirty="0" smtClean="0"/>
              <a:t>or recent </a:t>
            </a:r>
            <a:r>
              <a:rPr lang="en-US" dirty="0"/>
              <a:t>past) level of </a:t>
            </a:r>
            <a:r>
              <a:rPr lang="en-US" dirty="0" smtClean="0"/>
              <a:t>congestion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07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Routing </a:t>
            </a:r>
            <a:r>
              <a:rPr lang="en-US" dirty="0" err="1" smtClean="0"/>
              <a:t>algos</a:t>
            </a:r>
            <a:r>
              <a:rPr lang="en-US" dirty="0" smtClean="0"/>
              <a:t>	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Load Insensitive</a:t>
            </a:r>
          </a:p>
          <a:p>
            <a:r>
              <a:rPr lang="en-US" dirty="0" smtClean="0"/>
              <a:t>If </a:t>
            </a:r>
            <a:r>
              <a:rPr lang="en-US" dirty="0"/>
              <a:t>routing decisions changed based on traffic </a:t>
            </a:r>
            <a:r>
              <a:rPr lang="en-US" dirty="0" smtClean="0"/>
              <a:t>load?</a:t>
            </a:r>
          </a:p>
          <a:p>
            <a:r>
              <a:rPr lang="en-US" dirty="0" smtClean="0"/>
              <a:t>What would happen???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Routing </a:t>
            </a:r>
            <a:r>
              <a:rPr lang="en-US" dirty="0" err="1" smtClean="0"/>
              <a:t>algos</a:t>
            </a:r>
            <a:r>
              <a:rPr lang="en-US" dirty="0" smtClean="0"/>
              <a:t>	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Load Sensitive</a:t>
            </a:r>
          </a:p>
          <a:p>
            <a:r>
              <a:rPr lang="en-US" dirty="0" smtClean="0"/>
              <a:t>If </a:t>
            </a:r>
            <a:r>
              <a:rPr lang="en-US" dirty="0"/>
              <a:t>routing decisions changed based on traffic </a:t>
            </a:r>
            <a:r>
              <a:rPr lang="en-US" dirty="0" smtClean="0"/>
              <a:t>load?</a:t>
            </a:r>
          </a:p>
          <a:p>
            <a:r>
              <a:rPr lang="en-US" dirty="0" smtClean="0"/>
              <a:t>What would happen???</a:t>
            </a:r>
          </a:p>
          <a:p>
            <a:endParaRPr lang="en-US" dirty="0"/>
          </a:p>
          <a:p>
            <a:r>
              <a:rPr lang="en-US" dirty="0"/>
              <a:t>Routes would keep changing </a:t>
            </a:r>
            <a:r>
              <a:rPr lang="en-US" dirty="0" smtClean="0"/>
              <a:t>rapidly</a:t>
            </a:r>
          </a:p>
          <a:p>
            <a:r>
              <a:rPr lang="en-US" dirty="0"/>
              <a:t>routes constantly </a:t>
            </a:r>
            <a:r>
              <a:rPr lang="en-US" dirty="0" smtClean="0"/>
              <a:t>flipping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oscillations (constant switching: A </a:t>
            </a:r>
            <a:r>
              <a:rPr lang="en-US" dirty="0" smtClean="0">
                <a:sym typeface="Wingdings" panose="05000000000000000000" pitchFamily="2" charset="2"/>
              </a:rPr>
              <a:t> B , B  A ..)</a:t>
            </a:r>
            <a:endParaRPr lang="en-US" dirty="0" smtClean="0"/>
          </a:p>
          <a:p>
            <a:r>
              <a:rPr lang="en-US" dirty="0" smtClean="0"/>
              <a:t>Network </a:t>
            </a:r>
            <a:r>
              <a:rPr lang="en-US" dirty="0"/>
              <a:t>becomes </a:t>
            </a:r>
            <a:r>
              <a:rPr lang="en-US" dirty="0" smtClean="0">
                <a:solidFill>
                  <a:srgbClr val="0000FF"/>
                </a:solidFill>
              </a:rPr>
              <a:t>unstable 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Anything else??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800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not Load sensitive?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load-sensitive, routers would need:</a:t>
            </a:r>
          </a:p>
          <a:p>
            <a:r>
              <a:rPr lang="en-US" dirty="0"/>
              <a:t>Continuous measurement of traffic on all links</a:t>
            </a:r>
          </a:p>
          <a:p>
            <a:r>
              <a:rPr lang="en-US" dirty="0"/>
              <a:t>Frequent updates to all </a:t>
            </a:r>
            <a:r>
              <a:rPr lang="en-US" dirty="0" smtClean="0"/>
              <a:t>routers (CPU and memory overheads)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huge control overhead and consumes </a:t>
            </a:r>
            <a:r>
              <a:rPr lang="en-US" dirty="0" smtClean="0"/>
              <a:t>bandwidth</a:t>
            </a:r>
          </a:p>
          <a:p>
            <a:pPr lvl="0"/>
            <a:r>
              <a:rPr lang="en-US" dirty="0"/>
              <a:t>By the time load info is shared: </a:t>
            </a:r>
          </a:p>
          <a:p>
            <a:pPr lvl="0"/>
            <a:r>
              <a:rPr lang="en-US" dirty="0"/>
              <a:t>It is already outdated </a:t>
            </a:r>
          </a:p>
          <a:p>
            <a:pPr lvl="0"/>
            <a:r>
              <a:rPr lang="en-US" dirty="0"/>
              <a:t>Decisions are based on </a:t>
            </a:r>
            <a:r>
              <a:rPr lang="en-US" dirty="0">
                <a:solidFill>
                  <a:srgbClr val="0000FF"/>
                </a:solidFill>
              </a:rPr>
              <a:t>old data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51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Load </a:t>
            </a:r>
            <a:r>
              <a:rPr lang="en-US" dirty="0" smtClean="0"/>
              <a:t>sensitive?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 for:</a:t>
            </a:r>
          </a:p>
          <a:p>
            <a:r>
              <a:rPr lang="en-US" dirty="0"/>
              <a:t>Video calls </a:t>
            </a:r>
          </a:p>
          <a:p>
            <a:r>
              <a:rPr lang="en-US" dirty="0"/>
              <a:t>Streaming </a:t>
            </a:r>
          </a:p>
          <a:p>
            <a:r>
              <a:rPr lang="en-US" dirty="0"/>
              <a:t>Real-time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9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990600"/>
          </a:xfrm>
        </p:spPr>
        <p:txBody>
          <a:bodyPr/>
          <a:lstStyle/>
          <a:p>
            <a:r>
              <a:rPr lang="en-US" dirty="0" smtClean="0"/>
              <a:t>Practice on </a:t>
            </a:r>
            <a:r>
              <a:rPr lang="en-US" dirty="0" err="1" smtClean="0"/>
              <a:t>Subnetting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8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IP: 192.168.10.0/26</a:t>
            </a:r>
          </a:p>
          <a:p>
            <a:r>
              <a:rPr lang="en-US" dirty="0"/>
              <a:t>Find:</a:t>
            </a:r>
          </a:p>
          <a:p>
            <a:pPr lvl="0"/>
            <a:r>
              <a:rPr lang="en-US" dirty="0" smtClean="0"/>
              <a:t>Network Part</a:t>
            </a:r>
          </a:p>
          <a:p>
            <a:pPr lvl="0"/>
            <a:r>
              <a:rPr lang="en-US" dirty="0" smtClean="0"/>
              <a:t>Host Part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0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Given IP: 192.168.10.0/26</a:t>
            </a:r>
          </a:p>
          <a:p>
            <a:r>
              <a:rPr lang="en-US" dirty="0"/>
              <a:t>Find:</a:t>
            </a:r>
          </a:p>
          <a:p>
            <a:pPr lvl="0"/>
            <a:r>
              <a:rPr lang="en-US" dirty="0" smtClean="0">
                <a:solidFill>
                  <a:srgbClr val="FF0000"/>
                </a:solidFill>
              </a:rPr>
              <a:t>Network</a:t>
            </a:r>
            <a:r>
              <a:rPr lang="en-US" dirty="0" smtClean="0"/>
              <a:t> Part</a:t>
            </a:r>
          </a:p>
          <a:p>
            <a:pPr lvl="0"/>
            <a:r>
              <a:rPr lang="en-US" dirty="0" smtClean="0">
                <a:solidFill>
                  <a:srgbClr val="0000FF"/>
                </a:solidFill>
              </a:rPr>
              <a:t>Host</a:t>
            </a:r>
            <a:r>
              <a:rPr lang="en-US" dirty="0" smtClean="0"/>
              <a:t> Part</a:t>
            </a:r>
          </a:p>
          <a:p>
            <a:pPr lvl="0"/>
            <a:r>
              <a:rPr lang="en-US" dirty="0" smtClean="0"/>
              <a:t>Default Subnet Mask</a:t>
            </a:r>
          </a:p>
          <a:p>
            <a:pPr lvl="0"/>
            <a:r>
              <a:rPr lang="en-US" dirty="0" smtClean="0"/>
              <a:t>Custom subnet mask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>
                <a:solidFill>
                  <a:srgbClr val="FF0000"/>
                </a:solidFill>
              </a:rPr>
              <a:t>26-bits</a:t>
            </a:r>
            <a:endParaRPr lang="en-US" dirty="0" smtClean="0"/>
          </a:p>
          <a:p>
            <a:pPr lvl="0"/>
            <a:r>
              <a:rPr lang="en-US" dirty="0" smtClean="0">
                <a:solidFill>
                  <a:srgbClr val="0000FF"/>
                </a:solidFill>
              </a:rPr>
              <a:t>6 bits </a:t>
            </a:r>
          </a:p>
          <a:p>
            <a:pPr lvl="0"/>
            <a:r>
              <a:rPr lang="en-US" dirty="0" smtClean="0">
                <a:solidFill>
                  <a:srgbClr val="0000FF"/>
                </a:solidFill>
              </a:rPr>
              <a:t>Default Subnet Mask : </a:t>
            </a:r>
            <a:r>
              <a:rPr lang="en-US" dirty="0" smtClean="0"/>
              <a:t>255.255.255.0</a:t>
            </a:r>
          </a:p>
          <a:p>
            <a:pPr lvl="0"/>
            <a:r>
              <a:rPr lang="en-US" dirty="0" smtClean="0"/>
              <a:t>Custom Subnet Mask </a:t>
            </a:r>
            <a:r>
              <a:rPr lang="en-US" dirty="0"/>
              <a:t>: </a:t>
            </a:r>
            <a:r>
              <a:rPr lang="en-US" dirty="0" smtClean="0"/>
              <a:t>11111111.11111111.11111111.11000000</a:t>
            </a:r>
          </a:p>
          <a:p>
            <a:pPr lvl="0"/>
            <a:r>
              <a:rPr lang="en-US" dirty="0"/>
              <a:t> </a:t>
            </a:r>
            <a:r>
              <a:rPr lang="en-US" dirty="0" smtClean="0"/>
              <a:t>                                 255.255.255.192</a:t>
            </a:r>
          </a:p>
          <a:p>
            <a:pPr lvl="0"/>
            <a:endParaRPr lang="en-US" dirty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5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IP: 192.168.10.0/26</a:t>
            </a:r>
          </a:p>
          <a:p>
            <a:r>
              <a:rPr lang="en-US" dirty="0" smtClean="0"/>
              <a:t>Host Part : 6 bits</a:t>
            </a:r>
          </a:p>
          <a:p>
            <a:r>
              <a:rPr lang="en-US" dirty="0" smtClean="0"/>
              <a:t>(32 – 26 = 6 bits)</a:t>
            </a:r>
          </a:p>
          <a:p>
            <a:r>
              <a:rPr lang="en-US" dirty="0" smtClean="0"/>
              <a:t>00000000 - 00111111</a:t>
            </a:r>
          </a:p>
          <a:p>
            <a:r>
              <a:rPr lang="en-US" dirty="0" smtClean="0"/>
              <a:t>0 – 63 </a:t>
            </a:r>
            <a:r>
              <a:rPr lang="en-US" dirty="0" smtClean="0">
                <a:sym typeface="Wingdings" panose="05000000000000000000" pitchFamily="2" charset="2"/>
              </a:rPr>
              <a:t> Total 64 Addresses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First usable host = 1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Last usable host  = 62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Broadcast = 63</a:t>
            </a:r>
          </a:p>
          <a:p>
            <a:endParaRPr lang="en-US" dirty="0"/>
          </a:p>
          <a:p>
            <a:pPr lvl="0"/>
            <a:r>
              <a:rPr lang="en-US" dirty="0">
                <a:solidFill>
                  <a:srgbClr val="0000FF"/>
                </a:solidFill>
              </a:rPr>
              <a:t>Host part = 6 bits (can vary from 000001 to 111110 for usable hosts)</a:t>
            </a:r>
          </a:p>
        </p:txBody>
      </p:sp>
    </p:spTree>
    <p:extLst>
      <p:ext uri="{BB962C8B-B14F-4D97-AF65-F5344CB8AC3E}">
        <p14:creationId xmlns:p14="http://schemas.microsoft.com/office/powerpoint/2010/main" val="20810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IP: 192.168.10.0/26</a:t>
            </a:r>
          </a:p>
          <a:p>
            <a:r>
              <a:rPr lang="en-US" dirty="0" smtClean="0"/>
              <a:t>Find the number of subnets?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07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IP: 192.168.10.0/26</a:t>
            </a:r>
          </a:p>
          <a:p>
            <a:r>
              <a:rPr lang="en-US" dirty="0" smtClean="0"/>
              <a:t>Find the number of subnets?</a:t>
            </a:r>
          </a:p>
          <a:p>
            <a:endParaRPr lang="en-US" dirty="0"/>
          </a:p>
          <a:p>
            <a:r>
              <a:rPr lang="en-US" dirty="0"/>
              <a:t>Number of subnets=2</a:t>
            </a:r>
            <a:r>
              <a:rPr lang="en-US" baseline="30000" dirty="0"/>
              <a:t>(new subnet bits)</a:t>
            </a:r>
            <a:endParaRPr lang="en-US" baseline="30000" dirty="0" smtClean="0"/>
          </a:p>
          <a:p>
            <a:r>
              <a:rPr lang="en-US" sz="2000" dirty="0">
                <a:solidFill>
                  <a:srgbClr val="0000FF"/>
                </a:solidFill>
              </a:rPr>
              <a:t>number of bits borrowed from host part to create </a:t>
            </a:r>
            <a:r>
              <a:rPr lang="en-US" sz="2000" dirty="0" smtClean="0">
                <a:solidFill>
                  <a:srgbClr val="0000FF"/>
                </a:solidFill>
              </a:rPr>
              <a:t>subnets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1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76800"/>
          </a:xfrm>
        </p:spPr>
        <p:txBody>
          <a:bodyPr>
            <a:normAutofit/>
          </a:bodyPr>
          <a:lstStyle/>
          <a:p>
            <a:r>
              <a:rPr lang="en-US" dirty="0"/>
              <a:t>Given IP: 192.168.10.0/26</a:t>
            </a:r>
          </a:p>
          <a:p>
            <a:r>
              <a:rPr lang="en-US" dirty="0"/>
              <a:t>Find the number of subnets?</a:t>
            </a:r>
          </a:p>
          <a:p>
            <a:endParaRPr lang="en-US" dirty="0"/>
          </a:p>
          <a:p>
            <a:r>
              <a:rPr lang="en-US" dirty="0"/>
              <a:t>Number of subnets=2</a:t>
            </a:r>
            <a:r>
              <a:rPr lang="en-US" baseline="30000" dirty="0"/>
              <a:t>(new subnet bits)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number of bits borrowed from host part to create subnets</a:t>
            </a:r>
          </a:p>
          <a:p>
            <a:endParaRPr lang="en-US" dirty="0"/>
          </a:p>
          <a:p>
            <a:pPr lvl="0"/>
            <a:r>
              <a:rPr lang="en-US" dirty="0"/>
              <a:t>Original network: </a:t>
            </a:r>
            <a:r>
              <a:rPr lang="en-US" dirty="0" smtClean="0"/>
              <a:t>/</a:t>
            </a:r>
            <a:r>
              <a:rPr lang="en-US" dirty="0"/>
              <a:t>24 </a:t>
            </a:r>
            <a:r>
              <a:rPr lang="en-US" sz="2000" dirty="0">
                <a:solidFill>
                  <a:srgbClr val="0000FF"/>
                </a:solidFill>
              </a:rPr>
              <a:t>(common for 192.168.x.x network) </a:t>
            </a:r>
          </a:p>
          <a:p>
            <a:pPr lvl="0"/>
            <a:r>
              <a:rPr lang="en-US" dirty="0"/>
              <a:t>New subnet: /26 </a:t>
            </a:r>
          </a:p>
          <a:p>
            <a:pPr lvl="0"/>
            <a:r>
              <a:rPr lang="en-US" dirty="0"/>
              <a:t>Borrowed bits</a:t>
            </a:r>
            <a:r>
              <a:rPr lang="en-US" dirty="0" smtClean="0"/>
              <a:t>= 26</a:t>
            </a:r>
            <a:r>
              <a:rPr lang="en-US" dirty="0"/>
              <a:t>−</a:t>
            </a:r>
            <a:r>
              <a:rPr lang="en-US" dirty="0" smtClean="0"/>
              <a:t>24 = 2 bits</a:t>
            </a:r>
          </a:p>
          <a:p>
            <a:pPr lvl="0"/>
            <a:r>
              <a:rPr lang="en-US" dirty="0" smtClean="0"/>
              <a:t>No. Of Subnets?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0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76800"/>
          </a:xfrm>
        </p:spPr>
        <p:txBody>
          <a:bodyPr>
            <a:normAutofit/>
          </a:bodyPr>
          <a:lstStyle/>
          <a:p>
            <a:r>
              <a:rPr lang="en-US" dirty="0"/>
              <a:t>Given IP: 192.168.10.0/26</a:t>
            </a:r>
          </a:p>
          <a:p>
            <a:r>
              <a:rPr lang="en-US" dirty="0"/>
              <a:t>Find the number of subnets?</a:t>
            </a:r>
          </a:p>
          <a:p>
            <a:endParaRPr lang="en-US" dirty="0"/>
          </a:p>
          <a:p>
            <a:r>
              <a:rPr lang="en-US" dirty="0"/>
              <a:t>Number of subnets=2</a:t>
            </a:r>
            <a:r>
              <a:rPr lang="en-US" baseline="30000" dirty="0"/>
              <a:t>(new subnet bits)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number of bits borrowed from host part to create subnets</a:t>
            </a:r>
          </a:p>
          <a:p>
            <a:endParaRPr lang="en-US" dirty="0"/>
          </a:p>
          <a:p>
            <a:pPr lvl="0"/>
            <a:r>
              <a:rPr lang="en-US" dirty="0"/>
              <a:t>Original network: </a:t>
            </a:r>
            <a:r>
              <a:rPr lang="en-US" dirty="0" smtClean="0"/>
              <a:t>/</a:t>
            </a:r>
            <a:r>
              <a:rPr lang="en-US" dirty="0"/>
              <a:t>24 </a:t>
            </a:r>
            <a:r>
              <a:rPr lang="en-US" sz="2000" dirty="0">
                <a:solidFill>
                  <a:srgbClr val="0000FF"/>
                </a:solidFill>
              </a:rPr>
              <a:t>(common for 192.168.x.x network) </a:t>
            </a:r>
          </a:p>
          <a:p>
            <a:pPr lvl="0"/>
            <a:r>
              <a:rPr lang="en-US" dirty="0"/>
              <a:t>New subnet: /26 </a:t>
            </a:r>
          </a:p>
          <a:p>
            <a:pPr lvl="0"/>
            <a:r>
              <a:rPr lang="en-US" dirty="0"/>
              <a:t>Borrowed bits</a:t>
            </a:r>
            <a:r>
              <a:rPr lang="en-US" dirty="0" smtClean="0"/>
              <a:t>= 26</a:t>
            </a:r>
            <a:r>
              <a:rPr lang="en-US" dirty="0"/>
              <a:t>−</a:t>
            </a:r>
            <a:r>
              <a:rPr lang="en-US" dirty="0" smtClean="0"/>
              <a:t>24 = 2 bits</a:t>
            </a:r>
          </a:p>
          <a:p>
            <a:pPr lvl="0"/>
            <a:r>
              <a:rPr lang="en-US" dirty="0" smtClean="0"/>
              <a:t>No. Of Subnets = 4</a:t>
            </a:r>
          </a:p>
          <a:p>
            <a:pPr lvl="0"/>
            <a:endParaRPr lang="en-US" dirty="0" smtClean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2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A </a:t>
            </a:r>
            <a:r>
              <a:rPr lang="en-US" dirty="0" smtClean="0">
                <a:sym typeface="Wingdings" panose="05000000000000000000" pitchFamily="2" charset="2"/>
              </a:rPr>
              <a:t> /8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Class B  /16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Class C  /24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00   1</a:t>
            </a:r>
            <a:r>
              <a:rPr lang="en-US" baseline="30000" dirty="0" smtClean="0">
                <a:sym typeface="Wingdings" panose="05000000000000000000" pitchFamily="2" charset="2"/>
              </a:rPr>
              <a:t>st</a:t>
            </a:r>
            <a:r>
              <a:rPr lang="en-US" dirty="0" smtClean="0">
                <a:sym typeface="Wingdings" panose="05000000000000000000" pitchFamily="2" charset="2"/>
              </a:rPr>
              <a:t> Subnet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01   2</a:t>
            </a:r>
            <a:r>
              <a:rPr lang="en-US" baseline="30000" dirty="0" smtClean="0">
                <a:sym typeface="Wingdings" panose="05000000000000000000" pitchFamily="2" charset="2"/>
              </a:rPr>
              <a:t>nd</a:t>
            </a:r>
            <a:r>
              <a:rPr lang="en-US" dirty="0" smtClean="0">
                <a:sym typeface="Wingdings" panose="05000000000000000000" pitchFamily="2" charset="2"/>
              </a:rPr>
              <a:t> Subnet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10  3</a:t>
            </a:r>
            <a:r>
              <a:rPr lang="en-US" baseline="30000" dirty="0" smtClean="0">
                <a:sym typeface="Wingdings" panose="05000000000000000000" pitchFamily="2" charset="2"/>
              </a:rPr>
              <a:t>rd</a:t>
            </a:r>
            <a:r>
              <a:rPr lang="en-US" dirty="0" smtClean="0">
                <a:sym typeface="Wingdings" panose="05000000000000000000" pitchFamily="2" charset="2"/>
              </a:rPr>
              <a:t> Subnet     ( 10 000000 – 10 1111111)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11   4</a:t>
            </a:r>
            <a:r>
              <a:rPr lang="en-US" baseline="30000" dirty="0" smtClean="0">
                <a:sym typeface="Wingdings" panose="05000000000000000000" pitchFamily="2" charset="2"/>
              </a:rPr>
              <a:t>th</a:t>
            </a:r>
            <a:r>
              <a:rPr lang="en-US" dirty="0" smtClean="0">
                <a:sym typeface="Wingdings" panose="05000000000000000000" pitchFamily="2" charset="2"/>
              </a:rPr>
              <a:t> Subnet     (11 000000 – 11 111111)</a:t>
            </a: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6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876800"/>
          </a:xfrm>
        </p:spPr>
        <p:txBody>
          <a:bodyPr/>
          <a:lstStyle/>
          <a:p>
            <a:r>
              <a:rPr lang="en-US" b="1" dirty="0"/>
              <a:t>Subnet 1 </a:t>
            </a:r>
            <a:endParaRPr lang="en-US" dirty="0"/>
          </a:p>
          <a:p>
            <a:r>
              <a:rPr lang="en-US" dirty="0"/>
              <a:t>Possible Addresses: 192.168.10. </a:t>
            </a:r>
            <a:r>
              <a:rPr lang="en-US" dirty="0">
                <a:solidFill>
                  <a:srgbClr val="0000FF"/>
                </a:solidFill>
              </a:rPr>
              <a:t>00</a:t>
            </a:r>
            <a:r>
              <a:rPr lang="en-US" dirty="0"/>
              <a:t> 000000 </a:t>
            </a:r>
            <a:r>
              <a:rPr lang="en-US" dirty="0" smtClean="0">
                <a:solidFill>
                  <a:srgbClr val="FF0000"/>
                </a:solidFill>
              </a:rPr>
              <a:t>TO</a:t>
            </a:r>
            <a:r>
              <a:rPr lang="en-US" dirty="0" smtClean="0"/>
              <a:t> </a:t>
            </a:r>
            <a:r>
              <a:rPr lang="en-US" dirty="0"/>
              <a:t>192.168.10.</a:t>
            </a:r>
            <a:r>
              <a:rPr lang="en-US" dirty="0">
                <a:solidFill>
                  <a:srgbClr val="0000FF"/>
                </a:solidFill>
              </a:rPr>
              <a:t>00</a:t>
            </a:r>
            <a:r>
              <a:rPr lang="en-US" dirty="0"/>
              <a:t> 111111</a:t>
            </a:r>
          </a:p>
          <a:p>
            <a:r>
              <a:rPr lang="en-US" dirty="0"/>
              <a:t>Possible </a:t>
            </a:r>
            <a:r>
              <a:rPr lang="en-US" dirty="0" smtClean="0"/>
              <a:t>Hosts </a:t>
            </a:r>
            <a:r>
              <a:rPr lang="en-US" dirty="0"/>
              <a:t>: 192.168.10. 0 </a:t>
            </a:r>
            <a:r>
              <a:rPr lang="en-US" dirty="0">
                <a:solidFill>
                  <a:srgbClr val="FF0000"/>
                </a:solidFill>
              </a:rPr>
              <a:t>TO </a:t>
            </a:r>
            <a:r>
              <a:rPr lang="en-US" dirty="0" smtClean="0"/>
              <a:t> </a:t>
            </a:r>
            <a:r>
              <a:rPr lang="en-US" dirty="0"/>
              <a:t>192.168.10.63</a:t>
            </a:r>
          </a:p>
          <a:p>
            <a:r>
              <a:rPr lang="en-US" dirty="0"/>
              <a:t>Usable Hosts: 192.168.10.1 – 192.168.10.62</a:t>
            </a:r>
          </a:p>
          <a:p>
            <a:r>
              <a:rPr lang="en-US" dirty="0"/>
              <a:t>Subnet Address : 192.168.10. 0 </a:t>
            </a:r>
          </a:p>
          <a:p>
            <a:r>
              <a:rPr lang="en-US" dirty="0"/>
              <a:t>Broadcast: 192.168.10.63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36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76800"/>
          </a:xfrm>
        </p:spPr>
        <p:txBody>
          <a:bodyPr/>
          <a:lstStyle/>
          <a:p>
            <a:r>
              <a:rPr lang="en-US" b="1" dirty="0"/>
              <a:t>Subnet 2 </a:t>
            </a:r>
            <a:endParaRPr lang="en-US" dirty="0"/>
          </a:p>
          <a:p>
            <a:r>
              <a:rPr lang="en-US" dirty="0"/>
              <a:t>Possible Addresses: 192.168.10. </a:t>
            </a:r>
            <a:r>
              <a:rPr lang="en-US" dirty="0">
                <a:solidFill>
                  <a:srgbClr val="0000FF"/>
                </a:solidFill>
              </a:rPr>
              <a:t>01</a:t>
            </a:r>
            <a:r>
              <a:rPr lang="en-US" dirty="0"/>
              <a:t> 000000 </a:t>
            </a:r>
            <a:r>
              <a:rPr lang="en-US" dirty="0">
                <a:solidFill>
                  <a:srgbClr val="FF0000"/>
                </a:solidFill>
              </a:rPr>
              <a:t>TO </a:t>
            </a:r>
            <a:r>
              <a:rPr lang="en-US" dirty="0" smtClean="0"/>
              <a:t> </a:t>
            </a:r>
            <a:r>
              <a:rPr lang="en-US" dirty="0"/>
              <a:t>192.168.10.</a:t>
            </a:r>
            <a:r>
              <a:rPr lang="en-US" dirty="0">
                <a:solidFill>
                  <a:srgbClr val="0000FF"/>
                </a:solidFill>
              </a:rPr>
              <a:t>01</a:t>
            </a:r>
            <a:r>
              <a:rPr lang="en-US" dirty="0"/>
              <a:t> 111111</a:t>
            </a:r>
          </a:p>
          <a:p>
            <a:r>
              <a:rPr lang="en-US" dirty="0"/>
              <a:t>Possible </a:t>
            </a:r>
            <a:r>
              <a:rPr lang="en-US" dirty="0" smtClean="0"/>
              <a:t>Hosts </a:t>
            </a:r>
            <a:r>
              <a:rPr lang="en-US" dirty="0"/>
              <a:t>: 192.168.10. 64 </a:t>
            </a:r>
            <a:r>
              <a:rPr lang="en-US" dirty="0">
                <a:solidFill>
                  <a:srgbClr val="FF0000"/>
                </a:solidFill>
              </a:rPr>
              <a:t>TO </a:t>
            </a:r>
            <a:r>
              <a:rPr lang="en-US" dirty="0" smtClean="0"/>
              <a:t>192.168.10.127</a:t>
            </a:r>
            <a:endParaRPr lang="en-US" dirty="0"/>
          </a:p>
          <a:p>
            <a:r>
              <a:rPr lang="en-US" dirty="0"/>
              <a:t>Usable Hosts: 192.168.10.65 – 192.168.10.126</a:t>
            </a:r>
          </a:p>
          <a:p>
            <a:r>
              <a:rPr lang="en-US" dirty="0"/>
              <a:t>Subnet Address : 192.168.10. 64 </a:t>
            </a:r>
          </a:p>
          <a:p>
            <a:r>
              <a:rPr lang="en-US" dirty="0"/>
              <a:t>Broadcast: 192.168.10.127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21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for Subnet 3 </a:t>
            </a:r>
            <a:r>
              <a:rPr lang="en-US" smtClean="0"/>
              <a:t>and Subnet 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2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4,5</a:t>
            </a:r>
            <a:endParaRPr lang="en-US" dirty="0"/>
          </a:p>
          <a:p>
            <a:r>
              <a:rPr lang="en-US" dirty="0"/>
              <a:t>James Kurose, W. Ross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40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6505</TotalTime>
  <Words>2011</Words>
  <Application>Microsoft Office PowerPoint</Application>
  <PresentationFormat>On-screen Show (4:3)</PresentationFormat>
  <Paragraphs>297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Trebuchet MS</vt:lpstr>
      <vt:lpstr>Wingdings</vt:lpstr>
      <vt:lpstr>Clarity</vt:lpstr>
      <vt:lpstr>Computer networks</vt:lpstr>
      <vt:lpstr>Routing Algorithms</vt:lpstr>
      <vt:lpstr>Graph </vt:lpstr>
      <vt:lpstr>Abstract graph model of a network</vt:lpstr>
      <vt:lpstr>Graph model</vt:lpstr>
      <vt:lpstr>Goal of an Algorithm</vt:lpstr>
      <vt:lpstr>Finding cost of a path</vt:lpstr>
      <vt:lpstr>Finding cost of a path</vt:lpstr>
      <vt:lpstr>Finding cost of a path</vt:lpstr>
      <vt:lpstr>Finding cost of a path</vt:lpstr>
      <vt:lpstr>Shortest Path</vt:lpstr>
      <vt:lpstr>Ex-1</vt:lpstr>
      <vt:lpstr>Ex-1</vt:lpstr>
      <vt:lpstr>Centralized routing algorithm</vt:lpstr>
      <vt:lpstr>Centralized routing algorithm</vt:lpstr>
      <vt:lpstr>Centralized routing algorithm</vt:lpstr>
      <vt:lpstr>Centralized routing algorithm</vt:lpstr>
      <vt:lpstr>Decentralized routing algorithm</vt:lpstr>
      <vt:lpstr>Decentralized routing algorithm</vt:lpstr>
      <vt:lpstr>Decentralized routing algorithm</vt:lpstr>
      <vt:lpstr>Decentralized routing algorithm</vt:lpstr>
      <vt:lpstr>Decentralized routing algorithm</vt:lpstr>
      <vt:lpstr>Alternate Classification of algorithms</vt:lpstr>
      <vt:lpstr>Static Routing Algo.</vt:lpstr>
      <vt:lpstr>Static Routing Algo.</vt:lpstr>
      <vt:lpstr>Static Routing example</vt:lpstr>
      <vt:lpstr>Dynamic Routing Algo.</vt:lpstr>
      <vt:lpstr>Dynamic Routing Algo.</vt:lpstr>
      <vt:lpstr>Dynamic Routing Algo.</vt:lpstr>
      <vt:lpstr>Dynamic Routing examples</vt:lpstr>
      <vt:lpstr>Dynamic Routing</vt:lpstr>
      <vt:lpstr>Classifying routing algos.</vt:lpstr>
      <vt:lpstr>Today’s Routing algos .</vt:lpstr>
      <vt:lpstr>Today’s Routing algos .</vt:lpstr>
      <vt:lpstr>Why not Load sensitive?</vt:lpstr>
      <vt:lpstr>Why not Load sensitive?</vt:lpstr>
      <vt:lpstr>Practice on Subnetting</vt:lpstr>
      <vt:lpstr>Ex-1</vt:lpstr>
      <vt:lpstr>Ex-1</vt:lpstr>
      <vt:lpstr>Ex-2</vt:lpstr>
      <vt:lpstr>Ex-3</vt:lpstr>
      <vt:lpstr>Ex-3</vt:lpstr>
      <vt:lpstr>PowerPoint Presentation</vt:lpstr>
      <vt:lpstr>Ex-3</vt:lpstr>
      <vt:lpstr>PowerPoint Presentation</vt:lpstr>
      <vt:lpstr>Ex-3</vt:lpstr>
      <vt:lpstr>Ex-3</vt:lpstr>
      <vt:lpstr>Ex-3</vt:lpstr>
      <vt:lpstr>Book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Shazia Rizwan</dc:creator>
  <cp:lastModifiedBy>Admin</cp:lastModifiedBy>
  <cp:revision>466</cp:revision>
  <dcterms:created xsi:type="dcterms:W3CDTF">2006-08-16T00:00:00Z</dcterms:created>
  <dcterms:modified xsi:type="dcterms:W3CDTF">2026-04-11T08:03:24Z</dcterms:modified>
</cp:coreProperties>
</file>