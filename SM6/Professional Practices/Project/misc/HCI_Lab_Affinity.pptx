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move the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CE8EEBFB-5012-44A6-B5AB-8938B859FC92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11A50B6-A1DF-401A-AF30-279D87C71A5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B980687-29DB-435B-8E06-81D9652CAB7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9608CF1-ECD0-4BCA-B23E-1B020A23412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2BA159D-C071-4506-AE57-1B6D7096877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EDE98B0-0FFD-4301-A38C-56E5E0058A7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5629759-0755-464C-83D6-0BA00CB879E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5C24446-7061-43E6-868F-193BC933988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C50C06A-34CF-488E-B833-5E97BEA9977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4B94D02-2362-49E2-A8F5-F21211FF703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50F3FDC-B4F4-4D25-9964-E84E5BBCD19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0BB8B4A-E15C-499B-898E-DD2FA6E4238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79E5648-46A5-453C-9063-FB23CDC3489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A037D77-4A1A-46D0-93BF-3FAE877F78E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the title text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731520" y="1463040"/>
            <a:ext cx="7680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111111"/>
                </a:solidFill>
                <a:latin typeface="Calibri"/>
              </a:rPr>
              <a:t>HCI Lab</a:t>
            </a:r>
            <a:endParaRPr b="0" lang="en-US" sz="5200" spc="-1" strike="noStrike"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731520" y="2331720"/>
            <a:ext cx="7680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888888"/>
                </a:solidFill>
                <a:latin typeface="Calibri"/>
              </a:rPr>
              <a:t>Affinity Diagramming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731520" y="3017520"/>
            <a:ext cx="7680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bbbbbb"/>
                </a:solidFill>
                <a:latin typeface="Calibri"/>
              </a:rPr>
              <a:t>Ride-sharing on campus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Calibri"/>
              </a:rPr>
              <a:t>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/>
          <p:nvPr/>
        </p:nvSpPr>
        <p:spPr>
          <a:xfrm>
            <a:off x="731520" y="502920"/>
            <a:ext cx="1828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cccccc"/>
                </a:solidFill>
                <a:latin typeface="Calibri"/>
              </a:rPr>
              <a:t>Q1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9" name="Text 1"/>
          <p:cNvSpPr/>
          <p:nvPr/>
        </p:nvSpPr>
        <p:spPr>
          <a:xfrm>
            <a:off x="731520" y="1371600"/>
            <a:ext cx="768060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111111"/>
                </a:solidFill>
                <a:latin typeface="Calibri"/>
              </a:rPr>
              <a:t>How do you usually travel</a:t>
            </a:r>
            <a:endParaRPr b="0" lang="en-US" sz="3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111111"/>
                </a:solidFill>
                <a:latin typeface="Calibri"/>
              </a:rPr>
              <a:t>to or around campus?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50" name="Text 2"/>
          <p:cNvSpPr/>
          <p:nvPr/>
        </p:nvSpPr>
        <p:spPr>
          <a:xfrm>
            <a:off x="731520" y="4297680"/>
            <a:ext cx="7680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bbbbb"/>
                </a:solidFill>
                <a:latin typeface="Calibri"/>
              </a:rPr>
              <a:t>Write your answer on paper — one or two sentences.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1" name="Text 3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Calibri"/>
              </a:rPr>
              <a:t>2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731520" y="502920"/>
            <a:ext cx="1828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cccccc"/>
                </a:solidFill>
                <a:latin typeface="Calibri"/>
              </a:rPr>
              <a:t>Q2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731520" y="1371600"/>
            <a:ext cx="768060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111111"/>
                </a:solidFill>
                <a:latin typeface="Calibri"/>
              </a:rPr>
              <a:t>Walk me through the last time</a:t>
            </a:r>
            <a:endParaRPr b="0" lang="en-US" sz="3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111111"/>
                </a:solidFill>
                <a:latin typeface="Calibri"/>
              </a:rPr>
              <a:t>you took a paid ride somewhere.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54" name="Text 2"/>
          <p:cNvSpPr/>
          <p:nvPr/>
        </p:nvSpPr>
        <p:spPr>
          <a:xfrm>
            <a:off x="731520" y="4297680"/>
            <a:ext cx="7680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bbbbb"/>
                </a:solidFill>
                <a:latin typeface="Calibri"/>
              </a:rPr>
              <a:t>Write your answer on paper — one or two sentences.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5" name="Text 3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Calibri"/>
              </a:rPr>
              <a:t>3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731520" y="502920"/>
            <a:ext cx="1828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cccccc"/>
                </a:solidFill>
                <a:latin typeface="Calibri"/>
              </a:rPr>
              <a:t>Q3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 1"/>
          <p:cNvSpPr/>
          <p:nvPr/>
        </p:nvSpPr>
        <p:spPr>
          <a:xfrm>
            <a:off x="731520" y="1371600"/>
            <a:ext cx="768060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111111"/>
                </a:solidFill>
                <a:latin typeface="Calibri"/>
              </a:rPr>
              <a:t>Have you ever shared a ride</a:t>
            </a:r>
            <a:endParaRPr b="0" lang="en-US" sz="3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111111"/>
                </a:solidFill>
                <a:latin typeface="Calibri"/>
              </a:rPr>
              <a:t>with someone you didn't know well?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58" name="Text 2"/>
          <p:cNvSpPr/>
          <p:nvPr/>
        </p:nvSpPr>
        <p:spPr>
          <a:xfrm>
            <a:off x="731520" y="4297680"/>
            <a:ext cx="7680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bbbbb"/>
                </a:solidFill>
                <a:latin typeface="Calibri"/>
              </a:rPr>
              <a:t>Write your answer on paper — one or two sentences.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9" name="Text 3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Calibri"/>
              </a:rPr>
              <a:t>4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/>
          <p:cNvSpPr/>
          <p:nvPr/>
        </p:nvSpPr>
        <p:spPr>
          <a:xfrm>
            <a:off x="731520" y="502920"/>
            <a:ext cx="1828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cccccc"/>
                </a:solidFill>
                <a:latin typeface="Calibri"/>
              </a:rPr>
              <a:t>Q4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1" name="Text 1"/>
          <p:cNvSpPr/>
          <p:nvPr/>
        </p:nvSpPr>
        <p:spPr>
          <a:xfrm>
            <a:off x="731520" y="1371600"/>
            <a:ext cx="768060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111111"/>
                </a:solidFill>
                <a:latin typeface="Calibri"/>
              </a:rPr>
              <a:t>What would make you comfortable</a:t>
            </a:r>
            <a:endParaRPr b="0" lang="en-US" sz="3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111111"/>
                </a:solidFill>
                <a:latin typeface="Calibri"/>
              </a:rPr>
              <a:t>sharing a ride with another student?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62" name="Text 2"/>
          <p:cNvSpPr/>
          <p:nvPr/>
        </p:nvSpPr>
        <p:spPr>
          <a:xfrm>
            <a:off x="731520" y="4297680"/>
            <a:ext cx="7680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bbbbb"/>
                </a:solidFill>
                <a:latin typeface="Calibri"/>
              </a:rPr>
              <a:t>Write your answer on paper — one or two sentences.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3" name="Text 3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Calibri"/>
              </a:rPr>
              <a:t>5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731520" y="502920"/>
            <a:ext cx="1828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cccccc"/>
                </a:solidFill>
                <a:latin typeface="Calibri"/>
              </a:rPr>
              <a:t>Q5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731520" y="1371600"/>
            <a:ext cx="768060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111111"/>
                </a:solidFill>
                <a:latin typeface="Calibri"/>
              </a:rPr>
              <a:t>How do you currently coordinate</a:t>
            </a:r>
            <a:endParaRPr b="0" lang="en-US" sz="3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111111"/>
                </a:solidFill>
                <a:latin typeface="Calibri"/>
              </a:rPr>
              <a:t>rides with friends or classmates?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66" name="Text 2"/>
          <p:cNvSpPr/>
          <p:nvPr/>
        </p:nvSpPr>
        <p:spPr>
          <a:xfrm>
            <a:off x="731520" y="4297680"/>
            <a:ext cx="7680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bbbbb"/>
                </a:solidFill>
                <a:latin typeface="Calibri"/>
              </a:rPr>
              <a:t>Write your answer on paper — one or two sentences.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7" name="Text 3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Calibri"/>
              </a:rPr>
              <a:t>6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731520" y="502920"/>
            <a:ext cx="1828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cccccc"/>
                </a:solidFill>
                <a:latin typeface="Calibri"/>
              </a:rPr>
              <a:t>Q6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731520" y="1371600"/>
            <a:ext cx="768060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111111"/>
                </a:solidFill>
                <a:latin typeface="Calibri"/>
              </a:rPr>
              <a:t>What information would you need</a:t>
            </a:r>
            <a:endParaRPr b="0" lang="en-US" sz="3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111111"/>
                </a:solidFill>
                <a:latin typeface="Calibri"/>
              </a:rPr>
              <a:t>before sharing a ride with a stranger?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70" name="Text 3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Calibri"/>
              </a:rPr>
              <a:t>7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0"/>
          <p:cNvSpPr/>
          <p:nvPr/>
        </p:nvSpPr>
        <p:spPr>
          <a:xfrm>
            <a:off x="731520" y="1005840"/>
            <a:ext cx="76806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111111"/>
                </a:solidFill>
                <a:latin typeface="Calibri"/>
              </a:rPr>
              <a:t>Form groups of 4.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72" name="Shape 1"/>
          <p:cNvSpPr/>
          <p:nvPr/>
        </p:nvSpPr>
        <p:spPr>
          <a:xfrm>
            <a:off x="731520" y="2331720"/>
            <a:ext cx="292320" cy="292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2"/>
          <p:cNvSpPr/>
          <p:nvPr/>
        </p:nvSpPr>
        <p:spPr>
          <a:xfrm>
            <a:off x="731520" y="231336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4" name="Text 3"/>
          <p:cNvSpPr/>
          <p:nvPr/>
        </p:nvSpPr>
        <p:spPr>
          <a:xfrm>
            <a:off x="1143000" y="2313360"/>
            <a:ext cx="7223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111111"/>
                </a:solidFill>
                <a:latin typeface="Calibri"/>
              </a:rPr>
              <a:t>Find 3 people near you.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75" name="Shape 4"/>
          <p:cNvSpPr/>
          <p:nvPr/>
        </p:nvSpPr>
        <p:spPr>
          <a:xfrm>
            <a:off x="731520" y="3017520"/>
            <a:ext cx="292320" cy="292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Text 5"/>
          <p:cNvSpPr/>
          <p:nvPr/>
        </p:nvSpPr>
        <p:spPr>
          <a:xfrm>
            <a:off x="731520" y="299916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7" name="Text 6"/>
          <p:cNvSpPr/>
          <p:nvPr/>
        </p:nvSpPr>
        <p:spPr>
          <a:xfrm>
            <a:off x="1143000" y="2999160"/>
            <a:ext cx="7223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111111"/>
                </a:solidFill>
                <a:latin typeface="Calibri"/>
              </a:rPr>
              <a:t>Sit together as a group.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78" name="Shape 7"/>
          <p:cNvSpPr/>
          <p:nvPr/>
        </p:nvSpPr>
        <p:spPr>
          <a:xfrm>
            <a:off x="731520" y="3703320"/>
            <a:ext cx="292320" cy="29232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Text 8"/>
          <p:cNvSpPr/>
          <p:nvPr/>
        </p:nvSpPr>
        <p:spPr>
          <a:xfrm>
            <a:off x="731520" y="368496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0" name="Text 9"/>
          <p:cNvSpPr/>
          <p:nvPr/>
        </p:nvSpPr>
        <p:spPr>
          <a:xfrm>
            <a:off x="1143000" y="3684960"/>
            <a:ext cx="7223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111111"/>
                </a:solidFill>
                <a:latin typeface="Calibri"/>
              </a:rPr>
              <a:t>Keep all your answer sheets — you'll need them next.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81" name="Text 10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Calibri"/>
              </a:rPr>
              <a:t>8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731520" y="822960"/>
            <a:ext cx="7680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111111"/>
                </a:solidFill>
                <a:latin typeface="Calibri"/>
              </a:rPr>
              <a:t>Collect your group's papers.</a:t>
            </a:r>
            <a:endParaRPr b="0" lang="en-US" sz="3800" spc="-1" strike="noStrike">
              <a:latin typeface="Arial"/>
            </a:endParaRPr>
          </a:p>
        </p:txBody>
      </p:sp>
      <p:sp>
        <p:nvSpPr>
          <p:cNvPr id="83" name="Shape 1"/>
          <p:cNvSpPr/>
          <p:nvPr/>
        </p:nvSpPr>
        <p:spPr>
          <a:xfrm>
            <a:off x="731520" y="1828800"/>
            <a:ext cx="3474360" cy="191988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Text 2"/>
          <p:cNvSpPr/>
          <p:nvPr/>
        </p:nvSpPr>
        <p:spPr>
          <a:xfrm>
            <a:off x="731520" y="1874520"/>
            <a:ext cx="3474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0" spc="-1" strike="noStrike">
                <a:solidFill>
                  <a:srgbClr val="111111"/>
                </a:solidFill>
                <a:latin typeface="Calibri"/>
              </a:rPr>
              <a:t>4</a:t>
            </a:r>
            <a:endParaRPr b="0" lang="en-US" sz="8000" spc="-1" strike="noStrike"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731520" y="2926080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888888"/>
                </a:solidFill>
                <a:latin typeface="Calibri"/>
              </a:rPr>
              <a:t>answer sheets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6" name="Shape 4"/>
          <p:cNvSpPr/>
          <p:nvPr/>
        </p:nvSpPr>
        <p:spPr>
          <a:xfrm>
            <a:off x="4663440" y="1828800"/>
            <a:ext cx="3748680" cy="191988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5"/>
          <p:cNvSpPr/>
          <p:nvPr/>
        </p:nvSpPr>
        <p:spPr>
          <a:xfrm>
            <a:off x="4663440" y="1874520"/>
            <a:ext cx="3748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0" spc="-1" strike="noStrike">
                <a:solidFill>
                  <a:srgbClr val="111111"/>
                </a:solidFill>
                <a:latin typeface="Calibri"/>
              </a:rPr>
              <a:t>24</a:t>
            </a:r>
            <a:endParaRPr b="0" lang="en-US" sz="8000" spc="-1" strike="noStrike">
              <a:latin typeface="Arial"/>
            </a:endParaRPr>
          </a:p>
        </p:txBody>
      </p:sp>
      <p:sp>
        <p:nvSpPr>
          <p:cNvPr id="88" name="Text 6"/>
          <p:cNvSpPr/>
          <p:nvPr/>
        </p:nvSpPr>
        <p:spPr>
          <a:xfrm>
            <a:off x="4663440" y="2926080"/>
            <a:ext cx="374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888888"/>
                </a:solidFill>
                <a:latin typeface="Calibri"/>
              </a:rPr>
              <a:t>responses total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9" name="Text 7"/>
          <p:cNvSpPr/>
          <p:nvPr/>
        </p:nvSpPr>
        <p:spPr>
          <a:xfrm>
            <a:off x="731520" y="4206240"/>
            <a:ext cx="7680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bbbbb"/>
                </a:solidFill>
                <a:latin typeface="Calibri"/>
              </a:rPr>
              <a:t>4 people × 6 questions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0" name="Text 8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Calibri"/>
              </a:rPr>
              <a:t>9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/>
          <p:nvPr/>
        </p:nvSpPr>
        <p:spPr>
          <a:xfrm>
            <a:off x="731520" y="914400"/>
            <a:ext cx="7680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111111"/>
                </a:solidFill>
                <a:latin typeface="Calibri"/>
              </a:rPr>
              <a:t>Open FigJam.</a:t>
            </a:r>
            <a:endParaRPr b="0" lang="en-US" sz="5200" spc="-1" strike="noStrike"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731520" y="1828800"/>
            <a:ext cx="7680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888888"/>
                </a:solidFill>
                <a:latin typeface="Calibri"/>
              </a:rPr>
              <a:t>Start creating sticky notes.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3" name="Shape 2"/>
          <p:cNvSpPr/>
          <p:nvPr/>
        </p:nvSpPr>
        <p:spPr>
          <a:xfrm>
            <a:off x="731520" y="2743200"/>
            <a:ext cx="54360" cy="292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 3"/>
          <p:cNvSpPr/>
          <p:nvPr/>
        </p:nvSpPr>
        <p:spPr>
          <a:xfrm>
            <a:off x="914400" y="2743200"/>
            <a:ext cx="7497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111111"/>
                </a:solidFill>
                <a:latin typeface="Calibri"/>
              </a:rPr>
              <a:t>One idea per sticky — short sentence only.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95" name="Shape 4"/>
          <p:cNvSpPr/>
          <p:nvPr/>
        </p:nvSpPr>
        <p:spPr>
          <a:xfrm>
            <a:off x="731520" y="3246120"/>
            <a:ext cx="54360" cy="292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5"/>
          <p:cNvSpPr/>
          <p:nvPr/>
        </p:nvSpPr>
        <p:spPr>
          <a:xfrm>
            <a:off x="914400" y="3246120"/>
            <a:ext cx="7497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111111"/>
                </a:solidFill>
                <a:latin typeface="Calibri"/>
              </a:rPr>
              <a:t>One sticky per answer. If an answer has two ideas, make two stickies.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97" name="Shape 6"/>
          <p:cNvSpPr/>
          <p:nvPr/>
        </p:nvSpPr>
        <p:spPr>
          <a:xfrm>
            <a:off x="731520" y="3749040"/>
            <a:ext cx="54360" cy="292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Text 7"/>
          <p:cNvSpPr/>
          <p:nvPr/>
        </p:nvSpPr>
        <p:spPr>
          <a:xfrm>
            <a:off x="914400" y="3749040"/>
            <a:ext cx="7497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111111"/>
                </a:solidFill>
                <a:latin typeface="Calibri"/>
              </a:rPr>
              <a:t>No names — write the observation, not who said it.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99" name="Text 8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Calibri"/>
              </a:rPr>
              <a:t>10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0"/>
          <p:cNvSpPr/>
          <p:nvPr/>
        </p:nvSpPr>
        <p:spPr>
          <a:xfrm>
            <a:off x="731520" y="777240"/>
            <a:ext cx="7680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111111"/>
                </a:solidFill>
                <a:latin typeface="Calibri"/>
              </a:rPr>
              <a:t>Now cluster them.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101" name="Text 1"/>
          <p:cNvSpPr/>
          <p:nvPr/>
        </p:nvSpPr>
        <p:spPr>
          <a:xfrm>
            <a:off x="731520" y="1691640"/>
            <a:ext cx="7680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888888"/>
                </a:solidFill>
                <a:latin typeface="Calibri"/>
              </a:rPr>
              <a:t>Move similar sticky notes together. Name the group after the pattern — not before.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02" name="Shape 2"/>
          <p:cNvSpPr/>
          <p:nvPr/>
        </p:nvSpPr>
        <p:spPr>
          <a:xfrm>
            <a:off x="731520" y="2743200"/>
            <a:ext cx="1462680" cy="1371240"/>
          </a:xfrm>
          <a:prstGeom prst="rect">
            <a:avLst/>
          </a:prstGeom>
          <a:solidFill>
            <a:srgbClr val="f5c4b3"/>
          </a:solidFill>
          <a:ln w="635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Text 3"/>
          <p:cNvSpPr/>
          <p:nvPr/>
        </p:nvSpPr>
        <p:spPr>
          <a:xfrm>
            <a:off x="731520" y="2743200"/>
            <a:ext cx="14626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33333"/>
                </a:solidFill>
                <a:latin typeface="Calibri"/>
              </a:rPr>
              <a:t>Safety</a:t>
            </a:r>
            <a:endParaRPr b="0" lang="en-US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33333"/>
                </a:solidFill>
                <a:latin typeface="Calibri"/>
              </a:rPr>
              <a:t>&amp; trust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4" name="Shape 4"/>
          <p:cNvSpPr/>
          <p:nvPr/>
        </p:nvSpPr>
        <p:spPr>
          <a:xfrm>
            <a:off x="2377440" y="2743200"/>
            <a:ext cx="1462680" cy="1371240"/>
          </a:xfrm>
          <a:prstGeom prst="rect">
            <a:avLst/>
          </a:prstGeom>
          <a:solidFill>
            <a:srgbClr val="b5d4f4"/>
          </a:solidFill>
          <a:ln w="635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5"/>
          <p:cNvSpPr/>
          <p:nvPr/>
        </p:nvSpPr>
        <p:spPr>
          <a:xfrm>
            <a:off x="2377440" y="2743200"/>
            <a:ext cx="14626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33333"/>
                </a:solidFill>
                <a:latin typeface="Calibri"/>
              </a:rPr>
              <a:t>Convenience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6" name="Shape 6"/>
          <p:cNvSpPr/>
          <p:nvPr/>
        </p:nvSpPr>
        <p:spPr>
          <a:xfrm>
            <a:off x="4023360" y="2743200"/>
            <a:ext cx="1462680" cy="1371240"/>
          </a:xfrm>
          <a:prstGeom prst="rect">
            <a:avLst/>
          </a:prstGeom>
          <a:solidFill>
            <a:srgbClr val="cecbf6"/>
          </a:solidFill>
          <a:ln w="635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7"/>
          <p:cNvSpPr/>
          <p:nvPr/>
        </p:nvSpPr>
        <p:spPr>
          <a:xfrm>
            <a:off x="4023360" y="2743200"/>
            <a:ext cx="14626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33333"/>
                </a:solidFill>
                <a:latin typeface="Calibri"/>
              </a:rPr>
              <a:t>Social</a:t>
            </a:r>
            <a:endParaRPr b="0" lang="en-US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33333"/>
                </a:solidFill>
                <a:latin typeface="Calibri"/>
              </a:rPr>
              <a:t>proof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8" name="Shape 8"/>
          <p:cNvSpPr/>
          <p:nvPr/>
        </p:nvSpPr>
        <p:spPr>
          <a:xfrm>
            <a:off x="5669280" y="2743200"/>
            <a:ext cx="1462680" cy="1371240"/>
          </a:xfrm>
          <a:prstGeom prst="rect">
            <a:avLst/>
          </a:prstGeom>
          <a:solidFill>
            <a:srgbClr val="c0dd97"/>
          </a:solidFill>
          <a:ln w="635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Text 9"/>
          <p:cNvSpPr/>
          <p:nvPr/>
        </p:nvSpPr>
        <p:spPr>
          <a:xfrm>
            <a:off x="5669280" y="2743200"/>
            <a:ext cx="14626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33333"/>
                </a:solidFill>
                <a:latin typeface="Calibri"/>
              </a:rPr>
              <a:t>Cost &amp;</a:t>
            </a:r>
            <a:endParaRPr b="0" lang="en-US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33333"/>
                </a:solidFill>
                <a:latin typeface="Calibri"/>
              </a:rPr>
              <a:t>motivation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0" name="Shape 10"/>
          <p:cNvSpPr/>
          <p:nvPr/>
        </p:nvSpPr>
        <p:spPr>
          <a:xfrm>
            <a:off x="7315200" y="2743200"/>
            <a:ext cx="1462680" cy="1371240"/>
          </a:xfrm>
          <a:prstGeom prst="rect">
            <a:avLst/>
          </a:prstGeom>
          <a:solidFill>
            <a:srgbClr val="fac775"/>
          </a:solidFill>
          <a:ln w="635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Text 11"/>
          <p:cNvSpPr/>
          <p:nvPr/>
        </p:nvSpPr>
        <p:spPr>
          <a:xfrm>
            <a:off x="7315200" y="2743200"/>
            <a:ext cx="14626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33333"/>
                </a:solidFill>
                <a:latin typeface="Calibri"/>
              </a:rPr>
              <a:t>Existing</a:t>
            </a:r>
            <a:endParaRPr b="0" lang="en-US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33333"/>
                </a:solidFill>
                <a:latin typeface="Calibri"/>
              </a:rPr>
              <a:t>workarounds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2" name="Text 12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Calibri"/>
              </a:rPr>
              <a:t>11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731520" y="914400"/>
            <a:ext cx="7680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111111"/>
                </a:solidFill>
                <a:latin typeface="Calibri"/>
              </a:rPr>
              <a:t>Name your clusters.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731520" y="1920240"/>
            <a:ext cx="7680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888888"/>
                </a:solidFill>
                <a:latin typeface="Calibri"/>
              </a:rPr>
              <a:t>Once your groups feel stable, give each one a name</a:t>
            </a:r>
            <a:endParaRPr b="0" lang="en-US" sz="1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888888"/>
                </a:solidFill>
                <a:latin typeface="Calibri"/>
              </a:rPr>
              <a:t>that describes the theme — not the topic.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15" name="Shape 2"/>
          <p:cNvSpPr/>
          <p:nvPr/>
        </p:nvSpPr>
        <p:spPr>
          <a:xfrm>
            <a:off x="731520" y="2926080"/>
            <a:ext cx="7680600" cy="1645560"/>
          </a:xfrm>
          <a:prstGeom prst="rect">
            <a:avLst/>
          </a:prstGeom>
          <a:solidFill>
            <a:srgbClr val="f9f9f9"/>
          </a:solidFill>
          <a:ln w="6350">
            <a:solidFill>
              <a:srgbClr val="eeeee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3"/>
          <p:cNvSpPr/>
          <p:nvPr/>
        </p:nvSpPr>
        <p:spPr>
          <a:xfrm>
            <a:off x="914400" y="356616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11111"/>
                </a:solidFill>
                <a:latin typeface="Calibri"/>
              </a:rPr>
              <a:t>Good: </a:t>
            </a: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"Safety &amp; trust"    </a:t>
            </a:r>
            <a:r>
              <a:rPr b="1" lang="en-US" sz="1400" spc="-1" strike="noStrike">
                <a:solidFill>
                  <a:srgbClr val="111111"/>
                </a:solidFill>
                <a:latin typeface="Calibri"/>
              </a:rPr>
              <a:t>Not good: </a:t>
            </a:r>
            <a:r>
              <a:rPr b="0" lang="en-US" sz="1400" spc="-1" strike="noStrike">
                <a:solidFill>
                  <a:srgbClr val="888888"/>
                </a:solidFill>
                <a:latin typeface="Calibri"/>
              </a:rPr>
              <a:t>"Student responses about safety"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Calibri"/>
              </a:rPr>
              <a:t>12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0"/>
          <p:cNvSpPr/>
          <p:nvPr/>
        </p:nvSpPr>
        <p:spPr>
          <a:xfrm>
            <a:off x="731520" y="731520"/>
            <a:ext cx="76806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111111"/>
                </a:solidFill>
                <a:latin typeface="Calibri"/>
              </a:rPr>
              <a:t>Write one insight</a:t>
            </a:r>
            <a:endParaRPr b="0" lang="en-US" sz="4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111111"/>
                </a:solidFill>
                <a:latin typeface="Calibri"/>
              </a:rPr>
              <a:t>per cluster.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19" name="Text 1"/>
          <p:cNvSpPr/>
          <p:nvPr/>
        </p:nvSpPr>
        <p:spPr>
          <a:xfrm>
            <a:off x="731520" y="2423160"/>
            <a:ext cx="7680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888888"/>
                </a:solidFill>
                <a:latin typeface="Calibri"/>
              </a:rPr>
              <a:t>Under each cluster name, write a single sentence: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888888"/>
                </a:solidFill>
                <a:latin typeface="Calibri"/>
              </a:rPr>
              <a:t>what does this pattern tell you about the user?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0" name="Shape 2"/>
          <p:cNvSpPr/>
          <p:nvPr/>
        </p:nvSpPr>
        <p:spPr>
          <a:xfrm>
            <a:off x="731520" y="3291840"/>
            <a:ext cx="7680600" cy="1279800"/>
          </a:xfrm>
          <a:prstGeom prst="rect">
            <a:avLst/>
          </a:prstGeom>
          <a:solidFill>
            <a:srgbClr val="f9f9f9"/>
          </a:solidFill>
          <a:ln w="6350">
            <a:solidFill>
              <a:srgbClr val="eeeee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3"/>
          <p:cNvSpPr/>
          <p:nvPr/>
        </p:nvSpPr>
        <p:spPr>
          <a:xfrm>
            <a:off x="914400" y="3429000"/>
            <a:ext cx="73148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11111"/>
                </a:solidFill>
                <a:latin typeface="Calibri"/>
              </a:rPr>
              <a:t>Example: </a:t>
            </a:r>
            <a:r>
              <a:rPr b="0" lang="en-US" sz="1400" spc="-1" strike="noStrike">
                <a:solidFill>
                  <a:srgbClr val="555555"/>
                </a:solidFill>
                <a:latin typeface="Calibri"/>
              </a:rPr>
              <a:t>"Students refuse to share rides without a verified photo, department, and ride history."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2" name="Text 4"/>
          <p:cNvSpPr/>
          <p:nvPr/>
        </p:nvSpPr>
        <p:spPr>
          <a:xfrm>
            <a:off x="8503920" y="4754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Calibri"/>
              </a:rPr>
              <a:t>13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2026-05-08T07:15:00Z</dcterms:created>
  <dc:creator>PptxGenJS</dc:creator>
  <dc:description/>
  <dc:language>en-US</dc:language>
  <cp:lastModifiedBy/>
  <dcterms:modified xsi:type="dcterms:W3CDTF">2026-05-08T12:19:00Z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