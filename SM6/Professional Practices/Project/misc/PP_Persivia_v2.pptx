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5029200" cy="24003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3200400"/>
            <a:ext cx="914400" cy="24003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543800" y="320040"/>
            <a:ext cx="1371600" cy="13716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543800" y="1874520"/>
            <a:ext cx="1371600" cy="1371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8046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13258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Practices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Persivia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457200" y="30906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Community Service Initiatives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572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40050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Ali · Saad Mughal · Khadijah Zahoor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42793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F2023-750 · F2023-009 · F2023-956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265176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0" y="265176"/>
            <a:ext cx="43891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55264" y="35661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328" y="32004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87952" y="356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868680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68680"/>
            <a:ext cx="438912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96012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92354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87952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&amp; SWOT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46120" y="1472184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46120" y="1472184"/>
            <a:ext cx="43891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55264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5270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87952" y="15636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Interview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246120" y="2075688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46120" y="2075688"/>
            <a:ext cx="438912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55264" y="2167128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13055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87952" y="2167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Gaps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46120" y="2679192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679192"/>
            <a:ext cx="43891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55264" y="2770632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273405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187952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246120" y="3282696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46120" y="3282696"/>
            <a:ext cx="438912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255264" y="33741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3337560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187952" y="3374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– Quality Education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3246120" y="3886200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246120" y="3886200"/>
            <a:ext cx="43891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255264" y="397764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941064"/>
            <a:ext cx="329184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187952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– Climate Action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246120" y="4489704"/>
            <a:ext cx="5577840" cy="512064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246120" y="4489704"/>
            <a:ext cx="438912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255264" y="458114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4544568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187952" y="4581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 — AI-Driven Digital Health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229600" y="109728"/>
            <a:ext cx="749808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261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Persivia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664208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U.S.-based healthcare analytics — HQ in Marlborough, MA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engineering in Thokar, Lahore, Pakistan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2015 by physicians and healthcare IT professionals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Flagship: CareSpace® — population health management platform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transition providers to value-based care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Gartner-recognized across multiple healthcare IT categories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49240" y="1188720"/>
            <a:ext cx="1719072" cy="16642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463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394960" y="223113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0" y="1188720"/>
            <a:ext cx="1719072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69480" y="146304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269480" y="223113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3063240"/>
            <a:ext cx="1719072" cy="16642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94960" y="3337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394960" y="41056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23760" y="3063240"/>
            <a:ext cx="1719072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333756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180M+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269480" y="41056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market landscape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321040" y="109728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97280"/>
            <a:ext cx="8595360" cy="70408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97280"/>
            <a:ext cx="274320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152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Innovaccer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 in data activation &amp; pop. health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47872" y="1371600"/>
            <a:ext cx="128016" cy="128016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67328" y="1152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Edge: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67328" y="14447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end-to-end workflows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892808"/>
            <a:ext cx="8595360" cy="70408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892808"/>
            <a:ext cx="274320" cy="7040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Cerner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2258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Large-enterprise option for Cerner EHR ecosystems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547872" y="2167128"/>
            <a:ext cx="128016" cy="128016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Edge: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767328" y="22402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agility &amp; faster time-to-value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688336"/>
            <a:ext cx="8595360" cy="70408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2688336"/>
            <a:ext cx="274320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Care Everywhere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5800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in academic medical centers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47872" y="2962656"/>
            <a:ext cx="128016" cy="128016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67328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Edge: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767328" y="30358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Platform-agnostic, multi-EHR integration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483864"/>
            <a:ext cx="8595360" cy="70408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483864"/>
            <a:ext cx="274320" cy="7040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HealthEdge GuidingCare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" y="3849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Payer-side utilization management depth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547872" y="3758184"/>
            <a:ext cx="128016" cy="128016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67328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Edge: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767328" y="383133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provider analytics capability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279392"/>
            <a:ext cx="8595360" cy="70408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" y="4279392"/>
            <a:ext cx="274320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athenahealth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" y="4645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Ambulatory practice management strength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547872" y="4553712"/>
            <a:ext cx="128016" cy="128016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67328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Persivia's Edge: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767328" y="46268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health &amp; risk adjustment depth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 of Persivia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420624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152704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AI-driven platform: data, analytics, care, point-of-care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Gartner-recognized across multiple healthcare IT categories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infrastructure — superior data residency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 — physician authority always preserved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10515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051560"/>
            <a:ext cx="420624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2704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brand footprint vs. large-ecosystem incumbents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cybersecurity resilience team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formal cyber ethics &amp; responsible AI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 fully delegated to client hospitals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090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090672"/>
            <a:ext cx="420624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145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" y="3566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shift toward value-based care &amp; CMS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public health surveillance demand (post-COVID)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orgs seeking faster deployment over legacy suites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international healthcare IT markets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3090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3090672"/>
            <a:ext cx="420624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45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competition: Epic, Oracle, athenahealth, Innovaccer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regulation-heavy healthcare procurement cycles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ransomware attacks on healthcare infrastructure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AI regulations may impose major compliance burdens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TOPIC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&amp; Healthcare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0972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"Healthcare data is among the most sensitive personal information in digital form — its misuse carries severe consequences for millions of patients."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993392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19933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1518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73075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is a floor, not a ceiling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33472" y="2560320"/>
            <a:ext cx="1993392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33472" y="2560320"/>
            <a:ext cx="19933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61518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24912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724912" y="373075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amplifies disparities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09744" y="2560320"/>
            <a:ext cx="1993392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9744" y="2560320"/>
            <a:ext cx="19933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615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01184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Transparency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901184" y="373075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boxes create accountability gaps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986016" y="2560320"/>
            <a:ext cx="1993392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86016" y="2560320"/>
            <a:ext cx="19933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615184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77456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Governance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077456" y="373075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data needs patient clarity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15-question semi-structured interview with Persivia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1247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1155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ethical responsibility?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data protection AND measurable patient outcome improvement — framed as a core value, not compliance.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0487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0487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41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approach?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807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Multi-layer: role-based access, data segregation, VPN-restricted access, full HIPAA + HL7 adherence.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3075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3075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3075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37764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7673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41330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outputs advisory only. Licensed healthcare professionals retain full clinical decision authority.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7899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07899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11247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1155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tool governance?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1481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Anthropic's Claude approved internally — chosen for HIPAA compliance and privacy commitments.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0487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40487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40487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441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 response?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2807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protocols exist, but NO dedicated cybersecurity resilience team — a critical identified gap.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73075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30752"/>
            <a:ext cx="41605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30752"/>
            <a:ext cx="274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37764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7673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 management?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1330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delegated to client hospitals via Business Associate Agreements — legally valid but ethically incomplete.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457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0080" y="16459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6032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Persivia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well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64592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0" y="164592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43891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Data Architecture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880360" y="87782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VPN restriction, physical + logical data segregation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1792224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0" y="1792224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80360" y="206654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Processing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880360" y="250545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Unaggregated datasets restricted to a dedicated team only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0" y="3419856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0" y="3419856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0360" y="369417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&amp; HL7 Compliance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880360" y="4133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adherence and continuous regulatory monitoring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52160" y="164592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164592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43891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Infrastructure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989320" y="87782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residency control; reduced cloud attack surface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52160" y="1792224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52160" y="1792224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206654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989320" y="250545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advisory; physician authority never bypassed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852160" y="3419856"/>
            <a:ext cx="2944368" cy="14630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52160" y="3419856"/>
            <a:ext cx="29443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89320" y="369417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LLM Governance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989320" y="4133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Claude approved internally — a mature AI governance signal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requiring urgent attention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5603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161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Cybersecurity Team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3000" y="1417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one of the most targeted sectors. No specialized threat monitoring or incident response capacity.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8562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856232"/>
            <a:ext cx="25603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082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911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Algorithmic Fairness Framework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43000" y="22219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 monitoring or disparate impact analysis. Models trained on historical data may replicate clinical disparities.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266090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660904"/>
            <a:ext cx="25603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2549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Cyber Ethics Training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3000" y="3026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not systematically trained in cyber ethics or responsible AI. Human error is a leading breach cause.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74320" y="34655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465576"/>
            <a:ext cx="25603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301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 Delegation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3000" y="38313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managed by client hospitals — patients may lack transparency about Persivia's data processing.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427024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4270248"/>
            <a:ext cx="25603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348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Whistleblower Channel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43000" y="46360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concerns routed informally through management. No anonymous reporting mechanism exists.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evidence-based proposals for Persivia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435608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8992" y="114300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Dedicated Cybersecurity Dept.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581912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team: threat detection, pen-testing, incident response, ransomware resilience.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86584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86584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277063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247802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Cyber Ethics 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291693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program: responsible AI, data ethics, secure engineering, ethical reporting.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21608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21608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4105656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381304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Fairness Auditing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425196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monitoring, disparate impact analysis, audit results shared with client institutions.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51560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435608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13832" y="114300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Ethical AI Transparency Statement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3832" y="1581912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design, training, validation, known limitations — public and client-facing.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386584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86584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77063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13832" y="247802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Whistleblower Channels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13832" y="291693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anonymous reporting; employees protected when flagging ethical concerns.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721608"/>
            <a:ext cx="4160520" cy="12070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21608"/>
            <a:ext cx="71323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4105656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13832" y="381304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Patient-Centered Consent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13832" y="425196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consent templates; patient-facing docs; Patient Data Advisory mechanism.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07408" y="0"/>
            <a:ext cx="32918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315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938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5760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Khadijah Zahoor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401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Sale Fundraiser 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School Visit – Bahria Town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303520" y="54864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1938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4846320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Ali &amp; Saad Mughal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3401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Tree Plantation Drive 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Saplings — Lahore Conservation Society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91840" y="457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– QUALITY EDUCATION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Khadijah Zahoor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16459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Context: UNESCO documents millions of children out of school or in under-resourced institutions. Educational deprivation perpetuates poverty cycles across generations.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93392"/>
            <a:ext cx="41605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3911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2048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Campus Bake Sale Fundraiser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2523744"/>
            <a:ext cx="374904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baked goods for students &amp; faculty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awareness through direct community outreach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proceeds tracked separately — full financial accountability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target exceeded within a single 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993392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993392"/>
            <a:ext cx="41605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3911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2048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SOUL School Visit – Bahria Town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73752" y="2523744"/>
            <a:ext cx="374904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SOUL: non-profit primary school for underprivileged students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discovery-based interactive educational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play activity fostering joy and psychological safety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became progressively animated and expressive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5361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2633472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706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3803904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" y="4370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Impact on Children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694944"/>
            <a:ext cx="5440680" cy="196596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804672"/>
            <a:ext cx="507492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reserved children became progressively animated and expressive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curiosity and thoughtful questions during educational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uninhibited joy during play — reminder of children's deep capacity for happiness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translates into learning materials and operational stability for SOUL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16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Learning — Khadijah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3273552"/>
            <a:ext cx="544068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383280"/>
            <a:ext cx="5074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equity transformed from policy abstraction to lived human reality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'Knowledge by acquaintance' — impossible to replicate through classroom instruction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professionals must consider those without a voice in design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– CLIMATE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Ali &amp; Saad Mughal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16459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ranks top 10 globally for climate vulnerability — suffering severe consequences while contributing minimally to global emissions. A profound and local justice issue.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84248"/>
            <a:ext cx="310896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Partnership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2395728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sapling donation from Lahore Conservation Society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species: Neem, Orange, Lemon, Flame, Bottle Brush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provided planting protocols and post-care guidance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49300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493008"/>
            <a:ext cx="41605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38728"/>
            <a:ext cx="310896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Mobilization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38912" y="3950208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outreach across multiple university departments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recruit briefed on environmental rationale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involvement turned gesture into community event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09160" y="193852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09160" y="1938528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84248"/>
            <a:ext cx="310896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84648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73752" y="2395728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planting across multiple campus zones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saplings planted in a single community drive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prep, depth measurement, careful positioning, watering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349300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493008"/>
            <a:ext cx="41605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38728"/>
            <a:ext cx="310896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84648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Post-Planting Monitoring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873752" y="3950208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committed to ongoing sapling health monitoring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one-time event into sustained stewardship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practical urban tree ecology 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5361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Saplings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2633472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706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3803904"/>
            <a:ext cx="2743200" cy="1005840"/>
          </a:xfrm>
          <a:prstGeom prst="rect">
            <a:avLst/>
          </a:prstGeom>
          <a:solidFill>
            <a:srgbClr val="0D3568"/>
          </a:solidFill>
          <a:ln w="12700">
            <a:solidFill>
              <a:srgbClr val="0D3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" y="4370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Benefits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694944"/>
            <a:ext cx="5440680" cy="196596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804672"/>
            <a:ext cx="507492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trees: highly adapted to Lahore's climate, minimal irrigation once established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sequestration, shade, particulate capture, urban heat island cooling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local biodiversity — insects, birds, soil health improvement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trees (Orange, Lemon) provide tangible direct benefit to campus community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16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Educational Impact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3273552"/>
            <a:ext cx="544068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383280"/>
            <a:ext cx="5074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gained concrete knowledge: urban reforestation and climate 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stewardship builds environmental agency — passive education cannot match this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trees are living proof that collective student action produces lasting real-world change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REFLECTIONS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community service taught us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960120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6304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1887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Through Direct 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53312" y="159105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engagement with children at SOUL and physical planting work produce 'knowledge by acquaintance' — qualitatively different from any textbook learning.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42316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423160"/>
            <a:ext cx="960120" cy="12070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80720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53288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Project Management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53312" y="293522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concurrent initiatives required clear objectives, partner coordination, financial accountability, multi-workstream management — real professional competencies exercised.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76732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767328"/>
            <a:ext cx="9601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1513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3312" y="387705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Professionalism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53312" y="427939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Persivia navigates data ethics, we must navigate our duties to society and planet. Technical excellence and civic responsibility are the two halves of complete professional practice.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CONTRIBUTIONS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effort across both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88920" cy="3913632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7889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06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Ali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F2023-750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Co-led 15-question interview protocol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Posed technical questions on AI &amp; error correction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Competitor Analysis and SWOT sections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145536"/>
            <a:ext cx="2560320" cy="18288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Phase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547872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Co-organized SDG 13 Climate Action drive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Logistical planning and volunteer coordination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planted trees across campus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078992"/>
            <a:ext cx="2788920" cy="3913632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078992"/>
            <a:ext cx="278892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06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Mughal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F2023-009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482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external comms to secure interview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visual branding and website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data for Findings &amp; Recommendations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145536"/>
            <a:ext cx="2560320" cy="18288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Phase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547872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liaison with Lahore Conservation Society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sapling donation from LCS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post-planting sapling health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81344" y="1078992"/>
            <a:ext cx="2788920" cy="3913632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078992"/>
            <a:ext cx="27889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106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Khadijah Zahoor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91072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F2023-956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0482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CareSpace® portfolio and organogram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data privacy, LLM usage, HIPAA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Topic Selection section; formatted report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91072" y="3145536"/>
            <a:ext cx="2560320" cy="18288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Phase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3547872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Conceptualized and executed SDG 4 initiative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bake sale and donation logistics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SOUL activities; documented CSR findings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"Technical excellence, ethical accountability, and community responsibility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defining characteristics of holistic professional practice."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859536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21408"/>
            <a:ext cx="25603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42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2128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Persivia demonstrates genuine strength in data governance, infrastructure security, and human-in-the-loop AI — while facing urgent gaps in cybersecurity resourcing and algorithmic fairness.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990088"/>
            <a:ext cx="859536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990088"/>
            <a:ext cx="25603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72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08152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Khadijah's SDG 4 initiative showed financial support must be paired with human engagement — children at SOUL needed to be seen and valued, not only resourced.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858768"/>
            <a:ext cx="859536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328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3858768"/>
            <a:ext cx="256032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416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9502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and Saad's 200+ trees prove that motivated students produce real, lasting environmental change through partnership and collective commitment.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·  Beaconhouse National University  ·  Professional Practices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– Persivia &amp; CSR</dc:title>
  <dc:subject>PptxGenJS Presentation</dc:subject>
  <dc:creator>PptxGenJS</dc:creator>
  <cp:lastModifiedBy>PptxGenJS</cp:lastModifiedBy>
  <cp:revision>1</cp:revision>
  <dcterms:created xsi:type="dcterms:W3CDTF">2026-05-10T17:36:06Z</dcterms:created>
  <dcterms:modified xsi:type="dcterms:W3CDTF">2026-05-10T17:36:06Z</dcterms:modified>
</cp:coreProperties>
</file>