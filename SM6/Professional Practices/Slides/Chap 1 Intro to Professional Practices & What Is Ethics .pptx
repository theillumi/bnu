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7" r:id="rId2"/>
    <p:sldId id="265" r:id="rId3"/>
    <p:sldId id="259" r:id="rId4"/>
    <p:sldId id="284" r:id="rId5"/>
    <p:sldId id="330" r:id="rId6"/>
    <p:sldId id="268" r:id="rId7"/>
    <p:sldId id="318" r:id="rId8"/>
    <p:sldId id="319" r:id="rId9"/>
    <p:sldId id="320" r:id="rId10"/>
    <p:sldId id="321" r:id="rId11"/>
    <p:sldId id="322" r:id="rId12"/>
    <p:sldId id="323" r:id="rId13"/>
    <p:sldId id="324" r:id="rId14"/>
    <p:sldId id="325" r:id="rId15"/>
    <p:sldId id="326" r:id="rId16"/>
    <p:sldId id="327" r:id="rId17"/>
    <p:sldId id="329" r:id="rId18"/>
    <p:sldId id="328" r:id="rId19"/>
    <p:sldId id="317" r:id="rId20"/>
    <p:sldId id="288" r:id="rId21"/>
    <p:sldId id="302" r:id="rId22"/>
    <p:sldId id="289" r:id="rId23"/>
    <p:sldId id="303" r:id="rId24"/>
    <p:sldId id="299" r:id="rId25"/>
    <p:sldId id="300" r:id="rId26"/>
    <p:sldId id="301" r:id="rId27"/>
    <p:sldId id="290" r:id="rId28"/>
    <p:sldId id="304" r:id="rId29"/>
    <p:sldId id="305" r:id="rId30"/>
    <p:sldId id="308" r:id="rId31"/>
    <p:sldId id="309" r:id="rId32"/>
    <p:sldId id="314" r:id="rId33"/>
    <p:sldId id="310" r:id="rId34"/>
    <p:sldId id="315" r:id="rId35"/>
    <p:sldId id="311" r:id="rId36"/>
    <p:sldId id="316" r:id="rId37"/>
    <p:sldId id="312" r:id="rId38"/>
    <p:sldId id="313" r:id="rId39"/>
    <p:sldId id="307" r:id="rId40"/>
    <p:sldId id="287" r:id="rId41"/>
    <p:sldId id="261" r:id="rId42"/>
    <p:sldId id="267" r:id="rId43"/>
    <p:sldId id="273" r:id="rId44"/>
    <p:sldId id="293" r:id="rId45"/>
    <p:sldId id="294" r:id="rId46"/>
    <p:sldId id="262" r:id="rId47"/>
    <p:sldId id="263" r:id="rId4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0" d="100"/>
          <a:sy n="70" d="100"/>
        </p:scale>
        <p:origin x="-1386" y="9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15"/>
          <p:cNvGrpSpPr/>
          <p:nvPr/>
        </p:nvGrpSpPr>
        <p:grpSpPr>
          <a:xfrm>
            <a:off x="0" y="0"/>
            <a:ext cx="9144000" cy="6858000"/>
            <a:chOff x="0" y="0"/>
            <a:chExt cx="9144000" cy="6858000"/>
          </a:xfrm>
        </p:grpSpPr>
        <p:sp>
          <p:nvSpPr>
            <p:cNvPr id="8" name="Rectangle 7"/>
            <p:cNvSpPr/>
            <p:nvPr/>
          </p:nvSpPr>
          <p:spPr>
            <a:xfrm>
              <a:off x="0" y="0"/>
              <a:ext cx="7162800" cy="6858000"/>
            </a:xfrm>
            <a:prstGeom prst="rect">
              <a:avLst/>
            </a:prstGeom>
            <a:gradFill flip="none" rotWithShape="1">
              <a:gsLst>
                <a:gs pos="0">
                  <a:srgbClr val="010101">
                    <a:alpha val="51765"/>
                  </a:srgbClr>
                </a:gs>
                <a:gs pos="60000">
                  <a:srgbClr val="FEFEFE">
                    <a:alpha val="0"/>
                  </a:srgb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1143000" y="0"/>
              <a:ext cx="8001000" cy="6858000"/>
            </a:xfrm>
            <a:prstGeom prst="rect">
              <a:avLst/>
            </a:prstGeom>
            <a:gradFill flip="none" rotWithShape="1">
              <a:gsLst>
                <a:gs pos="0">
                  <a:srgbClr val="010101">
                    <a:alpha val="56000"/>
                  </a:srgbClr>
                </a:gs>
                <a:gs pos="61000">
                  <a:srgbClr val="FEFEFE">
                    <a:alpha val="0"/>
                  </a:srgb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Freeform 9"/>
          <p:cNvSpPr/>
          <p:nvPr/>
        </p:nvSpPr>
        <p:spPr>
          <a:xfrm rot="10800000">
            <a:off x="891821" y="5617774"/>
            <a:ext cx="7382935" cy="537210"/>
          </a:xfrm>
          <a:custGeom>
            <a:avLst/>
            <a:gdLst>
              <a:gd name="connsiteX0" fmla="*/ 0 w 7955280"/>
              <a:gd name="connsiteY0" fmla="*/ 495300 h 495300"/>
              <a:gd name="connsiteX1" fmla="*/ 169546 w 7955280"/>
              <a:gd name="connsiteY1" fmla="*/ 0 h 495300"/>
              <a:gd name="connsiteX2" fmla="*/ 7785734 w 7955280"/>
              <a:gd name="connsiteY2" fmla="*/ 0 h 495300"/>
              <a:gd name="connsiteX3" fmla="*/ 7955280 w 7955280"/>
              <a:gd name="connsiteY3" fmla="*/ 495300 h 495300"/>
              <a:gd name="connsiteX4" fmla="*/ 0 w 7955280"/>
              <a:gd name="connsiteY4" fmla="*/ 495300 h 495300"/>
              <a:gd name="connsiteX0" fmla="*/ 0 w 7955280"/>
              <a:gd name="connsiteY0" fmla="*/ 495300 h 495300"/>
              <a:gd name="connsiteX1" fmla="*/ 169546 w 7955280"/>
              <a:gd name="connsiteY1" fmla="*/ 0 h 495300"/>
              <a:gd name="connsiteX2" fmla="*/ 3966210 w 7955280"/>
              <a:gd name="connsiteY2" fmla="*/ 95250 h 495300"/>
              <a:gd name="connsiteX3" fmla="*/ 7785734 w 7955280"/>
              <a:gd name="connsiteY3" fmla="*/ 0 h 495300"/>
              <a:gd name="connsiteX4" fmla="*/ 7955280 w 7955280"/>
              <a:gd name="connsiteY4" fmla="*/ 495300 h 495300"/>
              <a:gd name="connsiteX5" fmla="*/ 0 w 7955280"/>
              <a:gd name="connsiteY5" fmla="*/ 495300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55280" h="495300">
                <a:moveTo>
                  <a:pt x="0" y="495300"/>
                </a:moveTo>
                <a:lnTo>
                  <a:pt x="169546" y="0"/>
                </a:lnTo>
                <a:lnTo>
                  <a:pt x="3966210" y="95250"/>
                </a:lnTo>
                <a:lnTo>
                  <a:pt x="7785734" y="0"/>
                </a:lnTo>
                <a:lnTo>
                  <a:pt x="7955280" y="495300"/>
                </a:lnTo>
                <a:lnTo>
                  <a:pt x="0" y="495300"/>
                </a:lnTo>
                <a:close/>
              </a:path>
            </a:pathLst>
          </a:custGeom>
          <a:gradFill flip="none" rotWithShape="1">
            <a:gsLst>
              <a:gs pos="30000">
                <a:srgbClr val="010101">
                  <a:alpha val="34000"/>
                </a:srgbClr>
              </a:gs>
              <a:gs pos="100000">
                <a:srgbClr val="010101">
                  <a:alpha val="26000"/>
                </a:srgbClr>
              </a:gs>
            </a:gsLst>
            <a:path path="circle">
              <a:fillToRect l="50000" t="50000" r="50000" b="50000"/>
            </a:path>
            <a:tileRect/>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989952" y="1016990"/>
            <a:ext cx="7179733" cy="4831643"/>
          </a:xfrm>
          <a:prstGeom prst="rect">
            <a:avLst/>
          </a:prstGeom>
          <a:solidFill>
            <a:schemeClr val="bg1">
              <a:lumMod val="75000"/>
              <a:lumOff val="25000"/>
            </a:schemeClr>
          </a:solid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990600" y="1009650"/>
            <a:ext cx="7179733" cy="4831643"/>
          </a:xfrm>
          <a:prstGeom prst="rect">
            <a:avLst/>
          </a:prstGeom>
          <a:blipFill dpi="0" rotWithShape="1">
            <a:blip r:embed="rId2" cstate="print">
              <a:alphaModFix amt="20000"/>
              <a:grayscl/>
              <a:lum contrast="12000"/>
            </a:blip>
            <a:srcRect/>
            <a:tile tx="0" ty="0" sx="100000" sy="100000" flip="none" algn="tl"/>
          </a:blip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2" descr="C:\Users\Administrator\Desktop\Pushpin Dev\Assets\pushpinLeft.png"/>
          <p:cNvPicPr>
            <a:picLocks noChangeAspect="1" noChangeArrowheads="1"/>
          </p:cNvPicPr>
          <p:nvPr/>
        </p:nvPicPr>
        <p:blipFill>
          <a:blip r:embed="rId3" cstate="print"/>
          <a:srcRect/>
          <a:stretch>
            <a:fillRect/>
          </a:stretch>
        </p:blipFill>
        <p:spPr bwMode="auto">
          <a:xfrm rot="1435684">
            <a:off x="769521" y="702069"/>
            <a:ext cx="567831" cy="567830"/>
          </a:xfrm>
          <a:prstGeom prst="rect">
            <a:avLst/>
          </a:prstGeom>
          <a:noFill/>
        </p:spPr>
      </p:pic>
      <p:pic>
        <p:nvPicPr>
          <p:cNvPr id="14" name="Picture 2" descr="C:\Users\Administrator\Desktop\Pushpin Dev\Assets\pushpinLeft.png"/>
          <p:cNvPicPr>
            <a:picLocks noChangeAspect="1" noChangeArrowheads="1"/>
          </p:cNvPicPr>
          <p:nvPr/>
        </p:nvPicPr>
        <p:blipFill>
          <a:blip r:embed="rId3" cstate="print"/>
          <a:srcRect/>
          <a:stretch>
            <a:fillRect/>
          </a:stretch>
        </p:blipFill>
        <p:spPr bwMode="auto">
          <a:xfrm rot="4096196">
            <a:off x="7855433" y="749720"/>
            <a:ext cx="566928" cy="566928"/>
          </a:xfrm>
          <a:prstGeom prst="rect">
            <a:avLst/>
          </a:prstGeom>
          <a:noFill/>
        </p:spPr>
      </p:pic>
      <p:sp>
        <p:nvSpPr>
          <p:cNvPr id="2" name="Title 1"/>
          <p:cNvSpPr>
            <a:spLocks noGrp="1"/>
          </p:cNvSpPr>
          <p:nvPr>
            <p:ph type="ctrTitle"/>
          </p:nvPr>
        </p:nvSpPr>
        <p:spPr>
          <a:xfrm>
            <a:off x="1727201" y="1794935"/>
            <a:ext cx="5723468" cy="1828090"/>
          </a:xfrm>
        </p:spPr>
        <p:txBody>
          <a:bodyPr anchor="b">
            <a:normAutofit/>
          </a:bodyPr>
          <a:lstStyle>
            <a:lvl1pPr>
              <a:defRPr sz="4800"/>
            </a:lvl1pPr>
          </a:lstStyle>
          <a:p>
            <a:r>
              <a:rPr lang="en-US" smtClean="0"/>
              <a:t>Click to edit Master title style</a:t>
            </a:r>
            <a:endParaRPr lang="en-US"/>
          </a:p>
        </p:txBody>
      </p:sp>
      <p:sp>
        <p:nvSpPr>
          <p:cNvPr id="3" name="Subtitle 2"/>
          <p:cNvSpPr>
            <a:spLocks noGrp="1"/>
          </p:cNvSpPr>
          <p:nvPr>
            <p:ph type="subTitle" idx="1"/>
          </p:nvPr>
        </p:nvSpPr>
        <p:spPr>
          <a:xfrm>
            <a:off x="1727200" y="3736622"/>
            <a:ext cx="5712179" cy="1524000"/>
          </a:xfrm>
        </p:spPr>
        <p:txBody>
          <a:bodyPr/>
          <a:lstStyle>
            <a:lvl1pPr marL="0" indent="0" algn="ctr">
              <a:buNone/>
              <a:defRPr>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6770676" y="5357592"/>
            <a:ext cx="1213821" cy="365125"/>
          </a:xfrm>
        </p:spPr>
        <p:txBody>
          <a:bodyPr/>
          <a:lstStyle/>
          <a:p>
            <a:fld id="{72D92F55-3793-4648-AF7A-D9CEEE88ECC8}" type="datetimeFigureOut">
              <a:rPr lang="en-US" smtClean="0"/>
              <a:t>2/17/2026</a:t>
            </a:fld>
            <a:endParaRPr lang="en-US"/>
          </a:p>
        </p:txBody>
      </p:sp>
      <p:sp>
        <p:nvSpPr>
          <p:cNvPr id="5" name="Footer Placeholder 4"/>
          <p:cNvSpPr>
            <a:spLocks noGrp="1"/>
          </p:cNvSpPr>
          <p:nvPr>
            <p:ph type="ftr" sz="quarter" idx="11"/>
          </p:nvPr>
        </p:nvSpPr>
        <p:spPr>
          <a:xfrm>
            <a:off x="1174044" y="5357592"/>
            <a:ext cx="5034845" cy="365125"/>
          </a:xfrm>
        </p:spPr>
        <p:txBody>
          <a:bodyPr/>
          <a:lstStyle/>
          <a:p>
            <a:endParaRPr lang="en-US"/>
          </a:p>
        </p:txBody>
      </p:sp>
      <p:sp>
        <p:nvSpPr>
          <p:cNvPr id="6" name="Slide Number Placeholder 5"/>
          <p:cNvSpPr>
            <a:spLocks noGrp="1"/>
          </p:cNvSpPr>
          <p:nvPr>
            <p:ph type="sldNum" sz="quarter" idx="12"/>
          </p:nvPr>
        </p:nvSpPr>
        <p:spPr>
          <a:xfrm>
            <a:off x="6213930" y="5357592"/>
            <a:ext cx="554023" cy="365125"/>
          </a:xfrm>
        </p:spPr>
        <p:txBody>
          <a:bodyPr/>
          <a:lstStyle>
            <a:lvl1pPr algn="ctr">
              <a:defRPr/>
            </a:lvl1pPr>
          </a:lstStyle>
          <a:p>
            <a:fld id="{ACFB6CC9-8C31-4D8E-AC9E-47C05B6B3BED}"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2D92F55-3793-4648-AF7A-D9CEEE88ECC8}" type="datetimeFigureOut">
              <a:rPr lang="en-US" smtClean="0"/>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FB6CC9-8C31-4D8E-AC9E-47C05B6B3BED}"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44979" y="2239430"/>
            <a:ext cx="6254044" cy="1362075"/>
          </a:xfrm>
        </p:spPr>
        <p:txBody>
          <a:bodyPr anchor="b"/>
          <a:lstStyle>
            <a:lvl1pPr algn="ctr">
              <a:defRPr sz="4000" b="0" cap="none" baseline="0"/>
            </a:lvl1pPr>
          </a:lstStyle>
          <a:p>
            <a:r>
              <a:rPr lang="en-US" smtClean="0"/>
              <a:t>Click to edit Master title style</a:t>
            </a:r>
            <a:endParaRPr lang="en-US" dirty="0"/>
          </a:p>
        </p:txBody>
      </p:sp>
      <p:sp>
        <p:nvSpPr>
          <p:cNvPr id="3" name="Text Placeholder 2"/>
          <p:cNvSpPr>
            <a:spLocks noGrp="1"/>
          </p:cNvSpPr>
          <p:nvPr>
            <p:ph type="body" idx="1"/>
          </p:nvPr>
        </p:nvSpPr>
        <p:spPr>
          <a:xfrm>
            <a:off x="1456267" y="3725334"/>
            <a:ext cx="6231467" cy="1309511"/>
          </a:xfrm>
        </p:spPr>
        <p:txBody>
          <a:bodyPr anchor="t"/>
          <a:lstStyle>
            <a:lvl1pPr marL="0" indent="0" algn="ct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2D92F55-3793-4648-AF7A-D9CEEE88ECC8}" type="datetimeFigureOut">
              <a:rPr lang="en-US" smtClean="0"/>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FB6CC9-8C31-4D8E-AC9E-47C05B6B3BED}"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5" name="Date Placeholder 4"/>
          <p:cNvSpPr>
            <a:spLocks noGrp="1"/>
          </p:cNvSpPr>
          <p:nvPr>
            <p:ph type="dt" sz="half" idx="10"/>
          </p:nvPr>
        </p:nvSpPr>
        <p:spPr/>
        <p:txBody>
          <a:bodyPr/>
          <a:lstStyle/>
          <a:p>
            <a:fld id="{72D92F55-3793-4648-AF7A-D9CEEE88ECC8}" type="datetimeFigureOut">
              <a:rPr lang="en-US" smtClean="0"/>
              <a:t>2/17/2026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CFB6CC9-8C31-4D8E-AC9E-47C05B6B3BED}" type="slidenum">
              <a:rPr lang="en-US" smtClean="0"/>
              <a:t>‹#›</a:t>
            </a:fld>
            <a:endParaRPr lang="en-US"/>
          </a:p>
        </p:txBody>
      </p:sp>
      <p:sp>
        <p:nvSpPr>
          <p:cNvPr id="9" name="Content Placeholder 8"/>
          <p:cNvSpPr>
            <a:spLocks noGrp="1"/>
          </p:cNvSpPr>
          <p:nvPr>
            <p:ph sz="quarter" idx="13"/>
          </p:nvPr>
        </p:nvSpPr>
        <p:spPr>
          <a:xfrm>
            <a:off x="1298448" y="2121407"/>
            <a:ext cx="3200400" cy="360273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1" name="Content Placeholder 10"/>
          <p:cNvSpPr>
            <a:spLocks noGrp="1"/>
          </p:cNvSpPr>
          <p:nvPr>
            <p:ph sz="quarter" idx="14"/>
          </p:nvPr>
        </p:nvSpPr>
        <p:spPr>
          <a:xfrm>
            <a:off x="4663440" y="2119313"/>
            <a:ext cx="3200400" cy="360521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1557869" y="2122312"/>
            <a:ext cx="2939521" cy="820208"/>
          </a:xfrm>
        </p:spPr>
        <p:txBody>
          <a:bodyPr anchor="b">
            <a:norm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5" name="Text Placeholder 4"/>
          <p:cNvSpPr>
            <a:spLocks noGrp="1"/>
          </p:cNvSpPr>
          <p:nvPr>
            <p:ph type="body" sz="quarter" idx="3"/>
          </p:nvPr>
        </p:nvSpPr>
        <p:spPr>
          <a:xfrm>
            <a:off x="4910669" y="2122311"/>
            <a:ext cx="2944368" cy="822960"/>
          </a:xfrm>
        </p:spPr>
        <p:txBody>
          <a:bodyPr anchor="b">
            <a:norm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7" name="Date Placeholder 6"/>
          <p:cNvSpPr>
            <a:spLocks noGrp="1"/>
          </p:cNvSpPr>
          <p:nvPr>
            <p:ph type="dt" sz="half" idx="10"/>
          </p:nvPr>
        </p:nvSpPr>
        <p:spPr/>
        <p:txBody>
          <a:bodyPr/>
          <a:lstStyle/>
          <a:p>
            <a:fld id="{72D92F55-3793-4648-AF7A-D9CEEE88ECC8}" type="datetimeFigureOut">
              <a:rPr lang="en-US" smtClean="0"/>
              <a:t>2/17/2026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CFB6CC9-8C31-4D8E-AC9E-47C05B6B3BED}" type="slidenum">
              <a:rPr lang="en-US" smtClean="0"/>
              <a:t>‹#›</a:t>
            </a:fld>
            <a:endParaRPr lang="en-US"/>
          </a:p>
        </p:txBody>
      </p:sp>
      <p:sp>
        <p:nvSpPr>
          <p:cNvPr id="11" name="Content Placeholder 10"/>
          <p:cNvSpPr>
            <a:spLocks noGrp="1"/>
          </p:cNvSpPr>
          <p:nvPr>
            <p:ph sz="quarter" idx="13"/>
          </p:nvPr>
        </p:nvSpPr>
        <p:spPr>
          <a:xfrm>
            <a:off x="1298448" y="2944368"/>
            <a:ext cx="3227832" cy="277977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3" name="Content Placeholder 12"/>
          <p:cNvSpPr>
            <a:spLocks noGrp="1"/>
          </p:cNvSpPr>
          <p:nvPr>
            <p:ph sz="quarter" idx="14"/>
          </p:nvPr>
        </p:nvSpPr>
        <p:spPr>
          <a:xfrm>
            <a:off x="4645151" y="2944813"/>
            <a:ext cx="3227832" cy="277977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2D92F55-3793-4648-AF7A-D9CEEE88ECC8}" type="datetimeFigureOut">
              <a:rPr lang="en-US" smtClean="0"/>
              <a:t>2/17/2026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CFB6CC9-8C31-4D8E-AC9E-47C05B6B3BED}"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2D92F55-3793-4648-AF7A-D9CEEE88ECC8}" type="datetimeFigureOut">
              <a:rPr lang="en-US" smtClean="0"/>
              <a:t>2/17/2026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CFB6CC9-8C31-4D8E-AC9E-47C05B6B3BED}"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8" name="Group 15"/>
          <p:cNvGrpSpPr/>
          <p:nvPr/>
        </p:nvGrpSpPr>
        <p:grpSpPr>
          <a:xfrm>
            <a:off x="0" y="0"/>
            <a:ext cx="9144000" cy="6858000"/>
            <a:chOff x="0" y="0"/>
            <a:chExt cx="9144000" cy="6858000"/>
          </a:xfrm>
        </p:grpSpPr>
        <p:sp>
          <p:nvSpPr>
            <p:cNvPr id="9" name="Rectangle 8"/>
            <p:cNvSpPr/>
            <p:nvPr/>
          </p:nvSpPr>
          <p:spPr>
            <a:xfrm>
              <a:off x="0" y="0"/>
              <a:ext cx="7162800" cy="6858000"/>
            </a:xfrm>
            <a:prstGeom prst="rect">
              <a:avLst/>
            </a:prstGeom>
            <a:gradFill flip="none" rotWithShape="1">
              <a:gsLst>
                <a:gs pos="0">
                  <a:srgbClr val="010101">
                    <a:alpha val="51765"/>
                  </a:srgbClr>
                </a:gs>
                <a:gs pos="60000">
                  <a:srgbClr val="FEFEFE">
                    <a:alpha val="0"/>
                  </a:srgb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1143000" y="0"/>
              <a:ext cx="8001000" cy="6858000"/>
            </a:xfrm>
            <a:prstGeom prst="rect">
              <a:avLst/>
            </a:prstGeom>
            <a:gradFill flip="none" rotWithShape="1">
              <a:gsLst>
                <a:gs pos="0">
                  <a:srgbClr val="010101">
                    <a:alpha val="56000"/>
                  </a:srgbClr>
                </a:gs>
                <a:gs pos="61000">
                  <a:srgbClr val="FEFEFE">
                    <a:alpha val="0"/>
                  </a:srgb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Freeform 10"/>
          <p:cNvSpPr/>
          <p:nvPr/>
        </p:nvSpPr>
        <p:spPr>
          <a:xfrm rot="10800000">
            <a:off x="632177" y="6058038"/>
            <a:ext cx="7721601" cy="537210"/>
          </a:xfrm>
          <a:custGeom>
            <a:avLst/>
            <a:gdLst>
              <a:gd name="connsiteX0" fmla="*/ 0 w 7955280"/>
              <a:gd name="connsiteY0" fmla="*/ 495300 h 495300"/>
              <a:gd name="connsiteX1" fmla="*/ 169546 w 7955280"/>
              <a:gd name="connsiteY1" fmla="*/ 0 h 495300"/>
              <a:gd name="connsiteX2" fmla="*/ 7785734 w 7955280"/>
              <a:gd name="connsiteY2" fmla="*/ 0 h 495300"/>
              <a:gd name="connsiteX3" fmla="*/ 7955280 w 7955280"/>
              <a:gd name="connsiteY3" fmla="*/ 495300 h 495300"/>
              <a:gd name="connsiteX4" fmla="*/ 0 w 7955280"/>
              <a:gd name="connsiteY4" fmla="*/ 495300 h 495300"/>
              <a:gd name="connsiteX0" fmla="*/ 0 w 7955280"/>
              <a:gd name="connsiteY0" fmla="*/ 495300 h 495300"/>
              <a:gd name="connsiteX1" fmla="*/ 169546 w 7955280"/>
              <a:gd name="connsiteY1" fmla="*/ 0 h 495300"/>
              <a:gd name="connsiteX2" fmla="*/ 3966210 w 7955280"/>
              <a:gd name="connsiteY2" fmla="*/ 95250 h 495300"/>
              <a:gd name="connsiteX3" fmla="*/ 7785734 w 7955280"/>
              <a:gd name="connsiteY3" fmla="*/ 0 h 495300"/>
              <a:gd name="connsiteX4" fmla="*/ 7955280 w 7955280"/>
              <a:gd name="connsiteY4" fmla="*/ 495300 h 495300"/>
              <a:gd name="connsiteX5" fmla="*/ 0 w 7955280"/>
              <a:gd name="connsiteY5" fmla="*/ 495300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55280" h="495300">
                <a:moveTo>
                  <a:pt x="0" y="495300"/>
                </a:moveTo>
                <a:lnTo>
                  <a:pt x="169546" y="0"/>
                </a:lnTo>
                <a:lnTo>
                  <a:pt x="3966210" y="95250"/>
                </a:lnTo>
                <a:lnTo>
                  <a:pt x="7785734" y="0"/>
                </a:lnTo>
                <a:lnTo>
                  <a:pt x="7955280" y="495300"/>
                </a:lnTo>
                <a:lnTo>
                  <a:pt x="0" y="495300"/>
                </a:lnTo>
                <a:close/>
              </a:path>
            </a:pathLst>
          </a:custGeom>
          <a:gradFill flip="none" rotWithShape="1">
            <a:gsLst>
              <a:gs pos="30000">
                <a:srgbClr val="010101">
                  <a:alpha val="34000"/>
                </a:srgbClr>
              </a:gs>
              <a:gs pos="100000">
                <a:srgbClr val="010101">
                  <a:alpha val="26000"/>
                </a:srgbClr>
              </a:gs>
            </a:gsLst>
            <a:path path="circle">
              <a:fillToRect l="50000" t="50000" r="50000" b="50000"/>
            </a:path>
            <a:tileRect/>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rot="60000">
            <a:off x="4468872" y="605163"/>
            <a:ext cx="3788941" cy="5722296"/>
          </a:xfrm>
          <a:prstGeom prst="rect">
            <a:avLst/>
          </a:prstGeom>
          <a:solidFill>
            <a:schemeClr val="bg1"/>
          </a:solid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rot="60000">
            <a:off x="4471416" y="603504"/>
            <a:ext cx="3788941" cy="5722296"/>
          </a:xfrm>
          <a:prstGeom prst="rect">
            <a:avLst/>
          </a:prstGeom>
          <a:blipFill dpi="0" rotWithShape="1">
            <a:blip r:embed="rId2" cstate="print">
              <a:alphaModFix amt="20000"/>
              <a:grayscl/>
              <a:lum contrast="12000"/>
            </a:blip>
            <a:srcRect/>
            <a:tile tx="0" ty="0" sx="100000" sy="100000" flip="none" algn="tl"/>
          </a:blip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rot="21540000">
            <a:off x="749204" y="576868"/>
            <a:ext cx="3788941" cy="5722296"/>
          </a:xfrm>
          <a:prstGeom prst="rect">
            <a:avLst/>
          </a:prstGeom>
          <a:solidFill>
            <a:schemeClr val="bg1"/>
          </a:solid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rot="21540000">
            <a:off x="749808" y="576072"/>
            <a:ext cx="3788941" cy="5722296"/>
          </a:xfrm>
          <a:prstGeom prst="rect">
            <a:avLst/>
          </a:prstGeom>
          <a:blipFill dpi="0" rotWithShape="1">
            <a:blip r:embed="rId2" cstate="print">
              <a:alphaModFix amt="20000"/>
              <a:grayscl/>
              <a:lum contrast="12000"/>
            </a:blip>
            <a:srcRect/>
            <a:tile tx="0" ty="0" sx="100000" sy="100000" flip="none" algn="tl"/>
          </a:blip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2" descr="C:\Users\Administrator\Desktop\Pushpin Dev\Assets\pushpinLeft.png"/>
          <p:cNvPicPr>
            <a:picLocks noChangeAspect="1" noChangeArrowheads="1"/>
          </p:cNvPicPr>
          <p:nvPr/>
        </p:nvPicPr>
        <p:blipFill>
          <a:blip r:embed="rId3" cstate="print"/>
          <a:srcRect/>
          <a:stretch>
            <a:fillRect/>
          </a:stretch>
        </p:blipFill>
        <p:spPr bwMode="auto">
          <a:xfrm rot="1435684">
            <a:off x="2371106" y="293953"/>
            <a:ext cx="567831" cy="567830"/>
          </a:xfrm>
          <a:prstGeom prst="rect">
            <a:avLst/>
          </a:prstGeom>
          <a:noFill/>
        </p:spPr>
      </p:pic>
      <p:pic>
        <p:nvPicPr>
          <p:cNvPr id="19" name="Picture 2" descr="C:\Users\Administrator\Desktop\Pushpin Dev\Assets\pushpinLeft.png"/>
          <p:cNvPicPr>
            <a:picLocks noChangeAspect="1" noChangeArrowheads="1"/>
          </p:cNvPicPr>
          <p:nvPr/>
        </p:nvPicPr>
        <p:blipFill>
          <a:blip r:embed="rId3" cstate="print"/>
          <a:srcRect/>
          <a:stretch>
            <a:fillRect/>
          </a:stretch>
        </p:blipFill>
        <p:spPr bwMode="auto">
          <a:xfrm rot="4096196">
            <a:off x="6279647" y="333163"/>
            <a:ext cx="566928" cy="566928"/>
          </a:xfrm>
          <a:prstGeom prst="rect">
            <a:avLst/>
          </a:prstGeom>
          <a:noFill/>
        </p:spPr>
      </p:pic>
      <p:sp>
        <p:nvSpPr>
          <p:cNvPr id="2" name="Title 1"/>
          <p:cNvSpPr>
            <a:spLocks noGrp="1"/>
          </p:cNvSpPr>
          <p:nvPr>
            <p:ph type="title"/>
          </p:nvPr>
        </p:nvSpPr>
        <p:spPr>
          <a:xfrm rot="-60000">
            <a:off x="1108976" y="2020042"/>
            <a:ext cx="3064827" cy="1503037"/>
          </a:xfrm>
        </p:spPr>
        <p:txBody>
          <a:bodyPr anchor="b">
            <a:normAutofit/>
          </a:bodyPr>
          <a:lstStyle>
            <a:lvl1pPr algn="ctr">
              <a:defRPr sz="2400" b="0"/>
            </a:lvl1pPr>
          </a:lstStyle>
          <a:p>
            <a:r>
              <a:rPr lang="en-US" smtClean="0"/>
              <a:t>Click to edit Master title style</a:t>
            </a:r>
            <a:endParaRPr lang="en-US"/>
          </a:p>
        </p:txBody>
      </p:sp>
      <p:sp>
        <p:nvSpPr>
          <p:cNvPr id="3" name="Content Placeholder 2"/>
          <p:cNvSpPr>
            <a:spLocks noGrp="1"/>
          </p:cNvSpPr>
          <p:nvPr>
            <p:ph idx="1"/>
          </p:nvPr>
        </p:nvSpPr>
        <p:spPr>
          <a:xfrm rot="60000">
            <a:off x="4854291" y="1150993"/>
            <a:ext cx="3020792" cy="4625489"/>
          </a:xfrm>
        </p:spPr>
        <p:txBody>
          <a:bodyPr anchor="ctr"/>
          <a:lstStyle>
            <a:lvl1pPr>
              <a:defRPr sz="2200"/>
            </a:lvl1pPr>
            <a:lvl2pPr>
              <a:defRPr sz="2000"/>
            </a:lvl2pPr>
            <a:lvl3pPr>
              <a:defRPr sz="1800"/>
            </a:lvl3pPr>
            <a:lvl4pPr>
              <a:defRPr sz="1600"/>
            </a:lvl4pPr>
            <a:lvl5pPr>
              <a:defRPr sz="14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rot="-60000">
            <a:off x="1148125" y="3623748"/>
            <a:ext cx="3048891" cy="21004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rot="60000">
            <a:off x="6341698" y="5885672"/>
            <a:ext cx="1213821" cy="365125"/>
          </a:xfrm>
        </p:spPr>
        <p:txBody>
          <a:bodyPr/>
          <a:lstStyle/>
          <a:p>
            <a:fld id="{72D92F55-3793-4648-AF7A-D9CEEE88ECC8}" type="datetimeFigureOut">
              <a:rPr lang="en-US" smtClean="0"/>
              <a:t>2/17/2026</a:t>
            </a:fld>
            <a:endParaRPr lang="en-US"/>
          </a:p>
        </p:txBody>
      </p:sp>
      <p:sp>
        <p:nvSpPr>
          <p:cNvPr id="6" name="Footer Placeholder 5"/>
          <p:cNvSpPr>
            <a:spLocks noGrp="1"/>
          </p:cNvSpPr>
          <p:nvPr>
            <p:ph type="ftr" sz="quarter" idx="11"/>
          </p:nvPr>
        </p:nvSpPr>
        <p:spPr>
          <a:xfrm rot="-60000">
            <a:off x="914554" y="5829261"/>
            <a:ext cx="3522607" cy="365125"/>
          </a:xfrm>
        </p:spPr>
        <p:txBody>
          <a:bodyPr/>
          <a:lstStyle/>
          <a:p>
            <a:endParaRPr lang="en-US"/>
          </a:p>
        </p:txBody>
      </p:sp>
      <p:sp>
        <p:nvSpPr>
          <p:cNvPr id="7" name="Slide Number Placeholder 6"/>
          <p:cNvSpPr>
            <a:spLocks noGrp="1"/>
          </p:cNvSpPr>
          <p:nvPr>
            <p:ph type="sldNum" sz="quarter" idx="12"/>
          </p:nvPr>
        </p:nvSpPr>
        <p:spPr>
          <a:xfrm rot="60000">
            <a:off x="7557313" y="5896961"/>
            <a:ext cx="554023" cy="365125"/>
          </a:xfrm>
        </p:spPr>
        <p:txBody>
          <a:bodyPr/>
          <a:lstStyle/>
          <a:p>
            <a:fld id="{ACFB6CC9-8C31-4D8E-AC9E-47C05B6B3BED}"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8" name="Group 15"/>
          <p:cNvGrpSpPr/>
          <p:nvPr/>
        </p:nvGrpSpPr>
        <p:grpSpPr>
          <a:xfrm>
            <a:off x="0" y="0"/>
            <a:ext cx="9144000" cy="6858000"/>
            <a:chOff x="0" y="0"/>
            <a:chExt cx="9144000" cy="6858000"/>
          </a:xfrm>
        </p:grpSpPr>
        <p:sp>
          <p:nvSpPr>
            <p:cNvPr id="9" name="Rectangle 8"/>
            <p:cNvSpPr/>
            <p:nvPr/>
          </p:nvSpPr>
          <p:spPr>
            <a:xfrm>
              <a:off x="0" y="0"/>
              <a:ext cx="7162800" cy="6858000"/>
            </a:xfrm>
            <a:prstGeom prst="rect">
              <a:avLst/>
            </a:prstGeom>
            <a:gradFill flip="none" rotWithShape="1">
              <a:gsLst>
                <a:gs pos="0">
                  <a:srgbClr val="010101">
                    <a:alpha val="51765"/>
                  </a:srgbClr>
                </a:gs>
                <a:gs pos="60000">
                  <a:srgbClr val="FEFEFE">
                    <a:alpha val="0"/>
                  </a:srgb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1143000" y="0"/>
              <a:ext cx="8001000" cy="6858000"/>
            </a:xfrm>
            <a:prstGeom prst="rect">
              <a:avLst/>
            </a:prstGeom>
            <a:gradFill flip="none" rotWithShape="1">
              <a:gsLst>
                <a:gs pos="0">
                  <a:srgbClr val="010101">
                    <a:alpha val="56000"/>
                  </a:srgbClr>
                </a:gs>
                <a:gs pos="61000">
                  <a:srgbClr val="FEFEFE">
                    <a:alpha val="0"/>
                  </a:srgb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1" name="Freeform 30"/>
          <p:cNvSpPr/>
          <p:nvPr/>
        </p:nvSpPr>
        <p:spPr>
          <a:xfrm rot="10800000">
            <a:off x="632177" y="6058038"/>
            <a:ext cx="7721601" cy="537210"/>
          </a:xfrm>
          <a:custGeom>
            <a:avLst/>
            <a:gdLst>
              <a:gd name="connsiteX0" fmla="*/ 0 w 7955280"/>
              <a:gd name="connsiteY0" fmla="*/ 495300 h 495300"/>
              <a:gd name="connsiteX1" fmla="*/ 169546 w 7955280"/>
              <a:gd name="connsiteY1" fmla="*/ 0 h 495300"/>
              <a:gd name="connsiteX2" fmla="*/ 7785734 w 7955280"/>
              <a:gd name="connsiteY2" fmla="*/ 0 h 495300"/>
              <a:gd name="connsiteX3" fmla="*/ 7955280 w 7955280"/>
              <a:gd name="connsiteY3" fmla="*/ 495300 h 495300"/>
              <a:gd name="connsiteX4" fmla="*/ 0 w 7955280"/>
              <a:gd name="connsiteY4" fmla="*/ 495300 h 495300"/>
              <a:gd name="connsiteX0" fmla="*/ 0 w 7955280"/>
              <a:gd name="connsiteY0" fmla="*/ 495300 h 495300"/>
              <a:gd name="connsiteX1" fmla="*/ 169546 w 7955280"/>
              <a:gd name="connsiteY1" fmla="*/ 0 h 495300"/>
              <a:gd name="connsiteX2" fmla="*/ 3966210 w 7955280"/>
              <a:gd name="connsiteY2" fmla="*/ 95250 h 495300"/>
              <a:gd name="connsiteX3" fmla="*/ 7785734 w 7955280"/>
              <a:gd name="connsiteY3" fmla="*/ 0 h 495300"/>
              <a:gd name="connsiteX4" fmla="*/ 7955280 w 7955280"/>
              <a:gd name="connsiteY4" fmla="*/ 495300 h 495300"/>
              <a:gd name="connsiteX5" fmla="*/ 0 w 7955280"/>
              <a:gd name="connsiteY5" fmla="*/ 495300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55280" h="495300">
                <a:moveTo>
                  <a:pt x="0" y="495300"/>
                </a:moveTo>
                <a:lnTo>
                  <a:pt x="169546" y="0"/>
                </a:lnTo>
                <a:lnTo>
                  <a:pt x="3966210" y="95250"/>
                </a:lnTo>
                <a:lnTo>
                  <a:pt x="7785734" y="0"/>
                </a:lnTo>
                <a:lnTo>
                  <a:pt x="7955280" y="495300"/>
                </a:lnTo>
                <a:lnTo>
                  <a:pt x="0" y="495300"/>
                </a:lnTo>
                <a:close/>
              </a:path>
            </a:pathLst>
          </a:custGeom>
          <a:gradFill flip="none" rotWithShape="1">
            <a:gsLst>
              <a:gs pos="30000">
                <a:srgbClr val="010101">
                  <a:alpha val="34000"/>
                </a:srgbClr>
              </a:gs>
              <a:gs pos="100000">
                <a:srgbClr val="010101">
                  <a:alpha val="26000"/>
                </a:srgbClr>
              </a:gs>
            </a:gsLst>
            <a:path path="circle">
              <a:fillToRect l="50000" t="50000" r="50000" b="50000"/>
            </a:path>
            <a:tileRect/>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rot="21540000">
            <a:off x="749204" y="576868"/>
            <a:ext cx="3788941" cy="5722296"/>
          </a:xfrm>
          <a:prstGeom prst="rect">
            <a:avLst/>
          </a:prstGeom>
          <a:solidFill>
            <a:schemeClr val="bg1"/>
          </a:solid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rot="21540000">
            <a:off x="745058" y="575769"/>
            <a:ext cx="3788941" cy="5722296"/>
          </a:xfrm>
          <a:prstGeom prst="rect">
            <a:avLst/>
          </a:prstGeom>
          <a:blipFill dpi="0" rotWithShape="1">
            <a:blip r:embed="rId2" cstate="print">
              <a:alphaModFix amt="20000"/>
              <a:grayscl/>
              <a:lum contrast="12000"/>
            </a:blip>
            <a:srcRect/>
            <a:tile tx="0" ty="0" sx="100000" sy="100000" flip="none" algn="tl"/>
          </a:blip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p:cNvSpPr/>
          <p:nvPr/>
        </p:nvSpPr>
        <p:spPr>
          <a:xfrm rot="60000">
            <a:off x="4468872" y="605163"/>
            <a:ext cx="3788941" cy="5722296"/>
          </a:xfrm>
          <a:prstGeom prst="rect">
            <a:avLst/>
          </a:prstGeom>
          <a:solidFill>
            <a:schemeClr val="bg1"/>
          </a:solid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p:cNvSpPr/>
          <p:nvPr/>
        </p:nvSpPr>
        <p:spPr>
          <a:xfrm rot="60000">
            <a:off x="4464768" y="603920"/>
            <a:ext cx="3788941" cy="5722296"/>
          </a:xfrm>
          <a:prstGeom prst="rect">
            <a:avLst/>
          </a:prstGeom>
          <a:blipFill dpi="0" rotWithShape="1">
            <a:blip r:embed="rId2" cstate="print">
              <a:alphaModFix amt="20000"/>
              <a:grayscl/>
              <a:lum contrast="12000"/>
            </a:blip>
            <a:srcRect/>
            <a:tile tx="0" ty="0" sx="100000" sy="100000" flip="none" algn="tl"/>
          </a:blip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2" descr="C:\Users\Administrator\Desktop\Pushpin Dev\Assets\pushpinLeft.png"/>
          <p:cNvPicPr>
            <a:picLocks noChangeAspect="1" noChangeArrowheads="1"/>
          </p:cNvPicPr>
          <p:nvPr/>
        </p:nvPicPr>
        <p:blipFill>
          <a:blip r:embed="rId3" cstate="print"/>
          <a:srcRect/>
          <a:stretch>
            <a:fillRect/>
          </a:stretch>
        </p:blipFill>
        <p:spPr bwMode="auto">
          <a:xfrm rot="1435684">
            <a:off x="2371106" y="293953"/>
            <a:ext cx="567831" cy="567830"/>
          </a:xfrm>
          <a:prstGeom prst="rect">
            <a:avLst/>
          </a:prstGeom>
          <a:noFill/>
        </p:spPr>
      </p:pic>
      <p:pic>
        <p:nvPicPr>
          <p:cNvPr id="15" name="Picture 2" descr="C:\Users\Administrator\Desktop\Pushpin Dev\Assets\pushpinLeft.png"/>
          <p:cNvPicPr>
            <a:picLocks noChangeAspect="1" noChangeArrowheads="1"/>
          </p:cNvPicPr>
          <p:nvPr/>
        </p:nvPicPr>
        <p:blipFill>
          <a:blip r:embed="rId3" cstate="print"/>
          <a:srcRect/>
          <a:stretch>
            <a:fillRect/>
          </a:stretch>
        </p:blipFill>
        <p:spPr bwMode="auto">
          <a:xfrm rot="4096196">
            <a:off x="6279647" y="333163"/>
            <a:ext cx="566928" cy="566928"/>
          </a:xfrm>
          <a:prstGeom prst="rect">
            <a:avLst/>
          </a:prstGeom>
          <a:noFill/>
        </p:spPr>
      </p:pic>
      <p:sp>
        <p:nvSpPr>
          <p:cNvPr id="2" name="Title 1"/>
          <p:cNvSpPr>
            <a:spLocks noGrp="1"/>
          </p:cNvSpPr>
          <p:nvPr>
            <p:ph type="title"/>
          </p:nvPr>
        </p:nvSpPr>
        <p:spPr>
          <a:xfrm rot="-60000">
            <a:off x="1106424" y="2020824"/>
            <a:ext cx="3063240" cy="1499616"/>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p:cNvSpPr>
          <p:nvPr>
            <p:ph type="pic" idx="1"/>
          </p:nvPr>
        </p:nvSpPr>
        <p:spPr>
          <a:xfrm rot="60000">
            <a:off x="4898615" y="1207272"/>
            <a:ext cx="2913863" cy="4539412"/>
          </a:xfrm>
          <a:ln w="101600" cap="rnd">
            <a:solidFill>
              <a:srgbClr val="FFFFFF"/>
            </a:solidFill>
          </a:ln>
          <a:effectLst>
            <a:outerShdw blurRad="88900" dir="2700000" algn="tl" rotWithShape="0">
              <a:prstClr val="black">
                <a:alpha val="40000"/>
              </a:prstClr>
            </a:outerShdw>
          </a:effectLst>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rot="-60000">
            <a:off x="1152144" y="3621024"/>
            <a:ext cx="3044952" cy="210312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rot="60000">
            <a:off x="6345936" y="5888737"/>
            <a:ext cx="1213821" cy="365125"/>
          </a:xfrm>
        </p:spPr>
        <p:txBody>
          <a:bodyPr/>
          <a:lstStyle/>
          <a:p>
            <a:fld id="{72D92F55-3793-4648-AF7A-D9CEEE88ECC8}" type="datetimeFigureOut">
              <a:rPr lang="en-US" smtClean="0"/>
              <a:t>2/17/2026</a:t>
            </a:fld>
            <a:endParaRPr lang="en-US"/>
          </a:p>
        </p:txBody>
      </p:sp>
      <p:sp>
        <p:nvSpPr>
          <p:cNvPr id="6" name="Footer Placeholder 5"/>
          <p:cNvSpPr>
            <a:spLocks noGrp="1"/>
          </p:cNvSpPr>
          <p:nvPr>
            <p:ph type="ftr" sz="quarter" idx="11"/>
          </p:nvPr>
        </p:nvSpPr>
        <p:spPr>
          <a:xfrm rot="-60000">
            <a:off x="914569" y="5831037"/>
            <a:ext cx="3319043" cy="365125"/>
          </a:xfrm>
        </p:spPr>
        <p:txBody>
          <a:bodyPr/>
          <a:lstStyle/>
          <a:p>
            <a:endParaRPr lang="en-US"/>
          </a:p>
        </p:txBody>
      </p:sp>
      <p:sp>
        <p:nvSpPr>
          <p:cNvPr id="7" name="Slide Number Placeholder 6"/>
          <p:cNvSpPr>
            <a:spLocks noGrp="1"/>
          </p:cNvSpPr>
          <p:nvPr>
            <p:ph type="sldNum" sz="quarter" idx="12"/>
          </p:nvPr>
        </p:nvSpPr>
        <p:spPr>
          <a:xfrm rot="60000">
            <a:off x="7562089" y="5900026"/>
            <a:ext cx="554023" cy="365125"/>
          </a:xfrm>
        </p:spPr>
        <p:txBody>
          <a:bodyPr/>
          <a:lstStyle/>
          <a:p>
            <a:fld id="{ACFB6CC9-8C31-4D8E-AC9E-47C05B6B3BED}"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nchor="ct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2D92F55-3793-4648-AF7A-D9CEEE88ECC8}" type="datetimeFigureOut">
              <a:rPr lang="en-US" smtClean="0"/>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FB6CC9-8C31-4D8E-AC9E-47C05B6B3BED}"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1" y="925690"/>
            <a:ext cx="1430867" cy="4763911"/>
          </a:xfrm>
        </p:spPr>
        <p:txBody>
          <a:bodyPr vert="eaVert"/>
          <a:lstStyle>
            <a:lvl1pPr algn="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298221" y="1106312"/>
            <a:ext cx="5178779" cy="440266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2D92F55-3793-4648-AF7A-D9CEEE88ECC8}" type="datetimeFigureOut">
              <a:rPr lang="en-US" smtClean="0"/>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FB6CC9-8C31-4D8E-AC9E-47C05B6B3BED}"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3.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15"/>
          <p:cNvGrpSpPr/>
          <p:nvPr/>
        </p:nvGrpSpPr>
        <p:grpSpPr>
          <a:xfrm>
            <a:off x="0" y="0"/>
            <a:ext cx="9144000" cy="6858000"/>
            <a:chOff x="0" y="0"/>
            <a:chExt cx="9144000" cy="6858000"/>
          </a:xfrm>
        </p:grpSpPr>
        <p:sp>
          <p:nvSpPr>
            <p:cNvPr id="8" name="Rectangle 7"/>
            <p:cNvSpPr/>
            <p:nvPr/>
          </p:nvSpPr>
          <p:spPr>
            <a:xfrm>
              <a:off x="0" y="0"/>
              <a:ext cx="7162800" cy="6858000"/>
            </a:xfrm>
            <a:prstGeom prst="rect">
              <a:avLst/>
            </a:prstGeom>
            <a:gradFill flip="none" rotWithShape="1">
              <a:gsLst>
                <a:gs pos="0">
                  <a:srgbClr val="010101">
                    <a:alpha val="51765"/>
                  </a:srgbClr>
                </a:gs>
                <a:gs pos="60000">
                  <a:srgbClr val="FEFEFE">
                    <a:alpha val="0"/>
                  </a:srgb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1143000" y="0"/>
              <a:ext cx="8001000" cy="6858000"/>
            </a:xfrm>
            <a:prstGeom prst="rect">
              <a:avLst/>
            </a:prstGeom>
            <a:gradFill flip="none" rotWithShape="1">
              <a:gsLst>
                <a:gs pos="0">
                  <a:srgbClr val="010101">
                    <a:alpha val="56000"/>
                  </a:srgbClr>
                </a:gs>
                <a:gs pos="61000">
                  <a:srgbClr val="FEFEFE">
                    <a:alpha val="0"/>
                  </a:srgb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Freeform 9"/>
          <p:cNvSpPr/>
          <p:nvPr/>
        </p:nvSpPr>
        <p:spPr>
          <a:xfrm rot="10800000">
            <a:off x="628650" y="6069330"/>
            <a:ext cx="7920991" cy="537210"/>
          </a:xfrm>
          <a:custGeom>
            <a:avLst/>
            <a:gdLst>
              <a:gd name="connsiteX0" fmla="*/ 0 w 7955280"/>
              <a:gd name="connsiteY0" fmla="*/ 495300 h 495300"/>
              <a:gd name="connsiteX1" fmla="*/ 169546 w 7955280"/>
              <a:gd name="connsiteY1" fmla="*/ 0 h 495300"/>
              <a:gd name="connsiteX2" fmla="*/ 7785734 w 7955280"/>
              <a:gd name="connsiteY2" fmla="*/ 0 h 495300"/>
              <a:gd name="connsiteX3" fmla="*/ 7955280 w 7955280"/>
              <a:gd name="connsiteY3" fmla="*/ 495300 h 495300"/>
              <a:gd name="connsiteX4" fmla="*/ 0 w 7955280"/>
              <a:gd name="connsiteY4" fmla="*/ 495300 h 495300"/>
              <a:gd name="connsiteX0" fmla="*/ 0 w 7955280"/>
              <a:gd name="connsiteY0" fmla="*/ 495300 h 495300"/>
              <a:gd name="connsiteX1" fmla="*/ 169546 w 7955280"/>
              <a:gd name="connsiteY1" fmla="*/ 0 h 495300"/>
              <a:gd name="connsiteX2" fmla="*/ 3966210 w 7955280"/>
              <a:gd name="connsiteY2" fmla="*/ 95250 h 495300"/>
              <a:gd name="connsiteX3" fmla="*/ 7785734 w 7955280"/>
              <a:gd name="connsiteY3" fmla="*/ 0 h 495300"/>
              <a:gd name="connsiteX4" fmla="*/ 7955280 w 7955280"/>
              <a:gd name="connsiteY4" fmla="*/ 495300 h 495300"/>
              <a:gd name="connsiteX5" fmla="*/ 0 w 7955280"/>
              <a:gd name="connsiteY5" fmla="*/ 495300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55280" h="495300">
                <a:moveTo>
                  <a:pt x="0" y="495300"/>
                </a:moveTo>
                <a:lnTo>
                  <a:pt x="169546" y="0"/>
                </a:lnTo>
                <a:lnTo>
                  <a:pt x="3966210" y="95250"/>
                </a:lnTo>
                <a:lnTo>
                  <a:pt x="7785734" y="0"/>
                </a:lnTo>
                <a:lnTo>
                  <a:pt x="7955280" y="495300"/>
                </a:lnTo>
                <a:lnTo>
                  <a:pt x="0" y="495300"/>
                </a:lnTo>
                <a:close/>
              </a:path>
            </a:pathLst>
          </a:custGeom>
          <a:gradFill flip="none" rotWithShape="1">
            <a:gsLst>
              <a:gs pos="30000">
                <a:srgbClr val="010101">
                  <a:alpha val="34000"/>
                </a:srgbClr>
              </a:gs>
              <a:gs pos="100000">
                <a:srgbClr val="010101">
                  <a:alpha val="26000"/>
                </a:srgbClr>
              </a:gs>
            </a:gsLst>
            <a:path path="circle">
              <a:fillToRect l="50000" t="50000" r="50000" b="50000"/>
            </a:path>
            <a:tileRect/>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731520" y="575310"/>
            <a:ext cx="7696200" cy="5715000"/>
          </a:xfrm>
          <a:prstGeom prst="rect">
            <a:avLst/>
          </a:prstGeom>
          <a:solidFill>
            <a:schemeClr val="bg1">
              <a:lumMod val="75000"/>
              <a:lumOff val="25000"/>
            </a:schemeClr>
          </a:solid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731520" y="576072"/>
            <a:ext cx="7696200" cy="5715000"/>
          </a:xfrm>
          <a:prstGeom prst="rect">
            <a:avLst/>
          </a:prstGeom>
          <a:blipFill dpi="0" rotWithShape="1">
            <a:blip r:embed="rId13" cstate="print">
              <a:alphaModFix amt="20000"/>
              <a:grayscl/>
              <a:lum contrast="12000"/>
            </a:blip>
            <a:srcRect/>
            <a:tile tx="0" ty="0" sx="100000" sy="100000" flip="none" algn="tl"/>
          </a:blip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2" descr="C:\Users\Administrator\Desktop\Pushpin Dev\Assets\pushpinLeft.png"/>
          <p:cNvPicPr>
            <a:picLocks noChangeAspect="1" noChangeArrowheads="1"/>
          </p:cNvPicPr>
          <p:nvPr/>
        </p:nvPicPr>
        <p:blipFill>
          <a:blip r:embed="rId14" cstate="print"/>
          <a:srcRect/>
          <a:stretch>
            <a:fillRect/>
          </a:stretch>
        </p:blipFill>
        <p:spPr bwMode="auto">
          <a:xfrm rot="1435684">
            <a:off x="543741" y="273091"/>
            <a:ext cx="567831" cy="567830"/>
          </a:xfrm>
          <a:prstGeom prst="rect">
            <a:avLst/>
          </a:prstGeom>
          <a:noFill/>
        </p:spPr>
      </p:pic>
      <p:pic>
        <p:nvPicPr>
          <p:cNvPr id="14" name="Picture 2" descr="C:\Users\Administrator\Desktop\Pushpin Dev\Assets\pushpinLeft.png"/>
          <p:cNvPicPr>
            <a:picLocks noChangeAspect="1" noChangeArrowheads="1"/>
          </p:cNvPicPr>
          <p:nvPr/>
        </p:nvPicPr>
        <p:blipFill>
          <a:blip r:embed="rId14" cstate="print"/>
          <a:srcRect/>
          <a:stretch>
            <a:fillRect/>
          </a:stretch>
        </p:blipFill>
        <p:spPr bwMode="auto">
          <a:xfrm rot="4096196">
            <a:off x="8115079" y="298163"/>
            <a:ext cx="566928" cy="566928"/>
          </a:xfrm>
          <a:prstGeom prst="rect">
            <a:avLst/>
          </a:prstGeom>
          <a:noFill/>
        </p:spPr>
      </p:pic>
      <p:sp>
        <p:nvSpPr>
          <p:cNvPr id="2" name="Title Placeholder 1"/>
          <p:cNvSpPr>
            <a:spLocks noGrp="1"/>
          </p:cNvSpPr>
          <p:nvPr>
            <p:ph type="title"/>
          </p:nvPr>
        </p:nvSpPr>
        <p:spPr>
          <a:xfrm>
            <a:off x="1095023" y="817582"/>
            <a:ext cx="6965245" cy="1202485"/>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463040" y="2119257"/>
            <a:ext cx="6196405" cy="3603812"/>
          </a:xfrm>
          <a:prstGeom prst="rect">
            <a:avLst/>
          </a:prstGeom>
        </p:spPr>
        <p:txBody>
          <a:bodyPr vert="horz" lIns="91440" tIns="45720" rIns="91440" bIns="45720" rtlCol="0"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454588" y="5809152"/>
            <a:ext cx="1213821" cy="365125"/>
          </a:xfrm>
          <a:prstGeom prst="rect">
            <a:avLst/>
          </a:prstGeom>
        </p:spPr>
        <p:txBody>
          <a:bodyPr vert="horz" lIns="91440" tIns="45720" rIns="91440" bIns="45720" rtlCol="0" anchor="ctr"/>
          <a:lstStyle>
            <a:lvl1pPr algn="r">
              <a:defRPr sz="1200">
                <a:solidFill>
                  <a:schemeClr val="tx2"/>
                </a:solidFill>
                <a:latin typeface="Rage Italic" pitchFamily="66" charset="0"/>
              </a:defRPr>
            </a:lvl1pPr>
          </a:lstStyle>
          <a:p>
            <a:fld id="{72D92F55-3793-4648-AF7A-D9CEEE88ECC8}" type="datetimeFigureOut">
              <a:rPr lang="en-US" smtClean="0"/>
              <a:t>2/17/2026</a:t>
            </a:fld>
            <a:endParaRPr lang="en-US"/>
          </a:p>
        </p:txBody>
      </p:sp>
      <p:sp>
        <p:nvSpPr>
          <p:cNvPr id="5" name="Footer Placeholder 4"/>
          <p:cNvSpPr>
            <a:spLocks noGrp="1"/>
          </p:cNvSpPr>
          <p:nvPr>
            <p:ph type="ftr" sz="quarter" idx="3"/>
          </p:nvPr>
        </p:nvSpPr>
        <p:spPr>
          <a:xfrm>
            <a:off x="914401" y="5809152"/>
            <a:ext cx="5540188" cy="365125"/>
          </a:xfrm>
          <a:prstGeom prst="rect">
            <a:avLst/>
          </a:prstGeom>
        </p:spPr>
        <p:txBody>
          <a:bodyPr vert="horz" lIns="91440" tIns="45720" rIns="91440" bIns="45720" rtlCol="0" anchor="ctr"/>
          <a:lstStyle>
            <a:lvl1pPr algn="l">
              <a:defRPr sz="1400">
                <a:solidFill>
                  <a:schemeClr val="tx2"/>
                </a:solidFill>
                <a:latin typeface="Rage Italic" pitchFamily="66" charset="0"/>
              </a:defRPr>
            </a:lvl1pPr>
          </a:lstStyle>
          <a:p>
            <a:endParaRPr lang="en-US"/>
          </a:p>
        </p:txBody>
      </p:sp>
      <p:sp>
        <p:nvSpPr>
          <p:cNvPr id="6" name="Slide Number Placeholder 5"/>
          <p:cNvSpPr>
            <a:spLocks noGrp="1"/>
          </p:cNvSpPr>
          <p:nvPr>
            <p:ph type="sldNum" sz="quarter" idx="4"/>
          </p:nvPr>
        </p:nvSpPr>
        <p:spPr>
          <a:xfrm>
            <a:off x="7670202" y="5809152"/>
            <a:ext cx="554023" cy="365125"/>
          </a:xfrm>
          <a:prstGeom prst="rect">
            <a:avLst/>
          </a:prstGeom>
        </p:spPr>
        <p:txBody>
          <a:bodyPr vert="horz" lIns="91440" tIns="45720" rIns="91440" bIns="45720" rtlCol="0" anchor="ctr"/>
          <a:lstStyle>
            <a:lvl1pPr algn="r">
              <a:defRPr sz="1400">
                <a:solidFill>
                  <a:schemeClr val="tx2"/>
                </a:solidFill>
                <a:latin typeface="Rage Italic" pitchFamily="66" charset="0"/>
              </a:defRPr>
            </a:lvl1pPr>
          </a:lstStyle>
          <a:p>
            <a:fld id="{ACFB6CC9-8C31-4D8E-AC9E-47C05B6B3BED}"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2"/>
        </a:buClr>
        <a:buSzPct val="85000"/>
        <a:buFont typeface="Brush Script MT" pitchFamily="66" charset="0"/>
        <a:buChar char="O"/>
        <a:defRPr sz="2400" kern="1200">
          <a:solidFill>
            <a:schemeClr val="tx1"/>
          </a:solidFill>
          <a:latin typeface="+mn-lt"/>
          <a:ea typeface="+mn-ea"/>
          <a:cs typeface="+mn-cs"/>
        </a:defRPr>
      </a:lvl1pPr>
      <a:lvl2pPr marL="640080" indent="-274320" algn="l" defTabSz="914400" rtl="0" eaLnBrk="1" latinLnBrk="0" hangingPunct="1">
        <a:spcBef>
          <a:spcPct val="20000"/>
        </a:spcBef>
        <a:buClr>
          <a:schemeClr val="accent2"/>
        </a:buClr>
        <a:buSzPct val="85000"/>
        <a:buFont typeface="Brush Script MT" pitchFamily="66" charset="0"/>
        <a:buChar char="O"/>
        <a:defRPr sz="2200" kern="1200">
          <a:solidFill>
            <a:schemeClr val="tx1"/>
          </a:solidFill>
          <a:latin typeface="+mn-lt"/>
          <a:ea typeface="+mn-ea"/>
          <a:cs typeface="+mn-cs"/>
        </a:defRPr>
      </a:lvl2pPr>
      <a:lvl3pPr marL="914400" indent="-228600" algn="l" defTabSz="914400" rtl="0" eaLnBrk="1" latinLnBrk="0" hangingPunct="1">
        <a:spcBef>
          <a:spcPct val="20000"/>
        </a:spcBef>
        <a:buClr>
          <a:schemeClr val="accent2"/>
        </a:buClr>
        <a:buSzPct val="85000"/>
        <a:buFont typeface="Brush Script MT" pitchFamily="66" charset="0"/>
        <a:buChar char="O"/>
        <a:defRPr sz="2000" kern="1200">
          <a:solidFill>
            <a:schemeClr val="tx1"/>
          </a:solidFill>
          <a:latin typeface="+mn-lt"/>
          <a:ea typeface="+mn-ea"/>
          <a:cs typeface="+mn-cs"/>
        </a:defRPr>
      </a:lvl3pPr>
      <a:lvl4pPr marL="1280160" indent="-228600" algn="l" defTabSz="914400" rtl="0" eaLnBrk="1" latinLnBrk="0" hangingPunct="1">
        <a:spcBef>
          <a:spcPct val="20000"/>
        </a:spcBef>
        <a:buClr>
          <a:schemeClr val="accent2"/>
        </a:buClr>
        <a:buSzPct val="85000"/>
        <a:buFont typeface="Brush Script MT" pitchFamily="66" charset="0"/>
        <a:buChar char="O"/>
        <a:defRPr sz="1800" kern="1200">
          <a:solidFill>
            <a:schemeClr val="tx1"/>
          </a:solidFill>
          <a:latin typeface="+mn-lt"/>
          <a:ea typeface="+mn-ea"/>
          <a:cs typeface="+mn-cs"/>
        </a:defRPr>
      </a:lvl4pPr>
      <a:lvl5pPr marL="1645920" indent="-228600" algn="l" defTabSz="914400" rtl="0" eaLnBrk="1" latinLnBrk="0" hangingPunct="1">
        <a:spcBef>
          <a:spcPct val="20000"/>
        </a:spcBef>
        <a:buClr>
          <a:schemeClr val="accent2"/>
        </a:buClr>
        <a:buSzPct val="85000"/>
        <a:buFont typeface="Brush Script MT" pitchFamily="66" charset="0"/>
        <a:buChar char="O"/>
        <a:defRPr sz="1600" kern="1200">
          <a:solidFill>
            <a:schemeClr val="tx1"/>
          </a:solidFill>
          <a:latin typeface="+mn-lt"/>
          <a:ea typeface="+mn-ea"/>
          <a:cs typeface="+mn-cs"/>
        </a:defRPr>
      </a:lvl5pPr>
      <a:lvl6pPr marL="2011680" indent="-228600" algn="l" defTabSz="914400" rtl="0" eaLnBrk="1" latinLnBrk="0" hangingPunct="1">
        <a:spcBef>
          <a:spcPct val="20000"/>
        </a:spcBef>
        <a:buClr>
          <a:schemeClr val="accent2"/>
        </a:buClr>
        <a:buSzPct val="85000"/>
        <a:buFont typeface="Brush Script MT" pitchFamily="66" charset="0"/>
        <a:buChar char="O"/>
        <a:defRPr sz="1600" kern="1200">
          <a:solidFill>
            <a:schemeClr val="tx1"/>
          </a:solidFill>
          <a:latin typeface="+mn-lt"/>
          <a:ea typeface="+mn-ea"/>
          <a:cs typeface="+mn-cs"/>
        </a:defRPr>
      </a:lvl6pPr>
      <a:lvl7pPr marL="2377440" indent="-228600" algn="l" defTabSz="914400" rtl="0" eaLnBrk="1" latinLnBrk="0" hangingPunct="1">
        <a:spcBef>
          <a:spcPct val="20000"/>
        </a:spcBef>
        <a:buClr>
          <a:schemeClr val="accent2"/>
        </a:buClr>
        <a:buSzPct val="85000"/>
        <a:buFont typeface="Brush Script MT" pitchFamily="66" charset="0"/>
        <a:buChar char="O"/>
        <a:defRPr sz="1600" kern="1200">
          <a:solidFill>
            <a:schemeClr val="tx1"/>
          </a:solidFill>
          <a:latin typeface="+mn-lt"/>
          <a:ea typeface="+mn-ea"/>
          <a:cs typeface="+mn-cs"/>
        </a:defRPr>
      </a:lvl7pPr>
      <a:lvl8pPr marL="2743200" indent="-228600" algn="l" defTabSz="914400" rtl="0" eaLnBrk="1" latinLnBrk="0" hangingPunct="1">
        <a:spcBef>
          <a:spcPct val="20000"/>
        </a:spcBef>
        <a:buClr>
          <a:schemeClr val="accent2"/>
        </a:buClr>
        <a:buSzPct val="85000"/>
        <a:buFont typeface="Brush Script MT" pitchFamily="66" charset="0"/>
        <a:buChar char="O"/>
        <a:defRPr sz="1600" kern="1200">
          <a:solidFill>
            <a:schemeClr val="tx1"/>
          </a:solidFill>
          <a:latin typeface="+mn-lt"/>
          <a:ea typeface="+mn-ea"/>
          <a:cs typeface="+mn-cs"/>
        </a:defRPr>
      </a:lvl8pPr>
      <a:lvl9pPr marL="3108960" indent="-228600" algn="l" defTabSz="914400" rtl="0" eaLnBrk="1" latinLnBrk="0" hangingPunct="1">
        <a:spcBef>
          <a:spcPct val="20000"/>
        </a:spcBef>
        <a:buClr>
          <a:schemeClr val="accent2"/>
        </a:buClr>
        <a:buSzPct val="85000"/>
        <a:buFont typeface="Brush Script MT" pitchFamily="66" charset="0"/>
        <a:buChar char="O"/>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hyperlink" Target="https://www.britannica.com/topic/morality" TargetMode="External"/><Relationship Id="rId7" Type="http://schemas.openxmlformats.org/officeDocument/2006/relationships/hyperlink" Target="https://www.britannica.com/topic/right-and-wrong" TargetMode="External"/><Relationship Id="rId2" Type="http://schemas.openxmlformats.org/officeDocument/2006/relationships/hyperlink" Target="https://www.merriam-webster.com/dictionary/discipline" TargetMode="External"/><Relationship Id="rId1" Type="http://schemas.openxmlformats.org/officeDocument/2006/relationships/slideLayout" Target="../slideLayouts/slideLayout2.xml"/><Relationship Id="rId6" Type="http://schemas.openxmlformats.org/officeDocument/2006/relationships/hyperlink" Target="https://www.britannica.com/topic/decision-making" TargetMode="External"/><Relationship Id="rId5" Type="http://schemas.openxmlformats.org/officeDocument/2006/relationships/hyperlink" Target="https://www.merriam-webster.com/dictionary/Ethics" TargetMode="External"/><Relationship Id="rId4" Type="http://schemas.openxmlformats.org/officeDocument/2006/relationships/hyperlink" Target="https://www.merriam-webster.com/dictionary/moral" TargetMode="External"/></Relationships>
</file>

<file path=ppt/slides/_rels/slide20.xml.rels><?xml version="1.0" encoding="UTF-8" standalone="yes"?>
<Relationships xmlns="http://schemas.openxmlformats.org/package/2006/relationships"><Relationship Id="rId3" Type="http://schemas.openxmlformats.org/officeDocument/2006/relationships/hyperlink" Target="https://www.merriam-webster.com/dictionary/ethical" TargetMode="External"/><Relationship Id="rId2" Type="http://schemas.openxmlformats.org/officeDocument/2006/relationships/hyperlink" Target="https://www.britannica.com/topic/morality" TargetMode="External"/><Relationship Id="rId1" Type="http://schemas.openxmlformats.org/officeDocument/2006/relationships/slideLayout" Target="../slideLayouts/slideLayout2.xml"/><Relationship Id="rId4" Type="http://schemas.openxmlformats.org/officeDocument/2006/relationships/hyperlink" Target="https://www.merriam-webster.com/dictionary/morality"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hyperlink" Target="https://www.britannica.com/topic/sociology" TargetMode="External"/><Relationship Id="rId3" Type="http://schemas.openxmlformats.org/officeDocument/2006/relationships/hyperlink" Target="https://www.britannica.com/science/anthropology" TargetMode="External"/><Relationship Id="rId7" Type="http://schemas.openxmlformats.org/officeDocument/2006/relationships/hyperlink" Target="https://www.britannica.com/topic/political-science" TargetMode="External"/><Relationship Id="rId2" Type="http://schemas.openxmlformats.org/officeDocument/2006/relationships/hyperlink" Target="https://www.britannica.com/topic/philosophy" TargetMode="External"/><Relationship Id="rId1" Type="http://schemas.openxmlformats.org/officeDocument/2006/relationships/slideLayout" Target="../slideLayouts/slideLayout2.xml"/><Relationship Id="rId6" Type="http://schemas.openxmlformats.org/officeDocument/2006/relationships/hyperlink" Target="https://www.britannica.com/topic/historiography" TargetMode="External"/><Relationship Id="rId5" Type="http://schemas.openxmlformats.org/officeDocument/2006/relationships/hyperlink" Target="https://www.britannica.com/money/economics" TargetMode="External"/><Relationship Id="rId10" Type="http://schemas.openxmlformats.org/officeDocument/2006/relationships/hyperlink" Target="https://www.merriam-webster.com/dictionary/disciplines" TargetMode="External"/><Relationship Id="rId4" Type="http://schemas.openxmlformats.org/officeDocument/2006/relationships/hyperlink" Target="https://www.britannica.com/science/biology" TargetMode="External"/><Relationship Id="rId9" Type="http://schemas.openxmlformats.org/officeDocument/2006/relationships/hyperlink" Target="https://www.britannica.com/topic/theology" TargetMode="External"/></Relationships>
</file>

<file path=ppt/slides/_rels/slide23.xml.rels><?xml version="1.0" encoding="UTF-8" standalone="yes"?>
<Relationships xmlns="http://schemas.openxmlformats.org/package/2006/relationships"><Relationship Id="rId8" Type="http://schemas.openxmlformats.org/officeDocument/2006/relationships/hyperlink" Target="https://www.britannica.com/topic/Judaism" TargetMode="External"/><Relationship Id="rId3" Type="http://schemas.openxmlformats.org/officeDocument/2006/relationships/hyperlink" Target="https://www.britannica.com/topic/Buddhism" TargetMode="External"/><Relationship Id="rId7" Type="http://schemas.openxmlformats.org/officeDocument/2006/relationships/hyperlink" Target="https://www.britannica.com/topic/Jainism" TargetMode="External"/><Relationship Id="rId2" Type="http://schemas.openxmlformats.org/officeDocument/2006/relationships/hyperlink" Target="https://www.merriam-webster.com/dictionary/conceptions" TargetMode="External"/><Relationship Id="rId1" Type="http://schemas.openxmlformats.org/officeDocument/2006/relationships/slideLayout" Target="../slideLayouts/slideLayout2.xml"/><Relationship Id="rId6" Type="http://schemas.openxmlformats.org/officeDocument/2006/relationships/hyperlink" Target="https://www.britannica.com/topic/Hinduism" TargetMode="External"/><Relationship Id="rId5" Type="http://schemas.openxmlformats.org/officeDocument/2006/relationships/hyperlink" Target="https://www.britannica.com/topic/Confucianism" TargetMode="External"/><Relationship Id="rId4" Type="http://schemas.openxmlformats.org/officeDocument/2006/relationships/hyperlink" Target="https://www.britannica.com/topic/Christianity" TargetMode="External"/><Relationship Id="rId9" Type="http://schemas.openxmlformats.org/officeDocument/2006/relationships/hyperlink" Target="https://www.britannica.com/topic/Sikhism"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63040" y="2119257"/>
            <a:ext cx="6766560" cy="3603812"/>
          </a:xfrm>
        </p:spPr>
        <p:txBody>
          <a:bodyPr>
            <a:normAutofit fontScale="92500" lnSpcReduction="20000"/>
          </a:bodyPr>
          <a:lstStyle/>
          <a:p>
            <a:pPr marL="0" indent="0" algn="ctr">
              <a:buNone/>
            </a:pPr>
            <a:endParaRPr lang="en-US" sz="2800" dirty="0">
              <a:latin typeface="Times New Roman" pitchFamily="18" charset="0"/>
              <a:cs typeface="Times New Roman" pitchFamily="18" charset="0"/>
            </a:endParaRPr>
          </a:p>
          <a:p>
            <a:pPr marL="0" indent="0" algn="ctr">
              <a:buNone/>
            </a:pPr>
            <a:endParaRPr lang="en-US" dirty="0">
              <a:solidFill>
                <a:srgbClr val="002060"/>
              </a:solidFill>
              <a:latin typeface="Times New Roman" pitchFamily="18" charset="0"/>
              <a:cs typeface="Times New Roman" pitchFamily="18" charset="0"/>
            </a:endParaRPr>
          </a:p>
          <a:p>
            <a:pPr marL="0" indent="0" algn="ctr">
              <a:buNone/>
            </a:pPr>
            <a:r>
              <a:rPr lang="en-US" b="1" dirty="0">
                <a:solidFill>
                  <a:srgbClr val="002060"/>
                </a:solidFill>
                <a:latin typeface="Times New Roman" pitchFamily="18" charset="0"/>
                <a:cs typeface="Times New Roman" pitchFamily="18" charset="0"/>
              </a:rPr>
              <a:t>Professional </a:t>
            </a:r>
            <a:r>
              <a:rPr lang="en-US" b="1" dirty="0" smtClean="0">
                <a:solidFill>
                  <a:srgbClr val="002060"/>
                </a:solidFill>
                <a:latin typeface="Times New Roman" pitchFamily="18" charset="0"/>
                <a:cs typeface="Times New Roman" pitchFamily="18" charset="0"/>
              </a:rPr>
              <a:t>Practices (HUM-305)</a:t>
            </a:r>
            <a:r>
              <a:rPr lang="en-US" b="1" dirty="0">
                <a:solidFill>
                  <a:srgbClr val="002060"/>
                </a:solidFill>
                <a:latin typeface="Times New Roman" pitchFamily="18" charset="0"/>
                <a:cs typeface="Times New Roman" pitchFamily="18" charset="0"/>
              </a:rPr>
              <a:t>	</a:t>
            </a:r>
            <a:endParaRPr lang="en-US" b="1" dirty="0" smtClean="0">
              <a:solidFill>
                <a:srgbClr val="002060"/>
              </a:solidFill>
              <a:latin typeface="Times New Roman" pitchFamily="18" charset="0"/>
              <a:cs typeface="Times New Roman" pitchFamily="18" charset="0"/>
            </a:endParaRPr>
          </a:p>
          <a:p>
            <a:pPr marL="0" indent="0" algn="ctr">
              <a:buNone/>
            </a:pPr>
            <a:r>
              <a:rPr lang="en-US" sz="2000" b="1" dirty="0" smtClean="0">
                <a:solidFill>
                  <a:srgbClr val="002060"/>
                </a:solidFill>
                <a:latin typeface="Times New Roman" pitchFamily="18" charset="0"/>
                <a:cs typeface="Times New Roman" pitchFamily="18" charset="0"/>
              </a:rPr>
              <a:t>SPRING SEMESTER 2026</a:t>
            </a:r>
          </a:p>
          <a:p>
            <a:pPr marL="0" indent="0" algn="ctr">
              <a:buNone/>
            </a:pPr>
            <a:r>
              <a:rPr lang="en-US" sz="2000" b="1" dirty="0" smtClean="0">
                <a:solidFill>
                  <a:srgbClr val="002060"/>
                </a:solidFill>
                <a:latin typeface="Times New Roman" pitchFamily="18" charset="0"/>
                <a:cs typeface="Times New Roman" pitchFamily="18" charset="0"/>
              </a:rPr>
              <a:t>By</a:t>
            </a:r>
          </a:p>
          <a:p>
            <a:pPr marL="0" indent="0" algn="ctr">
              <a:buNone/>
            </a:pPr>
            <a:r>
              <a:rPr lang="en-US" sz="2000" b="1" dirty="0" smtClean="0">
                <a:solidFill>
                  <a:srgbClr val="C00000"/>
                </a:solidFill>
                <a:latin typeface="Times New Roman" pitchFamily="18" charset="0"/>
                <a:cs typeface="Times New Roman" pitchFamily="18" charset="0"/>
              </a:rPr>
              <a:t>Prof  </a:t>
            </a:r>
            <a:r>
              <a:rPr lang="en-US" sz="2000" b="1" dirty="0" err="1" smtClean="0">
                <a:solidFill>
                  <a:srgbClr val="C00000"/>
                </a:solidFill>
                <a:latin typeface="Times New Roman" pitchFamily="18" charset="0"/>
                <a:cs typeface="Times New Roman" pitchFamily="18" charset="0"/>
              </a:rPr>
              <a:t>Engr</a:t>
            </a:r>
            <a:r>
              <a:rPr lang="en-US" sz="2000" b="1" dirty="0" smtClean="0">
                <a:solidFill>
                  <a:srgbClr val="C00000"/>
                </a:solidFill>
                <a:latin typeface="Times New Roman" pitchFamily="18" charset="0"/>
                <a:cs typeface="Times New Roman" pitchFamily="18" charset="0"/>
              </a:rPr>
              <a:t> Muhammad </a:t>
            </a:r>
            <a:r>
              <a:rPr lang="en-US" sz="2000" b="1" dirty="0" err="1" smtClean="0">
                <a:solidFill>
                  <a:srgbClr val="C00000"/>
                </a:solidFill>
                <a:latin typeface="Times New Roman" pitchFamily="18" charset="0"/>
                <a:cs typeface="Times New Roman" pitchFamily="18" charset="0"/>
              </a:rPr>
              <a:t>Raheel</a:t>
            </a:r>
            <a:r>
              <a:rPr lang="en-US" sz="2000" b="1" dirty="0" smtClean="0">
                <a:solidFill>
                  <a:srgbClr val="C00000"/>
                </a:solidFill>
                <a:latin typeface="Times New Roman" pitchFamily="18" charset="0"/>
                <a:cs typeface="Times New Roman" pitchFamily="18" charset="0"/>
              </a:rPr>
              <a:t> </a:t>
            </a:r>
            <a:r>
              <a:rPr lang="en-US" sz="2000" b="1" dirty="0" err="1" smtClean="0">
                <a:solidFill>
                  <a:srgbClr val="C00000"/>
                </a:solidFill>
                <a:latin typeface="Times New Roman" pitchFamily="18" charset="0"/>
                <a:cs typeface="Times New Roman" pitchFamily="18" charset="0"/>
              </a:rPr>
              <a:t>Iqbal</a:t>
            </a:r>
            <a:r>
              <a:rPr lang="en-US" sz="2000" b="1" dirty="0" smtClean="0">
                <a:solidFill>
                  <a:srgbClr val="C00000"/>
                </a:solidFill>
                <a:latin typeface="Times New Roman" pitchFamily="18" charset="0"/>
                <a:cs typeface="Times New Roman" pitchFamily="18" charset="0"/>
              </a:rPr>
              <a:t> Butt</a:t>
            </a:r>
          </a:p>
          <a:p>
            <a:pPr marL="0" indent="0" algn="ctr">
              <a:buNone/>
            </a:pPr>
            <a:r>
              <a:rPr lang="en-US" sz="2000" b="1" dirty="0" smtClean="0">
                <a:solidFill>
                  <a:srgbClr val="C00000"/>
                </a:solidFill>
                <a:latin typeface="Times New Roman" pitchFamily="18" charset="0"/>
                <a:cs typeface="Times New Roman" pitchFamily="18" charset="0"/>
              </a:rPr>
              <a:t>Resource Person </a:t>
            </a:r>
          </a:p>
          <a:p>
            <a:pPr marL="0" indent="0" algn="ctr">
              <a:buNone/>
            </a:pPr>
            <a:r>
              <a:rPr lang="en-US" sz="2000" b="1" dirty="0" smtClean="0">
                <a:solidFill>
                  <a:srgbClr val="002060"/>
                </a:solidFill>
                <a:latin typeface="Times New Roman" pitchFamily="18" charset="0"/>
                <a:cs typeface="Times New Roman" pitchFamily="18" charset="0"/>
              </a:rPr>
              <a:t>Contact: +92 321 7433568</a:t>
            </a:r>
          </a:p>
          <a:p>
            <a:pPr marL="0" indent="0" algn="ctr">
              <a:buNone/>
            </a:pPr>
            <a:endParaRPr lang="en-US" sz="2200" b="1" dirty="0" smtClean="0">
              <a:solidFill>
                <a:srgbClr val="002060"/>
              </a:solidFill>
              <a:latin typeface="Times New Roman" pitchFamily="18" charset="0"/>
              <a:cs typeface="Times New Roman" pitchFamily="18" charset="0"/>
            </a:endParaRPr>
          </a:p>
          <a:p>
            <a:pPr marL="0" indent="0" algn="ctr">
              <a:buNone/>
            </a:pPr>
            <a:r>
              <a:rPr lang="en-US" sz="2200" b="1" dirty="0">
                <a:solidFill>
                  <a:srgbClr val="002060"/>
                </a:solidFill>
                <a:latin typeface="Times New Roman" pitchFamily="18" charset="0"/>
                <a:cs typeface="Times New Roman" pitchFamily="18" charset="0"/>
              </a:rPr>
              <a:t>School of Computer &amp; Information Technology</a:t>
            </a:r>
            <a:endParaRPr lang="en-US" sz="2200" dirty="0">
              <a:solidFill>
                <a:srgbClr val="002060"/>
              </a:solidFill>
              <a:latin typeface="Times New Roman" pitchFamily="18" charset="0"/>
              <a:cs typeface="Times New Roman" pitchFamily="18" charset="0"/>
            </a:endParaRPr>
          </a:p>
          <a:p>
            <a:pPr marL="0" indent="0" algn="ctr">
              <a:buNone/>
            </a:pPr>
            <a:r>
              <a:rPr lang="en-US" sz="3000" b="1" dirty="0" err="1" smtClean="0">
                <a:solidFill>
                  <a:srgbClr val="C00000"/>
                </a:solidFill>
                <a:latin typeface="Times New Roman" pitchFamily="18" charset="0"/>
                <a:cs typeface="Times New Roman" pitchFamily="18" charset="0"/>
              </a:rPr>
              <a:t>Beaconhouse</a:t>
            </a:r>
            <a:r>
              <a:rPr lang="en-US" sz="3000" b="1" dirty="0" smtClean="0">
                <a:solidFill>
                  <a:srgbClr val="C00000"/>
                </a:solidFill>
                <a:latin typeface="Times New Roman" pitchFamily="18" charset="0"/>
                <a:cs typeface="Times New Roman" pitchFamily="18" charset="0"/>
              </a:rPr>
              <a:t> </a:t>
            </a:r>
            <a:r>
              <a:rPr lang="en-US" sz="3000" b="1" dirty="0">
                <a:solidFill>
                  <a:srgbClr val="C00000"/>
                </a:solidFill>
                <a:latin typeface="Times New Roman" pitchFamily="18" charset="0"/>
                <a:cs typeface="Times New Roman" pitchFamily="18" charset="0"/>
              </a:rPr>
              <a:t>National University, Lahore</a:t>
            </a:r>
            <a:endParaRPr lang="en-US" sz="3000" dirty="0">
              <a:solidFill>
                <a:srgbClr val="C00000"/>
              </a:solidFill>
              <a:latin typeface="Times New Roman" pitchFamily="18" charset="0"/>
              <a:cs typeface="Times New Roman" pitchFamily="18" charset="0"/>
            </a:endParaRPr>
          </a:p>
          <a:p>
            <a:pPr marL="0" indent="0" algn="ctr">
              <a:buNone/>
            </a:pPr>
            <a:endParaRPr lang="en-US" sz="3600" dirty="0">
              <a:solidFill>
                <a:srgbClr val="C00000"/>
              </a:solidFill>
              <a:latin typeface="Times New Roman" pitchFamily="18" charset="0"/>
              <a:cs typeface="Times New Roman" pitchFamily="18" charset="0"/>
            </a:endParaRPr>
          </a:p>
          <a:p>
            <a:pPr marL="0" indent="0" algn="ctr">
              <a:buNone/>
            </a:pPr>
            <a:endParaRPr lang="en-US" dirty="0">
              <a:latin typeface="Times New Roman" pitchFamily="18" charset="0"/>
              <a:cs typeface="Times New Roman" pitchFamily="18" charset="0"/>
            </a:endParaRPr>
          </a:p>
        </p:txBody>
      </p:sp>
      <p:pic>
        <p:nvPicPr>
          <p:cNvPr id="1025"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86200" y="899614"/>
            <a:ext cx="1627496" cy="19642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507650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3069" y="1066800"/>
            <a:ext cx="7285324" cy="464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936129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5023" y="817583"/>
            <a:ext cx="6965245" cy="858818"/>
          </a:xfrm>
        </p:spPr>
        <p:txBody>
          <a:bodyPr>
            <a:noAutofit/>
          </a:bodyPr>
          <a:lstStyle/>
          <a:p>
            <a:r>
              <a:rPr lang="en-US" sz="2000" b="1" dirty="0" smtClean="0">
                <a:solidFill>
                  <a:srgbClr val="C00000"/>
                </a:solidFill>
                <a:latin typeface="Times New Roman" pitchFamily="18" charset="0"/>
                <a:cs typeface="Times New Roman" pitchFamily="18" charset="0"/>
              </a:rPr>
              <a:t>Chap 1: Introduction to Professional Practices &amp; What Is Ethics?</a:t>
            </a:r>
            <a:endParaRPr lang="en-US" sz="2000" b="1" dirty="0">
              <a:solidFill>
                <a:srgbClr val="C00000"/>
              </a:solidFill>
              <a:latin typeface="Times New Roman" pitchFamily="18" charset="0"/>
              <a:cs typeface="Times New Roman" pitchFamily="18" charset="0"/>
            </a:endParaRPr>
          </a:p>
        </p:txBody>
      </p:sp>
      <p:sp>
        <p:nvSpPr>
          <p:cNvPr id="3" name="Content Placeholder 2"/>
          <p:cNvSpPr>
            <a:spLocks noGrp="1"/>
          </p:cNvSpPr>
          <p:nvPr>
            <p:ph idx="1"/>
          </p:nvPr>
        </p:nvSpPr>
        <p:spPr>
          <a:xfrm>
            <a:off x="1066800" y="1828800"/>
            <a:ext cx="7010400" cy="4191000"/>
          </a:xfrm>
        </p:spPr>
        <p:txBody>
          <a:bodyPr>
            <a:normAutofit/>
          </a:bodyPr>
          <a:lstStyle/>
          <a:p>
            <a:r>
              <a:rPr lang="en-US" sz="2000" dirty="0">
                <a:latin typeface="Times New Roman" pitchFamily="18" charset="0"/>
                <a:cs typeface="Times New Roman" pitchFamily="18" charset="0"/>
              </a:rPr>
              <a:t>What Is Ethics?</a:t>
            </a:r>
          </a:p>
          <a:p>
            <a:r>
              <a:rPr lang="en-US" sz="2000" dirty="0">
                <a:latin typeface="Times New Roman" pitchFamily="18" charset="0"/>
                <a:cs typeface="Times New Roman" pitchFamily="18" charset="0"/>
              </a:rPr>
              <a:t>A Variety of Ethical Views</a:t>
            </a:r>
          </a:p>
          <a:p>
            <a:r>
              <a:rPr lang="en-US" sz="2000" dirty="0">
                <a:latin typeface="Times New Roman" pitchFamily="18" charset="0"/>
                <a:cs typeface="Times New Roman" pitchFamily="18" charset="0"/>
              </a:rPr>
              <a:t>Some Important </a:t>
            </a:r>
            <a:r>
              <a:rPr lang="en-US" sz="2000" dirty="0" smtClean="0">
                <a:latin typeface="Times New Roman" pitchFamily="18" charset="0"/>
                <a:cs typeface="Times New Roman" pitchFamily="18" charset="0"/>
              </a:rPr>
              <a:t>Distinctions</a:t>
            </a:r>
          </a:p>
          <a:p>
            <a:r>
              <a:rPr lang="en-US" sz="2000" dirty="0" smtClean="0">
                <a:latin typeface="Times New Roman" pitchFamily="18" charset="0"/>
                <a:cs typeface="Times New Roman" pitchFamily="18" charset="0"/>
              </a:rPr>
              <a:t>E-commerce </a:t>
            </a:r>
            <a:r>
              <a:rPr lang="en-US" sz="2000" dirty="0">
                <a:latin typeface="Times New Roman" pitchFamily="18" charset="0"/>
                <a:cs typeface="Times New Roman" pitchFamily="18" charset="0"/>
              </a:rPr>
              <a:t>and Free Stuff</a:t>
            </a:r>
          </a:p>
          <a:p>
            <a:r>
              <a:rPr lang="en-US" sz="2000" dirty="0">
                <a:latin typeface="Times New Roman" pitchFamily="18" charset="0"/>
                <a:cs typeface="Times New Roman" pitchFamily="18" charset="0"/>
              </a:rPr>
              <a:t>Artificial Intelligence, Robotics, Sensors, and Motion</a:t>
            </a: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3886200"/>
            <a:ext cx="4800600" cy="220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054604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838200"/>
            <a:ext cx="6248400" cy="49843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188206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762000"/>
            <a:ext cx="7086600" cy="858305"/>
          </a:xfrm>
        </p:spPr>
        <p:txBody>
          <a:bodyPr>
            <a:noAutofit/>
          </a:bodyPr>
          <a:lstStyle/>
          <a:p>
            <a:r>
              <a:rPr lang="en-US" sz="2400" b="1" dirty="0">
                <a:solidFill>
                  <a:srgbClr val="C00000"/>
                </a:solidFill>
              </a:rPr>
              <a:t>Difference Between Professional, Profession &amp; Professionalism</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714926"/>
            <a:ext cx="7532945" cy="46096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52142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5023" y="817583"/>
            <a:ext cx="6965245" cy="858818"/>
          </a:xfrm>
        </p:spPr>
        <p:txBody>
          <a:bodyPr>
            <a:noAutofit/>
          </a:bodyPr>
          <a:lstStyle/>
          <a:p>
            <a:r>
              <a:rPr lang="en-US" sz="3200" b="1" dirty="0">
                <a:solidFill>
                  <a:srgbClr val="C00000"/>
                </a:solidFill>
                <a:latin typeface="Times New Roman" pitchFamily="18" charset="0"/>
                <a:cs typeface="Times New Roman" pitchFamily="18" charset="0"/>
              </a:rPr>
              <a:t>Professional</a:t>
            </a:r>
            <a:endParaRPr lang="en-US" sz="3200" b="1" dirty="0">
              <a:solidFill>
                <a:srgbClr val="C00000"/>
              </a:solidFill>
              <a:latin typeface="Times New Roman" pitchFamily="18" charset="0"/>
              <a:cs typeface="Times New Roman" pitchFamily="18" charset="0"/>
            </a:endParaRPr>
          </a:p>
        </p:txBody>
      </p:sp>
      <p:sp>
        <p:nvSpPr>
          <p:cNvPr id="3" name="Content Placeholder 2"/>
          <p:cNvSpPr>
            <a:spLocks noGrp="1"/>
          </p:cNvSpPr>
          <p:nvPr>
            <p:ph idx="1"/>
          </p:nvPr>
        </p:nvSpPr>
        <p:spPr>
          <a:xfrm>
            <a:off x="990600" y="1600200"/>
            <a:ext cx="7315200" cy="4495800"/>
          </a:xfrm>
        </p:spPr>
        <p:txBody>
          <a:bodyPr>
            <a:noAutofit/>
          </a:bodyPr>
          <a:lstStyle/>
          <a:p>
            <a:pPr marL="0" indent="0" algn="just">
              <a:buNone/>
            </a:pPr>
            <a:r>
              <a:rPr lang="en-US" sz="2000" b="1" dirty="0" smtClean="0">
                <a:latin typeface="Times New Roman" pitchFamily="18" charset="0"/>
                <a:cs typeface="Times New Roman" pitchFamily="18" charset="0"/>
              </a:rPr>
              <a:t>Definition</a:t>
            </a:r>
            <a:r>
              <a:rPr lang="en-US" sz="2000" b="1" dirty="0">
                <a:latin typeface="Times New Roman" pitchFamily="18" charset="0"/>
                <a:cs typeface="Times New Roman" pitchFamily="18" charset="0"/>
              </a:rPr>
              <a:t>:</a:t>
            </a:r>
          </a:p>
          <a:p>
            <a:pPr algn="just"/>
            <a:r>
              <a:rPr lang="en-US" sz="2000" dirty="0">
                <a:latin typeface="Times New Roman" pitchFamily="18" charset="0"/>
                <a:cs typeface="Times New Roman" pitchFamily="18" charset="0"/>
              </a:rPr>
              <a:t>A </a:t>
            </a:r>
            <a:r>
              <a:rPr lang="en-US" sz="2000" b="1" dirty="0">
                <a:latin typeface="Times New Roman" pitchFamily="18" charset="0"/>
                <a:cs typeface="Times New Roman" pitchFamily="18" charset="0"/>
              </a:rPr>
              <a:t>professional</a:t>
            </a:r>
            <a:r>
              <a:rPr lang="en-US" sz="2000" dirty="0">
                <a:latin typeface="Times New Roman" pitchFamily="18" charset="0"/>
                <a:cs typeface="Times New Roman" pitchFamily="18" charset="0"/>
              </a:rPr>
              <a:t> is a person who has specialized education, training, and skills in a particular field and applies them competently and ethically to earn a livelihood.</a:t>
            </a:r>
          </a:p>
          <a:p>
            <a:pPr marL="0" indent="0" algn="just">
              <a:buNone/>
            </a:pPr>
            <a:endParaRPr lang="en-US" sz="2000" b="1" dirty="0" smtClean="0">
              <a:latin typeface="Times New Roman" pitchFamily="18" charset="0"/>
              <a:cs typeface="Times New Roman" pitchFamily="18" charset="0"/>
            </a:endParaRPr>
          </a:p>
          <a:p>
            <a:pPr marL="0" indent="0" algn="just">
              <a:buNone/>
            </a:pPr>
            <a:r>
              <a:rPr lang="en-US" sz="2000" b="1" dirty="0" smtClean="0">
                <a:latin typeface="Times New Roman" pitchFamily="18" charset="0"/>
                <a:cs typeface="Times New Roman" pitchFamily="18" charset="0"/>
              </a:rPr>
              <a:t>Key </a:t>
            </a:r>
            <a:r>
              <a:rPr lang="en-US" sz="2000" b="1" dirty="0">
                <a:latin typeface="Times New Roman" pitchFamily="18" charset="0"/>
                <a:cs typeface="Times New Roman" pitchFamily="18" charset="0"/>
              </a:rPr>
              <a:t>Characteristics:</a:t>
            </a:r>
          </a:p>
          <a:p>
            <a:pPr algn="just"/>
            <a:r>
              <a:rPr lang="en-US" sz="2000" dirty="0">
                <a:latin typeface="Times New Roman" pitchFamily="18" charset="0"/>
                <a:cs typeface="Times New Roman" pitchFamily="18" charset="0"/>
              </a:rPr>
              <a:t>Specialized knowledge</a:t>
            </a:r>
          </a:p>
          <a:p>
            <a:pPr algn="just"/>
            <a:r>
              <a:rPr lang="en-US" sz="2000" dirty="0">
                <a:latin typeface="Times New Roman" pitchFamily="18" charset="0"/>
                <a:cs typeface="Times New Roman" pitchFamily="18" charset="0"/>
              </a:rPr>
              <a:t>Formal education or certification</a:t>
            </a:r>
          </a:p>
          <a:p>
            <a:pPr algn="just"/>
            <a:r>
              <a:rPr lang="en-US" sz="2000" dirty="0">
                <a:latin typeface="Times New Roman" pitchFamily="18" charset="0"/>
                <a:cs typeface="Times New Roman" pitchFamily="18" charset="0"/>
              </a:rPr>
              <a:t>Practical skills</a:t>
            </a:r>
          </a:p>
          <a:p>
            <a:pPr algn="just"/>
            <a:r>
              <a:rPr lang="en-US" sz="2000" dirty="0">
                <a:latin typeface="Times New Roman" pitchFamily="18" charset="0"/>
                <a:cs typeface="Times New Roman" pitchFamily="18" charset="0"/>
              </a:rPr>
              <a:t>Ethical behavior</a:t>
            </a:r>
          </a:p>
          <a:p>
            <a:pPr algn="just"/>
            <a:r>
              <a:rPr lang="en-US" sz="2000" dirty="0">
                <a:latin typeface="Times New Roman" pitchFamily="18" charset="0"/>
                <a:cs typeface="Times New Roman" pitchFamily="18" charset="0"/>
              </a:rPr>
              <a:t>Responsibility and </a:t>
            </a:r>
            <a:r>
              <a:rPr lang="en-US" sz="2000" dirty="0" smtClean="0">
                <a:latin typeface="Times New Roman" pitchFamily="18" charset="0"/>
                <a:cs typeface="Times New Roman" pitchFamily="18" charset="0"/>
              </a:rPr>
              <a:t>accountability</a:t>
            </a:r>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val="5687176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5023" y="817583"/>
            <a:ext cx="6965245" cy="858818"/>
          </a:xfrm>
        </p:spPr>
        <p:txBody>
          <a:bodyPr>
            <a:noAutofit/>
          </a:bodyPr>
          <a:lstStyle/>
          <a:p>
            <a:r>
              <a:rPr lang="en-US" sz="3200" b="1" dirty="0">
                <a:solidFill>
                  <a:srgbClr val="C00000"/>
                </a:solidFill>
                <a:latin typeface="Times New Roman" pitchFamily="18" charset="0"/>
                <a:cs typeface="Times New Roman" pitchFamily="18" charset="0"/>
              </a:rPr>
              <a:t>Professional</a:t>
            </a:r>
            <a:endParaRPr lang="en-US" sz="3200" b="1" dirty="0">
              <a:solidFill>
                <a:srgbClr val="C00000"/>
              </a:solidFill>
              <a:latin typeface="Times New Roman" pitchFamily="18" charset="0"/>
              <a:cs typeface="Times New Roman" pitchFamily="18" charset="0"/>
            </a:endParaRPr>
          </a:p>
        </p:txBody>
      </p:sp>
      <p:sp>
        <p:nvSpPr>
          <p:cNvPr id="3" name="Content Placeholder 2"/>
          <p:cNvSpPr>
            <a:spLocks noGrp="1"/>
          </p:cNvSpPr>
          <p:nvPr>
            <p:ph idx="1"/>
          </p:nvPr>
        </p:nvSpPr>
        <p:spPr>
          <a:xfrm>
            <a:off x="990600" y="1600200"/>
            <a:ext cx="7315200" cy="4495800"/>
          </a:xfrm>
        </p:spPr>
        <p:txBody>
          <a:bodyPr>
            <a:noAutofit/>
          </a:bodyPr>
          <a:lstStyle/>
          <a:p>
            <a:pPr marL="0" indent="0" algn="just">
              <a:buNone/>
            </a:pPr>
            <a:r>
              <a:rPr lang="en-US" sz="2000" b="1" dirty="0" smtClean="0">
                <a:latin typeface="Times New Roman" pitchFamily="18" charset="0"/>
                <a:cs typeface="Times New Roman" pitchFamily="18" charset="0"/>
              </a:rPr>
              <a:t> </a:t>
            </a:r>
            <a:r>
              <a:rPr lang="en-US" sz="2000" b="1" dirty="0">
                <a:latin typeface="Times New Roman" pitchFamily="18" charset="0"/>
                <a:cs typeface="Times New Roman" pitchFamily="18" charset="0"/>
              </a:rPr>
              <a:t>CS / IT Example:</a:t>
            </a:r>
          </a:p>
          <a:p>
            <a:pPr algn="just"/>
            <a:r>
              <a:rPr lang="en-US" sz="2000" dirty="0">
                <a:latin typeface="Times New Roman" pitchFamily="18" charset="0"/>
                <a:cs typeface="Times New Roman" pitchFamily="18" charset="0"/>
              </a:rPr>
              <a:t>A </a:t>
            </a:r>
            <a:r>
              <a:rPr lang="en-US" sz="2000" b="1" dirty="0">
                <a:latin typeface="Times New Roman" pitchFamily="18" charset="0"/>
                <a:cs typeface="Times New Roman" pitchFamily="18" charset="0"/>
              </a:rPr>
              <a:t>Software Engineer</a:t>
            </a:r>
            <a:r>
              <a:rPr lang="en-US" sz="2000" dirty="0">
                <a:latin typeface="Times New Roman" pitchFamily="18" charset="0"/>
                <a:cs typeface="Times New Roman" pitchFamily="18" charset="0"/>
              </a:rPr>
              <a:t> working at Google.</a:t>
            </a:r>
          </a:p>
          <a:p>
            <a:pPr algn="just"/>
            <a:r>
              <a:rPr lang="en-US" sz="2000" dirty="0">
                <a:latin typeface="Times New Roman" pitchFamily="18" charset="0"/>
                <a:cs typeface="Times New Roman" pitchFamily="18" charset="0"/>
              </a:rPr>
              <a:t>A </a:t>
            </a:r>
            <a:r>
              <a:rPr lang="en-US" sz="2000" b="1" dirty="0" err="1">
                <a:latin typeface="Times New Roman" pitchFamily="18" charset="0"/>
                <a:cs typeface="Times New Roman" pitchFamily="18" charset="0"/>
              </a:rPr>
              <a:t>Cybersecurity</a:t>
            </a:r>
            <a:r>
              <a:rPr lang="en-US" sz="2000" b="1" dirty="0">
                <a:latin typeface="Times New Roman" pitchFamily="18" charset="0"/>
                <a:cs typeface="Times New Roman" pitchFamily="18" charset="0"/>
              </a:rPr>
              <a:t> Analyst</a:t>
            </a:r>
            <a:r>
              <a:rPr lang="en-US" sz="2000" dirty="0">
                <a:latin typeface="Times New Roman" pitchFamily="18" charset="0"/>
                <a:cs typeface="Times New Roman" pitchFamily="18" charset="0"/>
              </a:rPr>
              <a:t> protecting data in a bank.</a:t>
            </a:r>
          </a:p>
          <a:p>
            <a:pPr algn="just"/>
            <a:r>
              <a:rPr lang="en-US" sz="2000" dirty="0">
                <a:latin typeface="Times New Roman" pitchFamily="18" charset="0"/>
                <a:cs typeface="Times New Roman" pitchFamily="18" charset="0"/>
              </a:rPr>
              <a:t>A </a:t>
            </a:r>
            <a:r>
              <a:rPr lang="en-US" sz="2000" b="1" dirty="0">
                <a:latin typeface="Times New Roman" pitchFamily="18" charset="0"/>
                <a:cs typeface="Times New Roman" pitchFamily="18" charset="0"/>
              </a:rPr>
              <a:t>Network Administrator</a:t>
            </a:r>
            <a:r>
              <a:rPr lang="en-US" sz="2000" dirty="0">
                <a:latin typeface="Times New Roman" pitchFamily="18" charset="0"/>
                <a:cs typeface="Times New Roman" pitchFamily="18" charset="0"/>
              </a:rPr>
              <a:t> managing servers in an </a:t>
            </a:r>
            <a:r>
              <a:rPr lang="en-US" sz="2000" dirty="0" smtClean="0">
                <a:latin typeface="Times New Roman" pitchFamily="18" charset="0"/>
                <a:cs typeface="Times New Roman" pitchFamily="18" charset="0"/>
              </a:rPr>
              <a:t>organization.</a:t>
            </a:r>
          </a:p>
          <a:p>
            <a:pPr marL="0" indent="0" algn="just">
              <a:buNone/>
            </a:pPr>
            <a:endParaRPr lang="en-US" sz="2000" dirty="0">
              <a:latin typeface="Times New Roman" pitchFamily="18" charset="0"/>
              <a:cs typeface="Times New Roman" pitchFamily="18" charset="0"/>
            </a:endParaRPr>
          </a:p>
          <a:p>
            <a:pPr marL="0" indent="0" algn="just">
              <a:buNone/>
            </a:pPr>
            <a:r>
              <a:rPr lang="en-US" sz="2000" b="1" dirty="0" smtClean="0">
                <a:latin typeface="Times New Roman" pitchFamily="18" charset="0"/>
                <a:cs typeface="Times New Roman" pitchFamily="18" charset="0"/>
              </a:rPr>
              <a:t>Example:</a:t>
            </a:r>
          </a:p>
          <a:p>
            <a:pPr marL="0" indent="0" algn="just">
              <a:buNone/>
            </a:pPr>
            <a:r>
              <a:rPr lang="en-US" sz="2000" dirty="0">
                <a:latin typeface="Times New Roman" pitchFamily="18" charset="0"/>
                <a:cs typeface="Times New Roman" pitchFamily="18" charset="0"/>
              </a:rPr>
              <a:t/>
            </a:r>
            <a:br>
              <a:rPr lang="en-US" sz="2000" dirty="0">
                <a:latin typeface="Times New Roman" pitchFamily="18" charset="0"/>
                <a:cs typeface="Times New Roman" pitchFamily="18" charset="0"/>
              </a:rPr>
            </a:br>
            <a:r>
              <a:rPr lang="en-US" sz="2000" dirty="0">
                <a:latin typeface="Times New Roman" pitchFamily="18" charset="0"/>
                <a:cs typeface="Times New Roman" pitchFamily="18" charset="0"/>
              </a:rPr>
              <a:t>If a Software Developer designs secure applications, meets deadlines, and follows ethical coding standards, he/she is acting as a </a:t>
            </a:r>
            <a:r>
              <a:rPr lang="en-US" sz="2000" b="1" dirty="0">
                <a:latin typeface="Times New Roman" pitchFamily="18" charset="0"/>
                <a:cs typeface="Times New Roman" pitchFamily="18" charset="0"/>
              </a:rPr>
              <a:t>professional</a:t>
            </a:r>
            <a:r>
              <a:rPr lang="en-US" sz="2000" dirty="0">
                <a:latin typeface="Times New Roman" pitchFamily="18" charset="0"/>
                <a:cs typeface="Times New Roman" pitchFamily="18" charset="0"/>
              </a:rPr>
              <a:t>.</a:t>
            </a:r>
          </a:p>
        </p:txBody>
      </p:sp>
    </p:spTree>
    <p:extLst>
      <p:ext uri="{BB962C8B-B14F-4D97-AF65-F5344CB8AC3E}">
        <p14:creationId xmlns:p14="http://schemas.microsoft.com/office/powerpoint/2010/main" val="23804637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5023" y="817583"/>
            <a:ext cx="6965245" cy="858818"/>
          </a:xfrm>
        </p:spPr>
        <p:txBody>
          <a:bodyPr>
            <a:noAutofit/>
          </a:bodyPr>
          <a:lstStyle/>
          <a:p>
            <a:r>
              <a:rPr lang="en-US" sz="3200" b="1" dirty="0" smtClean="0">
                <a:solidFill>
                  <a:srgbClr val="C00000"/>
                </a:solidFill>
                <a:latin typeface="Times New Roman" pitchFamily="18" charset="0"/>
                <a:cs typeface="Times New Roman" pitchFamily="18" charset="0"/>
              </a:rPr>
              <a:t>Profession</a:t>
            </a:r>
            <a:endParaRPr lang="en-US" sz="3200" b="1" dirty="0">
              <a:solidFill>
                <a:srgbClr val="C00000"/>
              </a:solidFill>
              <a:latin typeface="Times New Roman" pitchFamily="18" charset="0"/>
              <a:cs typeface="Times New Roman" pitchFamily="18" charset="0"/>
            </a:endParaRPr>
          </a:p>
        </p:txBody>
      </p:sp>
      <p:sp>
        <p:nvSpPr>
          <p:cNvPr id="3" name="Content Placeholder 2"/>
          <p:cNvSpPr>
            <a:spLocks noGrp="1"/>
          </p:cNvSpPr>
          <p:nvPr>
            <p:ph idx="1"/>
          </p:nvPr>
        </p:nvSpPr>
        <p:spPr>
          <a:xfrm>
            <a:off x="990600" y="1600200"/>
            <a:ext cx="7315200" cy="4495800"/>
          </a:xfrm>
        </p:spPr>
        <p:txBody>
          <a:bodyPr>
            <a:noAutofit/>
          </a:bodyPr>
          <a:lstStyle/>
          <a:p>
            <a:pPr marL="0" indent="0" algn="just">
              <a:buNone/>
            </a:pPr>
            <a:r>
              <a:rPr lang="en-US" sz="2000" b="1" dirty="0" smtClean="0">
                <a:latin typeface="Times New Roman" pitchFamily="18" charset="0"/>
                <a:cs typeface="Times New Roman" pitchFamily="18" charset="0"/>
              </a:rPr>
              <a:t>Definition</a:t>
            </a:r>
            <a:r>
              <a:rPr lang="en-US" sz="2000" b="1" dirty="0">
                <a:latin typeface="Times New Roman" pitchFamily="18" charset="0"/>
                <a:cs typeface="Times New Roman" pitchFamily="18" charset="0"/>
              </a:rPr>
              <a:t>:</a:t>
            </a:r>
          </a:p>
          <a:p>
            <a:pPr algn="just"/>
            <a:r>
              <a:rPr lang="en-US" sz="2000" dirty="0">
                <a:latin typeface="Times New Roman" pitchFamily="18" charset="0"/>
                <a:cs typeface="Times New Roman" pitchFamily="18" charset="0"/>
              </a:rPr>
              <a:t>A </a:t>
            </a:r>
            <a:r>
              <a:rPr lang="en-US" sz="2000" b="1" dirty="0">
                <a:latin typeface="Times New Roman" pitchFamily="18" charset="0"/>
                <a:cs typeface="Times New Roman" pitchFamily="18" charset="0"/>
              </a:rPr>
              <a:t>profession</a:t>
            </a:r>
            <a:r>
              <a:rPr lang="en-US" sz="2000" dirty="0">
                <a:latin typeface="Times New Roman" pitchFamily="18" charset="0"/>
                <a:cs typeface="Times New Roman" pitchFamily="18" charset="0"/>
              </a:rPr>
              <a:t> is an occupation that requires specialized education, training, intellectual skills, and adherence to a code of ethics.</a:t>
            </a:r>
          </a:p>
          <a:p>
            <a:pPr marL="0" indent="0" algn="just">
              <a:buNone/>
            </a:pPr>
            <a:endParaRPr lang="en-US" sz="2000" b="1" dirty="0" smtClean="0">
              <a:latin typeface="Times New Roman" pitchFamily="18" charset="0"/>
              <a:cs typeface="Times New Roman" pitchFamily="18" charset="0"/>
            </a:endParaRPr>
          </a:p>
          <a:p>
            <a:pPr marL="0" indent="0" algn="just">
              <a:buNone/>
            </a:pPr>
            <a:r>
              <a:rPr lang="en-US" sz="2000" b="1" dirty="0" smtClean="0">
                <a:latin typeface="Times New Roman" pitchFamily="18" charset="0"/>
                <a:cs typeface="Times New Roman" pitchFamily="18" charset="0"/>
              </a:rPr>
              <a:t>Key </a:t>
            </a:r>
            <a:r>
              <a:rPr lang="en-US" sz="2000" b="1" dirty="0">
                <a:latin typeface="Times New Roman" pitchFamily="18" charset="0"/>
                <a:cs typeface="Times New Roman" pitchFamily="18" charset="0"/>
              </a:rPr>
              <a:t>Elements:</a:t>
            </a:r>
          </a:p>
          <a:p>
            <a:pPr algn="just"/>
            <a:r>
              <a:rPr lang="en-US" sz="2000" dirty="0">
                <a:latin typeface="Times New Roman" pitchFamily="18" charset="0"/>
                <a:cs typeface="Times New Roman" pitchFamily="18" charset="0"/>
              </a:rPr>
              <a:t>Formal qualification (degree/certification)</a:t>
            </a:r>
          </a:p>
          <a:p>
            <a:pPr algn="just"/>
            <a:r>
              <a:rPr lang="en-US" sz="2000" dirty="0">
                <a:latin typeface="Times New Roman" pitchFamily="18" charset="0"/>
                <a:cs typeface="Times New Roman" pitchFamily="18" charset="0"/>
              </a:rPr>
              <a:t>Professional standards</a:t>
            </a:r>
          </a:p>
          <a:p>
            <a:pPr algn="just"/>
            <a:r>
              <a:rPr lang="en-US" sz="2000" dirty="0">
                <a:latin typeface="Times New Roman" pitchFamily="18" charset="0"/>
                <a:cs typeface="Times New Roman" pitchFamily="18" charset="0"/>
              </a:rPr>
              <a:t>Code of ethics</a:t>
            </a:r>
          </a:p>
          <a:p>
            <a:pPr algn="just"/>
            <a:r>
              <a:rPr lang="en-US" sz="2000" dirty="0">
                <a:latin typeface="Times New Roman" pitchFamily="18" charset="0"/>
                <a:cs typeface="Times New Roman" pitchFamily="18" charset="0"/>
              </a:rPr>
              <a:t>Continuous learning</a:t>
            </a:r>
          </a:p>
          <a:p>
            <a:pPr algn="just"/>
            <a:r>
              <a:rPr lang="en-US" sz="2000" dirty="0">
                <a:latin typeface="Times New Roman" pitchFamily="18" charset="0"/>
                <a:cs typeface="Times New Roman" pitchFamily="18" charset="0"/>
              </a:rPr>
              <a:t>Service to society</a:t>
            </a:r>
          </a:p>
          <a:p>
            <a:pPr algn="just"/>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val="37490770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5023" y="817583"/>
            <a:ext cx="6965245" cy="858818"/>
          </a:xfrm>
        </p:spPr>
        <p:txBody>
          <a:bodyPr>
            <a:noAutofit/>
          </a:bodyPr>
          <a:lstStyle/>
          <a:p>
            <a:r>
              <a:rPr lang="en-US" sz="3200" b="1" dirty="0" smtClean="0">
                <a:solidFill>
                  <a:srgbClr val="C00000"/>
                </a:solidFill>
                <a:latin typeface="Times New Roman" pitchFamily="18" charset="0"/>
                <a:cs typeface="Times New Roman" pitchFamily="18" charset="0"/>
              </a:rPr>
              <a:t>Profession</a:t>
            </a:r>
            <a:endParaRPr lang="en-US" sz="3200" b="1" dirty="0">
              <a:solidFill>
                <a:srgbClr val="C00000"/>
              </a:solidFill>
              <a:latin typeface="Times New Roman" pitchFamily="18" charset="0"/>
              <a:cs typeface="Times New Roman" pitchFamily="18" charset="0"/>
            </a:endParaRPr>
          </a:p>
        </p:txBody>
      </p:sp>
      <p:sp>
        <p:nvSpPr>
          <p:cNvPr id="3" name="Content Placeholder 2"/>
          <p:cNvSpPr>
            <a:spLocks noGrp="1"/>
          </p:cNvSpPr>
          <p:nvPr>
            <p:ph idx="1"/>
          </p:nvPr>
        </p:nvSpPr>
        <p:spPr>
          <a:xfrm>
            <a:off x="990600" y="1600200"/>
            <a:ext cx="7315200" cy="4495800"/>
          </a:xfrm>
        </p:spPr>
        <p:txBody>
          <a:bodyPr>
            <a:noAutofit/>
          </a:bodyPr>
          <a:lstStyle/>
          <a:p>
            <a:pPr marL="0" indent="0" algn="just">
              <a:buNone/>
            </a:pPr>
            <a:r>
              <a:rPr lang="en-US" sz="2000" b="1" dirty="0" smtClean="0">
                <a:latin typeface="Times New Roman" pitchFamily="18" charset="0"/>
                <a:cs typeface="Times New Roman" pitchFamily="18" charset="0"/>
              </a:rPr>
              <a:t>Examples </a:t>
            </a:r>
            <a:r>
              <a:rPr lang="en-US" sz="2000" b="1" dirty="0">
                <a:latin typeface="Times New Roman" pitchFamily="18" charset="0"/>
                <a:cs typeface="Times New Roman" pitchFamily="18" charset="0"/>
              </a:rPr>
              <a:t>of Professions:</a:t>
            </a:r>
          </a:p>
          <a:p>
            <a:pPr algn="just"/>
            <a:r>
              <a:rPr lang="en-US" sz="2000" dirty="0">
                <a:latin typeface="Times New Roman" pitchFamily="18" charset="0"/>
                <a:cs typeface="Times New Roman" pitchFamily="18" charset="0"/>
              </a:rPr>
              <a:t>Medicine</a:t>
            </a:r>
          </a:p>
          <a:p>
            <a:pPr algn="just"/>
            <a:r>
              <a:rPr lang="en-US" sz="2000" dirty="0">
                <a:latin typeface="Times New Roman" pitchFamily="18" charset="0"/>
                <a:cs typeface="Times New Roman" pitchFamily="18" charset="0"/>
              </a:rPr>
              <a:t>Law</a:t>
            </a:r>
          </a:p>
          <a:p>
            <a:pPr algn="just"/>
            <a:r>
              <a:rPr lang="en-US" sz="2000" dirty="0">
                <a:latin typeface="Times New Roman" pitchFamily="18" charset="0"/>
                <a:cs typeface="Times New Roman" pitchFamily="18" charset="0"/>
              </a:rPr>
              <a:t>Engineering</a:t>
            </a:r>
          </a:p>
          <a:p>
            <a:pPr algn="just"/>
            <a:r>
              <a:rPr lang="en-US" sz="2000" dirty="0">
                <a:latin typeface="Times New Roman" pitchFamily="18" charset="0"/>
                <a:cs typeface="Times New Roman" pitchFamily="18" charset="0"/>
              </a:rPr>
              <a:t>Teaching</a:t>
            </a:r>
          </a:p>
          <a:p>
            <a:pPr algn="just"/>
            <a:r>
              <a:rPr lang="en-US" sz="2000" dirty="0">
                <a:latin typeface="Times New Roman" pitchFamily="18" charset="0"/>
                <a:cs typeface="Times New Roman" pitchFamily="18" charset="0"/>
              </a:rPr>
              <a:t>Computer Science / IT</a:t>
            </a:r>
          </a:p>
          <a:p>
            <a:pPr marL="0" indent="0" algn="just">
              <a:buNone/>
            </a:pPr>
            <a:r>
              <a:rPr lang="en-US" sz="2000" b="1" dirty="0" smtClean="0">
                <a:latin typeface="Times New Roman" pitchFamily="18" charset="0"/>
                <a:cs typeface="Times New Roman" pitchFamily="18" charset="0"/>
              </a:rPr>
              <a:t>CS </a:t>
            </a:r>
            <a:r>
              <a:rPr lang="en-US" sz="2000" b="1" dirty="0">
                <a:latin typeface="Times New Roman" pitchFamily="18" charset="0"/>
                <a:cs typeface="Times New Roman" pitchFamily="18" charset="0"/>
              </a:rPr>
              <a:t>/ IT as a Profession:</a:t>
            </a:r>
          </a:p>
          <a:p>
            <a:pPr algn="just"/>
            <a:r>
              <a:rPr lang="en-US" sz="2000" dirty="0">
                <a:latin typeface="Times New Roman" pitchFamily="18" charset="0"/>
                <a:cs typeface="Times New Roman" pitchFamily="18" charset="0"/>
              </a:rPr>
              <a:t>Computer Science became a recognized profession because:</a:t>
            </a:r>
          </a:p>
          <a:p>
            <a:pPr algn="just"/>
            <a:r>
              <a:rPr lang="en-US" sz="2000" dirty="0">
                <a:latin typeface="Times New Roman" pitchFamily="18" charset="0"/>
                <a:cs typeface="Times New Roman" pitchFamily="18" charset="0"/>
              </a:rPr>
              <a:t>It requires formal education (BSCS, MSCS, Certifications).</a:t>
            </a:r>
          </a:p>
          <a:p>
            <a:pPr algn="just"/>
            <a:r>
              <a:rPr lang="en-US" sz="2000" dirty="0">
                <a:latin typeface="Times New Roman" pitchFamily="18" charset="0"/>
                <a:cs typeface="Times New Roman" pitchFamily="18" charset="0"/>
              </a:rPr>
              <a:t>It follows ethical guidelines (like privacy and data protection).</a:t>
            </a:r>
          </a:p>
          <a:p>
            <a:pPr algn="just"/>
            <a:r>
              <a:rPr lang="en-US" sz="2000" dirty="0">
                <a:latin typeface="Times New Roman" pitchFamily="18" charset="0"/>
                <a:cs typeface="Times New Roman" pitchFamily="18" charset="0"/>
              </a:rPr>
              <a:t>It serves society (software systems, healthcare systems, AI, banking systems</a:t>
            </a:r>
            <a:r>
              <a:rPr lang="en-US" sz="2000" dirty="0" smtClean="0">
                <a:latin typeface="Times New Roman" pitchFamily="18" charset="0"/>
                <a:cs typeface="Times New Roman" pitchFamily="18" charset="0"/>
              </a:rPr>
              <a:t>).</a:t>
            </a:r>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val="12034817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5023" y="817583"/>
            <a:ext cx="6965245" cy="858818"/>
          </a:xfrm>
        </p:spPr>
        <p:txBody>
          <a:bodyPr>
            <a:noAutofit/>
          </a:bodyPr>
          <a:lstStyle/>
          <a:p>
            <a:r>
              <a:rPr lang="en-US" sz="3200" b="1" dirty="0" smtClean="0">
                <a:solidFill>
                  <a:srgbClr val="C00000"/>
                </a:solidFill>
                <a:latin typeface="Times New Roman" pitchFamily="18" charset="0"/>
                <a:cs typeface="Times New Roman" pitchFamily="18" charset="0"/>
              </a:rPr>
              <a:t>Profession</a:t>
            </a:r>
            <a:endParaRPr lang="en-US" sz="3200" b="1" dirty="0">
              <a:solidFill>
                <a:srgbClr val="C00000"/>
              </a:solidFill>
              <a:latin typeface="Times New Roman" pitchFamily="18" charset="0"/>
              <a:cs typeface="Times New Roman" pitchFamily="18" charset="0"/>
            </a:endParaRPr>
          </a:p>
        </p:txBody>
      </p:sp>
      <p:sp>
        <p:nvSpPr>
          <p:cNvPr id="3" name="Content Placeholder 2"/>
          <p:cNvSpPr>
            <a:spLocks noGrp="1"/>
          </p:cNvSpPr>
          <p:nvPr>
            <p:ph idx="1"/>
          </p:nvPr>
        </p:nvSpPr>
        <p:spPr>
          <a:xfrm>
            <a:off x="990600" y="1600200"/>
            <a:ext cx="7315200" cy="4495800"/>
          </a:xfrm>
        </p:spPr>
        <p:txBody>
          <a:bodyPr>
            <a:noAutofit/>
          </a:bodyPr>
          <a:lstStyle/>
          <a:p>
            <a:pPr marL="0" indent="0" algn="just">
              <a:buNone/>
            </a:pPr>
            <a:r>
              <a:rPr lang="en-US" sz="2000" b="1" dirty="0" smtClean="0">
                <a:latin typeface="Times New Roman" pitchFamily="18" charset="0"/>
                <a:cs typeface="Times New Roman" pitchFamily="18" charset="0"/>
              </a:rPr>
              <a:t>Example:</a:t>
            </a:r>
          </a:p>
          <a:p>
            <a:pPr marL="0" indent="0" algn="just">
              <a:buNone/>
            </a:pPr>
            <a:r>
              <a:rPr lang="en-US" sz="2000" dirty="0">
                <a:latin typeface="Times New Roman" pitchFamily="18" charset="0"/>
                <a:cs typeface="Times New Roman" pitchFamily="18" charset="0"/>
              </a:rPr>
              <a:t/>
            </a:r>
            <a:br>
              <a:rPr lang="en-US" sz="2000" dirty="0">
                <a:latin typeface="Times New Roman" pitchFamily="18" charset="0"/>
                <a:cs typeface="Times New Roman" pitchFamily="18" charset="0"/>
              </a:rPr>
            </a:br>
            <a:r>
              <a:rPr lang="en-US" sz="2000" dirty="0">
                <a:latin typeface="Times New Roman" pitchFamily="18" charset="0"/>
                <a:cs typeface="Times New Roman" pitchFamily="18" charset="0"/>
              </a:rPr>
              <a:t>Working as a Data Scientist at Microsoft is part of the </a:t>
            </a:r>
            <a:r>
              <a:rPr lang="en-US" sz="2000" b="1" dirty="0">
                <a:latin typeface="Times New Roman" pitchFamily="18" charset="0"/>
                <a:cs typeface="Times New Roman" pitchFamily="18" charset="0"/>
              </a:rPr>
              <a:t>IT profession</a:t>
            </a:r>
            <a:r>
              <a:rPr lang="en-US" sz="2000" dirty="0">
                <a:latin typeface="Times New Roman" pitchFamily="18" charset="0"/>
                <a:cs typeface="Times New Roman" pitchFamily="18" charset="0"/>
              </a:rPr>
              <a:t> because it involves specialized skills and ethical responsibilities</a:t>
            </a:r>
          </a:p>
        </p:txBody>
      </p:sp>
    </p:spTree>
    <p:extLst>
      <p:ext uri="{BB962C8B-B14F-4D97-AF65-F5344CB8AC3E}">
        <p14:creationId xmlns:p14="http://schemas.microsoft.com/office/powerpoint/2010/main" val="23434180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5023" y="817583"/>
            <a:ext cx="6965245" cy="858818"/>
          </a:xfrm>
        </p:spPr>
        <p:txBody>
          <a:bodyPr>
            <a:noAutofit/>
          </a:bodyPr>
          <a:lstStyle/>
          <a:p>
            <a:r>
              <a:rPr lang="en-US" sz="3200" b="1" dirty="0" smtClean="0">
                <a:solidFill>
                  <a:srgbClr val="C00000"/>
                </a:solidFill>
                <a:latin typeface="Times New Roman" pitchFamily="18" charset="0"/>
                <a:cs typeface="Times New Roman" pitchFamily="18" charset="0"/>
              </a:rPr>
              <a:t>Professionalism</a:t>
            </a:r>
            <a:endParaRPr lang="en-US" sz="3200" b="1" dirty="0">
              <a:solidFill>
                <a:srgbClr val="C00000"/>
              </a:solidFill>
              <a:latin typeface="Times New Roman" pitchFamily="18" charset="0"/>
              <a:cs typeface="Times New Roman" pitchFamily="18" charset="0"/>
            </a:endParaRPr>
          </a:p>
        </p:txBody>
      </p:sp>
      <p:sp>
        <p:nvSpPr>
          <p:cNvPr id="3" name="Content Placeholder 2"/>
          <p:cNvSpPr>
            <a:spLocks noGrp="1"/>
          </p:cNvSpPr>
          <p:nvPr>
            <p:ph idx="1"/>
          </p:nvPr>
        </p:nvSpPr>
        <p:spPr>
          <a:xfrm>
            <a:off x="990600" y="1600200"/>
            <a:ext cx="7315200" cy="4495800"/>
          </a:xfrm>
        </p:spPr>
        <p:txBody>
          <a:bodyPr>
            <a:noAutofit/>
          </a:bodyPr>
          <a:lstStyle/>
          <a:p>
            <a:pPr marL="0" indent="0" algn="just">
              <a:buNone/>
            </a:pPr>
            <a:r>
              <a:rPr lang="en-US" sz="1800" b="1" dirty="0" smtClean="0">
                <a:latin typeface="Times New Roman" pitchFamily="18" charset="0"/>
                <a:cs typeface="Times New Roman" pitchFamily="18" charset="0"/>
              </a:rPr>
              <a:t>Definition</a:t>
            </a:r>
            <a:r>
              <a:rPr lang="en-US" sz="1800" b="1" dirty="0">
                <a:latin typeface="Times New Roman" pitchFamily="18" charset="0"/>
                <a:cs typeface="Times New Roman" pitchFamily="18" charset="0"/>
              </a:rPr>
              <a:t>:</a:t>
            </a:r>
          </a:p>
          <a:p>
            <a:pPr algn="just"/>
            <a:r>
              <a:rPr lang="en-US" sz="1800" dirty="0">
                <a:latin typeface="Times New Roman" pitchFamily="18" charset="0"/>
                <a:cs typeface="Times New Roman" pitchFamily="18" charset="0"/>
              </a:rPr>
              <a:t>Professionalism refers to the behavior, attitude, and standards expected from a professional while performing their duties.</a:t>
            </a:r>
          </a:p>
          <a:p>
            <a:pPr algn="just"/>
            <a:r>
              <a:rPr lang="en-US" sz="1800" dirty="0">
                <a:latin typeface="Times New Roman" pitchFamily="18" charset="0"/>
                <a:cs typeface="Times New Roman" pitchFamily="18" charset="0"/>
              </a:rPr>
              <a:t>It is about </a:t>
            </a:r>
            <a:r>
              <a:rPr lang="en-US" sz="1800" b="1" dirty="0">
                <a:latin typeface="Times New Roman" pitchFamily="18" charset="0"/>
                <a:cs typeface="Times New Roman" pitchFamily="18" charset="0"/>
              </a:rPr>
              <a:t>how</a:t>
            </a:r>
            <a:r>
              <a:rPr lang="en-US" sz="1800" dirty="0">
                <a:latin typeface="Times New Roman" pitchFamily="18" charset="0"/>
                <a:cs typeface="Times New Roman" pitchFamily="18" charset="0"/>
              </a:rPr>
              <a:t> a professional behaves, not just what they know.</a:t>
            </a:r>
          </a:p>
          <a:p>
            <a:pPr marL="0" indent="0" algn="just">
              <a:buNone/>
            </a:pPr>
            <a:endParaRPr lang="en-US" sz="1800" b="1" dirty="0" smtClean="0">
              <a:latin typeface="Times New Roman" pitchFamily="18" charset="0"/>
              <a:cs typeface="Times New Roman" pitchFamily="18" charset="0"/>
            </a:endParaRPr>
          </a:p>
          <a:p>
            <a:pPr marL="0" indent="0" algn="just">
              <a:buNone/>
            </a:pPr>
            <a:r>
              <a:rPr lang="en-US" sz="1800" b="1" dirty="0" smtClean="0">
                <a:latin typeface="Times New Roman" pitchFamily="18" charset="0"/>
                <a:cs typeface="Times New Roman" pitchFamily="18" charset="0"/>
              </a:rPr>
              <a:t>Core </a:t>
            </a:r>
            <a:r>
              <a:rPr lang="en-US" sz="1800" b="1" dirty="0">
                <a:latin typeface="Times New Roman" pitchFamily="18" charset="0"/>
                <a:cs typeface="Times New Roman" pitchFamily="18" charset="0"/>
              </a:rPr>
              <a:t>Components of Professionalism:</a:t>
            </a:r>
          </a:p>
          <a:p>
            <a:pPr algn="just"/>
            <a:r>
              <a:rPr lang="en-US" sz="1800" dirty="0">
                <a:latin typeface="Times New Roman" pitchFamily="18" charset="0"/>
                <a:cs typeface="Times New Roman" pitchFamily="18" charset="0"/>
              </a:rPr>
              <a:t>Competence</a:t>
            </a:r>
          </a:p>
          <a:p>
            <a:pPr algn="just"/>
            <a:r>
              <a:rPr lang="en-US" sz="1800" dirty="0">
                <a:latin typeface="Times New Roman" pitchFamily="18" charset="0"/>
                <a:cs typeface="Times New Roman" pitchFamily="18" charset="0"/>
              </a:rPr>
              <a:t>Integrity</a:t>
            </a:r>
          </a:p>
          <a:p>
            <a:pPr algn="just"/>
            <a:r>
              <a:rPr lang="en-US" sz="1800" dirty="0">
                <a:latin typeface="Times New Roman" pitchFamily="18" charset="0"/>
                <a:cs typeface="Times New Roman" pitchFamily="18" charset="0"/>
              </a:rPr>
              <a:t>Accountability</a:t>
            </a:r>
          </a:p>
          <a:p>
            <a:pPr algn="just"/>
            <a:r>
              <a:rPr lang="en-US" sz="1800" dirty="0">
                <a:latin typeface="Times New Roman" pitchFamily="18" charset="0"/>
                <a:cs typeface="Times New Roman" pitchFamily="18" charset="0"/>
              </a:rPr>
              <a:t>Respect</a:t>
            </a:r>
          </a:p>
          <a:p>
            <a:pPr algn="just"/>
            <a:r>
              <a:rPr lang="en-US" sz="1800" dirty="0">
                <a:latin typeface="Times New Roman" pitchFamily="18" charset="0"/>
                <a:cs typeface="Times New Roman" pitchFamily="18" charset="0"/>
              </a:rPr>
              <a:t>Ethical behavior</a:t>
            </a:r>
          </a:p>
          <a:p>
            <a:pPr algn="just"/>
            <a:r>
              <a:rPr lang="en-US" sz="1800" dirty="0">
                <a:latin typeface="Times New Roman" pitchFamily="18" charset="0"/>
                <a:cs typeface="Times New Roman" pitchFamily="18" charset="0"/>
              </a:rPr>
              <a:t>Communication skills</a:t>
            </a:r>
          </a:p>
          <a:p>
            <a:pPr algn="just"/>
            <a:r>
              <a:rPr lang="en-US" sz="1800" dirty="0">
                <a:latin typeface="Times New Roman" pitchFamily="18" charset="0"/>
                <a:cs typeface="Times New Roman" pitchFamily="18" charset="0"/>
              </a:rPr>
              <a:t>Time </a:t>
            </a:r>
            <a:r>
              <a:rPr lang="en-US" sz="1800" dirty="0" smtClean="0">
                <a:latin typeface="Times New Roman" pitchFamily="18" charset="0"/>
                <a:cs typeface="Times New Roman" pitchFamily="18" charset="0"/>
              </a:rPr>
              <a:t>management</a:t>
            </a:r>
            <a:endParaRPr lang="en-US" sz="1800" dirty="0">
              <a:latin typeface="Times New Roman" pitchFamily="18" charset="0"/>
              <a:cs typeface="Times New Roman" pitchFamily="18" charset="0"/>
            </a:endParaRPr>
          </a:p>
        </p:txBody>
      </p:sp>
    </p:spTree>
    <p:extLst>
      <p:ext uri="{BB962C8B-B14F-4D97-AF65-F5344CB8AC3E}">
        <p14:creationId xmlns:p14="http://schemas.microsoft.com/office/powerpoint/2010/main" val="14622775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5023" y="817583"/>
            <a:ext cx="6965245" cy="858818"/>
          </a:xfrm>
        </p:spPr>
        <p:txBody>
          <a:bodyPr>
            <a:noAutofit/>
          </a:bodyPr>
          <a:lstStyle/>
          <a:p>
            <a:r>
              <a:rPr lang="en-US" sz="3200" b="1" dirty="0" smtClean="0">
                <a:solidFill>
                  <a:srgbClr val="C00000"/>
                </a:solidFill>
                <a:latin typeface="Times New Roman" pitchFamily="18" charset="0"/>
                <a:cs typeface="Times New Roman" pitchFamily="18" charset="0"/>
              </a:rPr>
              <a:t>Professionalism</a:t>
            </a:r>
            <a:endParaRPr lang="en-US" sz="3200" b="1" dirty="0">
              <a:solidFill>
                <a:srgbClr val="C00000"/>
              </a:solidFill>
              <a:latin typeface="Times New Roman" pitchFamily="18" charset="0"/>
              <a:cs typeface="Times New Roman" pitchFamily="18" charset="0"/>
            </a:endParaRPr>
          </a:p>
        </p:txBody>
      </p:sp>
      <p:sp>
        <p:nvSpPr>
          <p:cNvPr id="3" name="Content Placeholder 2"/>
          <p:cNvSpPr>
            <a:spLocks noGrp="1"/>
          </p:cNvSpPr>
          <p:nvPr>
            <p:ph idx="1"/>
          </p:nvPr>
        </p:nvSpPr>
        <p:spPr>
          <a:xfrm>
            <a:off x="990600" y="1600200"/>
            <a:ext cx="7315200" cy="4495800"/>
          </a:xfrm>
        </p:spPr>
        <p:txBody>
          <a:bodyPr>
            <a:noAutofit/>
          </a:bodyPr>
          <a:lstStyle/>
          <a:p>
            <a:pPr marL="0" indent="0" algn="just">
              <a:buNone/>
            </a:pPr>
            <a:r>
              <a:rPr lang="en-US" sz="1800" b="1" dirty="0" smtClean="0">
                <a:latin typeface="Times New Roman" pitchFamily="18" charset="0"/>
                <a:cs typeface="Times New Roman" pitchFamily="18" charset="0"/>
              </a:rPr>
              <a:t>Professionalism </a:t>
            </a:r>
            <a:r>
              <a:rPr lang="en-US" sz="1800" b="1" dirty="0">
                <a:latin typeface="Times New Roman" pitchFamily="18" charset="0"/>
                <a:cs typeface="Times New Roman" pitchFamily="18" charset="0"/>
              </a:rPr>
              <a:t>in CS / IT (Detailed Explanation</a:t>
            </a:r>
            <a:r>
              <a:rPr lang="en-US" sz="1800" b="1" dirty="0" smtClean="0">
                <a:latin typeface="Times New Roman" pitchFamily="18" charset="0"/>
                <a:cs typeface="Times New Roman" pitchFamily="18" charset="0"/>
              </a:rPr>
              <a:t>)</a:t>
            </a:r>
          </a:p>
          <a:p>
            <a:pPr marL="0" indent="0" algn="just">
              <a:buNone/>
            </a:pPr>
            <a:endParaRPr lang="en-US" sz="1800" b="1" dirty="0">
              <a:latin typeface="Times New Roman" pitchFamily="18" charset="0"/>
              <a:cs typeface="Times New Roman" pitchFamily="18" charset="0"/>
            </a:endParaRPr>
          </a:p>
          <a:p>
            <a:pPr marL="0" indent="0" algn="just">
              <a:buNone/>
            </a:pPr>
            <a:r>
              <a:rPr lang="en-US" sz="1800" b="1" dirty="0" smtClean="0">
                <a:latin typeface="Times New Roman" pitchFamily="18" charset="0"/>
                <a:cs typeface="Times New Roman" pitchFamily="18" charset="0"/>
              </a:rPr>
              <a:t>1: </a:t>
            </a:r>
            <a:r>
              <a:rPr lang="en-US" sz="1800" b="1" dirty="0">
                <a:latin typeface="Times New Roman" pitchFamily="18" charset="0"/>
                <a:cs typeface="Times New Roman" pitchFamily="18" charset="0"/>
              </a:rPr>
              <a:t>Technical Competence</a:t>
            </a:r>
          </a:p>
          <a:p>
            <a:pPr algn="just"/>
            <a:r>
              <a:rPr lang="en-US" sz="1800" dirty="0">
                <a:latin typeface="Times New Roman" pitchFamily="18" charset="0"/>
                <a:cs typeface="Times New Roman" pitchFamily="18" charset="0"/>
              </a:rPr>
              <a:t>Writing clean and secure code.</a:t>
            </a:r>
          </a:p>
          <a:p>
            <a:pPr algn="just"/>
            <a:r>
              <a:rPr lang="en-US" sz="1800" dirty="0">
                <a:latin typeface="Times New Roman" pitchFamily="18" charset="0"/>
                <a:cs typeface="Times New Roman" pitchFamily="18" charset="0"/>
              </a:rPr>
              <a:t>Using correct algorithms and data structures.</a:t>
            </a:r>
          </a:p>
          <a:p>
            <a:pPr algn="just"/>
            <a:r>
              <a:rPr lang="en-US" sz="1800" dirty="0">
                <a:latin typeface="Times New Roman" pitchFamily="18" charset="0"/>
                <a:cs typeface="Times New Roman" pitchFamily="18" charset="0"/>
              </a:rPr>
              <a:t>Testing software properly before </a:t>
            </a:r>
            <a:r>
              <a:rPr lang="en-US" sz="1800" dirty="0" smtClean="0">
                <a:latin typeface="Times New Roman" pitchFamily="18" charset="0"/>
                <a:cs typeface="Times New Roman" pitchFamily="18" charset="0"/>
              </a:rPr>
              <a:t>deployment.</a:t>
            </a:r>
          </a:p>
          <a:p>
            <a:pPr algn="just"/>
            <a:endParaRPr lang="en-US" sz="1800" dirty="0" smtClean="0">
              <a:latin typeface="Times New Roman" pitchFamily="18" charset="0"/>
              <a:cs typeface="Times New Roman" pitchFamily="18" charset="0"/>
            </a:endParaRPr>
          </a:p>
          <a:p>
            <a:pPr marL="0" indent="0">
              <a:buNone/>
            </a:pPr>
            <a:r>
              <a:rPr lang="en-US" sz="1800" b="1" dirty="0" smtClean="0">
                <a:latin typeface="Times New Roman" pitchFamily="18" charset="0"/>
                <a:cs typeface="Times New Roman" pitchFamily="18" charset="0"/>
              </a:rPr>
              <a:t>Example</a:t>
            </a:r>
            <a:r>
              <a:rPr lang="en-US" sz="1800" b="1" dirty="0">
                <a:latin typeface="Times New Roman" pitchFamily="18" charset="0"/>
                <a:cs typeface="Times New Roman" pitchFamily="18" charset="0"/>
              </a:rPr>
              <a:t>:</a:t>
            </a:r>
            <a:r>
              <a:rPr lang="en-US" sz="1800" dirty="0">
                <a:latin typeface="Times New Roman" pitchFamily="18" charset="0"/>
                <a:cs typeface="Times New Roman" pitchFamily="18" charset="0"/>
              </a:rPr>
              <a:t/>
            </a:r>
            <a:br>
              <a:rPr lang="en-US" sz="1800" dirty="0">
                <a:latin typeface="Times New Roman" pitchFamily="18" charset="0"/>
                <a:cs typeface="Times New Roman" pitchFamily="18" charset="0"/>
              </a:rPr>
            </a:br>
            <a:r>
              <a:rPr lang="en-US" sz="1800" dirty="0" smtClean="0">
                <a:latin typeface="Times New Roman" pitchFamily="18" charset="0"/>
                <a:cs typeface="Times New Roman" pitchFamily="18" charset="0"/>
              </a:rPr>
              <a:t>A </a:t>
            </a:r>
            <a:r>
              <a:rPr lang="en-US" sz="1800" dirty="0">
                <a:latin typeface="Times New Roman" pitchFamily="18" charset="0"/>
                <a:cs typeface="Times New Roman" pitchFamily="18" charset="0"/>
              </a:rPr>
              <a:t>developer ensures software has no major security vulnerabilities before release</a:t>
            </a:r>
            <a:r>
              <a:rPr lang="en-US" sz="1800" dirty="0" smtClean="0">
                <a:latin typeface="Times New Roman" pitchFamily="18" charset="0"/>
                <a:cs typeface="Times New Roman" pitchFamily="18" charset="0"/>
              </a:rPr>
              <a:t>.</a:t>
            </a:r>
            <a:endParaRPr lang="en-US" sz="1800" dirty="0">
              <a:latin typeface="Times New Roman" pitchFamily="18" charset="0"/>
              <a:cs typeface="Times New Roman" pitchFamily="18" charset="0"/>
            </a:endParaRPr>
          </a:p>
        </p:txBody>
      </p:sp>
    </p:spTree>
    <p:extLst>
      <p:ext uri="{BB962C8B-B14F-4D97-AF65-F5344CB8AC3E}">
        <p14:creationId xmlns:p14="http://schemas.microsoft.com/office/powerpoint/2010/main" val="13312513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5023" y="817583"/>
            <a:ext cx="6965245" cy="858818"/>
          </a:xfrm>
        </p:spPr>
        <p:txBody>
          <a:bodyPr>
            <a:noAutofit/>
          </a:bodyPr>
          <a:lstStyle/>
          <a:p>
            <a:r>
              <a:rPr lang="en-US" sz="3200" b="1" dirty="0" smtClean="0">
                <a:solidFill>
                  <a:srgbClr val="C00000"/>
                </a:solidFill>
                <a:latin typeface="Times New Roman" pitchFamily="18" charset="0"/>
                <a:cs typeface="Times New Roman" pitchFamily="18" charset="0"/>
              </a:rPr>
              <a:t>Professionalism</a:t>
            </a:r>
            <a:endParaRPr lang="en-US" sz="3200" b="1" dirty="0">
              <a:solidFill>
                <a:srgbClr val="C00000"/>
              </a:solidFill>
              <a:latin typeface="Times New Roman" pitchFamily="18" charset="0"/>
              <a:cs typeface="Times New Roman" pitchFamily="18" charset="0"/>
            </a:endParaRPr>
          </a:p>
        </p:txBody>
      </p:sp>
      <p:sp>
        <p:nvSpPr>
          <p:cNvPr id="3" name="Content Placeholder 2"/>
          <p:cNvSpPr>
            <a:spLocks noGrp="1"/>
          </p:cNvSpPr>
          <p:nvPr>
            <p:ph idx="1"/>
          </p:nvPr>
        </p:nvSpPr>
        <p:spPr>
          <a:xfrm>
            <a:off x="990600" y="1600200"/>
            <a:ext cx="7315200" cy="4495800"/>
          </a:xfrm>
        </p:spPr>
        <p:txBody>
          <a:bodyPr>
            <a:noAutofit/>
          </a:bodyPr>
          <a:lstStyle/>
          <a:p>
            <a:pPr marL="0" indent="0" algn="just">
              <a:buNone/>
            </a:pPr>
            <a:r>
              <a:rPr lang="en-US" sz="1800" b="1" dirty="0" smtClean="0">
                <a:latin typeface="Times New Roman" pitchFamily="18" charset="0"/>
                <a:cs typeface="Times New Roman" pitchFamily="18" charset="0"/>
              </a:rPr>
              <a:t>2: </a:t>
            </a:r>
            <a:r>
              <a:rPr lang="en-US" sz="1800" b="1" dirty="0">
                <a:latin typeface="Times New Roman" pitchFamily="18" charset="0"/>
                <a:cs typeface="Times New Roman" pitchFamily="18" charset="0"/>
              </a:rPr>
              <a:t>Ethical Responsibility</a:t>
            </a:r>
          </a:p>
          <a:p>
            <a:pPr algn="just"/>
            <a:r>
              <a:rPr lang="en-US" sz="1800" dirty="0">
                <a:latin typeface="Times New Roman" pitchFamily="18" charset="0"/>
                <a:cs typeface="Times New Roman" pitchFamily="18" charset="0"/>
              </a:rPr>
              <a:t>Following ethical codes such as those from Association for Computing Machinery (ACM Code of Ethics).</a:t>
            </a:r>
          </a:p>
          <a:p>
            <a:pPr algn="just"/>
            <a:r>
              <a:rPr lang="en-US" sz="1800" dirty="0">
                <a:latin typeface="Times New Roman" pitchFamily="18" charset="0"/>
                <a:cs typeface="Times New Roman" pitchFamily="18" charset="0"/>
              </a:rPr>
              <a:t>Ethical issues in IT:</a:t>
            </a:r>
          </a:p>
          <a:p>
            <a:pPr algn="just"/>
            <a:r>
              <a:rPr lang="en-US" sz="1800" dirty="0">
                <a:latin typeface="Times New Roman" pitchFamily="18" charset="0"/>
                <a:cs typeface="Times New Roman" pitchFamily="18" charset="0"/>
              </a:rPr>
              <a:t>Data privacy</a:t>
            </a:r>
          </a:p>
          <a:p>
            <a:pPr algn="just"/>
            <a:r>
              <a:rPr lang="en-US" sz="1800" dirty="0">
                <a:latin typeface="Times New Roman" pitchFamily="18" charset="0"/>
                <a:cs typeface="Times New Roman" pitchFamily="18" charset="0"/>
              </a:rPr>
              <a:t>Intellectual property</a:t>
            </a:r>
          </a:p>
          <a:p>
            <a:pPr algn="just"/>
            <a:r>
              <a:rPr lang="en-US" sz="1800" dirty="0">
                <a:latin typeface="Times New Roman" pitchFamily="18" charset="0"/>
                <a:cs typeface="Times New Roman" pitchFamily="18" charset="0"/>
              </a:rPr>
              <a:t>Plagiarism</a:t>
            </a:r>
          </a:p>
          <a:p>
            <a:pPr algn="just"/>
            <a:r>
              <a:rPr lang="en-US" sz="1800" dirty="0">
                <a:latin typeface="Times New Roman" pitchFamily="18" charset="0"/>
                <a:cs typeface="Times New Roman" pitchFamily="18" charset="0"/>
              </a:rPr>
              <a:t>Cybercrime</a:t>
            </a:r>
          </a:p>
          <a:p>
            <a:pPr algn="just"/>
            <a:r>
              <a:rPr lang="en-US" sz="1800" dirty="0">
                <a:latin typeface="Times New Roman" pitchFamily="18" charset="0"/>
                <a:cs typeface="Times New Roman" pitchFamily="18" charset="0"/>
              </a:rPr>
              <a:t>AI bias</a:t>
            </a:r>
          </a:p>
          <a:p>
            <a:pPr marL="0" indent="0">
              <a:buNone/>
            </a:pPr>
            <a:r>
              <a:rPr lang="en-US" sz="1800" b="1" dirty="0" smtClean="0">
                <a:latin typeface="Times New Roman" pitchFamily="18" charset="0"/>
                <a:cs typeface="Times New Roman" pitchFamily="18" charset="0"/>
              </a:rPr>
              <a:t>Example</a:t>
            </a:r>
            <a:r>
              <a:rPr lang="en-US" sz="1800" b="1" dirty="0">
                <a:latin typeface="Times New Roman" pitchFamily="18" charset="0"/>
                <a:cs typeface="Times New Roman" pitchFamily="18" charset="0"/>
              </a:rPr>
              <a:t>:</a:t>
            </a:r>
            <a:r>
              <a:rPr lang="en-US" sz="1800" dirty="0">
                <a:latin typeface="Times New Roman" pitchFamily="18" charset="0"/>
                <a:cs typeface="Times New Roman" pitchFamily="18" charset="0"/>
              </a:rPr>
              <a:t/>
            </a:r>
            <a:br>
              <a:rPr lang="en-US" sz="1800" dirty="0">
                <a:latin typeface="Times New Roman" pitchFamily="18" charset="0"/>
                <a:cs typeface="Times New Roman" pitchFamily="18" charset="0"/>
              </a:rPr>
            </a:br>
            <a:r>
              <a:rPr lang="en-US" sz="1800" dirty="0">
                <a:latin typeface="Times New Roman" pitchFamily="18" charset="0"/>
                <a:cs typeface="Times New Roman" pitchFamily="18" charset="0"/>
              </a:rPr>
              <a:t>A database administrator does not misuse users' personal data.</a:t>
            </a:r>
          </a:p>
          <a:p>
            <a:pPr algn="just"/>
            <a:r>
              <a:rPr lang="en-US" sz="1800" b="1" dirty="0">
                <a:latin typeface="Times New Roman" pitchFamily="18" charset="0"/>
                <a:cs typeface="Times New Roman" pitchFamily="18" charset="0"/>
              </a:rPr>
              <a:t>3️⃣ Accountability</a:t>
            </a:r>
          </a:p>
          <a:p>
            <a:pPr algn="just"/>
            <a:r>
              <a:rPr lang="en-US" sz="1800" dirty="0">
                <a:latin typeface="Times New Roman" pitchFamily="18" charset="0"/>
                <a:cs typeface="Times New Roman" pitchFamily="18" charset="0"/>
              </a:rPr>
              <a:t>Taking responsibility for errors.</a:t>
            </a:r>
          </a:p>
          <a:p>
            <a:pPr algn="just"/>
            <a:r>
              <a:rPr lang="en-US" sz="1800" dirty="0">
                <a:latin typeface="Times New Roman" pitchFamily="18" charset="0"/>
                <a:cs typeface="Times New Roman" pitchFamily="18" charset="0"/>
              </a:rPr>
              <a:t>Fixing bugs promptly.</a:t>
            </a:r>
          </a:p>
          <a:p>
            <a:pPr algn="just"/>
            <a:r>
              <a:rPr lang="en-US" sz="1800" dirty="0">
                <a:latin typeface="Times New Roman" pitchFamily="18" charset="0"/>
                <a:cs typeface="Times New Roman" pitchFamily="18" charset="0"/>
              </a:rPr>
              <a:t>Not blaming others.</a:t>
            </a:r>
          </a:p>
          <a:p>
            <a:pPr algn="just"/>
            <a:r>
              <a:rPr lang="en-US" sz="1800" dirty="0">
                <a:latin typeface="Times New Roman" pitchFamily="18" charset="0"/>
                <a:cs typeface="Times New Roman" pitchFamily="18" charset="0"/>
              </a:rPr>
              <a:t>👉 Example:</a:t>
            </a:r>
            <a:br>
              <a:rPr lang="en-US" sz="1800" dirty="0">
                <a:latin typeface="Times New Roman" pitchFamily="18" charset="0"/>
                <a:cs typeface="Times New Roman" pitchFamily="18" charset="0"/>
              </a:rPr>
            </a:br>
            <a:r>
              <a:rPr lang="en-US" sz="1800" dirty="0">
                <a:latin typeface="Times New Roman" pitchFamily="18" charset="0"/>
                <a:cs typeface="Times New Roman" pitchFamily="18" charset="0"/>
              </a:rPr>
              <a:t>If a system crashes due to your code, you accept responsibility and fix it.</a:t>
            </a:r>
          </a:p>
          <a:p>
            <a:pPr algn="just"/>
            <a:r>
              <a:rPr lang="en-US" sz="1800" b="1" dirty="0">
                <a:latin typeface="Times New Roman" pitchFamily="18" charset="0"/>
                <a:cs typeface="Times New Roman" pitchFamily="18" charset="0"/>
              </a:rPr>
              <a:t>4️⃣ Communication</a:t>
            </a:r>
          </a:p>
          <a:p>
            <a:pPr algn="just"/>
            <a:r>
              <a:rPr lang="en-US" sz="1800" dirty="0">
                <a:latin typeface="Times New Roman" pitchFamily="18" charset="0"/>
                <a:cs typeface="Times New Roman" pitchFamily="18" charset="0"/>
              </a:rPr>
              <a:t>Explaining technical issues to non-technical clients.</a:t>
            </a:r>
          </a:p>
          <a:p>
            <a:pPr algn="just"/>
            <a:r>
              <a:rPr lang="en-US" sz="1800" dirty="0">
                <a:latin typeface="Times New Roman" pitchFamily="18" charset="0"/>
                <a:cs typeface="Times New Roman" pitchFamily="18" charset="0"/>
              </a:rPr>
              <a:t>Writing proper documentation.</a:t>
            </a:r>
          </a:p>
          <a:p>
            <a:pPr algn="just"/>
            <a:r>
              <a:rPr lang="en-US" sz="1800" dirty="0">
                <a:latin typeface="Times New Roman" pitchFamily="18" charset="0"/>
                <a:cs typeface="Times New Roman" pitchFamily="18" charset="0"/>
              </a:rPr>
              <a:t>Team collaboration.</a:t>
            </a:r>
          </a:p>
          <a:p>
            <a:pPr algn="just"/>
            <a:r>
              <a:rPr lang="en-US" sz="1800" dirty="0">
                <a:latin typeface="Times New Roman" pitchFamily="18" charset="0"/>
                <a:cs typeface="Times New Roman" pitchFamily="18" charset="0"/>
              </a:rPr>
              <a:t>👉 Example:</a:t>
            </a:r>
            <a:br>
              <a:rPr lang="en-US" sz="1800" dirty="0">
                <a:latin typeface="Times New Roman" pitchFamily="18" charset="0"/>
                <a:cs typeface="Times New Roman" pitchFamily="18" charset="0"/>
              </a:rPr>
            </a:br>
            <a:r>
              <a:rPr lang="en-US" sz="1800" dirty="0">
                <a:latin typeface="Times New Roman" pitchFamily="18" charset="0"/>
                <a:cs typeface="Times New Roman" pitchFamily="18" charset="0"/>
              </a:rPr>
              <a:t>A Project Manager clearly explains software requirements to developers.</a:t>
            </a:r>
          </a:p>
          <a:p>
            <a:pPr algn="just"/>
            <a:r>
              <a:rPr lang="en-US" sz="1800" b="1" dirty="0">
                <a:latin typeface="Times New Roman" pitchFamily="18" charset="0"/>
                <a:cs typeface="Times New Roman" pitchFamily="18" charset="0"/>
              </a:rPr>
              <a:t>5️⃣ Continuous Learning</a:t>
            </a:r>
          </a:p>
          <a:p>
            <a:pPr algn="just"/>
            <a:r>
              <a:rPr lang="en-US" sz="1800" dirty="0">
                <a:latin typeface="Times New Roman" pitchFamily="18" charset="0"/>
                <a:cs typeface="Times New Roman" pitchFamily="18" charset="0"/>
              </a:rPr>
              <a:t>IT changes rapidly:</a:t>
            </a:r>
          </a:p>
          <a:p>
            <a:pPr algn="just"/>
            <a:r>
              <a:rPr lang="en-US" sz="1800" dirty="0">
                <a:latin typeface="Times New Roman" pitchFamily="18" charset="0"/>
                <a:cs typeface="Times New Roman" pitchFamily="18" charset="0"/>
              </a:rPr>
              <a:t>Artificial Intelligence</a:t>
            </a:r>
          </a:p>
          <a:p>
            <a:pPr algn="just"/>
            <a:r>
              <a:rPr lang="en-US" sz="1800" dirty="0">
                <a:latin typeface="Times New Roman" pitchFamily="18" charset="0"/>
                <a:cs typeface="Times New Roman" pitchFamily="18" charset="0"/>
              </a:rPr>
              <a:t>Cloud Computing</a:t>
            </a:r>
          </a:p>
          <a:p>
            <a:pPr algn="just"/>
            <a:r>
              <a:rPr lang="en-US" sz="1800" dirty="0" err="1">
                <a:latin typeface="Times New Roman" pitchFamily="18" charset="0"/>
                <a:cs typeface="Times New Roman" pitchFamily="18" charset="0"/>
              </a:rPr>
              <a:t>Cybersecurity</a:t>
            </a:r>
            <a:endParaRPr lang="en-US" sz="1800" dirty="0">
              <a:latin typeface="Times New Roman" pitchFamily="18" charset="0"/>
              <a:cs typeface="Times New Roman" pitchFamily="18" charset="0"/>
            </a:endParaRPr>
          </a:p>
          <a:p>
            <a:pPr algn="just"/>
            <a:r>
              <a:rPr lang="en-US" sz="1800" dirty="0" err="1">
                <a:latin typeface="Times New Roman" pitchFamily="18" charset="0"/>
                <a:cs typeface="Times New Roman" pitchFamily="18" charset="0"/>
              </a:rPr>
              <a:t>Blockchain</a:t>
            </a:r>
            <a:endParaRPr lang="en-US" sz="1800" dirty="0">
              <a:latin typeface="Times New Roman" pitchFamily="18" charset="0"/>
              <a:cs typeface="Times New Roman" pitchFamily="18" charset="0"/>
            </a:endParaRPr>
          </a:p>
          <a:p>
            <a:pPr algn="just"/>
            <a:r>
              <a:rPr lang="en-US" sz="1800" dirty="0">
                <a:latin typeface="Times New Roman" pitchFamily="18" charset="0"/>
                <a:cs typeface="Times New Roman" pitchFamily="18" charset="0"/>
              </a:rPr>
              <a:t>A professional must update skills regularly.</a:t>
            </a:r>
          </a:p>
          <a:p>
            <a:pPr algn="just"/>
            <a:r>
              <a:rPr lang="en-US" sz="1800" dirty="0">
                <a:latin typeface="Times New Roman" pitchFamily="18" charset="0"/>
                <a:cs typeface="Times New Roman" pitchFamily="18" charset="0"/>
              </a:rPr>
              <a:t>👉 Example:</a:t>
            </a:r>
            <a:br>
              <a:rPr lang="en-US" sz="1800" dirty="0">
                <a:latin typeface="Times New Roman" pitchFamily="18" charset="0"/>
                <a:cs typeface="Times New Roman" pitchFamily="18" charset="0"/>
              </a:rPr>
            </a:br>
            <a:r>
              <a:rPr lang="en-US" sz="1800" dirty="0">
                <a:latin typeface="Times New Roman" pitchFamily="18" charset="0"/>
                <a:cs typeface="Times New Roman" pitchFamily="18" charset="0"/>
              </a:rPr>
              <a:t>A developer learns new frameworks like React or new programming languages.</a:t>
            </a:r>
          </a:p>
        </p:txBody>
      </p:sp>
    </p:spTree>
    <p:extLst>
      <p:ext uri="{BB962C8B-B14F-4D97-AF65-F5344CB8AC3E}">
        <p14:creationId xmlns:p14="http://schemas.microsoft.com/office/powerpoint/2010/main" val="6260561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5023" y="817583"/>
            <a:ext cx="6965245" cy="858818"/>
          </a:xfrm>
        </p:spPr>
        <p:txBody>
          <a:bodyPr>
            <a:noAutofit/>
          </a:bodyPr>
          <a:lstStyle/>
          <a:p>
            <a:r>
              <a:rPr lang="en-US" sz="3200" b="1" dirty="0" smtClean="0">
                <a:solidFill>
                  <a:srgbClr val="C00000"/>
                </a:solidFill>
                <a:latin typeface="Times New Roman" pitchFamily="18" charset="0"/>
                <a:cs typeface="Times New Roman" pitchFamily="18" charset="0"/>
              </a:rPr>
              <a:t>Professionalism</a:t>
            </a:r>
            <a:endParaRPr lang="en-US" sz="3200" b="1" dirty="0">
              <a:solidFill>
                <a:srgbClr val="C00000"/>
              </a:solidFill>
              <a:latin typeface="Times New Roman" pitchFamily="18" charset="0"/>
              <a:cs typeface="Times New Roman" pitchFamily="18" charset="0"/>
            </a:endParaRPr>
          </a:p>
        </p:txBody>
      </p:sp>
      <p:sp>
        <p:nvSpPr>
          <p:cNvPr id="3" name="Content Placeholder 2"/>
          <p:cNvSpPr>
            <a:spLocks noGrp="1"/>
          </p:cNvSpPr>
          <p:nvPr>
            <p:ph idx="1"/>
          </p:nvPr>
        </p:nvSpPr>
        <p:spPr>
          <a:xfrm>
            <a:off x="990600" y="1600200"/>
            <a:ext cx="7315200" cy="4495800"/>
          </a:xfrm>
        </p:spPr>
        <p:txBody>
          <a:bodyPr>
            <a:noAutofit/>
          </a:bodyPr>
          <a:lstStyle/>
          <a:p>
            <a:pPr marL="0" indent="0" algn="just">
              <a:buNone/>
            </a:pPr>
            <a:r>
              <a:rPr lang="en-US" sz="1800" b="1" dirty="0" smtClean="0">
                <a:latin typeface="Times New Roman" pitchFamily="18" charset="0"/>
                <a:cs typeface="Times New Roman" pitchFamily="18" charset="0"/>
              </a:rPr>
              <a:t>2: </a:t>
            </a:r>
            <a:r>
              <a:rPr lang="en-US" sz="1800" b="1" dirty="0">
                <a:latin typeface="Times New Roman" pitchFamily="18" charset="0"/>
                <a:cs typeface="Times New Roman" pitchFamily="18" charset="0"/>
              </a:rPr>
              <a:t>Ethical Responsibility</a:t>
            </a:r>
          </a:p>
          <a:p>
            <a:pPr algn="just"/>
            <a:r>
              <a:rPr lang="en-US" sz="1800" dirty="0">
                <a:latin typeface="Times New Roman" pitchFamily="18" charset="0"/>
                <a:cs typeface="Times New Roman" pitchFamily="18" charset="0"/>
              </a:rPr>
              <a:t>Following ethical codes such as those from Association for Computing Machinery (ACM Code of Ethics).</a:t>
            </a:r>
          </a:p>
          <a:p>
            <a:pPr algn="just"/>
            <a:r>
              <a:rPr lang="en-US" sz="1800" dirty="0">
                <a:latin typeface="Times New Roman" pitchFamily="18" charset="0"/>
                <a:cs typeface="Times New Roman" pitchFamily="18" charset="0"/>
              </a:rPr>
              <a:t>Ethical issues in IT:</a:t>
            </a:r>
          </a:p>
          <a:p>
            <a:pPr algn="just"/>
            <a:r>
              <a:rPr lang="en-US" sz="1800" dirty="0">
                <a:latin typeface="Times New Roman" pitchFamily="18" charset="0"/>
                <a:cs typeface="Times New Roman" pitchFamily="18" charset="0"/>
              </a:rPr>
              <a:t>Data privacy</a:t>
            </a:r>
          </a:p>
          <a:p>
            <a:pPr algn="just"/>
            <a:r>
              <a:rPr lang="en-US" sz="1800" dirty="0">
                <a:latin typeface="Times New Roman" pitchFamily="18" charset="0"/>
                <a:cs typeface="Times New Roman" pitchFamily="18" charset="0"/>
              </a:rPr>
              <a:t>Intellectual property</a:t>
            </a:r>
          </a:p>
          <a:p>
            <a:pPr algn="just"/>
            <a:r>
              <a:rPr lang="en-US" sz="1800" dirty="0">
                <a:latin typeface="Times New Roman" pitchFamily="18" charset="0"/>
                <a:cs typeface="Times New Roman" pitchFamily="18" charset="0"/>
              </a:rPr>
              <a:t>Plagiarism</a:t>
            </a:r>
          </a:p>
          <a:p>
            <a:pPr algn="just"/>
            <a:r>
              <a:rPr lang="en-US" sz="1800" dirty="0">
                <a:latin typeface="Times New Roman" pitchFamily="18" charset="0"/>
                <a:cs typeface="Times New Roman" pitchFamily="18" charset="0"/>
              </a:rPr>
              <a:t>Cybercrime</a:t>
            </a:r>
          </a:p>
          <a:p>
            <a:pPr algn="just"/>
            <a:r>
              <a:rPr lang="en-US" sz="1800" dirty="0">
                <a:latin typeface="Times New Roman" pitchFamily="18" charset="0"/>
                <a:cs typeface="Times New Roman" pitchFamily="18" charset="0"/>
              </a:rPr>
              <a:t>AI bias</a:t>
            </a:r>
          </a:p>
          <a:p>
            <a:pPr marL="0" indent="0">
              <a:buNone/>
            </a:pPr>
            <a:r>
              <a:rPr lang="en-US" sz="1800" b="1" dirty="0" smtClean="0">
                <a:latin typeface="Times New Roman" pitchFamily="18" charset="0"/>
                <a:cs typeface="Times New Roman" pitchFamily="18" charset="0"/>
              </a:rPr>
              <a:t>Example</a:t>
            </a:r>
            <a:r>
              <a:rPr lang="en-US" sz="1800" b="1" dirty="0">
                <a:latin typeface="Times New Roman" pitchFamily="18" charset="0"/>
                <a:cs typeface="Times New Roman" pitchFamily="18" charset="0"/>
              </a:rPr>
              <a:t>:</a:t>
            </a:r>
            <a:r>
              <a:rPr lang="en-US" sz="1800" dirty="0">
                <a:latin typeface="Times New Roman" pitchFamily="18" charset="0"/>
                <a:cs typeface="Times New Roman" pitchFamily="18" charset="0"/>
              </a:rPr>
              <a:t/>
            </a:r>
            <a:br>
              <a:rPr lang="en-US" sz="1800" dirty="0">
                <a:latin typeface="Times New Roman" pitchFamily="18" charset="0"/>
                <a:cs typeface="Times New Roman" pitchFamily="18" charset="0"/>
              </a:rPr>
            </a:br>
            <a:r>
              <a:rPr lang="en-US" sz="1800" dirty="0">
                <a:latin typeface="Times New Roman" pitchFamily="18" charset="0"/>
                <a:cs typeface="Times New Roman" pitchFamily="18" charset="0"/>
              </a:rPr>
              <a:t>A database administrator does not misuse users' personal data</a:t>
            </a:r>
            <a:r>
              <a:rPr lang="en-US" sz="1800" dirty="0" smtClean="0">
                <a:latin typeface="Times New Roman" pitchFamily="18" charset="0"/>
                <a:cs typeface="Times New Roman" pitchFamily="18" charset="0"/>
              </a:rPr>
              <a:t>.</a:t>
            </a:r>
            <a:endParaRPr lang="en-US" sz="1800" dirty="0">
              <a:latin typeface="Times New Roman" pitchFamily="18" charset="0"/>
              <a:cs typeface="Times New Roman" pitchFamily="18" charset="0"/>
            </a:endParaRPr>
          </a:p>
        </p:txBody>
      </p:sp>
    </p:spTree>
    <p:extLst>
      <p:ext uri="{BB962C8B-B14F-4D97-AF65-F5344CB8AC3E}">
        <p14:creationId xmlns:p14="http://schemas.microsoft.com/office/powerpoint/2010/main" val="33768261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5023" y="817583"/>
            <a:ext cx="6965245" cy="858818"/>
          </a:xfrm>
        </p:spPr>
        <p:txBody>
          <a:bodyPr>
            <a:noAutofit/>
          </a:bodyPr>
          <a:lstStyle/>
          <a:p>
            <a:r>
              <a:rPr lang="en-US" sz="3200" b="1" dirty="0" smtClean="0">
                <a:solidFill>
                  <a:srgbClr val="C00000"/>
                </a:solidFill>
                <a:latin typeface="Times New Roman" pitchFamily="18" charset="0"/>
                <a:cs typeface="Times New Roman" pitchFamily="18" charset="0"/>
              </a:rPr>
              <a:t>Professionalism</a:t>
            </a:r>
            <a:endParaRPr lang="en-US" sz="3200" b="1" dirty="0">
              <a:solidFill>
                <a:srgbClr val="C00000"/>
              </a:solidFill>
              <a:latin typeface="Times New Roman" pitchFamily="18" charset="0"/>
              <a:cs typeface="Times New Roman" pitchFamily="18" charset="0"/>
            </a:endParaRPr>
          </a:p>
        </p:txBody>
      </p:sp>
      <p:sp>
        <p:nvSpPr>
          <p:cNvPr id="3" name="Content Placeholder 2"/>
          <p:cNvSpPr>
            <a:spLocks noGrp="1"/>
          </p:cNvSpPr>
          <p:nvPr>
            <p:ph idx="1"/>
          </p:nvPr>
        </p:nvSpPr>
        <p:spPr>
          <a:xfrm>
            <a:off x="990600" y="1600200"/>
            <a:ext cx="7315200" cy="4495800"/>
          </a:xfrm>
        </p:spPr>
        <p:txBody>
          <a:bodyPr>
            <a:noAutofit/>
          </a:bodyPr>
          <a:lstStyle/>
          <a:p>
            <a:pPr marL="0" indent="0" algn="just">
              <a:buNone/>
            </a:pPr>
            <a:r>
              <a:rPr lang="en-US" sz="1800" b="1" dirty="0" smtClean="0">
                <a:latin typeface="Times New Roman" pitchFamily="18" charset="0"/>
                <a:cs typeface="Times New Roman" pitchFamily="18" charset="0"/>
              </a:rPr>
              <a:t>3:  </a:t>
            </a:r>
            <a:r>
              <a:rPr lang="en-US" sz="1800" b="1" dirty="0">
                <a:latin typeface="Times New Roman" pitchFamily="18" charset="0"/>
                <a:cs typeface="Times New Roman" pitchFamily="18" charset="0"/>
              </a:rPr>
              <a:t>Accountability</a:t>
            </a:r>
          </a:p>
          <a:p>
            <a:pPr algn="just"/>
            <a:r>
              <a:rPr lang="en-US" sz="1800" dirty="0">
                <a:latin typeface="Times New Roman" pitchFamily="18" charset="0"/>
                <a:cs typeface="Times New Roman" pitchFamily="18" charset="0"/>
              </a:rPr>
              <a:t>Taking responsibility for errors.</a:t>
            </a:r>
          </a:p>
          <a:p>
            <a:pPr algn="just"/>
            <a:r>
              <a:rPr lang="en-US" sz="1800" dirty="0">
                <a:latin typeface="Times New Roman" pitchFamily="18" charset="0"/>
                <a:cs typeface="Times New Roman" pitchFamily="18" charset="0"/>
              </a:rPr>
              <a:t>Fixing bugs promptly.</a:t>
            </a:r>
          </a:p>
          <a:p>
            <a:pPr algn="just"/>
            <a:r>
              <a:rPr lang="en-US" sz="1800" dirty="0">
                <a:latin typeface="Times New Roman" pitchFamily="18" charset="0"/>
                <a:cs typeface="Times New Roman" pitchFamily="18" charset="0"/>
              </a:rPr>
              <a:t>Not blaming others.</a:t>
            </a:r>
          </a:p>
          <a:p>
            <a:pPr marL="0" indent="0">
              <a:buNone/>
            </a:pPr>
            <a:r>
              <a:rPr lang="en-US" sz="1800" dirty="0" smtClean="0">
                <a:latin typeface="Times New Roman" pitchFamily="18" charset="0"/>
                <a:cs typeface="Times New Roman" pitchFamily="18" charset="0"/>
              </a:rPr>
              <a:t>Example</a:t>
            </a:r>
            <a:r>
              <a:rPr lang="en-US" sz="1800" dirty="0">
                <a:latin typeface="Times New Roman" pitchFamily="18" charset="0"/>
                <a:cs typeface="Times New Roman" pitchFamily="18" charset="0"/>
              </a:rPr>
              <a:t>:</a:t>
            </a:r>
            <a:br>
              <a:rPr lang="en-US" sz="1800" dirty="0">
                <a:latin typeface="Times New Roman" pitchFamily="18" charset="0"/>
                <a:cs typeface="Times New Roman" pitchFamily="18" charset="0"/>
              </a:rPr>
            </a:br>
            <a:r>
              <a:rPr lang="en-US" sz="1800" dirty="0">
                <a:latin typeface="Times New Roman" pitchFamily="18" charset="0"/>
                <a:cs typeface="Times New Roman" pitchFamily="18" charset="0"/>
              </a:rPr>
              <a:t>If a system crashes due to your code, you accept responsibility and fix it.</a:t>
            </a:r>
          </a:p>
          <a:p>
            <a:pPr marL="0" indent="0" algn="just">
              <a:buNone/>
            </a:pPr>
            <a:endParaRPr lang="en-US" sz="1800" b="1" dirty="0" smtClean="0">
              <a:latin typeface="Times New Roman" pitchFamily="18" charset="0"/>
              <a:cs typeface="Times New Roman" pitchFamily="18" charset="0"/>
            </a:endParaRPr>
          </a:p>
          <a:p>
            <a:pPr marL="0" indent="0" algn="just">
              <a:buNone/>
            </a:pPr>
            <a:r>
              <a:rPr lang="en-US" sz="1800" b="1" dirty="0" smtClean="0">
                <a:latin typeface="Times New Roman" pitchFamily="18" charset="0"/>
                <a:cs typeface="Times New Roman" pitchFamily="18" charset="0"/>
              </a:rPr>
              <a:t>4: Communication</a:t>
            </a:r>
            <a:endParaRPr lang="en-US" sz="1800" b="1" dirty="0">
              <a:latin typeface="Times New Roman" pitchFamily="18" charset="0"/>
              <a:cs typeface="Times New Roman" pitchFamily="18" charset="0"/>
            </a:endParaRPr>
          </a:p>
          <a:p>
            <a:pPr algn="just"/>
            <a:r>
              <a:rPr lang="en-US" sz="1800" dirty="0">
                <a:latin typeface="Times New Roman" pitchFamily="18" charset="0"/>
                <a:cs typeface="Times New Roman" pitchFamily="18" charset="0"/>
              </a:rPr>
              <a:t>Explaining technical issues to non-technical clients.</a:t>
            </a:r>
          </a:p>
          <a:p>
            <a:pPr algn="just"/>
            <a:r>
              <a:rPr lang="en-US" sz="1800" dirty="0">
                <a:latin typeface="Times New Roman" pitchFamily="18" charset="0"/>
                <a:cs typeface="Times New Roman" pitchFamily="18" charset="0"/>
              </a:rPr>
              <a:t>Writing proper documentation.</a:t>
            </a:r>
          </a:p>
          <a:p>
            <a:pPr algn="just"/>
            <a:r>
              <a:rPr lang="en-US" sz="1800" dirty="0">
                <a:latin typeface="Times New Roman" pitchFamily="18" charset="0"/>
                <a:cs typeface="Times New Roman" pitchFamily="18" charset="0"/>
              </a:rPr>
              <a:t>Team collaboration.</a:t>
            </a:r>
          </a:p>
          <a:p>
            <a:pPr marL="0" indent="0">
              <a:buNone/>
            </a:pPr>
            <a:r>
              <a:rPr lang="en-US" sz="1800" dirty="0" smtClean="0">
                <a:latin typeface="Times New Roman" pitchFamily="18" charset="0"/>
                <a:cs typeface="Times New Roman" pitchFamily="18" charset="0"/>
              </a:rPr>
              <a:t>Example</a:t>
            </a:r>
            <a:r>
              <a:rPr lang="en-US" sz="1800" dirty="0">
                <a:latin typeface="Times New Roman" pitchFamily="18" charset="0"/>
                <a:cs typeface="Times New Roman" pitchFamily="18" charset="0"/>
              </a:rPr>
              <a:t>:</a:t>
            </a:r>
            <a:br>
              <a:rPr lang="en-US" sz="1800" dirty="0">
                <a:latin typeface="Times New Roman" pitchFamily="18" charset="0"/>
                <a:cs typeface="Times New Roman" pitchFamily="18" charset="0"/>
              </a:rPr>
            </a:br>
            <a:r>
              <a:rPr lang="en-US" sz="1800" dirty="0">
                <a:latin typeface="Times New Roman" pitchFamily="18" charset="0"/>
                <a:cs typeface="Times New Roman" pitchFamily="18" charset="0"/>
              </a:rPr>
              <a:t>A Project Manager clearly explains software requirements to developers.</a:t>
            </a:r>
          </a:p>
          <a:p>
            <a:pPr marL="0" indent="0" algn="just">
              <a:buNone/>
            </a:pPr>
            <a:endParaRPr lang="en-US" sz="1800" dirty="0">
              <a:latin typeface="Times New Roman" pitchFamily="18" charset="0"/>
              <a:cs typeface="Times New Roman" pitchFamily="18" charset="0"/>
            </a:endParaRPr>
          </a:p>
        </p:txBody>
      </p:sp>
    </p:spTree>
    <p:extLst>
      <p:ext uri="{BB962C8B-B14F-4D97-AF65-F5344CB8AC3E}">
        <p14:creationId xmlns:p14="http://schemas.microsoft.com/office/powerpoint/2010/main" val="24686302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5023" y="817583"/>
            <a:ext cx="6965245" cy="858818"/>
          </a:xfrm>
        </p:spPr>
        <p:txBody>
          <a:bodyPr>
            <a:noAutofit/>
          </a:bodyPr>
          <a:lstStyle/>
          <a:p>
            <a:r>
              <a:rPr lang="en-US" sz="3200" b="1" dirty="0" smtClean="0">
                <a:solidFill>
                  <a:srgbClr val="C00000"/>
                </a:solidFill>
                <a:latin typeface="Times New Roman" pitchFamily="18" charset="0"/>
                <a:cs typeface="Times New Roman" pitchFamily="18" charset="0"/>
              </a:rPr>
              <a:t>Professionalism</a:t>
            </a:r>
            <a:endParaRPr lang="en-US" sz="3200" b="1" dirty="0">
              <a:solidFill>
                <a:srgbClr val="C00000"/>
              </a:solidFill>
              <a:latin typeface="Times New Roman" pitchFamily="18" charset="0"/>
              <a:cs typeface="Times New Roman" pitchFamily="18" charset="0"/>
            </a:endParaRPr>
          </a:p>
        </p:txBody>
      </p:sp>
      <p:sp>
        <p:nvSpPr>
          <p:cNvPr id="3" name="Content Placeholder 2"/>
          <p:cNvSpPr>
            <a:spLocks noGrp="1"/>
          </p:cNvSpPr>
          <p:nvPr>
            <p:ph idx="1"/>
          </p:nvPr>
        </p:nvSpPr>
        <p:spPr>
          <a:xfrm>
            <a:off x="990600" y="1600200"/>
            <a:ext cx="7315200" cy="4495800"/>
          </a:xfrm>
        </p:spPr>
        <p:txBody>
          <a:bodyPr>
            <a:noAutofit/>
          </a:bodyPr>
          <a:lstStyle/>
          <a:p>
            <a:pPr marL="0" indent="0" algn="just">
              <a:buNone/>
            </a:pPr>
            <a:r>
              <a:rPr lang="en-US" sz="1800" b="1" dirty="0" smtClean="0">
                <a:latin typeface="Times New Roman" pitchFamily="18" charset="0"/>
                <a:cs typeface="Times New Roman" pitchFamily="18" charset="0"/>
              </a:rPr>
              <a:t>5: Continuous </a:t>
            </a:r>
            <a:r>
              <a:rPr lang="en-US" sz="1800" b="1" dirty="0">
                <a:latin typeface="Times New Roman" pitchFamily="18" charset="0"/>
                <a:cs typeface="Times New Roman" pitchFamily="18" charset="0"/>
              </a:rPr>
              <a:t>Learning</a:t>
            </a:r>
          </a:p>
          <a:p>
            <a:pPr marL="0" indent="0" algn="just">
              <a:buNone/>
            </a:pPr>
            <a:r>
              <a:rPr lang="en-US" sz="1800" dirty="0">
                <a:latin typeface="Times New Roman" pitchFamily="18" charset="0"/>
                <a:cs typeface="Times New Roman" pitchFamily="18" charset="0"/>
              </a:rPr>
              <a:t>IT changes rapidly:</a:t>
            </a:r>
          </a:p>
          <a:p>
            <a:pPr algn="just"/>
            <a:r>
              <a:rPr lang="en-US" sz="1800" dirty="0">
                <a:latin typeface="Times New Roman" pitchFamily="18" charset="0"/>
                <a:cs typeface="Times New Roman" pitchFamily="18" charset="0"/>
              </a:rPr>
              <a:t>Artificial Intelligence</a:t>
            </a:r>
          </a:p>
          <a:p>
            <a:pPr algn="just"/>
            <a:r>
              <a:rPr lang="en-US" sz="1800" dirty="0">
                <a:latin typeface="Times New Roman" pitchFamily="18" charset="0"/>
                <a:cs typeface="Times New Roman" pitchFamily="18" charset="0"/>
              </a:rPr>
              <a:t>Cloud Computing</a:t>
            </a:r>
          </a:p>
          <a:p>
            <a:pPr algn="just"/>
            <a:r>
              <a:rPr lang="en-US" sz="1800" dirty="0" err="1">
                <a:latin typeface="Times New Roman" pitchFamily="18" charset="0"/>
                <a:cs typeface="Times New Roman" pitchFamily="18" charset="0"/>
              </a:rPr>
              <a:t>Cybersecurity</a:t>
            </a:r>
            <a:endParaRPr lang="en-US" sz="1800" dirty="0">
              <a:latin typeface="Times New Roman" pitchFamily="18" charset="0"/>
              <a:cs typeface="Times New Roman" pitchFamily="18" charset="0"/>
            </a:endParaRPr>
          </a:p>
          <a:p>
            <a:pPr algn="just"/>
            <a:r>
              <a:rPr lang="en-US" sz="1800" dirty="0" err="1">
                <a:latin typeface="Times New Roman" pitchFamily="18" charset="0"/>
                <a:cs typeface="Times New Roman" pitchFamily="18" charset="0"/>
              </a:rPr>
              <a:t>Blockchain</a:t>
            </a:r>
            <a:endParaRPr lang="en-US" sz="1800" dirty="0">
              <a:latin typeface="Times New Roman" pitchFamily="18" charset="0"/>
              <a:cs typeface="Times New Roman" pitchFamily="18" charset="0"/>
            </a:endParaRPr>
          </a:p>
          <a:p>
            <a:pPr algn="just"/>
            <a:r>
              <a:rPr lang="en-US" sz="1800" dirty="0">
                <a:latin typeface="Times New Roman" pitchFamily="18" charset="0"/>
                <a:cs typeface="Times New Roman" pitchFamily="18" charset="0"/>
              </a:rPr>
              <a:t>A professional must update skills regularly.</a:t>
            </a:r>
          </a:p>
          <a:p>
            <a:pPr marL="0" indent="0" algn="just">
              <a:buNone/>
            </a:pPr>
            <a:endParaRPr lang="en-US" sz="1800" dirty="0" smtClean="0">
              <a:latin typeface="Times New Roman" pitchFamily="18" charset="0"/>
              <a:cs typeface="Times New Roman" pitchFamily="18" charset="0"/>
            </a:endParaRPr>
          </a:p>
          <a:p>
            <a:pPr marL="0" indent="0">
              <a:buNone/>
            </a:pPr>
            <a:r>
              <a:rPr lang="en-US" sz="1800" dirty="0" smtClean="0">
                <a:latin typeface="Times New Roman" pitchFamily="18" charset="0"/>
                <a:cs typeface="Times New Roman" pitchFamily="18" charset="0"/>
              </a:rPr>
              <a:t>Example</a:t>
            </a:r>
            <a:r>
              <a:rPr lang="en-US" sz="1800" dirty="0">
                <a:latin typeface="Times New Roman" pitchFamily="18" charset="0"/>
                <a:cs typeface="Times New Roman" pitchFamily="18" charset="0"/>
              </a:rPr>
              <a:t>:</a:t>
            </a:r>
            <a:br>
              <a:rPr lang="en-US" sz="1800" dirty="0">
                <a:latin typeface="Times New Roman" pitchFamily="18" charset="0"/>
                <a:cs typeface="Times New Roman" pitchFamily="18" charset="0"/>
              </a:rPr>
            </a:br>
            <a:r>
              <a:rPr lang="en-US" sz="1800" dirty="0">
                <a:latin typeface="Times New Roman" pitchFamily="18" charset="0"/>
                <a:cs typeface="Times New Roman" pitchFamily="18" charset="0"/>
              </a:rPr>
              <a:t>A developer learns new frameworks like React or new programming languages.</a:t>
            </a:r>
          </a:p>
        </p:txBody>
      </p:sp>
    </p:spTree>
    <p:extLst>
      <p:ext uri="{BB962C8B-B14F-4D97-AF65-F5344CB8AC3E}">
        <p14:creationId xmlns:p14="http://schemas.microsoft.com/office/powerpoint/2010/main" val="22795256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a:t>Difference Between Professional, Profession &amp; Professionalism</a:t>
            </a:r>
          </a:p>
        </p:txBody>
      </p:sp>
    </p:spTree>
    <p:extLst>
      <p:ext uri="{BB962C8B-B14F-4D97-AF65-F5344CB8AC3E}">
        <p14:creationId xmlns:p14="http://schemas.microsoft.com/office/powerpoint/2010/main" val="35323769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809583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5023" y="817583"/>
            <a:ext cx="6965245" cy="858818"/>
          </a:xfrm>
        </p:spPr>
        <p:txBody>
          <a:bodyPr>
            <a:noAutofit/>
          </a:bodyPr>
          <a:lstStyle/>
          <a:p>
            <a:r>
              <a:rPr lang="en-US" sz="3200" b="1" dirty="0" smtClean="0">
                <a:solidFill>
                  <a:srgbClr val="C00000"/>
                </a:solidFill>
                <a:latin typeface="Times New Roman" pitchFamily="18" charset="0"/>
                <a:cs typeface="Times New Roman" pitchFamily="18" charset="0"/>
              </a:rPr>
              <a:t>Ethics</a:t>
            </a:r>
            <a:endParaRPr lang="en-US" sz="3200" dirty="0">
              <a:solidFill>
                <a:srgbClr val="C00000"/>
              </a:solidFill>
              <a:latin typeface="Times New Roman" pitchFamily="18" charset="0"/>
              <a:cs typeface="Times New Roman" pitchFamily="18" charset="0"/>
            </a:endParaRPr>
          </a:p>
        </p:txBody>
      </p:sp>
      <p:sp>
        <p:nvSpPr>
          <p:cNvPr id="3" name="Content Placeholder 2"/>
          <p:cNvSpPr>
            <a:spLocks noGrp="1"/>
          </p:cNvSpPr>
          <p:nvPr>
            <p:ph idx="1"/>
          </p:nvPr>
        </p:nvSpPr>
        <p:spPr>
          <a:xfrm>
            <a:off x="990600" y="1600200"/>
            <a:ext cx="7315200" cy="4495800"/>
          </a:xfrm>
        </p:spPr>
        <p:txBody>
          <a:bodyPr>
            <a:noAutofit/>
          </a:bodyPr>
          <a:lstStyle/>
          <a:p>
            <a:pPr algn="just"/>
            <a:r>
              <a:rPr lang="en-US" sz="2200" b="1" dirty="0" smtClean="0">
                <a:latin typeface="Times New Roman" pitchFamily="18" charset="0"/>
                <a:cs typeface="Times New Roman" pitchFamily="18" charset="0"/>
              </a:rPr>
              <a:t>Ethics</a:t>
            </a:r>
            <a:r>
              <a:rPr lang="en-US" sz="2200" dirty="0">
                <a:latin typeface="Times New Roman" pitchFamily="18" charset="0"/>
                <a:cs typeface="Times New Roman" pitchFamily="18" charset="0"/>
              </a:rPr>
              <a:t>, the </a:t>
            </a:r>
            <a:r>
              <a:rPr lang="en-US" sz="2200" u="sng" dirty="0">
                <a:latin typeface="Times New Roman" pitchFamily="18" charset="0"/>
                <a:cs typeface="Times New Roman" pitchFamily="18" charset="0"/>
                <a:hlinkClick r:id="rId2"/>
              </a:rPr>
              <a:t>discipline</a:t>
            </a:r>
            <a:r>
              <a:rPr lang="en-US" sz="2200" dirty="0">
                <a:latin typeface="Times New Roman" pitchFamily="18" charset="0"/>
                <a:cs typeface="Times New Roman" pitchFamily="18" charset="0"/>
              </a:rPr>
              <a:t> concerned with what is </a:t>
            </a:r>
            <a:r>
              <a:rPr lang="en-US" sz="2200" u="sng" dirty="0">
                <a:latin typeface="Times New Roman" pitchFamily="18" charset="0"/>
                <a:cs typeface="Times New Roman" pitchFamily="18" charset="0"/>
                <a:hlinkClick r:id="rId3"/>
              </a:rPr>
              <a:t>morally</a:t>
            </a:r>
            <a:r>
              <a:rPr lang="en-US" sz="2200" dirty="0">
                <a:latin typeface="Times New Roman" pitchFamily="18" charset="0"/>
                <a:cs typeface="Times New Roman" pitchFamily="18" charset="0"/>
              </a:rPr>
              <a:t> good and bad and morally right and wrong. The term is also applied to any system or theory of </a:t>
            </a:r>
            <a:r>
              <a:rPr lang="en-US" sz="2200" u="sng" dirty="0">
                <a:latin typeface="Times New Roman" pitchFamily="18" charset="0"/>
                <a:cs typeface="Times New Roman" pitchFamily="18" charset="0"/>
                <a:hlinkClick r:id="rId4"/>
              </a:rPr>
              <a:t>moral</a:t>
            </a:r>
            <a:r>
              <a:rPr lang="en-US" sz="2200" dirty="0">
                <a:latin typeface="Times New Roman" pitchFamily="18" charset="0"/>
                <a:cs typeface="Times New Roman" pitchFamily="18" charset="0"/>
              </a:rPr>
              <a:t> values or principles</a:t>
            </a:r>
            <a:r>
              <a:rPr lang="en-US" sz="2200" dirty="0" smtClean="0">
                <a:latin typeface="Times New Roman" pitchFamily="18" charset="0"/>
                <a:cs typeface="Times New Roman" pitchFamily="18" charset="0"/>
              </a:rPr>
              <a:t>.</a:t>
            </a:r>
          </a:p>
          <a:p>
            <a:pPr algn="just"/>
            <a:endParaRPr lang="en-US" sz="2200" dirty="0" smtClean="0">
              <a:latin typeface="Times New Roman" pitchFamily="18" charset="0"/>
              <a:cs typeface="Times New Roman" pitchFamily="18" charset="0"/>
            </a:endParaRPr>
          </a:p>
          <a:p>
            <a:pPr algn="just"/>
            <a:r>
              <a:rPr lang="en-US" sz="2200" u="sng" dirty="0" smtClean="0">
                <a:latin typeface="Times New Roman" pitchFamily="18" charset="0"/>
                <a:cs typeface="Times New Roman" pitchFamily="18" charset="0"/>
                <a:hlinkClick r:id="rId5"/>
              </a:rPr>
              <a:t>Ethics</a:t>
            </a:r>
            <a:r>
              <a:rPr lang="en-US" sz="2200" dirty="0">
                <a:latin typeface="Times New Roman" pitchFamily="18" charset="0"/>
                <a:cs typeface="Times New Roman" pitchFamily="18" charset="0"/>
              </a:rPr>
              <a:t> deals with such questions at all levels. Its subject consists of the fundamental issues of practical </a:t>
            </a:r>
            <a:r>
              <a:rPr lang="en-US" sz="2200" u="sng" dirty="0">
                <a:latin typeface="Times New Roman" pitchFamily="18" charset="0"/>
                <a:cs typeface="Times New Roman" pitchFamily="18" charset="0"/>
                <a:hlinkClick r:id="rId6"/>
              </a:rPr>
              <a:t>decision making</a:t>
            </a:r>
            <a:r>
              <a:rPr lang="en-US" sz="2200" dirty="0">
                <a:latin typeface="Times New Roman" pitchFamily="18" charset="0"/>
                <a:cs typeface="Times New Roman" pitchFamily="18" charset="0"/>
              </a:rPr>
              <a:t>, and its major concerns include the nature of ultimate value and the standards by which human actions can be judged </a:t>
            </a:r>
            <a:r>
              <a:rPr lang="en-US" sz="2200" u="sng" dirty="0">
                <a:latin typeface="Times New Roman" pitchFamily="18" charset="0"/>
                <a:cs typeface="Times New Roman" pitchFamily="18" charset="0"/>
                <a:hlinkClick r:id="rId7"/>
              </a:rPr>
              <a:t>right or wrong</a:t>
            </a:r>
            <a:r>
              <a:rPr lang="en-US" sz="2200" dirty="0" smtClean="0">
                <a:latin typeface="Times New Roman" pitchFamily="18" charset="0"/>
                <a:cs typeface="Times New Roman" pitchFamily="18" charset="0"/>
              </a:rPr>
              <a:t>.</a:t>
            </a:r>
            <a:endParaRPr lang="en-US" sz="2200" dirty="0">
              <a:latin typeface="Times New Roman" pitchFamily="18" charset="0"/>
              <a:cs typeface="Times New Roman" pitchFamily="18" charset="0"/>
            </a:endParaRPr>
          </a:p>
        </p:txBody>
      </p:sp>
    </p:spTree>
    <p:extLst>
      <p:ext uri="{BB962C8B-B14F-4D97-AF65-F5344CB8AC3E}">
        <p14:creationId xmlns:p14="http://schemas.microsoft.com/office/powerpoint/2010/main" val="1766179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5023" y="817583"/>
            <a:ext cx="6965245" cy="858818"/>
          </a:xfrm>
        </p:spPr>
        <p:txBody>
          <a:bodyPr>
            <a:noAutofit/>
          </a:bodyPr>
          <a:lstStyle/>
          <a:p>
            <a:r>
              <a:rPr lang="en-US" sz="3200" b="1" dirty="0" smtClean="0">
                <a:solidFill>
                  <a:srgbClr val="C00000"/>
                </a:solidFill>
                <a:latin typeface="Times New Roman" pitchFamily="18" charset="0"/>
                <a:cs typeface="Times New Roman" pitchFamily="18" charset="0"/>
              </a:rPr>
              <a:t>Ethics</a:t>
            </a:r>
            <a:endParaRPr lang="en-US" sz="3200" dirty="0">
              <a:solidFill>
                <a:srgbClr val="C00000"/>
              </a:solidFill>
              <a:latin typeface="Times New Roman" pitchFamily="18" charset="0"/>
              <a:cs typeface="Times New Roman" pitchFamily="18" charset="0"/>
            </a:endParaRPr>
          </a:p>
        </p:txBody>
      </p:sp>
      <p:sp>
        <p:nvSpPr>
          <p:cNvPr id="3" name="Content Placeholder 2"/>
          <p:cNvSpPr>
            <a:spLocks noGrp="1"/>
          </p:cNvSpPr>
          <p:nvPr>
            <p:ph idx="1"/>
          </p:nvPr>
        </p:nvSpPr>
        <p:spPr>
          <a:xfrm>
            <a:off x="990600" y="1600200"/>
            <a:ext cx="7315200" cy="4495800"/>
          </a:xfrm>
        </p:spPr>
        <p:txBody>
          <a:bodyPr>
            <a:noAutofit/>
          </a:bodyPr>
          <a:lstStyle/>
          <a:p>
            <a:pPr algn="just"/>
            <a:r>
              <a:rPr lang="en-US" sz="2000" dirty="0" smtClean="0">
                <a:latin typeface="Times New Roman" pitchFamily="18" charset="0"/>
                <a:cs typeface="Times New Roman" pitchFamily="18" charset="0"/>
              </a:rPr>
              <a:t>The </a:t>
            </a:r>
            <a:r>
              <a:rPr lang="en-US" sz="2000" dirty="0">
                <a:latin typeface="Times New Roman" pitchFamily="18" charset="0"/>
                <a:cs typeface="Times New Roman" pitchFamily="18" charset="0"/>
              </a:rPr>
              <a:t>terms </a:t>
            </a:r>
            <a:r>
              <a:rPr lang="en-US" sz="2000" i="1" dirty="0">
                <a:latin typeface="Times New Roman" pitchFamily="18" charset="0"/>
                <a:cs typeface="Times New Roman" pitchFamily="18" charset="0"/>
              </a:rPr>
              <a:t>ethics</a:t>
            </a:r>
            <a:r>
              <a:rPr lang="en-US" sz="2000" dirty="0">
                <a:latin typeface="Times New Roman" pitchFamily="18" charset="0"/>
                <a:cs typeface="Times New Roman" pitchFamily="18" charset="0"/>
              </a:rPr>
              <a:t> and </a:t>
            </a:r>
            <a:r>
              <a:rPr lang="en-US" sz="2000" i="1" u="sng" dirty="0">
                <a:latin typeface="Times New Roman" pitchFamily="18" charset="0"/>
                <a:cs typeface="Times New Roman" pitchFamily="18" charset="0"/>
                <a:hlinkClick r:id="rId2"/>
              </a:rPr>
              <a:t>morality</a:t>
            </a:r>
            <a:r>
              <a:rPr lang="en-US" sz="2000" dirty="0">
                <a:latin typeface="Times New Roman" pitchFamily="18" charset="0"/>
                <a:cs typeface="Times New Roman" pitchFamily="18" charset="0"/>
              </a:rPr>
              <a:t> are closely related. It is now common to refer to </a:t>
            </a:r>
            <a:r>
              <a:rPr lang="en-US" sz="2000" u="sng" dirty="0">
                <a:latin typeface="Times New Roman" pitchFamily="18" charset="0"/>
                <a:cs typeface="Times New Roman" pitchFamily="18" charset="0"/>
                <a:hlinkClick r:id="rId3"/>
              </a:rPr>
              <a:t>ethical</a:t>
            </a:r>
            <a:r>
              <a:rPr lang="en-US" sz="2000" dirty="0">
                <a:latin typeface="Times New Roman" pitchFamily="18" charset="0"/>
                <a:cs typeface="Times New Roman" pitchFamily="18" charset="0"/>
              </a:rPr>
              <a:t> judgments or to ethical principles where it once would have been more accurate to speak of moral judgments or moral principles. </a:t>
            </a:r>
            <a:endParaRPr lang="en-US" sz="2000" dirty="0" smtClean="0">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These </a:t>
            </a:r>
            <a:r>
              <a:rPr lang="en-US" sz="2000" dirty="0">
                <a:latin typeface="Times New Roman" pitchFamily="18" charset="0"/>
                <a:cs typeface="Times New Roman" pitchFamily="18" charset="0"/>
              </a:rPr>
              <a:t>applications are an extension of the meaning of ethics. In earlier usage, the term referred not to </a:t>
            </a:r>
            <a:r>
              <a:rPr lang="en-US" sz="2000" u="sng" dirty="0">
                <a:latin typeface="Times New Roman" pitchFamily="18" charset="0"/>
                <a:cs typeface="Times New Roman" pitchFamily="18" charset="0"/>
                <a:hlinkClick r:id="rId4"/>
              </a:rPr>
              <a:t>morality</a:t>
            </a:r>
            <a:r>
              <a:rPr lang="en-US" sz="2000" dirty="0">
                <a:latin typeface="Times New Roman" pitchFamily="18" charset="0"/>
                <a:cs typeface="Times New Roman" pitchFamily="18" charset="0"/>
              </a:rPr>
              <a:t> itself but to the field of study, or branch of inquiry, that has morality as its subject matter. </a:t>
            </a:r>
            <a:endParaRPr lang="en-US" sz="2000" dirty="0" smtClean="0">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In </a:t>
            </a:r>
            <a:r>
              <a:rPr lang="en-US" sz="2000" dirty="0">
                <a:latin typeface="Times New Roman" pitchFamily="18" charset="0"/>
                <a:cs typeface="Times New Roman" pitchFamily="18" charset="0"/>
              </a:rPr>
              <a:t>this sense, ethics is equivalent to moral philosophy.</a:t>
            </a:r>
          </a:p>
        </p:txBody>
      </p:sp>
    </p:spTree>
    <p:extLst>
      <p:ext uri="{BB962C8B-B14F-4D97-AF65-F5344CB8AC3E}">
        <p14:creationId xmlns:p14="http://schemas.microsoft.com/office/powerpoint/2010/main" val="18808835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5023" y="817583"/>
            <a:ext cx="6965245" cy="325417"/>
          </a:xfrm>
        </p:spPr>
        <p:txBody>
          <a:bodyPr>
            <a:noAutofit/>
          </a:bodyPr>
          <a:lstStyle/>
          <a:p>
            <a:r>
              <a:rPr lang="en-US" sz="2400" b="1" dirty="0">
                <a:solidFill>
                  <a:srgbClr val="C00000"/>
                </a:solidFill>
                <a:latin typeface="Times New Roman" pitchFamily="18" charset="0"/>
                <a:cs typeface="Times New Roman" pitchFamily="18" charset="0"/>
              </a:rPr>
              <a:t>Ethics</a:t>
            </a:r>
          </a:p>
        </p:txBody>
      </p:sp>
      <p:sp>
        <p:nvSpPr>
          <p:cNvPr id="3" name="Content Placeholder 2"/>
          <p:cNvSpPr>
            <a:spLocks noGrp="1"/>
          </p:cNvSpPr>
          <p:nvPr>
            <p:ph idx="1"/>
          </p:nvPr>
        </p:nvSpPr>
        <p:spPr>
          <a:xfrm>
            <a:off x="990600" y="1219200"/>
            <a:ext cx="7315200" cy="4876800"/>
          </a:xfrm>
        </p:spPr>
        <p:txBody>
          <a:bodyPr>
            <a:noAutofit/>
          </a:bodyPr>
          <a:lstStyle/>
          <a:p>
            <a:pPr marL="0" indent="0" algn="just">
              <a:buNone/>
            </a:pPr>
            <a:r>
              <a:rPr lang="en-US" sz="1800" b="1" dirty="0" smtClean="0">
                <a:latin typeface="Times New Roman" pitchFamily="18" charset="0"/>
                <a:cs typeface="Times New Roman" pitchFamily="18" charset="0"/>
              </a:rPr>
              <a:t>1</a:t>
            </a:r>
            <a:r>
              <a:rPr lang="en-US" sz="1800" b="1" dirty="0">
                <a:latin typeface="Times New Roman" pitchFamily="18" charset="0"/>
                <a:cs typeface="Times New Roman" pitchFamily="18" charset="0"/>
              </a:rPr>
              <a:t>. What Is Ethics?  </a:t>
            </a:r>
          </a:p>
          <a:p>
            <a:pPr algn="just"/>
            <a:r>
              <a:rPr lang="en-US" sz="1800" dirty="0" smtClean="0">
                <a:latin typeface="Times New Roman" pitchFamily="18" charset="0"/>
                <a:cs typeface="Times New Roman" pitchFamily="18" charset="0"/>
              </a:rPr>
              <a:t>Ethics </a:t>
            </a:r>
            <a:r>
              <a:rPr lang="en-US" sz="1800" dirty="0">
                <a:latin typeface="Times New Roman" pitchFamily="18" charset="0"/>
                <a:cs typeface="Times New Roman" pitchFamily="18" charset="0"/>
              </a:rPr>
              <a:t>is a systematic study of </a:t>
            </a:r>
            <a:r>
              <a:rPr lang="en-US" sz="1800" dirty="0" smtClean="0">
                <a:latin typeface="Times New Roman" pitchFamily="18" charset="0"/>
                <a:cs typeface="Times New Roman" pitchFamily="18" charset="0"/>
              </a:rPr>
              <a:t>moral principles </a:t>
            </a:r>
            <a:r>
              <a:rPr lang="en-US" sz="1800" dirty="0">
                <a:latin typeface="Times New Roman" pitchFamily="18" charset="0"/>
                <a:cs typeface="Times New Roman" pitchFamily="18" charset="0"/>
              </a:rPr>
              <a:t>that govern human behavior and decision-making. It helps individuals and organizations determine what actions are </a:t>
            </a:r>
            <a:r>
              <a:rPr lang="en-US" sz="1800" b="1" dirty="0" smtClean="0">
                <a:latin typeface="Times New Roman" pitchFamily="18" charset="0"/>
                <a:cs typeface="Times New Roman" pitchFamily="18" charset="0"/>
              </a:rPr>
              <a:t>right</a:t>
            </a:r>
            <a:r>
              <a:rPr lang="en-US" sz="1800" b="1" dirty="0">
                <a:latin typeface="Times New Roman" pitchFamily="18" charset="0"/>
                <a:cs typeface="Times New Roman" pitchFamily="18" charset="0"/>
              </a:rPr>
              <a:t>, wrong, fair, or </a:t>
            </a:r>
            <a:r>
              <a:rPr lang="en-US" sz="1800" b="1" dirty="0" smtClean="0">
                <a:latin typeface="Times New Roman" pitchFamily="18" charset="0"/>
                <a:cs typeface="Times New Roman" pitchFamily="18" charset="0"/>
              </a:rPr>
              <a:t>unjust</a:t>
            </a:r>
            <a:r>
              <a:rPr lang="en-US" sz="1800" dirty="0" smtClean="0">
                <a:latin typeface="Times New Roman" pitchFamily="18" charset="0"/>
                <a:cs typeface="Times New Roman" pitchFamily="18" charset="0"/>
              </a:rPr>
              <a:t>.</a:t>
            </a:r>
            <a:endParaRPr lang="en-US" sz="1800" dirty="0">
              <a:latin typeface="Times New Roman" pitchFamily="18" charset="0"/>
              <a:cs typeface="Times New Roman" pitchFamily="18" charset="0"/>
            </a:endParaRPr>
          </a:p>
          <a:p>
            <a:pPr marL="0" indent="0" algn="just">
              <a:buNone/>
            </a:pPr>
            <a:r>
              <a:rPr lang="en-US" sz="1800" b="1" dirty="0" smtClean="0">
                <a:latin typeface="Times New Roman" pitchFamily="18" charset="0"/>
                <a:cs typeface="Times New Roman" pitchFamily="18" charset="0"/>
              </a:rPr>
              <a:t>Key </a:t>
            </a:r>
            <a:r>
              <a:rPr lang="en-US" sz="1800" b="1" dirty="0">
                <a:latin typeface="Times New Roman" pitchFamily="18" charset="0"/>
                <a:cs typeface="Times New Roman" pitchFamily="18" charset="0"/>
              </a:rPr>
              <a:t>Elements of </a:t>
            </a:r>
            <a:r>
              <a:rPr lang="en-US" sz="1800" b="1" dirty="0" smtClean="0">
                <a:latin typeface="Times New Roman" pitchFamily="18" charset="0"/>
                <a:cs typeface="Times New Roman" pitchFamily="18" charset="0"/>
              </a:rPr>
              <a:t>Ethics</a:t>
            </a:r>
            <a:endParaRPr lang="en-US" sz="1800" b="1" dirty="0">
              <a:latin typeface="Times New Roman" pitchFamily="18" charset="0"/>
              <a:cs typeface="Times New Roman" pitchFamily="18" charset="0"/>
            </a:endParaRPr>
          </a:p>
          <a:p>
            <a:pPr lvl="0" algn="just"/>
            <a:r>
              <a:rPr lang="en-US" sz="1800" dirty="0" smtClean="0">
                <a:latin typeface="Times New Roman" pitchFamily="18" charset="0"/>
                <a:cs typeface="Times New Roman" pitchFamily="18" charset="0"/>
              </a:rPr>
              <a:t>Values: </a:t>
            </a:r>
            <a:r>
              <a:rPr lang="en-US" sz="1800" dirty="0">
                <a:latin typeface="Times New Roman" pitchFamily="18" charset="0"/>
                <a:cs typeface="Times New Roman" pitchFamily="18" charset="0"/>
              </a:rPr>
              <a:t>Honesty, integrity, fairness, responsibility</a:t>
            </a:r>
          </a:p>
          <a:p>
            <a:pPr lvl="0" algn="just"/>
            <a:r>
              <a:rPr lang="en-US" sz="1800" dirty="0" smtClean="0">
                <a:latin typeface="Times New Roman" pitchFamily="18" charset="0"/>
                <a:cs typeface="Times New Roman" pitchFamily="18" charset="0"/>
              </a:rPr>
              <a:t>Moral reasoning: </a:t>
            </a:r>
            <a:r>
              <a:rPr lang="en-US" sz="1800" dirty="0">
                <a:latin typeface="Times New Roman" pitchFamily="18" charset="0"/>
                <a:cs typeface="Times New Roman" pitchFamily="18" charset="0"/>
              </a:rPr>
              <a:t>Logical thinking about moral problems</a:t>
            </a:r>
          </a:p>
          <a:p>
            <a:pPr lvl="0" algn="just"/>
            <a:r>
              <a:rPr lang="en-US" sz="1800" dirty="0" smtClean="0">
                <a:latin typeface="Times New Roman" pitchFamily="18" charset="0"/>
                <a:cs typeface="Times New Roman" pitchFamily="18" charset="0"/>
              </a:rPr>
              <a:t>Accountability: </a:t>
            </a:r>
            <a:r>
              <a:rPr lang="en-US" sz="1800" dirty="0">
                <a:latin typeface="Times New Roman" pitchFamily="18" charset="0"/>
                <a:cs typeface="Times New Roman" pitchFamily="18" charset="0"/>
              </a:rPr>
              <a:t>Taking responsibility for decisions and outcomes</a:t>
            </a:r>
          </a:p>
          <a:p>
            <a:pPr marL="0" indent="0" algn="just">
              <a:buNone/>
            </a:pPr>
            <a:r>
              <a:rPr lang="en-US" sz="1800" b="1" dirty="0">
                <a:latin typeface="Times New Roman" pitchFamily="18" charset="0"/>
                <a:cs typeface="Times New Roman" pitchFamily="18" charset="0"/>
              </a:rPr>
              <a:t> </a:t>
            </a:r>
            <a:r>
              <a:rPr lang="en-US" sz="1800" b="1" dirty="0" smtClean="0">
                <a:latin typeface="Times New Roman" pitchFamily="18" charset="0"/>
                <a:cs typeface="Times New Roman" pitchFamily="18" charset="0"/>
              </a:rPr>
              <a:t>Ethics </a:t>
            </a:r>
            <a:r>
              <a:rPr lang="en-US" sz="1800" b="1" dirty="0">
                <a:latin typeface="Times New Roman" pitchFamily="18" charset="0"/>
                <a:cs typeface="Times New Roman" pitchFamily="18" charset="0"/>
              </a:rPr>
              <a:t>in Professional and Business </a:t>
            </a:r>
            <a:r>
              <a:rPr lang="en-US" sz="1800" b="1" dirty="0" smtClean="0">
                <a:latin typeface="Times New Roman" pitchFamily="18" charset="0"/>
                <a:cs typeface="Times New Roman" pitchFamily="18" charset="0"/>
              </a:rPr>
              <a:t>Life</a:t>
            </a:r>
            <a:endParaRPr lang="en-US" sz="1800" b="1" dirty="0">
              <a:latin typeface="Times New Roman" pitchFamily="18" charset="0"/>
              <a:cs typeface="Times New Roman" pitchFamily="18" charset="0"/>
            </a:endParaRPr>
          </a:p>
          <a:p>
            <a:pPr lvl="0" algn="just"/>
            <a:r>
              <a:rPr lang="en-US" sz="1800" dirty="0">
                <a:latin typeface="Times New Roman" pitchFamily="18" charset="0"/>
                <a:cs typeface="Times New Roman" pitchFamily="18" charset="0"/>
              </a:rPr>
              <a:t>Guides managerial decisions beyond legal requirements</a:t>
            </a:r>
          </a:p>
          <a:p>
            <a:pPr lvl="0" algn="just"/>
            <a:r>
              <a:rPr lang="en-US" sz="1800" dirty="0">
                <a:latin typeface="Times New Roman" pitchFamily="18" charset="0"/>
                <a:cs typeface="Times New Roman" pitchFamily="18" charset="0"/>
              </a:rPr>
              <a:t>Builds </a:t>
            </a:r>
            <a:r>
              <a:rPr lang="en-US" sz="1800" dirty="0" smtClean="0">
                <a:latin typeface="Times New Roman" pitchFamily="18" charset="0"/>
                <a:cs typeface="Times New Roman" pitchFamily="18" charset="0"/>
              </a:rPr>
              <a:t>trust, reputation, </a:t>
            </a:r>
            <a:r>
              <a:rPr lang="en-US" sz="1800" dirty="0">
                <a:latin typeface="Times New Roman" pitchFamily="18" charset="0"/>
                <a:cs typeface="Times New Roman" pitchFamily="18" charset="0"/>
              </a:rPr>
              <a:t>and </a:t>
            </a:r>
            <a:r>
              <a:rPr lang="en-US" sz="1800" dirty="0" smtClean="0">
                <a:latin typeface="Times New Roman" pitchFamily="18" charset="0"/>
                <a:cs typeface="Times New Roman" pitchFamily="18" charset="0"/>
              </a:rPr>
              <a:t>social responsibility</a:t>
            </a:r>
            <a:endParaRPr lang="en-US" sz="1800" dirty="0">
              <a:latin typeface="Times New Roman" pitchFamily="18" charset="0"/>
              <a:cs typeface="Times New Roman" pitchFamily="18" charset="0"/>
            </a:endParaRPr>
          </a:p>
          <a:p>
            <a:pPr lvl="0" algn="just"/>
            <a:r>
              <a:rPr lang="en-US" sz="1800" dirty="0">
                <a:latin typeface="Times New Roman" pitchFamily="18" charset="0"/>
                <a:cs typeface="Times New Roman" pitchFamily="18" charset="0"/>
              </a:rPr>
              <a:t>Helps manage conflicts between profit and societal </a:t>
            </a:r>
            <a:r>
              <a:rPr lang="en-US" sz="1800" dirty="0" smtClean="0">
                <a:latin typeface="Times New Roman" pitchFamily="18" charset="0"/>
                <a:cs typeface="Times New Roman" pitchFamily="18" charset="0"/>
              </a:rPr>
              <a:t>welfare</a:t>
            </a:r>
            <a:endParaRPr lang="en-US" sz="1800" dirty="0">
              <a:latin typeface="Times New Roman" pitchFamily="18" charset="0"/>
              <a:cs typeface="Times New Roman" pitchFamily="18" charset="0"/>
            </a:endParaRPr>
          </a:p>
          <a:p>
            <a:pPr marL="0" indent="0" algn="just">
              <a:buNone/>
            </a:pPr>
            <a:r>
              <a:rPr lang="en-US" sz="1800" b="1" dirty="0">
                <a:latin typeface="Times New Roman" pitchFamily="18" charset="0"/>
                <a:cs typeface="Times New Roman" pitchFamily="18" charset="0"/>
              </a:rPr>
              <a:t>Example</a:t>
            </a:r>
          </a:p>
          <a:p>
            <a:pPr algn="just"/>
            <a:r>
              <a:rPr lang="en-US" sz="1800" dirty="0">
                <a:latin typeface="Times New Roman" pitchFamily="18" charset="0"/>
                <a:cs typeface="Times New Roman" pitchFamily="18" charset="0"/>
              </a:rPr>
              <a:t>A company may legally sell customer data, but ethically it should obtain </a:t>
            </a:r>
            <a:r>
              <a:rPr lang="en-US" sz="1800" dirty="0" smtClean="0">
                <a:latin typeface="Times New Roman" pitchFamily="18" charset="0"/>
                <a:cs typeface="Times New Roman" pitchFamily="18" charset="0"/>
              </a:rPr>
              <a:t>informed consent </a:t>
            </a:r>
            <a:r>
              <a:rPr lang="en-US" sz="1800" dirty="0">
                <a:latin typeface="Times New Roman" pitchFamily="18" charset="0"/>
                <a:cs typeface="Times New Roman" pitchFamily="18" charset="0"/>
              </a:rPr>
              <a:t>and ensure </a:t>
            </a:r>
            <a:r>
              <a:rPr lang="en-US" sz="1800" dirty="0" smtClean="0">
                <a:latin typeface="Times New Roman" pitchFamily="18" charset="0"/>
                <a:cs typeface="Times New Roman" pitchFamily="18" charset="0"/>
              </a:rPr>
              <a:t>data protection. </a:t>
            </a:r>
            <a:endParaRPr lang="en-US" sz="1800" dirty="0">
              <a:latin typeface="Times New Roman" pitchFamily="18" charset="0"/>
              <a:cs typeface="Times New Roman" pitchFamily="18" charset="0"/>
            </a:endParaRPr>
          </a:p>
        </p:txBody>
      </p:sp>
    </p:spTree>
    <p:extLst>
      <p:ext uri="{BB962C8B-B14F-4D97-AF65-F5344CB8AC3E}">
        <p14:creationId xmlns:p14="http://schemas.microsoft.com/office/powerpoint/2010/main" val="17397633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5023" y="817583"/>
            <a:ext cx="6965245" cy="325417"/>
          </a:xfrm>
        </p:spPr>
        <p:txBody>
          <a:bodyPr>
            <a:noAutofit/>
          </a:bodyPr>
          <a:lstStyle/>
          <a:p>
            <a:r>
              <a:rPr lang="en-US" sz="3200" b="1" dirty="0" smtClean="0">
                <a:solidFill>
                  <a:srgbClr val="C00000"/>
                </a:solidFill>
                <a:latin typeface="Times New Roman" pitchFamily="18" charset="0"/>
                <a:cs typeface="Times New Roman" pitchFamily="18" charset="0"/>
              </a:rPr>
              <a:t>Ethics</a:t>
            </a:r>
            <a:endParaRPr lang="en-US" sz="3200" dirty="0">
              <a:solidFill>
                <a:srgbClr val="C00000"/>
              </a:solidFill>
              <a:latin typeface="Times New Roman" pitchFamily="18" charset="0"/>
              <a:cs typeface="Times New Roman" pitchFamily="18" charset="0"/>
            </a:endParaRPr>
          </a:p>
        </p:txBody>
      </p:sp>
      <p:sp>
        <p:nvSpPr>
          <p:cNvPr id="3" name="Content Placeholder 2"/>
          <p:cNvSpPr>
            <a:spLocks noGrp="1"/>
          </p:cNvSpPr>
          <p:nvPr>
            <p:ph idx="1"/>
          </p:nvPr>
        </p:nvSpPr>
        <p:spPr>
          <a:xfrm>
            <a:off x="990600" y="1219200"/>
            <a:ext cx="7315200" cy="4876800"/>
          </a:xfrm>
        </p:spPr>
        <p:txBody>
          <a:bodyPr>
            <a:noAutofit/>
          </a:bodyPr>
          <a:lstStyle/>
          <a:p>
            <a:pPr algn="just"/>
            <a:r>
              <a:rPr lang="en-US" sz="2200" dirty="0">
                <a:latin typeface="Times New Roman" pitchFamily="18" charset="0"/>
                <a:cs typeface="Times New Roman" pitchFamily="18" charset="0"/>
              </a:rPr>
              <a:t>Although ethics has always been viewed as a branch of </a:t>
            </a:r>
            <a:r>
              <a:rPr lang="en-US" sz="2200" u="sng" dirty="0">
                <a:latin typeface="Times New Roman" pitchFamily="18" charset="0"/>
                <a:cs typeface="Times New Roman" pitchFamily="18" charset="0"/>
                <a:hlinkClick r:id="rId2"/>
              </a:rPr>
              <a:t>philosophy</a:t>
            </a:r>
            <a:r>
              <a:rPr lang="en-US" sz="2200" dirty="0">
                <a:latin typeface="Times New Roman" pitchFamily="18" charset="0"/>
                <a:cs typeface="Times New Roman" pitchFamily="18" charset="0"/>
              </a:rPr>
              <a:t>, its all-embracing practical nature links it with many other areas of </a:t>
            </a:r>
            <a:r>
              <a:rPr lang="en-US" sz="2200" dirty="0" err="1" smtClean="0">
                <a:latin typeface="Times New Roman" pitchFamily="18" charset="0"/>
                <a:cs typeface="Times New Roman" pitchFamily="18" charset="0"/>
              </a:rPr>
              <a:t>study,including</a:t>
            </a:r>
            <a:r>
              <a:rPr lang="en-US" sz="2200" dirty="0">
                <a:latin typeface="Times New Roman" pitchFamily="18" charset="0"/>
                <a:cs typeface="Times New Roman" pitchFamily="18" charset="0"/>
              </a:rPr>
              <a:t> </a:t>
            </a:r>
            <a:r>
              <a:rPr lang="en-US" sz="2200" u="sng" dirty="0">
                <a:latin typeface="Times New Roman" pitchFamily="18" charset="0"/>
                <a:cs typeface="Times New Roman" pitchFamily="18" charset="0"/>
                <a:hlinkClick r:id="rId3"/>
              </a:rPr>
              <a:t>anthropology</a:t>
            </a:r>
            <a:r>
              <a:rPr lang="en-US" sz="2200" dirty="0">
                <a:latin typeface="Times New Roman" pitchFamily="18" charset="0"/>
                <a:cs typeface="Times New Roman" pitchFamily="18" charset="0"/>
              </a:rPr>
              <a:t>, </a:t>
            </a:r>
            <a:r>
              <a:rPr lang="en-US" sz="2200" u="sng" dirty="0">
                <a:latin typeface="Times New Roman" pitchFamily="18" charset="0"/>
                <a:cs typeface="Times New Roman" pitchFamily="18" charset="0"/>
                <a:hlinkClick r:id="rId4"/>
              </a:rPr>
              <a:t>biology</a:t>
            </a:r>
            <a:r>
              <a:rPr lang="en-US" sz="2200" dirty="0">
                <a:latin typeface="Times New Roman" pitchFamily="18" charset="0"/>
                <a:cs typeface="Times New Roman" pitchFamily="18" charset="0"/>
              </a:rPr>
              <a:t>, </a:t>
            </a:r>
            <a:r>
              <a:rPr lang="en-US" sz="2200" u="sng" dirty="0">
                <a:latin typeface="Times New Roman" pitchFamily="18" charset="0"/>
                <a:cs typeface="Times New Roman" pitchFamily="18" charset="0"/>
                <a:hlinkClick r:id="rId5"/>
              </a:rPr>
              <a:t>economics</a:t>
            </a:r>
            <a:r>
              <a:rPr lang="en-US" sz="2200" dirty="0">
                <a:latin typeface="Times New Roman" pitchFamily="18" charset="0"/>
                <a:cs typeface="Times New Roman" pitchFamily="18" charset="0"/>
              </a:rPr>
              <a:t>, </a:t>
            </a:r>
            <a:r>
              <a:rPr lang="en-US" sz="2200" u="sng" dirty="0">
                <a:latin typeface="Times New Roman" pitchFamily="18" charset="0"/>
                <a:cs typeface="Times New Roman" pitchFamily="18" charset="0"/>
                <a:hlinkClick r:id="rId6"/>
              </a:rPr>
              <a:t>history</a:t>
            </a:r>
            <a:r>
              <a:rPr lang="en-US" sz="2200" dirty="0">
                <a:latin typeface="Times New Roman" pitchFamily="18" charset="0"/>
                <a:cs typeface="Times New Roman" pitchFamily="18" charset="0"/>
              </a:rPr>
              <a:t>, </a:t>
            </a:r>
            <a:r>
              <a:rPr lang="en-US" sz="2200" u="sng" dirty="0" smtClean="0">
                <a:latin typeface="Times New Roman" pitchFamily="18" charset="0"/>
                <a:cs typeface="Times New Roman" pitchFamily="18" charset="0"/>
                <a:hlinkClick r:id="rId7"/>
              </a:rPr>
              <a:t>politics</a:t>
            </a:r>
            <a:r>
              <a:rPr lang="en-US" sz="2200" dirty="0">
                <a:latin typeface="Times New Roman" pitchFamily="18" charset="0"/>
                <a:cs typeface="Times New Roman" pitchFamily="18" charset="0"/>
              </a:rPr>
              <a:t>, </a:t>
            </a:r>
            <a:r>
              <a:rPr lang="en-US" sz="2200" u="sng" dirty="0">
                <a:latin typeface="Times New Roman" pitchFamily="18" charset="0"/>
                <a:cs typeface="Times New Roman" pitchFamily="18" charset="0"/>
                <a:hlinkClick r:id="rId8"/>
              </a:rPr>
              <a:t>sociology</a:t>
            </a:r>
            <a:r>
              <a:rPr lang="en-US" sz="2200" dirty="0">
                <a:latin typeface="Times New Roman" pitchFamily="18" charset="0"/>
                <a:cs typeface="Times New Roman" pitchFamily="18" charset="0"/>
              </a:rPr>
              <a:t>, and </a:t>
            </a:r>
            <a:r>
              <a:rPr lang="en-US" sz="2200" u="sng" dirty="0">
                <a:latin typeface="Times New Roman" pitchFamily="18" charset="0"/>
                <a:cs typeface="Times New Roman" pitchFamily="18" charset="0"/>
                <a:hlinkClick r:id="rId9"/>
              </a:rPr>
              <a:t>theology</a:t>
            </a:r>
            <a:r>
              <a:rPr lang="en-US" sz="2200" dirty="0">
                <a:latin typeface="Times New Roman" pitchFamily="18" charset="0"/>
                <a:cs typeface="Times New Roman" pitchFamily="18" charset="0"/>
              </a:rPr>
              <a:t>. </a:t>
            </a:r>
            <a:endParaRPr lang="en-US" sz="2200" dirty="0" smtClean="0">
              <a:latin typeface="Times New Roman" pitchFamily="18" charset="0"/>
              <a:cs typeface="Times New Roman" pitchFamily="18" charset="0"/>
            </a:endParaRPr>
          </a:p>
          <a:p>
            <a:pPr algn="just"/>
            <a:endParaRPr lang="en-US" sz="2200" dirty="0" smtClean="0">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Yet</a:t>
            </a:r>
            <a:r>
              <a:rPr lang="en-US" sz="2200" dirty="0">
                <a:latin typeface="Times New Roman" pitchFamily="18" charset="0"/>
                <a:cs typeface="Times New Roman" pitchFamily="18" charset="0"/>
              </a:rPr>
              <a:t>, ethics remains distinct from such </a:t>
            </a:r>
            <a:r>
              <a:rPr lang="en-US" sz="2200" u="sng" dirty="0">
                <a:latin typeface="Times New Roman" pitchFamily="18" charset="0"/>
                <a:cs typeface="Times New Roman" pitchFamily="18" charset="0"/>
                <a:hlinkClick r:id="rId10"/>
              </a:rPr>
              <a:t>disciplines</a:t>
            </a:r>
            <a:r>
              <a:rPr lang="en-US" sz="2200" dirty="0">
                <a:latin typeface="Times New Roman" pitchFamily="18" charset="0"/>
                <a:cs typeface="Times New Roman" pitchFamily="18" charset="0"/>
              </a:rPr>
              <a:t> because it is not a matter of factual knowledge in the way that the sciences and other branches of inquiry are. </a:t>
            </a:r>
            <a:endParaRPr lang="en-US" sz="2200" dirty="0" smtClean="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Rather</a:t>
            </a:r>
            <a:r>
              <a:rPr lang="en-US" sz="2200" dirty="0">
                <a:latin typeface="Times New Roman" pitchFamily="18" charset="0"/>
                <a:cs typeface="Times New Roman" pitchFamily="18" charset="0"/>
              </a:rPr>
              <a:t>, it has to do with determining the nature of normative theories and applying these sets of principles to practical moral problems</a:t>
            </a:r>
            <a:r>
              <a:rPr lang="en-US" sz="2200" dirty="0" smtClean="0">
                <a:latin typeface="Times New Roman" pitchFamily="18" charset="0"/>
                <a:cs typeface="Times New Roman" pitchFamily="18" charset="0"/>
              </a:rPr>
              <a:t>.</a:t>
            </a:r>
            <a:endParaRPr lang="en-US" sz="2200" dirty="0">
              <a:latin typeface="Times New Roman" pitchFamily="18" charset="0"/>
              <a:cs typeface="Times New Roman" pitchFamily="18" charset="0"/>
            </a:endParaRPr>
          </a:p>
        </p:txBody>
      </p:sp>
    </p:spTree>
    <p:extLst>
      <p:ext uri="{BB962C8B-B14F-4D97-AF65-F5344CB8AC3E}">
        <p14:creationId xmlns:p14="http://schemas.microsoft.com/office/powerpoint/2010/main" val="13954493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5023" y="817583"/>
            <a:ext cx="6965245" cy="325417"/>
          </a:xfrm>
        </p:spPr>
        <p:txBody>
          <a:bodyPr>
            <a:noAutofit/>
          </a:bodyPr>
          <a:lstStyle/>
          <a:p>
            <a:r>
              <a:rPr lang="en-US" sz="3200" b="1" dirty="0" smtClean="0">
                <a:solidFill>
                  <a:srgbClr val="C00000"/>
                </a:solidFill>
                <a:latin typeface="Times New Roman" pitchFamily="18" charset="0"/>
                <a:cs typeface="Times New Roman" pitchFamily="18" charset="0"/>
              </a:rPr>
              <a:t>Ethics</a:t>
            </a:r>
            <a:endParaRPr lang="en-US" sz="3200" dirty="0">
              <a:solidFill>
                <a:srgbClr val="C00000"/>
              </a:solidFill>
              <a:latin typeface="Times New Roman" pitchFamily="18" charset="0"/>
              <a:cs typeface="Times New Roman" pitchFamily="18" charset="0"/>
            </a:endParaRPr>
          </a:p>
        </p:txBody>
      </p:sp>
      <p:sp>
        <p:nvSpPr>
          <p:cNvPr id="3" name="Content Placeholder 2"/>
          <p:cNvSpPr>
            <a:spLocks noGrp="1"/>
          </p:cNvSpPr>
          <p:nvPr>
            <p:ph idx="1"/>
          </p:nvPr>
        </p:nvSpPr>
        <p:spPr>
          <a:xfrm>
            <a:off x="990600" y="1219200"/>
            <a:ext cx="7315200" cy="4876800"/>
          </a:xfrm>
        </p:spPr>
        <p:txBody>
          <a:bodyPr>
            <a:noAutofit/>
          </a:bodyPr>
          <a:lstStyle/>
          <a:p>
            <a:pPr algn="just"/>
            <a:r>
              <a:rPr lang="en-US" sz="2200" dirty="0" smtClean="0">
                <a:latin typeface="Times New Roman" pitchFamily="18" charset="0"/>
                <a:cs typeface="Times New Roman" pitchFamily="18" charset="0"/>
              </a:rPr>
              <a:t>This </a:t>
            </a:r>
            <a:r>
              <a:rPr lang="en-US" sz="2200" dirty="0">
                <a:latin typeface="Times New Roman" pitchFamily="18" charset="0"/>
                <a:cs typeface="Times New Roman" pitchFamily="18" charset="0"/>
              </a:rPr>
              <a:t>article, then, will deal with ethics as a field of philosophy, especially as it has developed in the West. </a:t>
            </a:r>
            <a:endParaRPr lang="en-US" sz="2200" dirty="0" smtClean="0">
              <a:latin typeface="Times New Roman" pitchFamily="18" charset="0"/>
              <a:cs typeface="Times New Roman" pitchFamily="18" charset="0"/>
            </a:endParaRPr>
          </a:p>
          <a:p>
            <a:pPr algn="just"/>
            <a:endParaRPr lang="en-US" sz="2200" dirty="0" smtClean="0">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For </a:t>
            </a:r>
            <a:r>
              <a:rPr lang="en-US" sz="2200" dirty="0">
                <a:latin typeface="Times New Roman" pitchFamily="18" charset="0"/>
                <a:cs typeface="Times New Roman" pitchFamily="18" charset="0"/>
              </a:rPr>
              <a:t>coverage of religious </a:t>
            </a:r>
            <a:r>
              <a:rPr lang="en-US" sz="2200" u="sng" dirty="0">
                <a:latin typeface="Times New Roman" pitchFamily="18" charset="0"/>
                <a:cs typeface="Times New Roman" pitchFamily="18" charset="0"/>
                <a:hlinkClick r:id="rId2"/>
              </a:rPr>
              <a:t>conceptions</a:t>
            </a:r>
            <a:r>
              <a:rPr lang="en-US" sz="2200" dirty="0">
                <a:latin typeface="Times New Roman" pitchFamily="18" charset="0"/>
                <a:cs typeface="Times New Roman" pitchFamily="18" charset="0"/>
              </a:rPr>
              <a:t> of ethics and the ethical systems associated </a:t>
            </a:r>
            <a:r>
              <a:rPr lang="en-US" sz="2200" dirty="0" smtClean="0">
                <a:latin typeface="Times New Roman" pitchFamily="18" charset="0"/>
                <a:cs typeface="Times New Roman" pitchFamily="18" charset="0"/>
              </a:rPr>
              <a:t>with world religions</a:t>
            </a:r>
            <a:r>
              <a:rPr lang="en-US" sz="2200" dirty="0">
                <a:latin typeface="Times New Roman" pitchFamily="18" charset="0"/>
                <a:cs typeface="Times New Roman" pitchFamily="18" charset="0"/>
              </a:rPr>
              <a:t>, </a:t>
            </a:r>
            <a:r>
              <a:rPr lang="en-US" sz="2200" i="1" dirty="0">
                <a:latin typeface="Times New Roman" pitchFamily="18" charset="0"/>
                <a:cs typeface="Times New Roman" pitchFamily="18" charset="0"/>
              </a:rPr>
              <a:t>see</a:t>
            </a:r>
            <a:r>
              <a:rPr lang="en-US" sz="2200" dirty="0">
                <a:latin typeface="Times New Roman" pitchFamily="18" charset="0"/>
                <a:cs typeface="Times New Roman" pitchFamily="18" charset="0"/>
              </a:rPr>
              <a:t> </a:t>
            </a:r>
            <a:r>
              <a:rPr lang="en-US" sz="2200" u="sng" dirty="0">
                <a:latin typeface="Times New Roman" pitchFamily="18" charset="0"/>
                <a:cs typeface="Times New Roman" pitchFamily="18" charset="0"/>
                <a:hlinkClick r:id="rId3"/>
              </a:rPr>
              <a:t>Buddhism</a:t>
            </a:r>
            <a:r>
              <a:rPr lang="en-US" sz="2200" dirty="0">
                <a:latin typeface="Times New Roman" pitchFamily="18" charset="0"/>
                <a:cs typeface="Times New Roman" pitchFamily="18" charset="0"/>
              </a:rPr>
              <a:t>; </a:t>
            </a:r>
            <a:r>
              <a:rPr lang="en-US" sz="2200" u="sng" dirty="0">
                <a:latin typeface="Times New Roman" pitchFamily="18" charset="0"/>
                <a:cs typeface="Times New Roman" pitchFamily="18" charset="0"/>
                <a:hlinkClick r:id="rId4"/>
              </a:rPr>
              <a:t>Christianity</a:t>
            </a:r>
            <a:r>
              <a:rPr lang="en-US" sz="2200" dirty="0">
                <a:latin typeface="Times New Roman" pitchFamily="18" charset="0"/>
                <a:cs typeface="Times New Roman" pitchFamily="18" charset="0"/>
              </a:rPr>
              <a:t>; </a:t>
            </a:r>
            <a:r>
              <a:rPr lang="en-US" sz="2200" u="sng" dirty="0">
                <a:latin typeface="Times New Roman" pitchFamily="18" charset="0"/>
                <a:cs typeface="Times New Roman" pitchFamily="18" charset="0"/>
                <a:hlinkClick r:id="rId5"/>
              </a:rPr>
              <a:t>Confucianism</a:t>
            </a:r>
            <a:r>
              <a:rPr lang="en-US" sz="2200" dirty="0">
                <a:latin typeface="Times New Roman" pitchFamily="18" charset="0"/>
                <a:cs typeface="Times New Roman" pitchFamily="18" charset="0"/>
              </a:rPr>
              <a:t>; </a:t>
            </a:r>
            <a:r>
              <a:rPr lang="en-US" sz="2200" u="sng" dirty="0">
                <a:latin typeface="Times New Roman" pitchFamily="18" charset="0"/>
                <a:cs typeface="Times New Roman" pitchFamily="18" charset="0"/>
                <a:hlinkClick r:id="rId6"/>
              </a:rPr>
              <a:t>Hinduism</a:t>
            </a:r>
            <a:r>
              <a:rPr lang="en-US" sz="2200" dirty="0">
                <a:latin typeface="Times New Roman" pitchFamily="18" charset="0"/>
                <a:cs typeface="Times New Roman" pitchFamily="18" charset="0"/>
              </a:rPr>
              <a:t>; </a:t>
            </a:r>
            <a:r>
              <a:rPr lang="en-US" sz="2200" u="sng" dirty="0">
                <a:latin typeface="Times New Roman" pitchFamily="18" charset="0"/>
                <a:cs typeface="Times New Roman" pitchFamily="18" charset="0"/>
                <a:hlinkClick r:id="rId7"/>
              </a:rPr>
              <a:t>Jainism</a:t>
            </a:r>
            <a:r>
              <a:rPr lang="en-US" sz="2200" dirty="0">
                <a:latin typeface="Times New Roman" pitchFamily="18" charset="0"/>
                <a:cs typeface="Times New Roman" pitchFamily="18" charset="0"/>
              </a:rPr>
              <a:t>; </a:t>
            </a:r>
            <a:r>
              <a:rPr lang="en-US" sz="2200" u="sng" dirty="0">
                <a:latin typeface="Times New Roman" pitchFamily="18" charset="0"/>
                <a:cs typeface="Times New Roman" pitchFamily="18" charset="0"/>
                <a:hlinkClick r:id="rId8"/>
              </a:rPr>
              <a:t>Judaism</a:t>
            </a:r>
            <a:r>
              <a:rPr lang="en-US" sz="2200" dirty="0">
                <a:latin typeface="Times New Roman" pitchFamily="18" charset="0"/>
                <a:cs typeface="Times New Roman" pitchFamily="18" charset="0"/>
              </a:rPr>
              <a:t>; </a:t>
            </a:r>
            <a:r>
              <a:rPr lang="en-US" sz="2200" u="sng" dirty="0">
                <a:latin typeface="Times New Roman" pitchFamily="18" charset="0"/>
                <a:cs typeface="Times New Roman" pitchFamily="18" charset="0"/>
                <a:hlinkClick r:id="rId9"/>
              </a:rPr>
              <a:t>Sikhism</a:t>
            </a:r>
            <a:r>
              <a:rPr lang="en-US" sz="2200" dirty="0" smtClean="0">
                <a:latin typeface="Times New Roman" pitchFamily="18" charset="0"/>
                <a:cs typeface="Times New Roman" pitchFamily="18" charset="0"/>
              </a:rPr>
              <a:t>.</a:t>
            </a:r>
          </a:p>
          <a:p>
            <a:pPr algn="just"/>
            <a:endParaRPr lang="en-US" sz="2200" dirty="0">
              <a:latin typeface="Times New Roman" pitchFamily="18" charset="0"/>
              <a:cs typeface="Times New Roman" pitchFamily="18" charset="0"/>
            </a:endParaRPr>
          </a:p>
          <a:p>
            <a:pPr algn="just"/>
            <a:r>
              <a:rPr lang="en-US" sz="2000" dirty="0">
                <a:latin typeface="Times New Roman" pitchFamily="18" charset="0"/>
                <a:cs typeface="Times New Roman" pitchFamily="18" charset="0"/>
              </a:rPr>
              <a:t>There are so many branches of philosophy and ethics is one of the branch of philosophy and in ethics we teach what is right and wrong. </a:t>
            </a:r>
          </a:p>
          <a:p>
            <a:pPr algn="just"/>
            <a:endParaRPr lang="en-US" sz="2200" dirty="0">
              <a:latin typeface="Times New Roman" pitchFamily="18" charset="0"/>
              <a:cs typeface="Times New Roman" pitchFamily="18" charset="0"/>
            </a:endParaRPr>
          </a:p>
        </p:txBody>
      </p:sp>
    </p:spTree>
    <p:extLst>
      <p:ext uri="{BB962C8B-B14F-4D97-AF65-F5344CB8AC3E}">
        <p14:creationId xmlns:p14="http://schemas.microsoft.com/office/powerpoint/2010/main" val="16468968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5023" y="817583"/>
            <a:ext cx="6965245" cy="325417"/>
          </a:xfrm>
        </p:spPr>
        <p:txBody>
          <a:bodyPr>
            <a:noAutofit/>
          </a:bodyPr>
          <a:lstStyle/>
          <a:p>
            <a:r>
              <a:rPr lang="en-US" sz="2400" b="1" dirty="0">
                <a:solidFill>
                  <a:srgbClr val="C00000"/>
                </a:solidFill>
                <a:latin typeface="Times New Roman" pitchFamily="18" charset="0"/>
                <a:cs typeface="Times New Roman" pitchFamily="18" charset="0"/>
              </a:rPr>
              <a:t>Relationship between Ethics &amp; Philosophy </a:t>
            </a:r>
          </a:p>
        </p:txBody>
      </p:sp>
      <p:sp>
        <p:nvSpPr>
          <p:cNvPr id="3" name="Content Placeholder 2"/>
          <p:cNvSpPr>
            <a:spLocks noGrp="1"/>
          </p:cNvSpPr>
          <p:nvPr>
            <p:ph idx="1"/>
          </p:nvPr>
        </p:nvSpPr>
        <p:spPr>
          <a:xfrm>
            <a:off x="990600" y="1219200"/>
            <a:ext cx="7315200" cy="4876800"/>
          </a:xfrm>
        </p:spPr>
        <p:txBody>
          <a:bodyPr>
            <a:noAutofit/>
          </a:bodyPr>
          <a:lstStyle/>
          <a:p>
            <a:pPr algn="just"/>
            <a:r>
              <a:rPr lang="en-US" sz="2000" dirty="0" smtClean="0">
                <a:latin typeface="Times New Roman" pitchFamily="18" charset="0"/>
                <a:cs typeface="Times New Roman" pitchFamily="18" charset="0"/>
              </a:rPr>
              <a:t>Now Ethics and Morality difference is majorly lies on what is right and wrong</a:t>
            </a:r>
          </a:p>
          <a:p>
            <a:pPr algn="just"/>
            <a:endParaRPr lang="en-US" sz="2000" dirty="0" smtClean="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Example Six and Nine 69, moral or immoral but still difference occurs. </a:t>
            </a:r>
          </a:p>
          <a:p>
            <a:pPr algn="just"/>
            <a:endParaRPr lang="en-US" sz="2000" dirty="0" smtClean="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First origin of morality come from the term </a:t>
            </a:r>
            <a:r>
              <a:rPr lang="en-US" sz="2000" b="1" dirty="0" smtClean="0">
                <a:latin typeface="Times New Roman" pitchFamily="18" charset="0"/>
                <a:cs typeface="Times New Roman" pitchFamily="18" charset="0"/>
              </a:rPr>
              <a:t>“MORES” </a:t>
            </a:r>
            <a:r>
              <a:rPr lang="en-US" sz="2000" dirty="0" smtClean="0">
                <a:latin typeface="Times New Roman" pitchFamily="18" charset="0"/>
                <a:cs typeface="Times New Roman" pitchFamily="18" charset="0"/>
              </a:rPr>
              <a:t>which means </a:t>
            </a:r>
            <a:r>
              <a:rPr lang="en-US" sz="2000" b="1" dirty="0" smtClean="0">
                <a:latin typeface="Times New Roman" pitchFamily="18" charset="0"/>
                <a:cs typeface="Times New Roman" pitchFamily="18" charset="0"/>
              </a:rPr>
              <a:t>“Customs and Traditions”</a:t>
            </a:r>
          </a:p>
          <a:p>
            <a:pPr algn="just"/>
            <a:endParaRPr lang="en-US" sz="2000" b="1" dirty="0" smtClean="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Every society has its own morality and it has its own dos and </a:t>
            </a:r>
            <a:r>
              <a:rPr lang="en-US" sz="2000" dirty="0" err="1" smtClean="0">
                <a:latin typeface="Times New Roman" pitchFamily="18" charset="0"/>
                <a:cs typeface="Times New Roman" pitchFamily="18" charset="0"/>
              </a:rPr>
              <a:t>dosnt</a:t>
            </a:r>
            <a:r>
              <a:rPr lang="en-US" sz="2000" dirty="0" smtClean="0">
                <a:latin typeface="Times New Roman" pitchFamily="18" charset="0"/>
                <a:cs typeface="Times New Roman" pitchFamily="18" charset="0"/>
              </a:rPr>
              <a:t> </a:t>
            </a:r>
          </a:p>
          <a:p>
            <a:pPr algn="just"/>
            <a:r>
              <a:rPr lang="en-US" sz="2000" dirty="0" smtClean="0">
                <a:latin typeface="Times New Roman" pitchFamily="18" charset="0"/>
                <a:cs typeface="Times New Roman" pitchFamily="18" charset="0"/>
              </a:rPr>
              <a:t>Morality origin based upon customs and traditions that is why Greek philosopher used moral or social term as interchangeably.</a:t>
            </a:r>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val="16351055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5023" y="817583"/>
            <a:ext cx="6965245" cy="325417"/>
          </a:xfrm>
        </p:spPr>
        <p:txBody>
          <a:bodyPr>
            <a:noAutofit/>
          </a:bodyPr>
          <a:lstStyle/>
          <a:p>
            <a:r>
              <a:rPr lang="en-US" sz="2400" b="1" dirty="0">
                <a:solidFill>
                  <a:srgbClr val="C00000"/>
                </a:solidFill>
                <a:latin typeface="Times New Roman" pitchFamily="18" charset="0"/>
                <a:cs typeface="Times New Roman" pitchFamily="18" charset="0"/>
              </a:rPr>
              <a:t>Relationship between Ethics &amp; Philosophy </a:t>
            </a:r>
          </a:p>
        </p:txBody>
      </p:sp>
      <p:sp>
        <p:nvSpPr>
          <p:cNvPr id="3" name="Content Placeholder 2"/>
          <p:cNvSpPr>
            <a:spLocks noGrp="1"/>
          </p:cNvSpPr>
          <p:nvPr>
            <p:ph idx="1"/>
          </p:nvPr>
        </p:nvSpPr>
        <p:spPr>
          <a:xfrm>
            <a:off x="990600" y="1219200"/>
            <a:ext cx="7315200" cy="4876800"/>
          </a:xfrm>
        </p:spPr>
        <p:txBody>
          <a:bodyPr>
            <a:noAutofit/>
          </a:bodyPr>
          <a:lstStyle/>
          <a:p>
            <a:pPr algn="just"/>
            <a:r>
              <a:rPr lang="en-US" sz="2000" dirty="0" smtClean="0">
                <a:latin typeface="Times New Roman" pitchFamily="18" charset="0"/>
                <a:cs typeface="Times New Roman" pitchFamily="18" charset="0"/>
              </a:rPr>
              <a:t>Morality is our customs and traditions means a way of life .</a:t>
            </a:r>
          </a:p>
          <a:p>
            <a:pPr algn="just"/>
            <a:endParaRPr lang="en-US" sz="2000" dirty="0" smtClean="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Now we are heading towards similarity between ethics and molarity from both perspectives what is right and wrong but the fundamental difference of ethics or molarity is Ethics is conscious intellectual enterprise means consciously critical thinking. </a:t>
            </a:r>
          </a:p>
          <a:p>
            <a:pPr algn="just"/>
            <a:endParaRPr lang="en-US" sz="2000" dirty="0" smtClean="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Ethics is a parameter or standards to check the morality. </a:t>
            </a:r>
          </a:p>
          <a:p>
            <a:endParaRPr lang="en-US"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Any society / State customs or tradition dowry / triple </a:t>
            </a:r>
            <a:r>
              <a:rPr lang="en-US" sz="2000" dirty="0" err="1" smtClean="0">
                <a:latin typeface="Times New Roman" pitchFamily="18" charset="0"/>
                <a:cs typeface="Times New Roman" pitchFamily="18" charset="0"/>
              </a:rPr>
              <a:t>talaq</a:t>
            </a:r>
            <a:r>
              <a:rPr lang="en-US" sz="2000" dirty="0" smtClean="0">
                <a:latin typeface="Times New Roman" pitchFamily="18" charset="0"/>
                <a:cs typeface="Times New Roman" pitchFamily="18" charset="0"/>
              </a:rPr>
              <a:t>, it’s a part of molarity. Is </a:t>
            </a:r>
            <a:r>
              <a:rPr lang="en-US" sz="2000" dirty="0" err="1" smtClean="0">
                <a:latin typeface="Times New Roman" pitchFamily="18" charset="0"/>
                <a:cs typeface="Times New Roman" pitchFamily="18" charset="0"/>
              </a:rPr>
              <a:t>is</a:t>
            </a:r>
            <a:r>
              <a:rPr lang="en-US" sz="2000" dirty="0" smtClean="0">
                <a:latin typeface="Times New Roman" pitchFamily="18" charset="0"/>
                <a:cs typeface="Times New Roman" pitchFamily="18" charset="0"/>
              </a:rPr>
              <a:t> based on rationality or reasonably. </a:t>
            </a:r>
          </a:p>
          <a:p>
            <a:endParaRPr lang="en-US"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If we need thinking on it we required ethics so ethics is called to be rational thinking. </a:t>
            </a:r>
          </a:p>
          <a:p>
            <a:pPr algn="just"/>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val="34914569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5023" y="817583"/>
            <a:ext cx="6965245" cy="325417"/>
          </a:xfrm>
        </p:spPr>
        <p:txBody>
          <a:bodyPr>
            <a:noAutofit/>
          </a:bodyPr>
          <a:lstStyle/>
          <a:p>
            <a:r>
              <a:rPr lang="en-US" sz="2400" b="1" dirty="0">
                <a:solidFill>
                  <a:srgbClr val="C00000"/>
                </a:solidFill>
                <a:latin typeface="Times New Roman" pitchFamily="18" charset="0"/>
                <a:cs typeface="Times New Roman" pitchFamily="18" charset="0"/>
              </a:rPr>
              <a:t>Relationship between Ethics &amp; Philosophy </a:t>
            </a:r>
          </a:p>
        </p:txBody>
      </p:sp>
      <p:sp>
        <p:nvSpPr>
          <p:cNvPr id="3" name="Content Placeholder 2"/>
          <p:cNvSpPr>
            <a:spLocks noGrp="1"/>
          </p:cNvSpPr>
          <p:nvPr>
            <p:ph idx="1"/>
          </p:nvPr>
        </p:nvSpPr>
        <p:spPr>
          <a:xfrm>
            <a:off x="990600" y="1219200"/>
            <a:ext cx="7315200" cy="4876800"/>
          </a:xfrm>
        </p:spPr>
        <p:txBody>
          <a:bodyPr>
            <a:noAutofit/>
          </a:bodyPr>
          <a:lstStyle/>
          <a:p>
            <a:pPr marL="0" indent="0" algn="just">
              <a:buNone/>
            </a:pPr>
            <a:r>
              <a:rPr lang="en-US" sz="2000" b="1" dirty="0">
                <a:latin typeface="Times New Roman" pitchFamily="18" charset="0"/>
                <a:cs typeface="Times New Roman" pitchFamily="18" charset="0"/>
              </a:rPr>
              <a:t>How origin of ethics come? </a:t>
            </a:r>
          </a:p>
          <a:p>
            <a:pPr algn="just"/>
            <a:r>
              <a:rPr lang="en-US" sz="2000" dirty="0" smtClean="0">
                <a:latin typeface="Times New Roman" pitchFamily="18" charset="0"/>
                <a:cs typeface="Times New Roman" pitchFamily="18" charset="0"/>
              </a:rPr>
              <a:t>The origin of ethics come from molarity and molarity origin come from religion because first source of right and wrong is religion but with the passage of time human start making questions on culture practices which is based on religion, doing mind application and do critical thinking and this is how the origin of ethics come.</a:t>
            </a:r>
          </a:p>
          <a:p>
            <a:pPr algn="just"/>
            <a:r>
              <a:rPr lang="en-US" sz="2000" dirty="0" smtClean="0">
                <a:latin typeface="Times New Roman" pitchFamily="18" charset="0"/>
                <a:cs typeface="Times New Roman" pitchFamily="18" charset="0"/>
              </a:rPr>
              <a:t>Sometime some things might be ethical or some are rational but in particular society there will be no acceptability </a:t>
            </a:r>
            <a:r>
              <a:rPr lang="en-US" sz="2000" dirty="0" err="1" smtClean="0">
                <a:latin typeface="Times New Roman" pitchFamily="18" charset="0"/>
                <a:cs typeface="Times New Roman" pitchFamily="18" charset="0"/>
              </a:rPr>
              <a:t>e.g</a:t>
            </a:r>
            <a:endParaRPr lang="en-US" sz="2000" dirty="0" smtClean="0">
              <a:latin typeface="Times New Roman" pitchFamily="18" charset="0"/>
              <a:cs typeface="Times New Roman" pitchFamily="18" charset="0"/>
            </a:endParaRPr>
          </a:p>
          <a:p>
            <a:pPr algn="ctr"/>
            <a:r>
              <a:rPr lang="en-US" sz="2000" b="1" dirty="0" smtClean="0">
                <a:latin typeface="Times New Roman" pitchFamily="18" charset="0"/>
                <a:cs typeface="Times New Roman" pitchFamily="18" charset="0"/>
              </a:rPr>
              <a:t>MEN = WOMEN treat equally but social morality says something else. </a:t>
            </a:r>
          </a:p>
          <a:p>
            <a:pPr algn="just"/>
            <a:r>
              <a:rPr lang="en-US" sz="2000" dirty="0" smtClean="0">
                <a:latin typeface="Times New Roman" pitchFamily="18" charset="0"/>
                <a:cs typeface="Times New Roman" pitchFamily="18" charset="0"/>
              </a:rPr>
              <a:t>In Nutshell morality is a part &amp; parcel of any society we can see molarity in social norms do’s and </a:t>
            </a:r>
            <a:r>
              <a:rPr lang="en-US" sz="2000" dirty="0" err="1" smtClean="0">
                <a:latin typeface="Times New Roman" pitchFamily="18" charset="0"/>
                <a:cs typeface="Times New Roman" pitchFamily="18" charset="0"/>
              </a:rPr>
              <a:t>dosnt</a:t>
            </a:r>
            <a:r>
              <a:rPr lang="en-US" sz="2000" dirty="0" smtClean="0">
                <a:latin typeface="Times New Roman" pitchFamily="18" charset="0"/>
                <a:cs typeface="Times New Roman" pitchFamily="18" charset="0"/>
              </a:rPr>
              <a:t> but the philosopher using their intellectual curiosity / Intellectual &amp; critical power they go for analysis, if something is moral but it is rational also, it has to be practical and it has to be rejected.    </a:t>
            </a:r>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val="1933286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599" y="914400"/>
            <a:ext cx="7257211"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825756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5023" y="817583"/>
            <a:ext cx="6965245" cy="325417"/>
          </a:xfrm>
        </p:spPr>
        <p:txBody>
          <a:bodyPr>
            <a:noAutofit/>
          </a:bodyPr>
          <a:lstStyle/>
          <a:p>
            <a:r>
              <a:rPr lang="en-US" sz="2400" b="1" dirty="0">
                <a:solidFill>
                  <a:srgbClr val="C00000"/>
                </a:solidFill>
              </a:rPr>
              <a:t>A Variety of Ethical Views</a:t>
            </a:r>
            <a:endParaRPr lang="en-US" sz="2400" b="1" dirty="0">
              <a:solidFill>
                <a:srgbClr val="C00000"/>
              </a:solidFill>
              <a:latin typeface="Times New Roman" pitchFamily="18" charset="0"/>
              <a:cs typeface="Times New Roman" pitchFamily="18" charset="0"/>
            </a:endParaRPr>
          </a:p>
        </p:txBody>
      </p:sp>
      <p:sp>
        <p:nvSpPr>
          <p:cNvPr id="3" name="Content Placeholder 2"/>
          <p:cNvSpPr>
            <a:spLocks noGrp="1"/>
          </p:cNvSpPr>
          <p:nvPr>
            <p:ph idx="1"/>
          </p:nvPr>
        </p:nvSpPr>
        <p:spPr>
          <a:xfrm>
            <a:off x="990600" y="1219200"/>
            <a:ext cx="7315200" cy="4876800"/>
          </a:xfrm>
        </p:spPr>
        <p:txBody>
          <a:bodyPr>
            <a:noAutofit/>
          </a:bodyPr>
          <a:lstStyle/>
          <a:p>
            <a:pPr marL="0" indent="0" algn="just">
              <a:buNone/>
            </a:pPr>
            <a:r>
              <a:rPr lang="en-US" sz="2000" dirty="0" smtClean="0">
                <a:latin typeface="Times New Roman" pitchFamily="18" charset="0"/>
                <a:cs typeface="Times New Roman" pitchFamily="18" charset="0"/>
              </a:rPr>
              <a:t>Different </a:t>
            </a:r>
            <a:r>
              <a:rPr lang="en-US" sz="2000" dirty="0">
                <a:latin typeface="Times New Roman" pitchFamily="18" charset="0"/>
                <a:cs typeface="Times New Roman" pitchFamily="18" charset="0"/>
              </a:rPr>
              <a:t>ethical theories provide different lenses for moral decision-making:</a:t>
            </a:r>
          </a:p>
          <a:p>
            <a:pPr marL="0" indent="0" algn="just">
              <a:buNone/>
            </a:pPr>
            <a:r>
              <a:rPr lang="en-US" sz="2000" b="1" dirty="0" smtClean="0">
                <a:latin typeface="Times New Roman" pitchFamily="18" charset="0"/>
                <a:cs typeface="Times New Roman" pitchFamily="18" charset="0"/>
              </a:rPr>
              <a:t>a</a:t>
            </a:r>
            <a:r>
              <a:rPr lang="en-US" sz="2000" b="1" dirty="0">
                <a:latin typeface="Times New Roman" pitchFamily="18" charset="0"/>
                <a:cs typeface="Times New Roman" pitchFamily="18" charset="0"/>
              </a:rPr>
              <a:t>) </a:t>
            </a:r>
            <a:r>
              <a:rPr lang="en-US" sz="2000" b="1" dirty="0" smtClean="0">
                <a:latin typeface="Times New Roman" pitchFamily="18" charset="0"/>
                <a:cs typeface="Times New Roman" pitchFamily="18" charset="0"/>
              </a:rPr>
              <a:t>Utilitarianism</a:t>
            </a:r>
            <a:endParaRPr lang="en-US" sz="2000" b="1" dirty="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Proposed </a:t>
            </a:r>
            <a:r>
              <a:rPr lang="en-US" sz="2000" dirty="0">
                <a:latin typeface="Times New Roman" pitchFamily="18" charset="0"/>
                <a:cs typeface="Times New Roman" pitchFamily="18" charset="0"/>
              </a:rPr>
              <a:t>by </a:t>
            </a:r>
            <a:r>
              <a:rPr lang="en-US" sz="2000" dirty="0" smtClean="0">
                <a:latin typeface="Times New Roman" pitchFamily="18" charset="0"/>
                <a:cs typeface="Times New Roman" pitchFamily="18" charset="0"/>
              </a:rPr>
              <a:t>Jeremy Bentham </a:t>
            </a:r>
            <a:r>
              <a:rPr lang="en-US" sz="2000" dirty="0">
                <a:latin typeface="Times New Roman" pitchFamily="18" charset="0"/>
                <a:cs typeface="Times New Roman" pitchFamily="18" charset="0"/>
              </a:rPr>
              <a:t>and </a:t>
            </a:r>
            <a:r>
              <a:rPr lang="en-US" sz="2000" dirty="0" smtClean="0">
                <a:latin typeface="Times New Roman" pitchFamily="18" charset="0"/>
                <a:cs typeface="Times New Roman" pitchFamily="18" charset="0"/>
              </a:rPr>
              <a:t>John </a:t>
            </a:r>
            <a:r>
              <a:rPr lang="en-US" sz="2000" dirty="0">
                <a:latin typeface="Times New Roman" pitchFamily="18" charset="0"/>
                <a:cs typeface="Times New Roman" pitchFamily="18" charset="0"/>
              </a:rPr>
              <a:t>Stuart </a:t>
            </a:r>
            <a:r>
              <a:rPr lang="en-US" sz="2000" dirty="0" smtClean="0">
                <a:latin typeface="Times New Roman" pitchFamily="18" charset="0"/>
                <a:cs typeface="Times New Roman" pitchFamily="18" charset="0"/>
              </a:rPr>
              <a:t>Mill</a:t>
            </a:r>
            <a:endParaRPr lang="en-US" sz="2000" dirty="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Judges </a:t>
            </a:r>
            <a:r>
              <a:rPr lang="en-US" sz="2000" dirty="0">
                <a:latin typeface="Times New Roman" pitchFamily="18" charset="0"/>
                <a:cs typeface="Times New Roman" pitchFamily="18" charset="0"/>
              </a:rPr>
              <a:t>actions based on </a:t>
            </a:r>
            <a:r>
              <a:rPr lang="en-US" sz="2000" dirty="0" smtClean="0">
                <a:latin typeface="Times New Roman" pitchFamily="18" charset="0"/>
                <a:cs typeface="Times New Roman" pitchFamily="18" charset="0"/>
              </a:rPr>
              <a:t>outcomes </a:t>
            </a:r>
            <a:r>
              <a:rPr lang="en-US" sz="2000" dirty="0">
                <a:latin typeface="Times New Roman" pitchFamily="18" charset="0"/>
                <a:cs typeface="Times New Roman" pitchFamily="18" charset="0"/>
              </a:rPr>
              <a:t>or </a:t>
            </a:r>
            <a:r>
              <a:rPr lang="en-US" sz="2000" dirty="0" smtClean="0">
                <a:latin typeface="Times New Roman" pitchFamily="18" charset="0"/>
                <a:cs typeface="Times New Roman" pitchFamily="18" charset="0"/>
              </a:rPr>
              <a:t>consequences</a:t>
            </a:r>
            <a:endParaRPr lang="en-US" sz="2000" dirty="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Ethical </a:t>
            </a:r>
            <a:r>
              <a:rPr lang="en-US" sz="2000" dirty="0">
                <a:latin typeface="Times New Roman" pitchFamily="18" charset="0"/>
                <a:cs typeface="Times New Roman" pitchFamily="18" charset="0"/>
              </a:rPr>
              <a:t>if it maximizes </a:t>
            </a:r>
            <a:r>
              <a:rPr lang="en-US" sz="2000" dirty="0" smtClean="0">
                <a:latin typeface="Times New Roman" pitchFamily="18" charset="0"/>
                <a:cs typeface="Times New Roman" pitchFamily="18" charset="0"/>
              </a:rPr>
              <a:t>overall </a:t>
            </a:r>
            <a:r>
              <a:rPr lang="en-US" sz="2000" dirty="0">
                <a:latin typeface="Times New Roman" pitchFamily="18" charset="0"/>
                <a:cs typeface="Times New Roman" pitchFamily="18" charset="0"/>
              </a:rPr>
              <a:t>happiness or </a:t>
            </a:r>
            <a:r>
              <a:rPr lang="en-US" sz="2000" dirty="0" smtClean="0">
                <a:latin typeface="Times New Roman" pitchFamily="18" charset="0"/>
                <a:cs typeface="Times New Roman" pitchFamily="18" charset="0"/>
              </a:rPr>
              <a:t>benefit</a:t>
            </a:r>
            <a:endParaRPr lang="en-US" sz="2000" dirty="0">
              <a:latin typeface="Times New Roman" pitchFamily="18" charset="0"/>
              <a:cs typeface="Times New Roman" pitchFamily="18" charset="0"/>
            </a:endParaRPr>
          </a:p>
          <a:p>
            <a:pPr marL="0" indent="0" algn="just">
              <a:buNone/>
            </a:pPr>
            <a:r>
              <a:rPr lang="en-US" sz="2000" b="1" dirty="0" smtClean="0">
                <a:latin typeface="Times New Roman" pitchFamily="18" charset="0"/>
                <a:cs typeface="Times New Roman" pitchFamily="18" charset="0"/>
              </a:rPr>
              <a:t>Strengths</a:t>
            </a:r>
            <a:endParaRPr lang="en-US" sz="2000" b="1" dirty="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 </a:t>
            </a:r>
            <a:r>
              <a:rPr lang="en-US" sz="2000" dirty="0">
                <a:latin typeface="Times New Roman" pitchFamily="18" charset="0"/>
                <a:cs typeface="Times New Roman" pitchFamily="18" charset="0"/>
              </a:rPr>
              <a:t>Practical and result-oriented</a:t>
            </a:r>
          </a:p>
          <a:p>
            <a:pPr algn="just"/>
            <a:r>
              <a:rPr lang="en-US" sz="2000" dirty="0" smtClean="0">
                <a:latin typeface="Times New Roman" pitchFamily="18" charset="0"/>
                <a:cs typeface="Times New Roman" pitchFamily="18" charset="0"/>
              </a:rPr>
              <a:t> </a:t>
            </a:r>
            <a:r>
              <a:rPr lang="en-US" sz="2000" dirty="0">
                <a:latin typeface="Times New Roman" pitchFamily="18" charset="0"/>
                <a:cs typeface="Times New Roman" pitchFamily="18" charset="0"/>
              </a:rPr>
              <a:t>Useful for public policy and business decisions</a:t>
            </a:r>
          </a:p>
          <a:p>
            <a:pPr marL="0" indent="0" algn="just">
              <a:buNone/>
            </a:pPr>
            <a:r>
              <a:rPr lang="en-US" sz="2000" b="1" dirty="0" smtClean="0">
                <a:latin typeface="Times New Roman" pitchFamily="18" charset="0"/>
                <a:cs typeface="Times New Roman" pitchFamily="18" charset="0"/>
              </a:rPr>
              <a:t>Limitations</a:t>
            </a:r>
            <a:endParaRPr lang="en-US" sz="2000" b="1" dirty="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 </a:t>
            </a:r>
            <a:r>
              <a:rPr lang="en-US" sz="2000" dirty="0">
                <a:latin typeface="Times New Roman" pitchFamily="18" charset="0"/>
                <a:cs typeface="Times New Roman" pitchFamily="18" charset="0"/>
              </a:rPr>
              <a:t>May ignore minority rights</a:t>
            </a:r>
          </a:p>
          <a:p>
            <a:pPr algn="just"/>
            <a:r>
              <a:rPr lang="en-US" sz="2000" dirty="0" smtClean="0">
                <a:latin typeface="Times New Roman" pitchFamily="18" charset="0"/>
                <a:cs typeface="Times New Roman" pitchFamily="18" charset="0"/>
              </a:rPr>
              <a:t> </a:t>
            </a:r>
            <a:r>
              <a:rPr lang="en-US" sz="2000" dirty="0">
                <a:latin typeface="Times New Roman" pitchFamily="18" charset="0"/>
                <a:cs typeface="Times New Roman" pitchFamily="18" charset="0"/>
              </a:rPr>
              <a:t>Difficult to measure happiness accurately</a:t>
            </a:r>
          </a:p>
          <a:p>
            <a:pPr marL="0" indent="0" algn="just">
              <a:buNone/>
            </a:pPr>
            <a:endParaRPr lang="en-US" sz="2000" dirty="0">
              <a:latin typeface="Times New Roman" pitchFamily="18" charset="0"/>
              <a:cs typeface="Times New Roman" pitchFamily="18" charset="0"/>
            </a:endParaRPr>
          </a:p>
          <a:p>
            <a:pPr marL="0" indent="0" algn="just">
              <a:buNone/>
            </a:pPr>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val="22766926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5023" y="817583"/>
            <a:ext cx="6965245" cy="325417"/>
          </a:xfrm>
        </p:spPr>
        <p:txBody>
          <a:bodyPr>
            <a:noAutofit/>
          </a:bodyPr>
          <a:lstStyle/>
          <a:p>
            <a:r>
              <a:rPr lang="en-US" sz="2400" b="1" dirty="0">
                <a:solidFill>
                  <a:srgbClr val="C00000"/>
                </a:solidFill>
              </a:rPr>
              <a:t>A Variety of Ethical Views</a:t>
            </a:r>
            <a:endParaRPr lang="en-US" sz="2400" b="1" dirty="0">
              <a:solidFill>
                <a:srgbClr val="C00000"/>
              </a:solidFill>
              <a:latin typeface="Times New Roman" pitchFamily="18" charset="0"/>
              <a:cs typeface="Times New Roman" pitchFamily="18" charset="0"/>
            </a:endParaRPr>
          </a:p>
        </p:txBody>
      </p:sp>
      <p:sp>
        <p:nvSpPr>
          <p:cNvPr id="3" name="Content Placeholder 2"/>
          <p:cNvSpPr>
            <a:spLocks noGrp="1"/>
          </p:cNvSpPr>
          <p:nvPr>
            <p:ph idx="1"/>
          </p:nvPr>
        </p:nvSpPr>
        <p:spPr>
          <a:xfrm>
            <a:off x="990600" y="1219200"/>
            <a:ext cx="7315200" cy="4876800"/>
          </a:xfrm>
        </p:spPr>
        <p:txBody>
          <a:bodyPr>
            <a:noAutofit/>
          </a:bodyPr>
          <a:lstStyle/>
          <a:p>
            <a:pPr marL="0" indent="0" algn="just">
              <a:buNone/>
            </a:pPr>
            <a:r>
              <a:rPr lang="en-US" sz="2000" b="1" dirty="0" smtClean="0">
                <a:latin typeface="Times New Roman" pitchFamily="18" charset="0"/>
                <a:cs typeface="Times New Roman" pitchFamily="18" charset="0"/>
              </a:rPr>
              <a:t>b</a:t>
            </a:r>
            <a:r>
              <a:rPr lang="en-US" sz="2000" b="1" dirty="0">
                <a:latin typeface="Times New Roman" pitchFamily="18" charset="0"/>
                <a:cs typeface="Times New Roman" pitchFamily="18" charset="0"/>
              </a:rPr>
              <a:t>) Rights-Based </a:t>
            </a:r>
            <a:r>
              <a:rPr lang="en-US" sz="2000" b="1" dirty="0" smtClean="0">
                <a:latin typeface="Times New Roman" pitchFamily="18" charset="0"/>
                <a:cs typeface="Times New Roman" pitchFamily="18" charset="0"/>
              </a:rPr>
              <a:t>Ethics</a:t>
            </a:r>
            <a:endParaRPr lang="en-US" sz="2000" b="1" dirty="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Emphasizes basic </a:t>
            </a:r>
            <a:r>
              <a:rPr lang="en-US" sz="2000" dirty="0">
                <a:latin typeface="Times New Roman" pitchFamily="18" charset="0"/>
                <a:cs typeface="Times New Roman" pitchFamily="18" charset="0"/>
              </a:rPr>
              <a:t>human </a:t>
            </a:r>
            <a:r>
              <a:rPr lang="en-US" sz="2000" dirty="0" smtClean="0">
                <a:latin typeface="Times New Roman" pitchFamily="18" charset="0"/>
                <a:cs typeface="Times New Roman" pitchFamily="18" charset="0"/>
              </a:rPr>
              <a:t>rights</a:t>
            </a:r>
            <a:endParaRPr lang="en-US" sz="2000" dirty="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Certain </a:t>
            </a:r>
            <a:r>
              <a:rPr lang="en-US" sz="2000" dirty="0">
                <a:latin typeface="Times New Roman" pitchFamily="18" charset="0"/>
                <a:cs typeface="Times New Roman" pitchFamily="18" charset="0"/>
              </a:rPr>
              <a:t>actions are unethical regardless of </a:t>
            </a:r>
            <a:r>
              <a:rPr lang="en-US" sz="2000" dirty="0" smtClean="0">
                <a:latin typeface="Times New Roman" pitchFamily="18" charset="0"/>
                <a:cs typeface="Times New Roman" pitchFamily="18" charset="0"/>
              </a:rPr>
              <a:t>outcomes</a:t>
            </a:r>
          </a:p>
          <a:p>
            <a:pPr algn="just"/>
            <a:endParaRPr lang="en-US" sz="2000" dirty="0">
              <a:latin typeface="Times New Roman" pitchFamily="18" charset="0"/>
              <a:cs typeface="Times New Roman" pitchFamily="18" charset="0"/>
            </a:endParaRPr>
          </a:p>
          <a:p>
            <a:pPr marL="0" indent="0" algn="just">
              <a:buNone/>
            </a:pPr>
            <a:r>
              <a:rPr lang="en-US" sz="2000" b="1" dirty="0" smtClean="0">
                <a:latin typeface="Times New Roman" pitchFamily="18" charset="0"/>
                <a:cs typeface="Times New Roman" pitchFamily="18" charset="0"/>
              </a:rPr>
              <a:t>Common Rights</a:t>
            </a:r>
            <a:endParaRPr lang="en-US" sz="2000" b="1" dirty="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Right </a:t>
            </a:r>
            <a:r>
              <a:rPr lang="en-US" sz="2000" dirty="0">
                <a:latin typeface="Times New Roman" pitchFamily="18" charset="0"/>
                <a:cs typeface="Times New Roman" pitchFamily="18" charset="0"/>
              </a:rPr>
              <a:t>to privacy</a:t>
            </a:r>
          </a:p>
          <a:p>
            <a:pPr algn="just"/>
            <a:r>
              <a:rPr lang="en-US" sz="2000" dirty="0" smtClean="0">
                <a:latin typeface="Times New Roman" pitchFamily="18" charset="0"/>
                <a:cs typeface="Times New Roman" pitchFamily="18" charset="0"/>
              </a:rPr>
              <a:t>Right </a:t>
            </a:r>
            <a:r>
              <a:rPr lang="en-US" sz="2000" dirty="0">
                <a:latin typeface="Times New Roman" pitchFamily="18" charset="0"/>
                <a:cs typeface="Times New Roman" pitchFamily="18" charset="0"/>
              </a:rPr>
              <a:t>to freedom of expression</a:t>
            </a:r>
          </a:p>
          <a:p>
            <a:pPr algn="just"/>
            <a:r>
              <a:rPr lang="en-US" sz="2000" dirty="0" smtClean="0">
                <a:latin typeface="Times New Roman" pitchFamily="18" charset="0"/>
                <a:cs typeface="Times New Roman" pitchFamily="18" charset="0"/>
              </a:rPr>
              <a:t>Right </a:t>
            </a:r>
            <a:r>
              <a:rPr lang="en-US" sz="2000" dirty="0">
                <a:latin typeface="Times New Roman" pitchFamily="18" charset="0"/>
                <a:cs typeface="Times New Roman" pitchFamily="18" charset="0"/>
              </a:rPr>
              <a:t>to informed </a:t>
            </a:r>
            <a:r>
              <a:rPr lang="en-US" sz="2000" dirty="0" smtClean="0">
                <a:latin typeface="Times New Roman" pitchFamily="18" charset="0"/>
                <a:cs typeface="Times New Roman" pitchFamily="18" charset="0"/>
              </a:rPr>
              <a:t>consent</a:t>
            </a:r>
          </a:p>
          <a:p>
            <a:pPr algn="just"/>
            <a:endParaRPr lang="en-US" sz="2000" dirty="0">
              <a:latin typeface="Times New Roman" pitchFamily="18" charset="0"/>
              <a:cs typeface="Times New Roman" pitchFamily="18" charset="0"/>
            </a:endParaRPr>
          </a:p>
          <a:p>
            <a:pPr marL="0" indent="0" algn="just">
              <a:buNone/>
            </a:pPr>
            <a:r>
              <a:rPr lang="en-US" sz="2000" b="1" dirty="0" smtClean="0">
                <a:latin typeface="Times New Roman" pitchFamily="18" charset="0"/>
                <a:cs typeface="Times New Roman" pitchFamily="18" charset="0"/>
              </a:rPr>
              <a:t>Limitation</a:t>
            </a:r>
            <a:endParaRPr lang="en-US" sz="2000" b="1" dirty="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Conflicts </a:t>
            </a:r>
            <a:r>
              <a:rPr lang="en-US" sz="2000" dirty="0">
                <a:latin typeface="Times New Roman" pitchFamily="18" charset="0"/>
                <a:cs typeface="Times New Roman" pitchFamily="18" charset="0"/>
              </a:rPr>
              <a:t>arise when rights compete</a:t>
            </a:r>
          </a:p>
          <a:p>
            <a:pPr marL="0" indent="0" algn="just">
              <a:buNone/>
            </a:pPr>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val="4810964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5023" y="817583"/>
            <a:ext cx="6965245" cy="325417"/>
          </a:xfrm>
        </p:spPr>
        <p:txBody>
          <a:bodyPr>
            <a:noAutofit/>
          </a:bodyPr>
          <a:lstStyle/>
          <a:p>
            <a:r>
              <a:rPr lang="en-US" sz="2400" b="1" dirty="0">
                <a:solidFill>
                  <a:srgbClr val="C00000"/>
                </a:solidFill>
              </a:rPr>
              <a:t>A Variety of Ethical Views</a:t>
            </a:r>
            <a:endParaRPr lang="en-US" sz="2400" b="1" dirty="0">
              <a:solidFill>
                <a:srgbClr val="C00000"/>
              </a:solidFill>
              <a:latin typeface="Times New Roman" pitchFamily="18" charset="0"/>
              <a:cs typeface="Times New Roman" pitchFamily="18" charset="0"/>
            </a:endParaRPr>
          </a:p>
        </p:txBody>
      </p:sp>
      <p:sp>
        <p:nvSpPr>
          <p:cNvPr id="3" name="Content Placeholder 2"/>
          <p:cNvSpPr>
            <a:spLocks noGrp="1"/>
          </p:cNvSpPr>
          <p:nvPr>
            <p:ph idx="1"/>
          </p:nvPr>
        </p:nvSpPr>
        <p:spPr>
          <a:xfrm>
            <a:off x="990600" y="1219200"/>
            <a:ext cx="7315200" cy="4876800"/>
          </a:xfrm>
        </p:spPr>
        <p:txBody>
          <a:bodyPr>
            <a:noAutofit/>
          </a:bodyPr>
          <a:lstStyle/>
          <a:p>
            <a:pPr marL="0" indent="0" algn="just">
              <a:buNone/>
            </a:pPr>
            <a:r>
              <a:rPr lang="en-US" sz="2000" b="1" dirty="0">
                <a:latin typeface="Times New Roman" pitchFamily="18" charset="0"/>
                <a:cs typeface="Times New Roman" pitchFamily="18" charset="0"/>
              </a:rPr>
              <a:t>c) Justice and Fairness </a:t>
            </a:r>
            <a:r>
              <a:rPr lang="en-US" sz="2000" b="1" dirty="0" smtClean="0">
                <a:latin typeface="Times New Roman" pitchFamily="18" charset="0"/>
                <a:cs typeface="Times New Roman" pitchFamily="18" charset="0"/>
              </a:rPr>
              <a:t>Approach</a:t>
            </a:r>
            <a:r>
              <a:rPr lang="en-US" sz="2000" b="1" dirty="0">
                <a:latin typeface="Times New Roman" pitchFamily="18" charset="0"/>
                <a:cs typeface="Times New Roman" pitchFamily="18" charset="0"/>
              </a:rPr>
              <a:t> </a:t>
            </a:r>
          </a:p>
          <a:p>
            <a:pPr algn="just"/>
            <a:r>
              <a:rPr lang="en-US" sz="2000" dirty="0" smtClean="0">
                <a:latin typeface="Times New Roman" pitchFamily="18" charset="0"/>
                <a:cs typeface="Times New Roman" pitchFamily="18" charset="0"/>
              </a:rPr>
              <a:t>Focuses </a:t>
            </a:r>
            <a:r>
              <a:rPr lang="en-US" sz="2000" dirty="0">
                <a:latin typeface="Times New Roman" pitchFamily="18" charset="0"/>
                <a:cs typeface="Times New Roman" pitchFamily="18" charset="0"/>
              </a:rPr>
              <a:t>on </a:t>
            </a:r>
            <a:r>
              <a:rPr lang="en-US" sz="2000" dirty="0" smtClean="0">
                <a:latin typeface="Times New Roman" pitchFamily="18" charset="0"/>
                <a:cs typeface="Times New Roman" pitchFamily="18" charset="0"/>
              </a:rPr>
              <a:t>equitable treatment</a:t>
            </a:r>
            <a:endParaRPr lang="en-US" sz="2000" dirty="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Based </a:t>
            </a:r>
            <a:r>
              <a:rPr lang="en-US" sz="2000" dirty="0">
                <a:latin typeface="Times New Roman" pitchFamily="18" charset="0"/>
                <a:cs typeface="Times New Roman" pitchFamily="18" charset="0"/>
              </a:rPr>
              <a:t>on theories of </a:t>
            </a:r>
            <a:r>
              <a:rPr lang="en-US" sz="2000" dirty="0" smtClean="0">
                <a:latin typeface="Times New Roman" pitchFamily="18" charset="0"/>
                <a:cs typeface="Times New Roman" pitchFamily="18" charset="0"/>
              </a:rPr>
              <a:t>John Rawls</a:t>
            </a:r>
            <a:endParaRPr lang="en-US" sz="2000" dirty="0">
              <a:latin typeface="Times New Roman" pitchFamily="18" charset="0"/>
              <a:cs typeface="Times New Roman" pitchFamily="18" charset="0"/>
            </a:endParaRPr>
          </a:p>
          <a:p>
            <a:pPr marL="0" indent="0" algn="just">
              <a:buNone/>
            </a:pPr>
            <a:endParaRPr lang="en-US" sz="2000" dirty="0">
              <a:latin typeface="Times New Roman" pitchFamily="18" charset="0"/>
              <a:cs typeface="Times New Roman" pitchFamily="18" charset="0"/>
            </a:endParaRPr>
          </a:p>
          <a:p>
            <a:pPr marL="0" indent="0" algn="just">
              <a:buNone/>
            </a:pPr>
            <a:r>
              <a:rPr lang="en-US" sz="2000" b="1" dirty="0" smtClean="0">
                <a:latin typeface="Times New Roman" pitchFamily="18" charset="0"/>
                <a:cs typeface="Times New Roman" pitchFamily="18" charset="0"/>
              </a:rPr>
              <a:t>Principles</a:t>
            </a:r>
            <a:endParaRPr lang="en-US" sz="2000" b="1" dirty="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 </a:t>
            </a:r>
            <a:r>
              <a:rPr lang="en-US" sz="2000" dirty="0">
                <a:latin typeface="Times New Roman" pitchFamily="18" charset="0"/>
                <a:cs typeface="Times New Roman" pitchFamily="18" charset="0"/>
              </a:rPr>
              <a:t>Equal opportunities</a:t>
            </a:r>
          </a:p>
          <a:p>
            <a:pPr algn="just"/>
            <a:r>
              <a:rPr lang="en-US" sz="2000" dirty="0" smtClean="0">
                <a:latin typeface="Times New Roman" pitchFamily="18" charset="0"/>
                <a:cs typeface="Times New Roman" pitchFamily="18" charset="0"/>
              </a:rPr>
              <a:t>Fair </a:t>
            </a:r>
            <a:r>
              <a:rPr lang="en-US" sz="2000" dirty="0">
                <a:latin typeface="Times New Roman" pitchFamily="18" charset="0"/>
                <a:cs typeface="Times New Roman" pitchFamily="18" charset="0"/>
              </a:rPr>
              <a:t>distribution of resources and risks</a:t>
            </a:r>
          </a:p>
          <a:p>
            <a:pPr marL="0" indent="0" algn="just">
              <a:buNone/>
            </a:pPr>
            <a:endParaRPr lang="en-US" sz="2000" dirty="0">
              <a:latin typeface="Times New Roman" pitchFamily="18" charset="0"/>
              <a:cs typeface="Times New Roman" pitchFamily="18" charset="0"/>
            </a:endParaRPr>
          </a:p>
          <a:p>
            <a:pPr marL="0" indent="0" algn="just">
              <a:buNone/>
            </a:pPr>
            <a:r>
              <a:rPr lang="en-US" sz="2000" b="1" dirty="0" smtClean="0">
                <a:latin typeface="Times New Roman" pitchFamily="18" charset="0"/>
                <a:cs typeface="Times New Roman" pitchFamily="18" charset="0"/>
              </a:rPr>
              <a:t>Application</a:t>
            </a:r>
            <a:endParaRPr lang="en-US" sz="2000" b="1" dirty="0">
              <a:latin typeface="Times New Roman" pitchFamily="18" charset="0"/>
              <a:cs typeface="Times New Roman" pitchFamily="18" charset="0"/>
            </a:endParaRPr>
          </a:p>
          <a:p>
            <a:pPr algn="just"/>
            <a:r>
              <a:rPr lang="en-US" sz="2000" dirty="0">
                <a:latin typeface="Times New Roman" pitchFamily="18" charset="0"/>
                <a:cs typeface="Times New Roman" pitchFamily="18" charset="0"/>
              </a:rPr>
              <a:t>Used in HR policies, wage systems, and access to technology</a:t>
            </a:r>
            <a:r>
              <a:rPr lang="en-US" sz="2000" dirty="0" smtClean="0">
                <a:latin typeface="Times New Roman" pitchFamily="18" charset="0"/>
                <a:cs typeface="Times New Roman" pitchFamily="18" charset="0"/>
              </a:rPr>
              <a:t>.</a:t>
            </a:r>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val="26123867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5023" y="817583"/>
            <a:ext cx="6965245" cy="325417"/>
          </a:xfrm>
        </p:spPr>
        <p:txBody>
          <a:bodyPr>
            <a:noAutofit/>
          </a:bodyPr>
          <a:lstStyle/>
          <a:p>
            <a:r>
              <a:rPr lang="en-US" sz="2400" b="1" dirty="0">
                <a:solidFill>
                  <a:srgbClr val="C00000"/>
                </a:solidFill>
              </a:rPr>
              <a:t>A Variety of Ethical Views</a:t>
            </a:r>
            <a:endParaRPr lang="en-US" sz="2400" b="1" dirty="0">
              <a:solidFill>
                <a:srgbClr val="C00000"/>
              </a:solidFill>
              <a:latin typeface="Times New Roman" pitchFamily="18" charset="0"/>
              <a:cs typeface="Times New Roman" pitchFamily="18" charset="0"/>
            </a:endParaRPr>
          </a:p>
        </p:txBody>
      </p:sp>
      <p:sp>
        <p:nvSpPr>
          <p:cNvPr id="3" name="Content Placeholder 2"/>
          <p:cNvSpPr>
            <a:spLocks noGrp="1"/>
          </p:cNvSpPr>
          <p:nvPr>
            <p:ph idx="1"/>
          </p:nvPr>
        </p:nvSpPr>
        <p:spPr>
          <a:xfrm>
            <a:off x="990600" y="1219200"/>
            <a:ext cx="7315200" cy="4876800"/>
          </a:xfrm>
        </p:spPr>
        <p:txBody>
          <a:bodyPr>
            <a:noAutofit/>
          </a:bodyPr>
          <a:lstStyle/>
          <a:p>
            <a:pPr marL="0" indent="0">
              <a:buNone/>
            </a:pPr>
            <a:r>
              <a:rPr lang="en-US" sz="2000" b="1" dirty="0">
                <a:latin typeface="Times New Roman" pitchFamily="18" charset="0"/>
                <a:cs typeface="Times New Roman" pitchFamily="18" charset="0"/>
              </a:rPr>
              <a:t>d) Virtue </a:t>
            </a:r>
            <a:r>
              <a:rPr lang="en-US" sz="2000" b="1" dirty="0" smtClean="0">
                <a:latin typeface="Times New Roman" pitchFamily="18" charset="0"/>
                <a:cs typeface="Times New Roman" pitchFamily="18" charset="0"/>
              </a:rPr>
              <a:t>Ethics</a:t>
            </a:r>
            <a:r>
              <a:rPr lang="en-US" sz="2000" b="1" dirty="0">
                <a:latin typeface="Times New Roman" pitchFamily="18" charset="0"/>
                <a:cs typeface="Times New Roman" pitchFamily="18" charset="0"/>
              </a:rPr>
              <a:t> </a:t>
            </a:r>
          </a:p>
          <a:p>
            <a:r>
              <a:rPr lang="en-US" sz="2000" dirty="0" smtClean="0">
                <a:latin typeface="Times New Roman" pitchFamily="18" charset="0"/>
                <a:cs typeface="Times New Roman" pitchFamily="18" charset="0"/>
              </a:rPr>
              <a:t>Originates </a:t>
            </a:r>
            <a:r>
              <a:rPr lang="en-US" sz="2000" dirty="0">
                <a:latin typeface="Times New Roman" pitchFamily="18" charset="0"/>
                <a:cs typeface="Times New Roman" pitchFamily="18" charset="0"/>
              </a:rPr>
              <a:t>from </a:t>
            </a:r>
            <a:r>
              <a:rPr lang="en-US" sz="2000" dirty="0" smtClean="0">
                <a:latin typeface="Times New Roman" pitchFamily="18" charset="0"/>
                <a:cs typeface="Times New Roman" pitchFamily="18" charset="0"/>
              </a:rPr>
              <a:t>Aristotle</a:t>
            </a:r>
            <a:endParaRPr lang="en-US" sz="2000" dirty="0">
              <a:latin typeface="Times New Roman" pitchFamily="18" charset="0"/>
              <a:cs typeface="Times New Roman" pitchFamily="18" charset="0"/>
            </a:endParaRPr>
          </a:p>
          <a:p>
            <a:r>
              <a:rPr lang="en-US" sz="2000" dirty="0" smtClean="0">
                <a:latin typeface="Times New Roman" pitchFamily="18" charset="0"/>
                <a:cs typeface="Times New Roman" pitchFamily="18" charset="0"/>
              </a:rPr>
              <a:t>Focuses </a:t>
            </a:r>
            <a:r>
              <a:rPr lang="en-US" sz="2000" dirty="0">
                <a:latin typeface="Times New Roman" pitchFamily="18" charset="0"/>
                <a:cs typeface="Times New Roman" pitchFamily="18" charset="0"/>
              </a:rPr>
              <a:t>on </a:t>
            </a:r>
            <a:r>
              <a:rPr lang="en-US" sz="2000" dirty="0" smtClean="0">
                <a:latin typeface="Times New Roman" pitchFamily="18" charset="0"/>
                <a:cs typeface="Times New Roman" pitchFamily="18" charset="0"/>
              </a:rPr>
              <a:t>moral character </a:t>
            </a:r>
            <a:r>
              <a:rPr lang="en-US" sz="2000" dirty="0">
                <a:latin typeface="Times New Roman" pitchFamily="18" charset="0"/>
                <a:cs typeface="Times New Roman" pitchFamily="18" charset="0"/>
              </a:rPr>
              <a:t>rather than rules or </a:t>
            </a:r>
            <a:r>
              <a:rPr lang="en-US" sz="2000" dirty="0" smtClean="0">
                <a:latin typeface="Times New Roman" pitchFamily="18" charset="0"/>
                <a:cs typeface="Times New Roman" pitchFamily="18" charset="0"/>
              </a:rPr>
              <a:t>outcomes</a:t>
            </a:r>
          </a:p>
          <a:p>
            <a:endParaRPr lang="en-US" sz="2000" dirty="0">
              <a:latin typeface="Times New Roman" pitchFamily="18" charset="0"/>
              <a:cs typeface="Times New Roman" pitchFamily="18" charset="0"/>
            </a:endParaRPr>
          </a:p>
          <a:p>
            <a:pPr marL="0" indent="0">
              <a:buNone/>
            </a:pPr>
            <a:r>
              <a:rPr lang="en-US" sz="2000" b="1" dirty="0" smtClean="0">
                <a:latin typeface="Times New Roman" pitchFamily="18" charset="0"/>
                <a:cs typeface="Times New Roman" pitchFamily="18" charset="0"/>
              </a:rPr>
              <a:t>Key Virtues</a:t>
            </a:r>
            <a:endParaRPr lang="en-US" sz="2000" b="1" dirty="0">
              <a:latin typeface="Times New Roman" pitchFamily="18" charset="0"/>
              <a:cs typeface="Times New Roman" pitchFamily="18" charset="0"/>
            </a:endParaRPr>
          </a:p>
          <a:p>
            <a:r>
              <a:rPr lang="en-US" sz="2000" dirty="0" smtClean="0">
                <a:latin typeface="Times New Roman" pitchFamily="18" charset="0"/>
                <a:cs typeface="Times New Roman" pitchFamily="18" charset="0"/>
              </a:rPr>
              <a:t> </a:t>
            </a:r>
            <a:r>
              <a:rPr lang="en-US" sz="2000" dirty="0">
                <a:latin typeface="Times New Roman" pitchFamily="18" charset="0"/>
                <a:cs typeface="Times New Roman" pitchFamily="18" charset="0"/>
              </a:rPr>
              <a:t>Honesty</a:t>
            </a:r>
          </a:p>
          <a:p>
            <a:r>
              <a:rPr lang="en-US" sz="2000" dirty="0" smtClean="0">
                <a:latin typeface="Times New Roman" pitchFamily="18" charset="0"/>
                <a:cs typeface="Times New Roman" pitchFamily="18" charset="0"/>
              </a:rPr>
              <a:t>Courage</a:t>
            </a:r>
            <a:endParaRPr lang="en-US" sz="2000" dirty="0">
              <a:latin typeface="Times New Roman" pitchFamily="18" charset="0"/>
              <a:cs typeface="Times New Roman" pitchFamily="18" charset="0"/>
            </a:endParaRPr>
          </a:p>
          <a:p>
            <a:r>
              <a:rPr lang="en-US" sz="2000" dirty="0" smtClean="0">
                <a:latin typeface="Times New Roman" pitchFamily="18" charset="0"/>
                <a:cs typeface="Times New Roman" pitchFamily="18" charset="0"/>
              </a:rPr>
              <a:t>Responsibility</a:t>
            </a:r>
            <a:endParaRPr lang="en-US" sz="2000" dirty="0">
              <a:latin typeface="Times New Roman" pitchFamily="18" charset="0"/>
              <a:cs typeface="Times New Roman" pitchFamily="18" charset="0"/>
            </a:endParaRPr>
          </a:p>
          <a:p>
            <a:r>
              <a:rPr lang="en-US" sz="2000" dirty="0" smtClean="0">
                <a:latin typeface="Times New Roman" pitchFamily="18" charset="0"/>
                <a:cs typeface="Times New Roman" pitchFamily="18" charset="0"/>
              </a:rPr>
              <a:t>Compassion</a:t>
            </a:r>
            <a:endParaRPr lang="en-US" sz="2000" dirty="0">
              <a:latin typeface="Times New Roman" pitchFamily="18" charset="0"/>
              <a:cs typeface="Times New Roman" pitchFamily="18" charset="0"/>
            </a:endParaRPr>
          </a:p>
          <a:p>
            <a:pPr marL="0" indent="0">
              <a:buNone/>
            </a:pPr>
            <a:endParaRPr lang="en-US" sz="2000" dirty="0">
              <a:latin typeface="Times New Roman" pitchFamily="18" charset="0"/>
              <a:cs typeface="Times New Roman" pitchFamily="18" charset="0"/>
            </a:endParaRPr>
          </a:p>
          <a:p>
            <a:pPr marL="0" indent="0">
              <a:buNone/>
            </a:pPr>
            <a:r>
              <a:rPr lang="en-US" sz="2000" b="1" dirty="0" smtClean="0">
                <a:latin typeface="Times New Roman" pitchFamily="18" charset="0"/>
                <a:cs typeface="Times New Roman" pitchFamily="18" charset="0"/>
              </a:rPr>
              <a:t>Limitation</a:t>
            </a:r>
            <a:endParaRPr lang="en-US" sz="2000" b="1" dirty="0">
              <a:latin typeface="Times New Roman" pitchFamily="18" charset="0"/>
              <a:cs typeface="Times New Roman" pitchFamily="18" charset="0"/>
            </a:endParaRPr>
          </a:p>
          <a:p>
            <a:r>
              <a:rPr lang="en-US" sz="2000" dirty="0" smtClean="0">
                <a:latin typeface="Times New Roman" pitchFamily="18" charset="0"/>
                <a:cs typeface="Times New Roman" pitchFamily="18" charset="0"/>
              </a:rPr>
              <a:t>Less </a:t>
            </a:r>
            <a:r>
              <a:rPr lang="en-US" sz="2000" dirty="0">
                <a:latin typeface="Times New Roman" pitchFamily="18" charset="0"/>
                <a:cs typeface="Times New Roman" pitchFamily="18" charset="0"/>
              </a:rPr>
              <a:t>guidance in complex ethical dilemmas</a:t>
            </a:r>
          </a:p>
        </p:txBody>
      </p:sp>
    </p:spTree>
    <p:extLst>
      <p:ext uri="{BB962C8B-B14F-4D97-AF65-F5344CB8AC3E}">
        <p14:creationId xmlns:p14="http://schemas.microsoft.com/office/powerpoint/2010/main" val="6757237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761999"/>
            <a:ext cx="7383439" cy="53521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882330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5023" y="817583"/>
            <a:ext cx="6965245" cy="325417"/>
          </a:xfrm>
        </p:spPr>
        <p:txBody>
          <a:bodyPr>
            <a:noAutofit/>
          </a:bodyPr>
          <a:lstStyle/>
          <a:p>
            <a:r>
              <a:rPr lang="en-US" sz="2400" b="1" dirty="0">
                <a:solidFill>
                  <a:srgbClr val="C00000"/>
                </a:solidFill>
                <a:latin typeface="Times New Roman" pitchFamily="18" charset="0"/>
                <a:cs typeface="Times New Roman" pitchFamily="18" charset="0"/>
              </a:rPr>
              <a:t>Some Important Distinctions</a:t>
            </a:r>
          </a:p>
        </p:txBody>
      </p:sp>
      <p:sp>
        <p:nvSpPr>
          <p:cNvPr id="3" name="Content Placeholder 2"/>
          <p:cNvSpPr>
            <a:spLocks noGrp="1"/>
          </p:cNvSpPr>
          <p:nvPr>
            <p:ph idx="1"/>
          </p:nvPr>
        </p:nvSpPr>
        <p:spPr>
          <a:xfrm>
            <a:off x="990600" y="1219200"/>
            <a:ext cx="7315200" cy="4876800"/>
          </a:xfrm>
        </p:spPr>
        <p:txBody>
          <a:bodyPr>
            <a:noAutofit/>
          </a:bodyPr>
          <a:lstStyle/>
          <a:p>
            <a:pPr algn="just"/>
            <a:r>
              <a:rPr lang="en-US" sz="2000" dirty="0" smtClean="0">
                <a:latin typeface="Times New Roman" pitchFamily="18" charset="0"/>
                <a:cs typeface="Times New Roman" pitchFamily="18" charset="0"/>
              </a:rPr>
              <a:t>Understanding </a:t>
            </a:r>
            <a:r>
              <a:rPr lang="en-US" sz="2000" dirty="0">
                <a:latin typeface="Times New Roman" pitchFamily="18" charset="0"/>
                <a:cs typeface="Times New Roman" pitchFamily="18" charset="0"/>
              </a:rPr>
              <a:t>ethics requires distinguishing between key concepts:</a:t>
            </a:r>
          </a:p>
          <a:p>
            <a:pPr marL="0" indent="0" algn="just">
              <a:buNone/>
            </a:pPr>
            <a:r>
              <a:rPr lang="en-US" sz="2000" b="1" dirty="0">
                <a:latin typeface="Times New Roman" pitchFamily="18" charset="0"/>
                <a:cs typeface="Times New Roman" pitchFamily="18" charset="0"/>
              </a:rPr>
              <a:t>a) Ethics </a:t>
            </a:r>
            <a:r>
              <a:rPr lang="en-US" sz="2000" b="1" dirty="0" err="1">
                <a:latin typeface="Times New Roman" pitchFamily="18" charset="0"/>
                <a:cs typeface="Times New Roman" pitchFamily="18" charset="0"/>
              </a:rPr>
              <a:t>vs</a:t>
            </a:r>
            <a:r>
              <a:rPr lang="en-US" sz="2000" b="1" dirty="0">
                <a:latin typeface="Times New Roman" pitchFamily="18" charset="0"/>
                <a:cs typeface="Times New Roman" pitchFamily="18" charset="0"/>
              </a:rPr>
              <a:t> Law</a:t>
            </a:r>
          </a:p>
          <a:p>
            <a:pPr algn="just"/>
            <a:r>
              <a:rPr lang="en-US" sz="2000" b="1" dirty="0">
                <a:latin typeface="Times New Roman" pitchFamily="18" charset="0"/>
                <a:cs typeface="Times New Roman" pitchFamily="18" charset="0"/>
              </a:rPr>
              <a:t>Law</a:t>
            </a:r>
            <a:r>
              <a:rPr lang="en-US" sz="2000" dirty="0">
                <a:latin typeface="Times New Roman" pitchFamily="18" charset="0"/>
                <a:cs typeface="Times New Roman" pitchFamily="18" charset="0"/>
              </a:rPr>
              <a:t>: Minimum standards enforced by government</a:t>
            </a:r>
          </a:p>
          <a:p>
            <a:pPr algn="just"/>
            <a:r>
              <a:rPr lang="en-US" sz="2000" b="1" dirty="0">
                <a:latin typeface="Times New Roman" pitchFamily="18" charset="0"/>
                <a:cs typeface="Times New Roman" pitchFamily="18" charset="0"/>
              </a:rPr>
              <a:t>Ethics</a:t>
            </a:r>
            <a:r>
              <a:rPr lang="en-US" sz="2000" dirty="0">
                <a:latin typeface="Times New Roman" pitchFamily="18" charset="0"/>
                <a:cs typeface="Times New Roman" pitchFamily="18" charset="0"/>
              </a:rPr>
              <a:t>: Higher moral standards, not always legally required</a:t>
            </a:r>
            <a:br>
              <a:rPr lang="en-US" sz="2000" dirty="0">
                <a:latin typeface="Times New Roman" pitchFamily="18" charset="0"/>
                <a:cs typeface="Times New Roman" pitchFamily="18" charset="0"/>
              </a:rPr>
            </a:br>
            <a:r>
              <a:rPr lang="en-US" sz="2000" dirty="0">
                <a:latin typeface="Times New Roman" pitchFamily="18" charset="0"/>
                <a:cs typeface="Times New Roman" pitchFamily="18" charset="0"/>
              </a:rPr>
              <a:t>✔ Something can be </a:t>
            </a:r>
            <a:r>
              <a:rPr lang="en-US" sz="2000" b="1" dirty="0">
                <a:latin typeface="Times New Roman" pitchFamily="18" charset="0"/>
                <a:cs typeface="Times New Roman" pitchFamily="18" charset="0"/>
              </a:rPr>
              <a:t>legal but unethical</a:t>
            </a:r>
            <a:endParaRPr lang="en-US" sz="2000" dirty="0">
              <a:latin typeface="Times New Roman" pitchFamily="18" charset="0"/>
              <a:cs typeface="Times New Roman" pitchFamily="18" charset="0"/>
            </a:endParaRPr>
          </a:p>
          <a:p>
            <a:pPr marL="0" indent="0" algn="just">
              <a:buNone/>
            </a:pPr>
            <a:r>
              <a:rPr lang="en-US" sz="2000" b="1" dirty="0">
                <a:latin typeface="Times New Roman" pitchFamily="18" charset="0"/>
                <a:cs typeface="Times New Roman" pitchFamily="18" charset="0"/>
              </a:rPr>
              <a:t>b) Ethics </a:t>
            </a:r>
            <a:r>
              <a:rPr lang="en-US" sz="2000" b="1" dirty="0" err="1">
                <a:latin typeface="Times New Roman" pitchFamily="18" charset="0"/>
                <a:cs typeface="Times New Roman" pitchFamily="18" charset="0"/>
              </a:rPr>
              <a:t>vs</a:t>
            </a:r>
            <a:r>
              <a:rPr lang="en-US" sz="2000" b="1" dirty="0">
                <a:latin typeface="Times New Roman" pitchFamily="18" charset="0"/>
                <a:cs typeface="Times New Roman" pitchFamily="18" charset="0"/>
              </a:rPr>
              <a:t> Morality</a:t>
            </a:r>
          </a:p>
          <a:p>
            <a:pPr algn="just"/>
            <a:r>
              <a:rPr lang="en-US" sz="2000" b="1" dirty="0">
                <a:latin typeface="Times New Roman" pitchFamily="18" charset="0"/>
                <a:cs typeface="Times New Roman" pitchFamily="18" charset="0"/>
              </a:rPr>
              <a:t>Morality</a:t>
            </a:r>
            <a:r>
              <a:rPr lang="en-US" sz="2000" dirty="0">
                <a:latin typeface="Times New Roman" pitchFamily="18" charset="0"/>
                <a:cs typeface="Times New Roman" pitchFamily="18" charset="0"/>
              </a:rPr>
              <a:t>: Personal or cultural beliefs</a:t>
            </a:r>
          </a:p>
          <a:p>
            <a:pPr algn="just"/>
            <a:r>
              <a:rPr lang="en-US" sz="2000" b="1" dirty="0">
                <a:latin typeface="Times New Roman" pitchFamily="18" charset="0"/>
                <a:cs typeface="Times New Roman" pitchFamily="18" charset="0"/>
              </a:rPr>
              <a:t>Ethics</a:t>
            </a:r>
            <a:r>
              <a:rPr lang="en-US" sz="2000" dirty="0">
                <a:latin typeface="Times New Roman" pitchFamily="18" charset="0"/>
                <a:cs typeface="Times New Roman" pitchFamily="18" charset="0"/>
              </a:rPr>
              <a:t>: Systematic reasoning about moral issues</a:t>
            </a:r>
          </a:p>
          <a:p>
            <a:pPr marL="0" indent="0" algn="just">
              <a:buNone/>
            </a:pPr>
            <a:r>
              <a:rPr lang="en-US" sz="2000" b="1" dirty="0">
                <a:latin typeface="Times New Roman" pitchFamily="18" charset="0"/>
                <a:cs typeface="Times New Roman" pitchFamily="18" charset="0"/>
              </a:rPr>
              <a:t>c) Ethical Dilemma</a:t>
            </a:r>
          </a:p>
          <a:p>
            <a:pPr algn="just"/>
            <a:r>
              <a:rPr lang="en-US" sz="2000" dirty="0">
                <a:latin typeface="Times New Roman" pitchFamily="18" charset="0"/>
                <a:cs typeface="Times New Roman" pitchFamily="18" charset="0"/>
              </a:rPr>
              <a:t>A situation where </a:t>
            </a:r>
            <a:r>
              <a:rPr lang="en-US" sz="2000" b="1" dirty="0">
                <a:latin typeface="Times New Roman" pitchFamily="18" charset="0"/>
                <a:cs typeface="Times New Roman" pitchFamily="18" charset="0"/>
              </a:rPr>
              <a:t>no option is completely right</a:t>
            </a:r>
            <a:endParaRPr lang="en-US" sz="2000" dirty="0">
              <a:latin typeface="Times New Roman" pitchFamily="18" charset="0"/>
              <a:cs typeface="Times New Roman" pitchFamily="18" charset="0"/>
            </a:endParaRPr>
          </a:p>
          <a:p>
            <a:pPr algn="just"/>
            <a:r>
              <a:rPr lang="en-US" sz="2000" dirty="0">
                <a:latin typeface="Times New Roman" pitchFamily="18" charset="0"/>
                <a:cs typeface="Times New Roman" pitchFamily="18" charset="0"/>
              </a:rPr>
              <a:t>Choosing one ethical principle may violate another</a:t>
            </a:r>
          </a:p>
        </p:txBody>
      </p:sp>
    </p:spTree>
    <p:extLst>
      <p:ext uri="{BB962C8B-B14F-4D97-AF65-F5344CB8AC3E}">
        <p14:creationId xmlns:p14="http://schemas.microsoft.com/office/powerpoint/2010/main" val="41647080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838200"/>
            <a:ext cx="7305964" cy="523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8144986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5023" y="817583"/>
            <a:ext cx="6965245" cy="325417"/>
          </a:xfrm>
        </p:spPr>
        <p:txBody>
          <a:bodyPr>
            <a:noAutofit/>
          </a:bodyPr>
          <a:lstStyle/>
          <a:p>
            <a:r>
              <a:rPr lang="en-US" sz="2400" b="1" dirty="0">
                <a:solidFill>
                  <a:srgbClr val="C00000"/>
                </a:solidFill>
                <a:latin typeface="Times New Roman" pitchFamily="18" charset="0"/>
                <a:cs typeface="Times New Roman" pitchFamily="18" charset="0"/>
              </a:rPr>
              <a:t>E-commerce and Free Stuff</a:t>
            </a:r>
          </a:p>
        </p:txBody>
      </p:sp>
      <p:sp>
        <p:nvSpPr>
          <p:cNvPr id="3" name="Content Placeholder 2"/>
          <p:cNvSpPr>
            <a:spLocks noGrp="1"/>
          </p:cNvSpPr>
          <p:nvPr>
            <p:ph idx="1"/>
          </p:nvPr>
        </p:nvSpPr>
        <p:spPr>
          <a:xfrm>
            <a:off x="990600" y="1219200"/>
            <a:ext cx="7315200" cy="4876800"/>
          </a:xfrm>
        </p:spPr>
        <p:txBody>
          <a:bodyPr>
            <a:noAutofit/>
          </a:bodyPr>
          <a:lstStyle/>
          <a:p>
            <a:pPr algn="just"/>
            <a:r>
              <a:rPr lang="en-US" sz="2000" dirty="0" smtClean="0">
                <a:latin typeface="Times New Roman" pitchFamily="18" charset="0"/>
                <a:cs typeface="Times New Roman" pitchFamily="18" charset="0"/>
              </a:rPr>
              <a:t>E-commerce </a:t>
            </a:r>
            <a:r>
              <a:rPr lang="en-US" sz="2000" dirty="0">
                <a:latin typeface="Times New Roman" pitchFamily="18" charset="0"/>
                <a:cs typeface="Times New Roman" pitchFamily="18" charset="0"/>
              </a:rPr>
              <a:t>platforms often offer </a:t>
            </a:r>
            <a:r>
              <a:rPr lang="en-US" sz="2000" b="1" dirty="0">
                <a:latin typeface="Times New Roman" pitchFamily="18" charset="0"/>
                <a:cs typeface="Times New Roman" pitchFamily="18" charset="0"/>
              </a:rPr>
              <a:t>“free” services</a:t>
            </a:r>
            <a:r>
              <a:rPr lang="en-US" sz="2000" dirty="0">
                <a:latin typeface="Times New Roman" pitchFamily="18" charset="0"/>
                <a:cs typeface="Times New Roman" pitchFamily="18" charset="0"/>
              </a:rPr>
              <a:t> (e.g., social media, apps, cloud storage</a:t>
            </a:r>
            <a:r>
              <a:rPr lang="en-US" sz="2000" dirty="0" smtClean="0">
                <a:latin typeface="Times New Roman" pitchFamily="18" charset="0"/>
                <a:cs typeface="Times New Roman" pitchFamily="18" charset="0"/>
              </a:rPr>
              <a:t>).</a:t>
            </a:r>
          </a:p>
          <a:p>
            <a:pPr marL="0" indent="0" algn="just">
              <a:buNone/>
            </a:pPr>
            <a:endParaRPr lang="en-US" sz="2000" b="1" dirty="0">
              <a:latin typeface="Times New Roman" pitchFamily="18" charset="0"/>
              <a:cs typeface="Times New Roman" pitchFamily="18" charset="0"/>
            </a:endParaRPr>
          </a:p>
          <a:p>
            <a:pPr marL="0" indent="0" algn="just">
              <a:buNone/>
            </a:pPr>
            <a:r>
              <a:rPr lang="en-US" sz="2000" b="1" dirty="0" smtClean="0">
                <a:latin typeface="Times New Roman" pitchFamily="18" charset="0"/>
                <a:cs typeface="Times New Roman" pitchFamily="18" charset="0"/>
              </a:rPr>
              <a:t>Ethical </a:t>
            </a:r>
            <a:r>
              <a:rPr lang="en-US" sz="2000" b="1" dirty="0">
                <a:latin typeface="Times New Roman" pitchFamily="18" charset="0"/>
                <a:cs typeface="Times New Roman" pitchFamily="18" charset="0"/>
              </a:rPr>
              <a:t>Issues Involved</a:t>
            </a:r>
          </a:p>
          <a:p>
            <a:pPr algn="just"/>
            <a:r>
              <a:rPr lang="en-US" sz="2000" dirty="0">
                <a:latin typeface="Times New Roman" pitchFamily="18" charset="0"/>
                <a:cs typeface="Times New Roman" pitchFamily="18" charset="0"/>
              </a:rPr>
              <a:t>User data collection and privacy</a:t>
            </a:r>
          </a:p>
          <a:p>
            <a:pPr algn="just"/>
            <a:r>
              <a:rPr lang="en-US" sz="2000" dirty="0">
                <a:latin typeface="Times New Roman" pitchFamily="18" charset="0"/>
                <a:cs typeface="Times New Roman" pitchFamily="18" charset="0"/>
              </a:rPr>
              <a:t>Lack of transparency about how data is used</a:t>
            </a:r>
          </a:p>
          <a:p>
            <a:pPr algn="just"/>
            <a:r>
              <a:rPr lang="en-US" sz="2000" dirty="0">
                <a:latin typeface="Times New Roman" pitchFamily="18" charset="0"/>
                <a:cs typeface="Times New Roman" pitchFamily="18" charset="0"/>
              </a:rPr>
              <a:t>Manipulation through targeted advertising</a:t>
            </a:r>
          </a:p>
          <a:p>
            <a:pPr algn="just"/>
            <a:r>
              <a:rPr lang="en-US" sz="2000" dirty="0">
                <a:latin typeface="Times New Roman" pitchFamily="18" charset="0"/>
                <a:cs typeface="Times New Roman" pitchFamily="18" charset="0"/>
              </a:rPr>
              <a:t>👉 </a:t>
            </a:r>
            <a:r>
              <a:rPr lang="en-US" sz="2000" i="1" dirty="0">
                <a:latin typeface="Times New Roman" pitchFamily="18" charset="0"/>
                <a:cs typeface="Times New Roman" pitchFamily="18" charset="0"/>
              </a:rPr>
              <a:t>If you’re not paying money, you may be paying with your data.</a:t>
            </a:r>
            <a:endParaRPr lang="en-US" sz="2000" dirty="0">
              <a:latin typeface="Times New Roman" pitchFamily="18" charset="0"/>
              <a:cs typeface="Times New Roman" pitchFamily="18" charset="0"/>
            </a:endParaRPr>
          </a:p>
          <a:p>
            <a:pPr marL="0" indent="0" algn="just">
              <a:buNone/>
            </a:pPr>
            <a:endParaRPr lang="en-US" sz="2000" b="1" dirty="0" smtClean="0">
              <a:latin typeface="Times New Roman" pitchFamily="18" charset="0"/>
              <a:cs typeface="Times New Roman" pitchFamily="18" charset="0"/>
            </a:endParaRPr>
          </a:p>
          <a:p>
            <a:pPr marL="0" indent="0" algn="just">
              <a:buNone/>
            </a:pPr>
            <a:r>
              <a:rPr lang="en-US" sz="2000" b="1" dirty="0" smtClean="0">
                <a:latin typeface="Times New Roman" pitchFamily="18" charset="0"/>
                <a:cs typeface="Times New Roman" pitchFamily="18" charset="0"/>
              </a:rPr>
              <a:t>Ethical </a:t>
            </a:r>
            <a:r>
              <a:rPr lang="en-US" sz="2000" b="1" dirty="0">
                <a:latin typeface="Times New Roman" pitchFamily="18" charset="0"/>
                <a:cs typeface="Times New Roman" pitchFamily="18" charset="0"/>
              </a:rPr>
              <a:t>Question</a:t>
            </a:r>
          </a:p>
          <a:p>
            <a:pPr algn="just"/>
            <a:r>
              <a:rPr lang="en-US" sz="2000" dirty="0">
                <a:latin typeface="Times New Roman" pitchFamily="18" charset="0"/>
                <a:cs typeface="Times New Roman" pitchFamily="18" charset="0"/>
              </a:rPr>
              <a:t>Is it ethical to offer “free” services without clearly informing users of the real cost?</a:t>
            </a:r>
          </a:p>
        </p:txBody>
      </p:sp>
    </p:spTree>
    <p:extLst>
      <p:ext uri="{BB962C8B-B14F-4D97-AF65-F5344CB8AC3E}">
        <p14:creationId xmlns:p14="http://schemas.microsoft.com/office/powerpoint/2010/main" val="34831488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838200"/>
            <a:ext cx="7464202" cy="53442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9498270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5023" y="817583"/>
            <a:ext cx="6965245" cy="325417"/>
          </a:xfrm>
        </p:spPr>
        <p:txBody>
          <a:bodyPr>
            <a:noAutofit/>
          </a:bodyPr>
          <a:lstStyle/>
          <a:p>
            <a:r>
              <a:rPr lang="en-US" sz="2000" b="1" dirty="0">
                <a:solidFill>
                  <a:srgbClr val="C00000"/>
                </a:solidFill>
                <a:latin typeface="Times New Roman" pitchFamily="18" charset="0"/>
                <a:cs typeface="Times New Roman" pitchFamily="18" charset="0"/>
              </a:rPr>
              <a:t>Artificial Intelligence, Robotics, Sensors, and Motion</a:t>
            </a:r>
          </a:p>
        </p:txBody>
      </p:sp>
      <p:sp>
        <p:nvSpPr>
          <p:cNvPr id="3" name="Content Placeholder 2"/>
          <p:cNvSpPr>
            <a:spLocks noGrp="1"/>
          </p:cNvSpPr>
          <p:nvPr>
            <p:ph idx="1"/>
          </p:nvPr>
        </p:nvSpPr>
        <p:spPr>
          <a:xfrm>
            <a:off x="990600" y="1219200"/>
            <a:ext cx="7315200" cy="4876800"/>
          </a:xfrm>
        </p:spPr>
        <p:txBody>
          <a:bodyPr>
            <a:noAutofit/>
          </a:bodyPr>
          <a:lstStyle/>
          <a:p>
            <a:pPr marL="0" indent="0">
              <a:buNone/>
            </a:pPr>
            <a:r>
              <a:rPr lang="en-US" sz="2000" dirty="0" smtClean="0">
                <a:latin typeface="Times New Roman" pitchFamily="18" charset="0"/>
                <a:cs typeface="Times New Roman" pitchFamily="18" charset="0"/>
              </a:rPr>
              <a:t>Modern </a:t>
            </a:r>
            <a:r>
              <a:rPr lang="en-US" sz="2000" dirty="0">
                <a:latin typeface="Times New Roman" pitchFamily="18" charset="0"/>
                <a:cs typeface="Times New Roman" pitchFamily="18" charset="0"/>
              </a:rPr>
              <a:t>technologies raise </a:t>
            </a:r>
            <a:r>
              <a:rPr lang="en-US" sz="2000" b="1" dirty="0">
                <a:latin typeface="Times New Roman" pitchFamily="18" charset="0"/>
                <a:cs typeface="Times New Roman" pitchFamily="18" charset="0"/>
              </a:rPr>
              <a:t>new ethical </a:t>
            </a:r>
            <a:r>
              <a:rPr lang="en-US" sz="2000" b="1" dirty="0" smtClean="0">
                <a:latin typeface="Times New Roman" pitchFamily="18" charset="0"/>
                <a:cs typeface="Times New Roman" pitchFamily="18" charset="0"/>
              </a:rPr>
              <a:t>challenges</a:t>
            </a:r>
            <a:r>
              <a:rPr lang="en-US" sz="2000" dirty="0">
                <a:latin typeface="Times New Roman" pitchFamily="18" charset="0"/>
                <a:cs typeface="Times New Roman" pitchFamily="18" charset="0"/>
              </a:rPr>
              <a:t>:</a:t>
            </a:r>
            <a:endParaRPr lang="en-US" sz="2000" dirty="0" smtClean="0">
              <a:latin typeface="Times New Roman" pitchFamily="18" charset="0"/>
              <a:cs typeface="Times New Roman" pitchFamily="18" charset="0"/>
            </a:endParaRPr>
          </a:p>
          <a:p>
            <a:pPr marL="0" indent="0">
              <a:buNone/>
            </a:pPr>
            <a:endParaRPr lang="en-US" sz="2000" dirty="0">
              <a:latin typeface="Times New Roman" pitchFamily="18" charset="0"/>
              <a:cs typeface="Times New Roman" pitchFamily="18" charset="0"/>
            </a:endParaRPr>
          </a:p>
          <a:p>
            <a:pPr marL="0" indent="0">
              <a:buNone/>
            </a:pPr>
            <a:r>
              <a:rPr lang="en-US" sz="2000" b="1" dirty="0">
                <a:latin typeface="Times New Roman" pitchFamily="18" charset="0"/>
                <a:cs typeface="Times New Roman" pitchFamily="18" charset="0"/>
              </a:rPr>
              <a:t>a) Artificial Intelligence (AI)</a:t>
            </a:r>
          </a:p>
          <a:p>
            <a:r>
              <a:rPr lang="en-US" sz="2000" dirty="0">
                <a:latin typeface="Times New Roman" pitchFamily="18" charset="0"/>
                <a:cs typeface="Times New Roman" pitchFamily="18" charset="0"/>
              </a:rPr>
              <a:t>Bias in algorithms</a:t>
            </a:r>
          </a:p>
          <a:p>
            <a:r>
              <a:rPr lang="en-US" sz="2000" dirty="0">
                <a:latin typeface="Times New Roman" pitchFamily="18" charset="0"/>
                <a:cs typeface="Times New Roman" pitchFamily="18" charset="0"/>
              </a:rPr>
              <a:t>Lack of accountability in automated decisions</a:t>
            </a:r>
          </a:p>
          <a:p>
            <a:r>
              <a:rPr lang="en-US" sz="2000" dirty="0">
                <a:latin typeface="Times New Roman" pitchFamily="18" charset="0"/>
                <a:cs typeface="Times New Roman" pitchFamily="18" charset="0"/>
              </a:rPr>
              <a:t>Job </a:t>
            </a:r>
            <a:r>
              <a:rPr lang="en-US" sz="2000" dirty="0" smtClean="0">
                <a:latin typeface="Times New Roman" pitchFamily="18" charset="0"/>
                <a:cs typeface="Times New Roman" pitchFamily="18" charset="0"/>
              </a:rPr>
              <a:t>displacement</a:t>
            </a:r>
          </a:p>
          <a:p>
            <a:endParaRPr lang="en-US" sz="2000" dirty="0">
              <a:latin typeface="Times New Roman" pitchFamily="18" charset="0"/>
              <a:cs typeface="Times New Roman" pitchFamily="18" charset="0"/>
            </a:endParaRPr>
          </a:p>
          <a:p>
            <a:pPr marL="0" indent="0">
              <a:buNone/>
            </a:pPr>
            <a:r>
              <a:rPr lang="en-US" sz="2000" b="1" dirty="0">
                <a:latin typeface="Times New Roman" pitchFamily="18" charset="0"/>
                <a:cs typeface="Times New Roman" pitchFamily="18" charset="0"/>
              </a:rPr>
              <a:t>b) Robotics</a:t>
            </a:r>
          </a:p>
          <a:p>
            <a:r>
              <a:rPr lang="en-US" sz="2000" dirty="0">
                <a:latin typeface="Times New Roman" pitchFamily="18" charset="0"/>
                <a:cs typeface="Times New Roman" pitchFamily="18" charset="0"/>
              </a:rPr>
              <a:t>Replacement of human labor</a:t>
            </a:r>
          </a:p>
          <a:p>
            <a:r>
              <a:rPr lang="en-US" sz="2000" dirty="0">
                <a:latin typeface="Times New Roman" pitchFamily="18" charset="0"/>
                <a:cs typeface="Times New Roman" pitchFamily="18" charset="0"/>
              </a:rPr>
              <a:t>Safety and responsibility for robot actions</a:t>
            </a:r>
          </a:p>
          <a:p>
            <a:pPr marL="0" indent="0">
              <a:buNone/>
            </a:pPr>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val="40593775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5023" y="817583"/>
            <a:ext cx="6965245" cy="325417"/>
          </a:xfrm>
        </p:spPr>
        <p:txBody>
          <a:bodyPr>
            <a:noAutofit/>
          </a:bodyPr>
          <a:lstStyle/>
          <a:p>
            <a:r>
              <a:rPr lang="en-US" sz="2000" b="1" dirty="0">
                <a:solidFill>
                  <a:srgbClr val="C00000"/>
                </a:solidFill>
                <a:latin typeface="Times New Roman" pitchFamily="18" charset="0"/>
                <a:cs typeface="Times New Roman" pitchFamily="18" charset="0"/>
              </a:rPr>
              <a:t>Artificial Intelligence, Robotics, Sensors, and Motion</a:t>
            </a:r>
          </a:p>
        </p:txBody>
      </p:sp>
      <p:sp>
        <p:nvSpPr>
          <p:cNvPr id="3" name="Content Placeholder 2"/>
          <p:cNvSpPr>
            <a:spLocks noGrp="1"/>
          </p:cNvSpPr>
          <p:nvPr>
            <p:ph idx="1"/>
          </p:nvPr>
        </p:nvSpPr>
        <p:spPr>
          <a:xfrm>
            <a:off x="990600" y="1219200"/>
            <a:ext cx="7315200" cy="4876800"/>
          </a:xfrm>
        </p:spPr>
        <p:txBody>
          <a:bodyPr>
            <a:noAutofit/>
          </a:bodyPr>
          <a:lstStyle/>
          <a:p>
            <a:pPr marL="0" indent="0">
              <a:buNone/>
            </a:pPr>
            <a:r>
              <a:rPr lang="en-US" sz="2000" b="1" dirty="0" smtClean="0">
                <a:latin typeface="Times New Roman" pitchFamily="18" charset="0"/>
                <a:cs typeface="Times New Roman" pitchFamily="18" charset="0"/>
              </a:rPr>
              <a:t>c</a:t>
            </a:r>
            <a:r>
              <a:rPr lang="en-US" sz="2000" b="1" dirty="0">
                <a:latin typeface="Times New Roman" pitchFamily="18" charset="0"/>
                <a:cs typeface="Times New Roman" pitchFamily="18" charset="0"/>
              </a:rPr>
              <a:t>) Sensors &amp; Motion Technologies</a:t>
            </a:r>
          </a:p>
          <a:p>
            <a:r>
              <a:rPr lang="en-US" sz="2000" dirty="0">
                <a:latin typeface="Times New Roman" pitchFamily="18" charset="0"/>
                <a:cs typeface="Times New Roman" pitchFamily="18" charset="0"/>
              </a:rPr>
              <a:t>Surveillance and loss of privacy</a:t>
            </a:r>
          </a:p>
          <a:p>
            <a:r>
              <a:rPr lang="en-US" sz="2000" dirty="0">
                <a:latin typeface="Times New Roman" pitchFamily="18" charset="0"/>
                <a:cs typeface="Times New Roman" pitchFamily="18" charset="0"/>
              </a:rPr>
              <a:t>Tracking individuals without </a:t>
            </a:r>
            <a:r>
              <a:rPr lang="en-US" sz="2000" dirty="0" smtClean="0">
                <a:latin typeface="Times New Roman" pitchFamily="18" charset="0"/>
                <a:cs typeface="Times New Roman" pitchFamily="18" charset="0"/>
              </a:rPr>
              <a:t>consent</a:t>
            </a:r>
          </a:p>
          <a:p>
            <a:pPr marL="0" indent="0">
              <a:buNone/>
            </a:pPr>
            <a:endParaRPr lang="en-US" sz="2000" dirty="0">
              <a:latin typeface="Times New Roman" pitchFamily="18" charset="0"/>
              <a:cs typeface="Times New Roman" pitchFamily="18" charset="0"/>
            </a:endParaRPr>
          </a:p>
          <a:p>
            <a:pPr marL="0" indent="0">
              <a:buNone/>
            </a:pPr>
            <a:r>
              <a:rPr lang="en-US" sz="2000" b="1" dirty="0">
                <a:latin typeface="Times New Roman" pitchFamily="18" charset="0"/>
                <a:cs typeface="Times New Roman" pitchFamily="18" charset="0"/>
              </a:rPr>
              <a:t>Key Ethical Concerns</a:t>
            </a:r>
          </a:p>
          <a:p>
            <a:r>
              <a:rPr lang="en-US" sz="2000" dirty="0">
                <a:latin typeface="Times New Roman" pitchFamily="18" charset="0"/>
                <a:cs typeface="Times New Roman" pitchFamily="18" charset="0"/>
              </a:rPr>
              <a:t>Transparency</a:t>
            </a:r>
          </a:p>
          <a:p>
            <a:r>
              <a:rPr lang="en-US" sz="2000" dirty="0">
                <a:latin typeface="Times New Roman" pitchFamily="18" charset="0"/>
                <a:cs typeface="Times New Roman" pitchFamily="18" charset="0"/>
              </a:rPr>
              <a:t>Privacy protection</a:t>
            </a:r>
          </a:p>
          <a:p>
            <a:r>
              <a:rPr lang="en-US" sz="2000" dirty="0">
                <a:latin typeface="Times New Roman" pitchFamily="18" charset="0"/>
                <a:cs typeface="Times New Roman" pitchFamily="18" charset="0"/>
              </a:rPr>
              <a:t>Human control over machines</a:t>
            </a:r>
          </a:p>
        </p:txBody>
      </p:sp>
    </p:spTree>
    <p:extLst>
      <p:ext uri="{BB962C8B-B14F-4D97-AF65-F5344CB8AC3E}">
        <p14:creationId xmlns:p14="http://schemas.microsoft.com/office/powerpoint/2010/main" val="21294905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761999"/>
            <a:ext cx="7306038" cy="53658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666071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5023" y="817583"/>
            <a:ext cx="6965245" cy="858818"/>
          </a:xfrm>
        </p:spPr>
        <p:txBody>
          <a:bodyPr>
            <a:noAutofit/>
          </a:bodyPr>
          <a:lstStyle/>
          <a:p>
            <a:r>
              <a:rPr lang="en-US" sz="3200" b="1" dirty="0">
                <a:solidFill>
                  <a:srgbClr val="C00000"/>
                </a:solidFill>
                <a:latin typeface="Times New Roman" pitchFamily="18" charset="0"/>
                <a:cs typeface="Times New Roman" pitchFamily="18" charset="0"/>
              </a:rPr>
              <a:t>Business </a:t>
            </a:r>
            <a:r>
              <a:rPr lang="en-US" sz="3200" b="1" dirty="0" smtClean="0">
                <a:solidFill>
                  <a:srgbClr val="C00000"/>
                </a:solidFill>
                <a:latin typeface="Times New Roman" pitchFamily="18" charset="0"/>
                <a:cs typeface="Times New Roman" pitchFamily="18" charset="0"/>
              </a:rPr>
              <a:t>Ethics</a:t>
            </a:r>
            <a:endParaRPr lang="en-US" sz="3200" dirty="0">
              <a:solidFill>
                <a:srgbClr val="C00000"/>
              </a:solidFill>
              <a:latin typeface="Times New Roman" pitchFamily="18" charset="0"/>
              <a:cs typeface="Times New Roman" pitchFamily="18" charset="0"/>
            </a:endParaRPr>
          </a:p>
        </p:txBody>
      </p:sp>
      <p:sp>
        <p:nvSpPr>
          <p:cNvPr id="3" name="Content Placeholder 2"/>
          <p:cNvSpPr>
            <a:spLocks noGrp="1"/>
          </p:cNvSpPr>
          <p:nvPr>
            <p:ph idx="1"/>
          </p:nvPr>
        </p:nvSpPr>
        <p:spPr>
          <a:xfrm>
            <a:off x="990600" y="1828800"/>
            <a:ext cx="7315200" cy="4267200"/>
          </a:xfrm>
        </p:spPr>
        <p:txBody>
          <a:bodyPr>
            <a:noAutofit/>
          </a:bodyPr>
          <a:lstStyle/>
          <a:p>
            <a:pPr lvl="0" algn="just"/>
            <a:r>
              <a:rPr lang="en-US" sz="2200" dirty="0">
                <a:latin typeface="Times New Roman" pitchFamily="18" charset="0"/>
                <a:cs typeface="Times New Roman" pitchFamily="18" charset="0"/>
              </a:rPr>
              <a:t>Business ethics are the moral principles and standards that guide behavior in the business world, encompassing values like honesty, integrity, fairness, and </a:t>
            </a:r>
            <a:r>
              <a:rPr lang="en-US" sz="2200" dirty="0" smtClean="0">
                <a:latin typeface="Times New Roman" pitchFamily="18" charset="0"/>
                <a:cs typeface="Times New Roman" pitchFamily="18" charset="0"/>
              </a:rPr>
              <a:t>accountability </a:t>
            </a:r>
            <a:r>
              <a:rPr lang="en-US" sz="2200" dirty="0">
                <a:latin typeface="Times New Roman" pitchFamily="18" charset="0"/>
                <a:cs typeface="Times New Roman" pitchFamily="18" charset="0"/>
              </a:rPr>
              <a:t>in all aspects of business </a:t>
            </a:r>
            <a:r>
              <a:rPr lang="en-US" sz="2200" dirty="0" smtClean="0">
                <a:latin typeface="Times New Roman" pitchFamily="18" charset="0"/>
                <a:cs typeface="Times New Roman" pitchFamily="18" charset="0"/>
              </a:rPr>
              <a:t>operations.</a:t>
            </a:r>
          </a:p>
          <a:p>
            <a:pPr lvl="0" algn="just"/>
            <a:endParaRPr lang="en-US" sz="2200" b="1" dirty="0">
              <a:solidFill>
                <a:srgbClr val="C00000"/>
              </a:solidFill>
              <a:latin typeface="Times New Roman" pitchFamily="18" charset="0"/>
              <a:cs typeface="Times New Roman" pitchFamily="18" charset="0"/>
            </a:endParaRPr>
          </a:p>
          <a:p>
            <a:pPr lvl="0" algn="just"/>
            <a:r>
              <a:rPr lang="en-US" sz="2200" dirty="0">
                <a:latin typeface="Times New Roman" pitchFamily="18" charset="0"/>
                <a:cs typeface="Times New Roman" pitchFamily="18" charset="0"/>
              </a:rPr>
              <a:t>Business ethics are the moral principles and standards that guide behavior in the business world, going beyond legal requirements to establish a code of conduct that drives employee behavior and builds trust. </a:t>
            </a:r>
            <a:endParaRPr lang="en-US" sz="2200" b="1" dirty="0">
              <a:solidFill>
                <a:srgbClr val="C00000"/>
              </a:solidFill>
              <a:latin typeface="Times New Roman" pitchFamily="18" charset="0"/>
              <a:cs typeface="Times New Roman" pitchFamily="18" charset="0"/>
            </a:endParaRPr>
          </a:p>
        </p:txBody>
      </p:sp>
    </p:spTree>
    <p:extLst>
      <p:ext uri="{BB962C8B-B14F-4D97-AF65-F5344CB8AC3E}">
        <p14:creationId xmlns:p14="http://schemas.microsoft.com/office/powerpoint/2010/main" val="33168669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5023" y="817583"/>
            <a:ext cx="6965245" cy="858818"/>
          </a:xfrm>
        </p:spPr>
        <p:txBody>
          <a:bodyPr>
            <a:noAutofit/>
          </a:bodyPr>
          <a:lstStyle/>
          <a:p>
            <a:r>
              <a:rPr lang="en-US" sz="3200" b="1" dirty="0">
                <a:solidFill>
                  <a:srgbClr val="C00000"/>
                </a:solidFill>
                <a:latin typeface="Times New Roman" pitchFamily="18" charset="0"/>
                <a:cs typeface="Times New Roman" pitchFamily="18" charset="0"/>
              </a:rPr>
              <a:t>Business </a:t>
            </a:r>
            <a:r>
              <a:rPr lang="en-US" sz="3200" b="1" dirty="0" smtClean="0">
                <a:solidFill>
                  <a:srgbClr val="C00000"/>
                </a:solidFill>
                <a:latin typeface="Times New Roman" pitchFamily="18" charset="0"/>
                <a:cs typeface="Times New Roman" pitchFamily="18" charset="0"/>
              </a:rPr>
              <a:t>Ethics</a:t>
            </a:r>
            <a:endParaRPr lang="en-US" sz="3200" dirty="0">
              <a:solidFill>
                <a:srgbClr val="C00000"/>
              </a:solidFill>
              <a:latin typeface="Times New Roman" pitchFamily="18" charset="0"/>
              <a:cs typeface="Times New Roman" pitchFamily="18" charset="0"/>
            </a:endParaRPr>
          </a:p>
        </p:txBody>
      </p:sp>
      <p:sp>
        <p:nvSpPr>
          <p:cNvPr id="3" name="Content Placeholder 2"/>
          <p:cNvSpPr>
            <a:spLocks noGrp="1"/>
          </p:cNvSpPr>
          <p:nvPr>
            <p:ph idx="1"/>
          </p:nvPr>
        </p:nvSpPr>
        <p:spPr>
          <a:xfrm>
            <a:off x="990600" y="1828800"/>
            <a:ext cx="7315200" cy="4267200"/>
          </a:xfrm>
        </p:spPr>
        <p:txBody>
          <a:bodyPr>
            <a:noAutofit/>
          </a:bodyPr>
          <a:lstStyle/>
          <a:p>
            <a:pPr lvl="0" algn="just"/>
            <a:r>
              <a:rPr lang="en-US" sz="2000" b="1" dirty="0">
                <a:latin typeface="Times New Roman" pitchFamily="18" charset="0"/>
                <a:cs typeface="Times New Roman" pitchFamily="18" charset="0"/>
              </a:rPr>
              <a:t>B</a:t>
            </a:r>
            <a:r>
              <a:rPr lang="en-US" sz="2000" b="1" dirty="0" smtClean="0">
                <a:latin typeface="Times New Roman" pitchFamily="18" charset="0"/>
                <a:cs typeface="Times New Roman" pitchFamily="18" charset="0"/>
              </a:rPr>
              <a:t>usiness </a:t>
            </a:r>
            <a:r>
              <a:rPr lang="en-US" sz="2000" b="1" dirty="0">
                <a:latin typeface="Times New Roman" pitchFamily="18" charset="0"/>
                <a:cs typeface="Times New Roman" pitchFamily="18" charset="0"/>
              </a:rPr>
              <a:t>ethics </a:t>
            </a:r>
            <a:r>
              <a:rPr lang="en-US" sz="2000" dirty="0">
                <a:latin typeface="Times New Roman" pitchFamily="18" charset="0"/>
                <a:cs typeface="Times New Roman" pitchFamily="18" charset="0"/>
              </a:rPr>
              <a:t>as </a:t>
            </a:r>
            <a:r>
              <a:rPr lang="en-US" sz="2000" b="1" dirty="0">
                <a:solidFill>
                  <a:srgbClr val="C00000"/>
                </a:solidFill>
                <a:latin typeface="Times New Roman" pitchFamily="18" charset="0"/>
                <a:cs typeface="Times New Roman" pitchFamily="18" charset="0"/>
              </a:rPr>
              <a:t>“the rules, principles, and standards of deciding what is morally right or wrong when working.” </a:t>
            </a:r>
            <a:r>
              <a:rPr lang="en-US" sz="2000" dirty="0">
                <a:latin typeface="Times New Roman" pitchFamily="18" charset="0"/>
                <a:cs typeface="Times New Roman" pitchFamily="18" charset="0"/>
              </a:rPr>
              <a:t>So, business ethics refers to the implementation of appropriate business practices and policies in the workplace</a:t>
            </a:r>
            <a:r>
              <a:rPr lang="en-US" sz="2000" dirty="0" smtClean="0">
                <a:latin typeface="Times New Roman" pitchFamily="18" charset="0"/>
                <a:cs typeface="Times New Roman" pitchFamily="18" charset="0"/>
              </a:rPr>
              <a:t>.</a:t>
            </a:r>
          </a:p>
          <a:p>
            <a:pPr lvl="0" algn="just"/>
            <a:r>
              <a:rPr lang="en-US" sz="2000" dirty="0">
                <a:latin typeface="Times New Roman" pitchFamily="18" charset="0"/>
                <a:cs typeface="Times New Roman" pitchFamily="18" charset="0"/>
              </a:rPr>
              <a:t>There are seven principles of business ethics </a:t>
            </a:r>
            <a:r>
              <a:rPr lang="en-US" sz="2000" dirty="0" smtClean="0">
                <a:latin typeface="Times New Roman" pitchFamily="18" charset="0"/>
                <a:cs typeface="Times New Roman" pitchFamily="18" charset="0"/>
              </a:rPr>
              <a:t>including</a:t>
            </a:r>
          </a:p>
          <a:p>
            <a:pPr lvl="1" algn="just"/>
            <a:r>
              <a:rPr lang="en-US" sz="1800" dirty="0" smtClean="0">
                <a:solidFill>
                  <a:schemeClr val="tx1">
                    <a:lumMod val="95000"/>
                    <a:lumOff val="5000"/>
                  </a:schemeClr>
                </a:solidFill>
                <a:latin typeface="Times New Roman" pitchFamily="18" charset="0"/>
                <a:cs typeface="Times New Roman" pitchFamily="18" charset="0"/>
              </a:rPr>
              <a:t> </a:t>
            </a:r>
            <a:r>
              <a:rPr lang="en-US" sz="1800" b="1" dirty="0" smtClean="0">
                <a:solidFill>
                  <a:schemeClr val="tx1">
                    <a:lumMod val="95000"/>
                    <a:lumOff val="5000"/>
                  </a:schemeClr>
                </a:solidFill>
                <a:latin typeface="Times New Roman" pitchFamily="18" charset="0"/>
                <a:cs typeface="Times New Roman" pitchFamily="18" charset="0"/>
              </a:rPr>
              <a:t>Accountability, </a:t>
            </a:r>
          </a:p>
          <a:p>
            <a:pPr lvl="1" algn="just"/>
            <a:r>
              <a:rPr lang="en-US" sz="1800" b="1" dirty="0" smtClean="0">
                <a:solidFill>
                  <a:schemeClr val="tx1">
                    <a:lumMod val="95000"/>
                    <a:lumOff val="5000"/>
                  </a:schemeClr>
                </a:solidFill>
                <a:latin typeface="Times New Roman" pitchFamily="18" charset="0"/>
                <a:cs typeface="Times New Roman" pitchFamily="18" charset="0"/>
              </a:rPr>
              <a:t>Care and respect, </a:t>
            </a:r>
          </a:p>
          <a:p>
            <a:pPr lvl="1" algn="just"/>
            <a:r>
              <a:rPr lang="en-US" sz="1800" b="1" dirty="0" smtClean="0">
                <a:solidFill>
                  <a:schemeClr val="tx1">
                    <a:lumMod val="95000"/>
                    <a:lumOff val="5000"/>
                  </a:schemeClr>
                </a:solidFill>
                <a:latin typeface="Times New Roman" pitchFamily="18" charset="0"/>
                <a:cs typeface="Times New Roman" pitchFamily="18" charset="0"/>
              </a:rPr>
              <a:t>Honesty, </a:t>
            </a:r>
          </a:p>
          <a:p>
            <a:pPr lvl="1" algn="just"/>
            <a:r>
              <a:rPr lang="en-US" sz="1800" b="1" dirty="0" smtClean="0">
                <a:solidFill>
                  <a:schemeClr val="tx1">
                    <a:lumMod val="95000"/>
                    <a:lumOff val="5000"/>
                  </a:schemeClr>
                </a:solidFill>
                <a:latin typeface="Times New Roman" pitchFamily="18" charset="0"/>
                <a:cs typeface="Times New Roman" pitchFamily="18" charset="0"/>
              </a:rPr>
              <a:t>Healthy competition, </a:t>
            </a:r>
          </a:p>
          <a:p>
            <a:pPr lvl="1" algn="just"/>
            <a:r>
              <a:rPr lang="en-US" sz="1800" b="1" dirty="0" smtClean="0">
                <a:solidFill>
                  <a:schemeClr val="tx1">
                    <a:lumMod val="95000"/>
                    <a:lumOff val="5000"/>
                  </a:schemeClr>
                </a:solidFill>
                <a:latin typeface="Times New Roman" pitchFamily="18" charset="0"/>
                <a:cs typeface="Times New Roman" pitchFamily="18" charset="0"/>
              </a:rPr>
              <a:t>Loyalty, </a:t>
            </a:r>
          </a:p>
          <a:p>
            <a:pPr lvl="1" algn="just"/>
            <a:r>
              <a:rPr lang="en-US" sz="1800" b="1" dirty="0" smtClean="0">
                <a:solidFill>
                  <a:schemeClr val="tx1">
                    <a:lumMod val="95000"/>
                    <a:lumOff val="5000"/>
                  </a:schemeClr>
                </a:solidFill>
                <a:latin typeface="Times New Roman" pitchFamily="18" charset="0"/>
                <a:cs typeface="Times New Roman" pitchFamily="18" charset="0"/>
              </a:rPr>
              <a:t>Transparency, </a:t>
            </a:r>
          </a:p>
          <a:p>
            <a:pPr lvl="1" algn="just"/>
            <a:r>
              <a:rPr lang="en-US" sz="1800" b="1" dirty="0" smtClean="0">
                <a:solidFill>
                  <a:schemeClr val="tx1">
                    <a:lumMod val="95000"/>
                    <a:lumOff val="5000"/>
                  </a:schemeClr>
                </a:solidFill>
                <a:latin typeface="Times New Roman" pitchFamily="18" charset="0"/>
                <a:cs typeface="Times New Roman" pitchFamily="18" charset="0"/>
              </a:rPr>
              <a:t>Respect for the rule of law.</a:t>
            </a:r>
            <a:endParaRPr lang="en-US" sz="1800" b="1" dirty="0">
              <a:solidFill>
                <a:schemeClr val="tx1">
                  <a:lumMod val="95000"/>
                  <a:lumOff val="5000"/>
                </a:schemeClr>
              </a:solidFill>
              <a:latin typeface="Times New Roman" pitchFamily="18" charset="0"/>
              <a:cs typeface="Times New Roman" pitchFamily="18" charset="0"/>
            </a:endParaRPr>
          </a:p>
        </p:txBody>
      </p:sp>
    </p:spTree>
    <p:extLst>
      <p:ext uri="{BB962C8B-B14F-4D97-AF65-F5344CB8AC3E}">
        <p14:creationId xmlns:p14="http://schemas.microsoft.com/office/powerpoint/2010/main" val="321014221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5023" y="817583"/>
            <a:ext cx="6965245" cy="858818"/>
          </a:xfrm>
        </p:spPr>
        <p:txBody>
          <a:bodyPr>
            <a:noAutofit/>
          </a:bodyPr>
          <a:lstStyle/>
          <a:p>
            <a:r>
              <a:rPr lang="en-US" sz="3200" b="1" dirty="0">
                <a:solidFill>
                  <a:srgbClr val="C00000"/>
                </a:solidFill>
              </a:rPr>
              <a:t>What is the purpose of the ethics?</a:t>
            </a:r>
          </a:p>
        </p:txBody>
      </p:sp>
      <p:sp>
        <p:nvSpPr>
          <p:cNvPr id="3" name="Content Placeholder 2"/>
          <p:cNvSpPr>
            <a:spLocks noGrp="1"/>
          </p:cNvSpPr>
          <p:nvPr>
            <p:ph idx="1"/>
          </p:nvPr>
        </p:nvSpPr>
        <p:spPr>
          <a:xfrm>
            <a:off x="990600" y="1828800"/>
            <a:ext cx="7315200" cy="4267200"/>
          </a:xfrm>
        </p:spPr>
        <p:txBody>
          <a:bodyPr>
            <a:noAutofit/>
          </a:bodyPr>
          <a:lstStyle/>
          <a:p>
            <a:pPr algn="just"/>
            <a:r>
              <a:rPr lang="en-US" sz="2200" dirty="0" smtClean="0">
                <a:latin typeface="Times New Roman" pitchFamily="18" charset="0"/>
                <a:cs typeface="Times New Roman" pitchFamily="18" charset="0"/>
              </a:rPr>
              <a:t>Ethics </a:t>
            </a:r>
            <a:r>
              <a:rPr lang="en-US" sz="2200" dirty="0">
                <a:latin typeface="Times New Roman" pitchFamily="18" charset="0"/>
                <a:cs typeface="Times New Roman" pitchFamily="18" charset="0"/>
              </a:rPr>
              <a:t>is what guides us to tell the truth, keep our promises, or help someone in need. </a:t>
            </a:r>
            <a:endParaRPr lang="en-US" sz="2200" dirty="0" smtClean="0">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There </a:t>
            </a:r>
            <a:r>
              <a:rPr lang="en-US" sz="2200" dirty="0">
                <a:latin typeface="Times New Roman" pitchFamily="18" charset="0"/>
                <a:cs typeface="Times New Roman" pitchFamily="18" charset="0"/>
              </a:rPr>
              <a:t>is a framework of ethics underlying our lives on a daily basis, helping us make decisions that create positive impacts and steering us away from unjust outcomes.</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38600" y="3688795"/>
            <a:ext cx="3297072" cy="25033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1355576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5023" y="533400"/>
            <a:ext cx="6965245" cy="858818"/>
          </a:xfrm>
        </p:spPr>
        <p:txBody>
          <a:bodyPr>
            <a:noAutofit/>
          </a:bodyPr>
          <a:lstStyle/>
          <a:p>
            <a:r>
              <a:rPr lang="en-US" sz="2400" b="1" dirty="0" smtClean="0">
                <a:solidFill>
                  <a:srgbClr val="C00000"/>
                </a:solidFill>
                <a:latin typeface="Times New Roman" pitchFamily="18" charset="0"/>
                <a:cs typeface="Times New Roman" pitchFamily="18" charset="0"/>
              </a:rPr>
              <a:t>Difference between ethics, morality and laws</a:t>
            </a:r>
            <a:endParaRPr lang="en-US" sz="2400" b="1" dirty="0">
              <a:solidFill>
                <a:srgbClr val="C00000"/>
              </a:solidFill>
              <a:latin typeface="Times New Roman" pitchFamily="18" charset="0"/>
              <a:cs typeface="Times New Roman" pitchFamily="18" charset="0"/>
            </a:endParaRPr>
          </a:p>
        </p:txBody>
      </p:sp>
      <p:sp>
        <p:nvSpPr>
          <p:cNvPr id="3" name="Content Placeholder 2"/>
          <p:cNvSpPr>
            <a:spLocks noGrp="1"/>
          </p:cNvSpPr>
          <p:nvPr>
            <p:ph idx="1"/>
          </p:nvPr>
        </p:nvSpPr>
        <p:spPr>
          <a:xfrm>
            <a:off x="990600" y="1371600"/>
            <a:ext cx="7315200" cy="4724400"/>
          </a:xfrm>
        </p:spPr>
        <p:txBody>
          <a:bodyPr>
            <a:noAutofit/>
          </a:bodyPr>
          <a:lstStyle/>
          <a:p>
            <a:pPr marL="0" indent="0" algn="just">
              <a:buNone/>
            </a:pPr>
            <a:r>
              <a:rPr lang="en-US" sz="2000" b="1" dirty="0" smtClean="0">
                <a:solidFill>
                  <a:srgbClr val="0070C0"/>
                </a:solidFill>
                <a:latin typeface="Times New Roman" pitchFamily="18" charset="0"/>
                <a:cs typeface="Times New Roman" pitchFamily="18" charset="0"/>
              </a:rPr>
              <a:t>Ethics Definition</a:t>
            </a:r>
            <a:r>
              <a:rPr lang="en-US" sz="2000" b="1" dirty="0">
                <a:solidFill>
                  <a:srgbClr val="0070C0"/>
                </a:solidFill>
                <a:latin typeface="Times New Roman" pitchFamily="18" charset="0"/>
                <a:cs typeface="Times New Roman" pitchFamily="18" charset="0"/>
              </a:rPr>
              <a:t>:</a:t>
            </a:r>
          </a:p>
          <a:p>
            <a:pPr algn="just" fontAlgn="ctr"/>
            <a:r>
              <a:rPr lang="en-US" sz="2000" dirty="0">
                <a:latin typeface="Times New Roman" pitchFamily="18" charset="0"/>
                <a:cs typeface="Times New Roman" pitchFamily="18" charset="0"/>
              </a:rPr>
              <a:t>Ethics, as a philosophical discipline, is the study of moral principles and the reasoning behind them. </a:t>
            </a:r>
          </a:p>
          <a:p>
            <a:pPr marL="0" indent="0" algn="just">
              <a:buNone/>
            </a:pPr>
            <a:r>
              <a:rPr lang="en-US" sz="2000" b="1" dirty="0">
                <a:latin typeface="Times New Roman" pitchFamily="18" charset="0"/>
                <a:cs typeface="Times New Roman" pitchFamily="18" charset="0"/>
              </a:rPr>
              <a:t>Basis:</a:t>
            </a:r>
            <a:endParaRPr lang="en-US" sz="2000" dirty="0">
              <a:latin typeface="Times New Roman" pitchFamily="18" charset="0"/>
              <a:cs typeface="Times New Roman" pitchFamily="18" charset="0"/>
            </a:endParaRPr>
          </a:p>
          <a:p>
            <a:pPr algn="just" fontAlgn="ctr"/>
            <a:r>
              <a:rPr lang="en-US" sz="2000" dirty="0">
                <a:latin typeface="Times New Roman" pitchFamily="18" charset="0"/>
                <a:cs typeface="Times New Roman" pitchFamily="18" charset="0"/>
              </a:rPr>
              <a:t>Ethics often involves a more systematic and rational examination of moral issues and values. </a:t>
            </a:r>
          </a:p>
          <a:p>
            <a:pPr marL="0" indent="0" algn="just">
              <a:buNone/>
            </a:pPr>
            <a:r>
              <a:rPr lang="en-US" sz="2000" b="1" dirty="0">
                <a:latin typeface="Times New Roman" pitchFamily="18" charset="0"/>
                <a:cs typeface="Times New Roman" pitchFamily="18" charset="0"/>
              </a:rPr>
              <a:t>Enforcement:</a:t>
            </a:r>
            <a:endParaRPr lang="en-US" sz="2000" dirty="0">
              <a:latin typeface="Times New Roman" pitchFamily="18" charset="0"/>
              <a:cs typeface="Times New Roman" pitchFamily="18" charset="0"/>
            </a:endParaRPr>
          </a:p>
          <a:p>
            <a:pPr algn="just" fontAlgn="ctr"/>
            <a:r>
              <a:rPr lang="en-US" sz="2000" dirty="0">
                <a:latin typeface="Times New Roman" pitchFamily="18" charset="0"/>
                <a:cs typeface="Times New Roman" pitchFamily="18" charset="0"/>
              </a:rPr>
              <a:t>Ethical principles are often implemented through codes of conduct within professions or organizations, and while they may not always be legally binding, they can have significant professional and social consequences. </a:t>
            </a:r>
          </a:p>
          <a:p>
            <a:pPr marL="0" indent="0" algn="just">
              <a:buNone/>
            </a:pPr>
            <a:r>
              <a:rPr lang="en-US" sz="2000" b="1" dirty="0">
                <a:latin typeface="Times New Roman" pitchFamily="18" charset="0"/>
                <a:cs typeface="Times New Roman" pitchFamily="18" charset="0"/>
              </a:rPr>
              <a:t>Example:</a:t>
            </a:r>
            <a:endParaRPr lang="en-US" sz="2000" dirty="0">
              <a:latin typeface="Times New Roman" pitchFamily="18" charset="0"/>
              <a:cs typeface="Times New Roman" pitchFamily="18" charset="0"/>
            </a:endParaRPr>
          </a:p>
          <a:p>
            <a:pPr algn="just"/>
            <a:r>
              <a:rPr lang="en-US" sz="2000" dirty="0">
                <a:latin typeface="Times New Roman" pitchFamily="18" charset="0"/>
                <a:cs typeface="Times New Roman" pitchFamily="18" charset="0"/>
              </a:rPr>
              <a:t>A professional code of ethics might state that a doctor has a duty to "do no harm," which is a principle guiding their conduct. </a:t>
            </a:r>
          </a:p>
        </p:txBody>
      </p:sp>
    </p:spTree>
    <p:extLst>
      <p:ext uri="{BB962C8B-B14F-4D97-AF65-F5344CB8AC3E}">
        <p14:creationId xmlns:p14="http://schemas.microsoft.com/office/powerpoint/2010/main" val="292909235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5023" y="533400"/>
            <a:ext cx="6965245" cy="858818"/>
          </a:xfrm>
        </p:spPr>
        <p:txBody>
          <a:bodyPr>
            <a:noAutofit/>
          </a:bodyPr>
          <a:lstStyle/>
          <a:p>
            <a:r>
              <a:rPr lang="en-US" sz="2400" b="1" dirty="0" smtClean="0">
                <a:solidFill>
                  <a:srgbClr val="C00000"/>
                </a:solidFill>
                <a:latin typeface="Times New Roman" pitchFamily="18" charset="0"/>
                <a:cs typeface="Times New Roman" pitchFamily="18" charset="0"/>
              </a:rPr>
              <a:t>Difference between ethics, morality and laws</a:t>
            </a:r>
            <a:endParaRPr lang="en-US" sz="2400" b="1" dirty="0">
              <a:solidFill>
                <a:srgbClr val="C00000"/>
              </a:solidFill>
              <a:latin typeface="Times New Roman" pitchFamily="18" charset="0"/>
              <a:cs typeface="Times New Roman" pitchFamily="18" charset="0"/>
            </a:endParaRPr>
          </a:p>
        </p:txBody>
      </p:sp>
      <p:sp>
        <p:nvSpPr>
          <p:cNvPr id="3" name="Content Placeholder 2"/>
          <p:cNvSpPr>
            <a:spLocks noGrp="1"/>
          </p:cNvSpPr>
          <p:nvPr>
            <p:ph idx="1"/>
          </p:nvPr>
        </p:nvSpPr>
        <p:spPr>
          <a:xfrm>
            <a:off x="990600" y="1371600"/>
            <a:ext cx="7315200" cy="4724400"/>
          </a:xfrm>
        </p:spPr>
        <p:txBody>
          <a:bodyPr>
            <a:noAutofit/>
          </a:bodyPr>
          <a:lstStyle/>
          <a:p>
            <a:pPr marL="0" indent="0" algn="just">
              <a:buNone/>
            </a:pPr>
            <a:r>
              <a:rPr lang="en-US" sz="2000" b="1" dirty="0" smtClean="0">
                <a:solidFill>
                  <a:srgbClr val="0070C0"/>
                </a:solidFill>
                <a:latin typeface="Times New Roman" pitchFamily="18" charset="0"/>
                <a:cs typeface="Times New Roman" pitchFamily="18" charset="0"/>
              </a:rPr>
              <a:t>Morality Definition</a:t>
            </a:r>
            <a:r>
              <a:rPr lang="en-US" sz="2000" b="1" dirty="0">
                <a:solidFill>
                  <a:srgbClr val="0070C0"/>
                </a:solidFill>
                <a:latin typeface="Times New Roman" pitchFamily="18" charset="0"/>
                <a:cs typeface="Times New Roman" pitchFamily="18" charset="0"/>
              </a:rPr>
              <a:t>:</a:t>
            </a:r>
          </a:p>
          <a:p>
            <a:pPr algn="just"/>
            <a:r>
              <a:rPr lang="en-US" sz="2000" dirty="0">
                <a:latin typeface="Times New Roman" pitchFamily="18" charset="0"/>
                <a:cs typeface="Times New Roman" pitchFamily="18" charset="0"/>
              </a:rPr>
              <a:t>Morality encompasses a set of personal or societal standards that guide behavior, defining what is considered right or wrong, good or bad.</a:t>
            </a:r>
          </a:p>
          <a:p>
            <a:pPr marL="0" indent="0" algn="just">
              <a:buNone/>
            </a:pPr>
            <a:r>
              <a:rPr lang="en-US" sz="2000" b="1" dirty="0">
                <a:latin typeface="Times New Roman" pitchFamily="18" charset="0"/>
                <a:cs typeface="Times New Roman" pitchFamily="18" charset="0"/>
              </a:rPr>
              <a:t>Basis:</a:t>
            </a:r>
            <a:endParaRPr lang="en-US" sz="2000" dirty="0">
              <a:latin typeface="Times New Roman" pitchFamily="18" charset="0"/>
              <a:cs typeface="Times New Roman" pitchFamily="18" charset="0"/>
            </a:endParaRPr>
          </a:p>
          <a:p>
            <a:pPr algn="just"/>
            <a:r>
              <a:rPr lang="en-US" sz="2000" dirty="0">
                <a:latin typeface="Times New Roman" pitchFamily="18" charset="0"/>
                <a:cs typeface="Times New Roman" pitchFamily="18" charset="0"/>
              </a:rPr>
              <a:t>Morality is often rooted in cultural norms, religious beliefs, and individual values.</a:t>
            </a:r>
          </a:p>
          <a:p>
            <a:pPr marL="0" indent="0" algn="just">
              <a:buNone/>
            </a:pPr>
            <a:r>
              <a:rPr lang="en-US" sz="2000" b="1" dirty="0">
                <a:latin typeface="Times New Roman" pitchFamily="18" charset="0"/>
                <a:cs typeface="Times New Roman" pitchFamily="18" charset="0"/>
              </a:rPr>
              <a:t>Enforcement:</a:t>
            </a:r>
            <a:endParaRPr lang="en-US" sz="2000" dirty="0">
              <a:latin typeface="Times New Roman" pitchFamily="18" charset="0"/>
              <a:cs typeface="Times New Roman" pitchFamily="18" charset="0"/>
            </a:endParaRPr>
          </a:p>
          <a:p>
            <a:pPr algn="just"/>
            <a:r>
              <a:rPr lang="en-US" sz="2000" dirty="0">
                <a:latin typeface="Times New Roman" pitchFamily="18" charset="0"/>
                <a:cs typeface="Times New Roman" pitchFamily="18" charset="0"/>
              </a:rPr>
              <a:t>Morality is typically enforced through social pressure, peer opinion, and personal conscience, rather than formal legal mechanisms.</a:t>
            </a:r>
          </a:p>
          <a:p>
            <a:pPr marL="0" indent="0" algn="just">
              <a:buNone/>
            </a:pPr>
            <a:r>
              <a:rPr lang="en-US" sz="2000" b="1" dirty="0">
                <a:latin typeface="Times New Roman" pitchFamily="18" charset="0"/>
                <a:cs typeface="Times New Roman" pitchFamily="18" charset="0"/>
              </a:rPr>
              <a:t>Example:</a:t>
            </a:r>
            <a:endParaRPr lang="en-US" sz="2000" dirty="0">
              <a:latin typeface="Times New Roman" pitchFamily="18" charset="0"/>
              <a:cs typeface="Times New Roman" pitchFamily="18" charset="0"/>
            </a:endParaRPr>
          </a:p>
          <a:p>
            <a:pPr algn="just"/>
            <a:r>
              <a:rPr lang="en-US" sz="2000" dirty="0">
                <a:latin typeface="Times New Roman" pitchFamily="18" charset="0"/>
                <a:cs typeface="Times New Roman" pitchFamily="18" charset="0"/>
              </a:rPr>
              <a:t>A moral principle might be "honesty is always the best policy," which is a widely held belief about right and wrong. </a:t>
            </a:r>
          </a:p>
        </p:txBody>
      </p:sp>
    </p:spTree>
    <p:extLst>
      <p:ext uri="{BB962C8B-B14F-4D97-AF65-F5344CB8AC3E}">
        <p14:creationId xmlns:p14="http://schemas.microsoft.com/office/powerpoint/2010/main" val="45964200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5023" y="533400"/>
            <a:ext cx="6965245" cy="858818"/>
          </a:xfrm>
        </p:spPr>
        <p:txBody>
          <a:bodyPr>
            <a:noAutofit/>
          </a:bodyPr>
          <a:lstStyle/>
          <a:p>
            <a:r>
              <a:rPr lang="en-US" sz="2400" b="1" dirty="0" smtClean="0">
                <a:solidFill>
                  <a:srgbClr val="C00000"/>
                </a:solidFill>
                <a:latin typeface="Times New Roman" pitchFamily="18" charset="0"/>
                <a:cs typeface="Times New Roman" pitchFamily="18" charset="0"/>
              </a:rPr>
              <a:t>Difference between ethics, morality and laws</a:t>
            </a:r>
            <a:endParaRPr lang="en-US" sz="2400" b="1" dirty="0">
              <a:solidFill>
                <a:srgbClr val="C00000"/>
              </a:solidFill>
              <a:latin typeface="Times New Roman" pitchFamily="18" charset="0"/>
              <a:cs typeface="Times New Roman" pitchFamily="18" charset="0"/>
            </a:endParaRPr>
          </a:p>
        </p:txBody>
      </p:sp>
      <p:sp>
        <p:nvSpPr>
          <p:cNvPr id="3" name="Content Placeholder 2"/>
          <p:cNvSpPr>
            <a:spLocks noGrp="1"/>
          </p:cNvSpPr>
          <p:nvPr>
            <p:ph idx="1"/>
          </p:nvPr>
        </p:nvSpPr>
        <p:spPr>
          <a:xfrm>
            <a:off x="990600" y="1371600"/>
            <a:ext cx="7315200" cy="4724400"/>
          </a:xfrm>
        </p:spPr>
        <p:txBody>
          <a:bodyPr>
            <a:noAutofit/>
          </a:bodyPr>
          <a:lstStyle/>
          <a:p>
            <a:pPr marL="0" indent="0" algn="just">
              <a:buNone/>
            </a:pPr>
            <a:r>
              <a:rPr lang="en-US" sz="2000" b="1" dirty="0" smtClean="0">
                <a:solidFill>
                  <a:srgbClr val="0070C0"/>
                </a:solidFill>
                <a:latin typeface="Times New Roman" pitchFamily="18" charset="0"/>
                <a:cs typeface="Times New Roman" pitchFamily="18" charset="0"/>
              </a:rPr>
              <a:t>Law Definition</a:t>
            </a:r>
            <a:r>
              <a:rPr lang="en-US" sz="2000" b="1" dirty="0">
                <a:solidFill>
                  <a:srgbClr val="0070C0"/>
                </a:solidFill>
                <a:latin typeface="Times New Roman" pitchFamily="18" charset="0"/>
                <a:cs typeface="Times New Roman" pitchFamily="18" charset="0"/>
              </a:rPr>
              <a:t>:</a:t>
            </a:r>
          </a:p>
          <a:p>
            <a:pPr algn="just"/>
            <a:r>
              <a:rPr lang="en-US" sz="2000" dirty="0">
                <a:latin typeface="Times New Roman" pitchFamily="18" charset="0"/>
                <a:cs typeface="Times New Roman" pitchFamily="18" charset="0"/>
              </a:rPr>
              <a:t>Law is a system of rules and regulations established by a governing authority to maintain order and regulate behavior within a society.</a:t>
            </a:r>
          </a:p>
          <a:p>
            <a:pPr marL="0" indent="0" algn="just">
              <a:buNone/>
            </a:pPr>
            <a:r>
              <a:rPr lang="en-US" sz="2000" b="1" dirty="0">
                <a:latin typeface="Times New Roman" pitchFamily="18" charset="0"/>
                <a:cs typeface="Times New Roman" pitchFamily="18" charset="0"/>
              </a:rPr>
              <a:t>Basis:</a:t>
            </a:r>
            <a:endParaRPr lang="en-US" sz="2000" dirty="0">
              <a:latin typeface="Times New Roman" pitchFamily="18" charset="0"/>
              <a:cs typeface="Times New Roman" pitchFamily="18" charset="0"/>
            </a:endParaRPr>
          </a:p>
          <a:p>
            <a:pPr algn="just"/>
            <a:r>
              <a:rPr lang="en-US" sz="2000" dirty="0">
                <a:latin typeface="Times New Roman" pitchFamily="18" charset="0"/>
                <a:cs typeface="Times New Roman" pitchFamily="18" charset="0"/>
              </a:rPr>
              <a:t>Laws are typically enacted through formal legislative processes and are binding on all citizens within a jurisdiction.</a:t>
            </a:r>
          </a:p>
          <a:p>
            <a:pPr marL="0" indent="0" algn="just">
              <a:buNone/>
            </a:pPr>
            <a:r>
              <a:rPr lang="en-US" sz="2000" b="1" dirty="0">
                <a:latin typeface="Times New Roman" pitchFamily="18" charset="0"/>
                <a:cs typeface="Times New Roman" pitchFamily="18" charset="0"/>
              </a:rPr>
              <a:t>Enforcement:</a:t>
            </a:r>
            <a:endParaRPr lang="en-US" sz="2000" dirty="0">
              <a:latin typeface="Times New Roman" pitchFamily="18" charset="0"/>
              <a:cs typeface="Times New Roman" pitchFamily="18" charset="0"/>
            </a:endParaRPr>
          </a:p>
          <a:p>
            <a:pPr algn="just"/>
            <a:r>
              <a:rPr lang="en-US" sz="2000" dirty="0">
                <a:latin typeface="Times New Roman" pitchFamily="18" charset="0"/>
                <a:cs typeface="Times New Roman" pitchFamily="18" charset="0"/>
              </a:rPr>
              <a:t>Laws are enforced through formal legal systems, including courts, police, and other law enforcement agencies, with penalties for violations.</a:t>
            </a:r>
          </a:p>
          <a:p>
            <a:pPr marL="0" indent="0" algn="just">
              <a:buNone/>
            </a:pPr>
            <a:r>
              <a:rPr lang="en-US" sz="2000" b="1" dirty="0">
                <a:latin typeface="Times New Roman" pitchFamily="18" charset="0"/>
                <a:cs typeface="Times New Roman" pitchFamily="18" charset="0"/>
              </a:rPr>
              <a:t>Example:</a:t>
            </a:r>
            <a:endParaRPr lang="en-US" sz="2000" dirty="0">
              <a:latin typeface="Times New Roman" pitchFamily="18" charset="0"/>
              <a:cs typeface="Times New Roman" pitchFamily="18" charset="0"/>
            </a:endParaRPr>
          </a:p>
          <a:p>
            <a:pPr algn="just"/>
            <a:r>
              <a:rPr lang="en-US" sz="2000" dirty="0">
                <a:latin typeface="Times New Roman" pitchFamily="18" charset="0"/>
                <a:cs typeface="Times New Roman" pitchFamily="18" charset="0"/>
              </a:rPr>
              <a:t>A law might prohibit speeding, with penalties such as fines or imprisonment for those who violate it. </a:t>
            </a:r>
          </a:p>
        </p:txBody>
      </p:sp>
    </p:spTree>
    <p:extLst>
      <p:ext uri="{BB962C8B-B14F-4D97-AF65-F5344CB8AC3E}">
        <p14:creationId xmlns:p14="http://schemas.microsoft.com/office/powerpoint/2010/main" val="286833390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838200"/>
            <a:ext cx="7045105"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8474090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66800" y="762000"/>
            <a:ext cx="7136190"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31651338"/>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Pushpin">
  <a:themeElements>
    <a:clrScheme name="Pushpin">
      <a:dk1>
        <a:sysClr val="windowText" lastClr="000000"/>
      </a:dk1>
      <a:lt1>
        <a:sysClr val="window" lastClr="FFFFFF"/>
      </a:lt1>
      <a:dk2>
        <a:srgbClr val="465E9C"/>
      </a:dk2>
      <a:lt2>
        <a:srgbClr val="CCDDEA"/>
      </a:lt2>
      <a:accent1>
        <a:srgbClr val="FDA023"/>
      </a:accent1>
      <a:accent2>
        <a:srgbClr val="AA2B1E"/>
      </a:accent2>
      <a:accent3>
        <a:srgbClr val="71685C"/>
      </a:accent3>
      <a:accent4>
        <a:srgbClr val="64A73B"/>
      </a:accent4>
      <a:accent5>
        <a:srgbClr val="EB5605"/>
      </a:accent5>
      <a:accent6>
        <a:srgbClr val="B9CA1A"/>
      </a:accent6>
      <a:hlink>
        <a:srgbClr val="D83E2C"/>
      </a:hlink>
      <a:folHlink>
        <a:srgbClr val="ED7D27"/>
      </a:folHlink>
    </a:clrScheme>
    <a:fontScheme name="Pushpin">
      <a:majorFont>
        <a:latin typeface="Constantia"/>
        <a:ea typeface=""/>
        <a:cs typeface=""/>
        <a:font script="Jpan" typeface="HGS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a:ea typeface=""/>
        <a:cs typeface=""/>
        <a:font script="Grek" typeface="Arial"/>
        <a:font script="Cyrl" typeface="Arial"/>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ushpin">
      <a:fillStyleLst>
        <a:solidFill>
          <a:schemeClr val="phClr"/>
        </a:solidFill>
        <a:gradFill rotWithShape="1">
          <a:gsLst>
            <a:gs pos="0">
              <a:schemeClr val="phClr">
                <a:tint val="50000"/>
                <a:satMod val="180000"/>
                <a:lumMod val="100000"/>
              </a:schemeClr>
            </a:gs>
            <a:gs pos="40000">
              <a:schemeClr val="phClr">
                <a:tint val="60000"/>
                <a:satMod val="130000"/>
                <a:lumMod val="100000"/>
              </a:schemeClr>
            </a:gs>
            <a:gs pos="100000">
              <a:schemeClr val="phClr">
                <a:tint val="96000"/>
                <a:lumMod val="108000"/>
              </a:schemeClr>
            </a:gs>
          </a:gsLst>
          <a:lin ang="5400000" scaled="0"/>
        </a:gradFill>
        <a:gradFill rotWithShape="1">
          <a:gsLst>
            <a:gs pos="0">
              <a:schemeClr val="phClr"/>
            </a:gs>
            <a:gs pos="100000">
              <a:schemeClr val="phClr">
                <a:shade val="76000"/>
                <a:lumMod val="90000"/>
              </a:schemeClr>
            </a:gs>
          </a:gsLst>
          <a:lin ang="5400000" scaled="0"/>
        </a:gradFill>
      </a:fillStyleLst>
      <a:lnStyleLst>
        <a:ln w="9525" cap="flat" cmpd="sng" algn="ctr">
          <a:solidFill>
            <a:schemeClr val="phClr"/>
          </a:solidFill>
          <a:prstDash val="solid"/>
        </a:ln>
        <a:ln w="15875" cap="flat" cmpd="sng" algn="ctr">
          <a:solidFill>
            <a:schemeClr val="phClr">
              <a:shade val="80000"/>
              <a:lumMod val="90000"/>
            </a:schemeClr>
          </a:solidFill>
          <a:prstDash val="solid"/>
        </a:ln>
        <a:ln w="25400" cap="flat" cmpd="sng" algn="ctr">
          <a:solidFill>
            <a:schemeClr val="phClr"/>
          </a:solidFill>
          <a:prstDash val="solid"/>
        </a:ln>
      </a:lnStyleLst>
      <a:effectStyleLst>
        <a:effectStyle>
          <a:effectLst/>
        </a:effectStyle>
        <a:effectStyle>
          <a:effectLst>
            <a:outerShdw blurRad="38100" dist="38100" dir="4800000" sx="98000" sy="98000" rotWithShape="0">
              <a:srgbClr val="000000">
                <a:alpha val="32000"/>
              </a:srgbClr>
            </a:outerShdw>
          </a:effectLst>
        </a:effectStyle>
        <a:effectStyle>
          <a:effectLst>
            <a:outerShdw blurRad="38100" dist="38100" dir="4800000" sx="96000" sy="96000" rotWithShape="0">
              <a:srgbClr val="000000">
                <a:alpha val="40000"/>
              </a:srgbClr>
            </a:outerShdw>
          </a:effectLst>
          <a:scene3d>
            <a:camera prst="orthographicFront">
              <a:rot lat="0" lon="0" rev="0"/>
            </a:camera>
            <a:lightRig rig="threePt" dir="t">
              <a:rot lat="0" lon="0" rev="3240000"/>
            </a:lightRig>
          </a:scene3d>
          <a:sp3d>
            <a:bevelT w="28575" h="28575"/>
          </a:sp3d>
        </a:effectStyle>
      </a:effectStyleLst>
      <a:bgFillStyleLst>
        <a:solidFill>
          <a:schemeClr val="phClr">
            <a:tint val="93000"/>
          </a:schemeClr>
        </a:solidFill>
        <a:blipFill rotWithShape="1">
          <a:blip xmlns:r="http://schemas.openxmlformats.org/officeDocument/2006/relationships" r:embed="rId1">
            <a:duotone>
              <a:schemeClr val="phClr">
                <a:shade val="80000"/>
                <a:satMod val="140000"/>
                <a:lumMod val="50000"/>
              </a:schemeClr>
              <a:schemeClr val="phClr">
                <a:tint val="95000"/>
                <a:satMod val="180000"/>
                <a:lumMod val="160000"/>
              </a:schemeClr>
            </a:duotone>
          </a:blip>
          <a:stretch/>
        </a:blipFill>
        <a:blipFill rotWithShape="1">
          <a:blip xmlns:r="http://schemas.openxmlformats.org/officeDocument/2006/relationships" r:embed="rId2">
            <a:duotone>
              <a:schemeClr val="phClr">
                <a:tint val="98000"/>
                <a:shade val="90000"/>
                <a:satMod val="120000"/>
                <a:lumMod val="54000"/>
              </a:schemeClr>
              <a:schemeClr val="phClr">
                <a:tint val="80000"/>
                <a:satMod val="160000"/>
                <a:lumMod val="140000"/>
              </a:schemeClr>
            </a:duotone>
          </a:blip>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Pushpin</Template>
  <TotalTime>324</TotalTime>
  <Words>1476</Words>
  <Application>Microsoft Office PowerPoint</Application>
  <PresentationFormat>On-screen Show (4:3)</PresentationFormat>
  <Paragraphs>338</Paragraphs>
  <Slides>47</Slides>
  <Notes>0</Notes>
  <HiddenSlides>0</HiddenSlides>
  <MMClips>0</MMClips>
  <ScaleCrop>false</ScaleCrop>
  <HeadingPairs>
    <vt:vector size="4" baseType="variant">
      <vt:variant>
        <vt:lpstr>Theme</vt:lpstr>
      </vt:variant>
      <vt:variant>
        <vt:i4>1</vt:i4>
      </vt:variant>
      <vt:variant>
        <vt:lpstr>Slide Titles</vt:lpstr>
      </vt:variant>
      <vt:variant>
        <vt:i4>47</vt:i4>
      </vt:variant>
    </vt:vector>
  </HeadingPairs>
  <TitlesOfParts>
    <vt:vector size="48" baseType="lpstr">
      <vt:lpstr>Pushpin</vt:lpstr>
      <vt:lpstr>PowerPoint Presentation</vt:lpstr>
      <vt:lpstr>PowerPoint Presentation</vt:lpstr>
      <vt:lpstr>Chap 1: Introduction to Professional Practices &amp; What Is Ethics?</vt:lpstr>
      <vt:lpstr>PowerPoint Presentation</vt:lpstr>
      <vt:lpstr>Difference Between Professional, Profession &amp; Professionalism</vt:lpstr>
      <vt:lpstr>Professional</vt:lpstr>
      <vt:lpstr>Professional</vt:lpstr>
      <vt:lpstr>Profession</vt:lpstr>
      <vt:lpstr>Profession</vt:lpstr>
      <vt:lpstr>Profession</vt:lpstr>
      <vt:lpstr>Professionalism</vt:lpstr>
      <vt:lpstr>Professionalism</vt:lpstr>
      <vt:lpstr>Professionalism</vt:lpstr>
      <vt:lpstr>Professionalism</vt:lpstr>
      <vt:lpstr>Professionalism</vt:lpstr>
      <vt:lpstr>Professionalism</vt:lpstr>
      <vt:lpstr>Difference Between Professional, Profession &amp; Professionalism</vt:lpstr>
      <vt:lpstr>PowerPoint Presentation</vt:lpstr>
      <vt:lpstr>Ethics</vt:lpstr>
      <vt:lpstr>Ethics</vt:lpstr>
      <vt:lpstr>Ethics</vt:lpstr>
      <vt:lpstr>Ethics</vt:lpstr>
      <vt:lpstr>Ethics</vt:lpstr>
      <vt:lpstr>Relationship between Ethics &amp; Philosophy </vt:lpstr>
      <vt:lpstr>Relationship between Ethics &amp; Philosophy </vt:lpstr>
      <vt:lpstr>Relationship between Ethics &amp; Philosophy </vt:lpstr>
      <vt:lpstr>PowerPoint Presentation</vt:lpstr>
      <vt:lpstr>A Variety of Ethical Views</vt:lpstr>
      <vt:lpstr>A Variety of Ethical Views</vt:lpstr>
      <vt:lpstr>A Variety of Ethical Views</vt:lpstr>
      <vt:lpstr>A Variety of Ethical Views</vt:lpstr>
      <vt:lpstr>PowerPoint Presentation</vt:lpstr>
      <vt:lpstr>Some Important Distinctions</vt:lpstr>
      <vt:lpstr>PowerPoint Presentation</vt:lpstr>
      <vt:lpstr>E-commerce and Free Stuff</vt:lpstr>
      <vt:lpstr>PowerPoint Presentation</vt:lpstr>
      <vt:lpstr>Artificial Intelligence, Robotics, Sensors, and Motion</vt:lpstr>
      <vt:lpstr>Artificial Intelligence, Robotics, Sensors, and Motion</vt:lpstr>
      <vt:lpstr>PowerPoint Presentation</vt:lpstr>
      <vt:lpstr>Business Ethics</vt:lpstr>
      <vt:lpstr>Business Ethics</vt:lpstr>
      <vt:lpstr>What is the purpose of the ethics?</vt:lpstr>
      <vt:lpstr>Difference between ethics, morality and laws</vt:lpstr>
      <vt:lpstr>Difference between ethics, morality and laws</vt:lpstr>
      <vt:lpstr>Difference between ethics, morality and laws</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lastModifiedBy>dell</cp:lastModifiedBy>
  <cp:revision>40</cp:revision>
  <dcterms:created xsi:type="dcterms:W3CDTF">2023-10-01T18:45:03Z</dcterms:created>
  <dcterms:modified xsi:type="dcterms:W3CDTF">2026-02-17T04:37:21Z</dcterms:modified>
</cp:coreProperties>
</file>