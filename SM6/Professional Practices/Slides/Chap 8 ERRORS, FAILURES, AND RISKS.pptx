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9"/>
  </p:notesMasterIdLst>
  <p:sldIdLst>
    <p:sldId id="257" r:id="rId2"/>
    <p:sldId id="265" r:id="rId3"/>
    <p:sldId id="259" r:id="rId4"/>
    <p:sldId id="341" r:id="rId5"/>
    <p:sldId id="352" r:id="rId6"/>
    <p:sldId id="362" r:id="rId7"/>
    <p:sldId id="353" r:id="rId8"/>
    <p:sldId id="358" r:id="rId9"/>
    <p:sldId id="354" r:id="rId10"/>
    <p:sldId id="361" r:id="rId11"/>
    <p:sldId id="355" r:id="rId12"/>
    <p:sldId id="359" r:id="rId13"/>
    <p:sldId id="356" r:id="rId14"/>
    <p:sldId id="360" r:id="rId15"/>
    <p:sldId id="357" r:id="rId16"/>
    <p:sldId id="262" r:id="rId17"/>
    <p:sldId id="263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386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6BD0B4-4ABD-467C-9EB4-04F653D3D415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B68F07-0ECC-4CFA-BC3E-9FA163DB3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751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891821" y="5617774"/>
            <a:ext cx="7382935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89952" y="1016990"/>
            <a:ext cx="7179733" cy="4831643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90600" y="1009650"/>
            <a:ext cx="7179733" cy="4831643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769521" y="702069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7855433" y="749720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27201" y="1794935"/>
            <a:ext cx="5723468" cy="182809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27200" y="3736622"/>
            <a:ext cx="5712179" cy="1524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70676" y="535759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4044" y="5357592"/>
            <a:ext cx="503484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13930" y="5357592"/>
            <a:ext cx="554023" cy="365125"/>
          </a:xfrm>
        </p:spPr>
        <p:txBody>
          <a:bodyPr/>
          <a:lstStyle>
            <a:lvl1pPr algn="ctr">
              <a:defRPr/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979" y="2239430"/>
            <a:ext cx="6254044" cy="1362075"/>
          </a:xfrm>
        </p:spPr>
        <p:txBody>
          <a:bodyPr anchor="b"/>
          <a:lstStyle>
            <a:lvl1pPr algn="ctr">
              <a:defRPr sz="40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6267" y="3725334"/>
            <a:ext cx="6231467" cy="1309511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298448" y="2121407"/>
            <a:ext cx="3200400" cy="360273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63440" y="2119313"/>
            <a:ext cx="3200400" cy="36052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7869" y="2122312"/>
            <a:ext cx="2939521" cy="820208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669" y="2122311"/>
            <a:ext cx="2944368" cy="822960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1298448" y="2944368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45151" y="2944813"/>
            <a:ext cx="3227832" cy="277977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Freeform 1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60000">
            <a:off x="4471416" y="603504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rot="21540000">
            <a:off x="749808" y="576072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9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8976" y="2020042"/>
            <a:ext cx="3064827" cy="1503037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 rot="60000">
            <a:off x="4854291" y="1150993"/>
            <a:ext cx="3020792" cy="4625489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48125" y="3623748"/>
            <a:ext cx="3048891" cy="2100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1698" y="5885672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54" y="5829261"/>
            <a:ext cx="352260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57313" y="5896961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Freeform 30"/>
          <p:cNvSpPr/>
          <p:nvPr/>
        </p:nvSpPr>
        <p:spPr>
          <a:xfrm rot="10800000">
            <a:off x="632177" y="6058038"/>
            <a:ext cx="772160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21540000">
            <a:off x="749204" y="576868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21540000">
            <a:off x="745058" y="575769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 rot="60000">
            <a:off x="4468872" y="605163"/>
            <a:ext cx="3788941" cy="5722296"/>
          </a:xfrm>
          <a:prstGeom prst="rect">
            <a:avLst/>
          </a:prstGeom>
          <a:solidFill>
            <a:schemeClr val="bg1"/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 rot="60000">
            <a:off x="4464768" y="603920"/>
            <a:ext cx="3788941" cy="5722296"/>
          </a:xfrm>
          <a:prstGeom prst="rect">
            <a:avLst/>
          </a:prstGeom>
          <a:blipFill dpi="0" rotWithShape="1">
            <a:blip r:embed="rId2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435684">
            <a:off x="2371106" y="293953"/>
            <a:ext cx="567831" cy="567830"/>
          </a:xfrm>
          <a:prstGeom prst="rect">
            <a:avLst/>
          </a:prstGeom>
          <a:noFill/>
        </p:spPr>
      </p:pic>
      <p:pic>
        <p:nvPicPr>
          <p:cNvPr id="15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4096196">
            <a:off x="6279647" y="333163"/>
            <a:ext cx="566928" cy="566928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-60000">
            <a:off x="1106424" y="2020824"/>
            <a:ext cx="3063240" cy="1499616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60000">
            <a:off x="4898615" y="1207272"/>
            <a:ext cx="2913863" cy="4539412"/>
          </a:xfrm>
          <a:ln w="101600" cap="rnd">
            <a:solidFill>
              <a:srgbClr val="FFFFFF"/>
            </a:solidFill>
          </a:ln>
          <a:effectLst>
            <a:outerShdw blurRad="889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-60000">
            <a:off x="1152144" y="3621024"/>
            <a:ext cx="3044952" cy="210312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 rot="60000">
            <a:off x="6345936" y="5888737"/>
            <a:ext cx="1213821" cy="365125"/>
          </a:xfrm>
        </p:spPr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 rot="-60000">
            <a:off x="914569" y="5831037"/>
            <a:ext cx="331904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 rot="60000">
            <a:off x="7562089" y="5900026"/>
            <a:ext cx="554023" cy="365125"/>
          </a:xfrm>
        </p:spPr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925690"/>
            <a:ext cx="1430867" cy="476391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8221" y="1106312"/>
            <a:ext cx="5178779" cy="440266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15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71628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1765"/>
                  </a:srgbClr>
                </a:gs>
                <a:gs pos="60000">
                  <a:srgbClr val="FEFEFE">
                    <a:alpha val="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143000" y="0"/>
              <a:ext cx="8001000" cy="6858000"/>
            </a:xfrm>
            <a:prstGeom prst="rect">
              <a:avLst/>
            </a:prstGeom>
            <a:gradFill flip="none" rotWithShape="1">
              <a:gsLst>
                <a:gs pos="0">
                  <a:srgbClr val="010101">
                    <a:alpha val="56000"/>
                  </a:srgbClr>
                </a:gs>
                <a:gs pos="61000">
                  <a:srgbClr val="FEFEFE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Freeform 9"/>
          <p:cNvSpPr/>
          <p:nvPr/>
        </p:nvSpPr>
        <p:spPr>
          <a:xfrm rot="10800000">
            <a:off x="628650" y="6069330"/>
            <a:ext cx="7920991" cy="537210"/>
          </a:xfrm>
          <a:custGeom>
            <a:avLst/>
            <a:gdLst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7785734 w 7955280"/>
              <a:gd name="connsiteY2" fmla="*/ 0 h 495300"/>
              <a:gd name="connsiteX3" fmla="*/ 7955280 w 7955280"/>
              <a:gd name="connsiteY3" fmla="*/ 495300 h 495300"/>
              <a:gd name="connsiteX4" fmla="*/ 0 w 7955280"/>
              <a:gd name="connsiteY4" fmla="*/ 495300 h 495300"/>
              <a:gd name="connsiteX0" fmla="*/ 0 w 7955280"/>
              <a:gd name="connsiteY0" fmla="*/ 495300 h 495300"/>
              <a:gd name="connsiteX1" fmla="*/ 169546 w 7955280"/>
              <a:gd name="connsiteY1" fmla="*/ 0 h 495300"/>
              <a:gd name="connsiteX2" fmla="*/ 3966210 w 7955280"/>
              <a:gd name="connsiteY2" fmla="*/ 95250 h 495300"/>
              <a:gd name="connsiteX3" fmla="*/ 7785734 w 7955280"/>
              <a:gd name="connsiteY3" fmla="*/ 0 h 495300"/>
              <a:gd name="connsiteX4" fmla="*/ 7955280 w 7955280"/>
              <a:gd name="connsiteY4" fmla="*/ 495300 h 495300"/>
              <a:gd name="connsiteX5" fmla="*/ 0 w 7955280"/>
              <a:gd name="connsiteY5" fmla="*/ 495300 h 49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955280" h="495300">
                <a:moveTo>
                  <a:pt x="0" y="495300"/>
                </a:moveTo>
                <a:lnTo>
                  <a:pt x="169546" y="0"/>
                </a:lnTo>
                <a:lnTo>
                  <a:pt x="3966210" y="95250"/>
                </a:lnTo>
                <a:lnTo>
                  <a:pt x="7785734" y="0"/>
                </a:lnTo>
                <a:lnTo>
                  <a:pt x="7955280" y="495300"/>
                </a:lnTo>
                <a:lnTo>
                  <a:pt x="0" y="495300"/>
                </a:lnTo>
                <a:close/>
              </a:path>
            </a:pathLst>
          </a:custGeom>
          <a:gradFill flip="none" rotWithShape="1">
            <a:gsLst>
              <a:gs pos="30000">
                <a:srgbClr val="010101">
                  <a:alpha val="34000"/>
                </a:srgbClr>
              </a:gs>
              <a:gs pos="100000">
                <a:srgbClr val="010101">
                  <a:alpha val="26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1520" y="575310"/>
            <a:ext cx="7696200" cy="5715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31520" y="576072"/>
            <a:ext cx="7696200" cy="5715000"/>
          </a:xfrm>
          <a:prstGeom prst="rect">
            <a:avLst/>
          </a:prstGeom>
          <a:blipFill dpi="0" rotWithShape="1">
            <a:blip r:embed="rId13" cstate="print">
              <a:alphaModFix amt="20000"/>
              <a:grayscl/>
              <a:lum contrast="12000"/>
            </a:blip>
            <a:srcRect/>
            <a:tile tx="0" ty="0" sx="100000" sy="100000" flip="none" algn="tl"/>
          </a:blipFill>
          <a:ln w="6350">
            <a:noFill/>
          </a:ln>
          <a:effectLst>
            <a:outerShdw blurRad="101600" dist="508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1435684">
            <a:off x="543741" y="273091"/>
            <a:ext cx="567831" cy="567830"/>
          </a:xfrm>
          <a:prstGeom prst="rect">
            <a:avLst/>
          </a:prstGeom>
          <a:noFill/>
        </p:spPr>
      </p:pic>
      <p:pic>
        <p:nvPicPr>
          <p:cNvPr id="14" name="Picture 2" descr="C:\Users\Administrator\Desktop\Pushpin Dev\Assets\pushpinLeft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 rot="4096196">
            <a:off x="8115079" y="298163"/>
            <a:ext cx="566928" cy="566928"/>
          </a:xfrm>
          <a:prstGeom prst="rect">
            <a:avLst/>
          </a:prstGeom>
          <a:noFill/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5023" y="817582"/>
            <a:ext cx="6965245" cy="12024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63040" y="2119257"/>
            <a:ext cx="6196405" cy="36038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54588" y="5809152"/>
            <a:ext cx="1213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72D92F55-3793-4648-AF7A-D9CEEE88EC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1" y="5809152"/>
            <a:ext cx="55401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0202" y="5809152"/>
            <a:ext cx="5540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2"/>
                </a:solidFill>
                <a:latin typeface="Rage Italic" pitchFamily="66" charset="0"/>
              </a:defRPr>
            </a:lvl1pPr>
          </a:lstStyle>
          <a:p>
            <a:fld id="{ACFB6CC9-8C31-4D8E-AC9E-47C05B6B3BE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1168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28600" algn="l" defTabSz="914400" rtl="0" eaLnBrk="1" latinLnBrk="0" hangingPunct="1">
        <a:spcBef>
          <a:spcPct val="20000"/>
        </a:spcBef>
        <a:buClr>
          <a:schemeClr val="accent2"/>
        </a:buClr>
        <a:buSzPct val="85000"/>
        <a:buFont typeface="Brush Script MT" pitchFamily="66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3040" y="2119257"/>
            <a:ext cx="6766560" cy="360381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Practices (HUM-305)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endParaRPr lang="en-US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SPRING SEMESTER 2026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 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Engr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Muhammad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Raheel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Iqbal</a:t>
            </a: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Butt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Resource Person </a:t>
            </a: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Contact: +92 321 7433568</a:t>
            </a:r>
          </a:p>
          <a:p>
            <a:pPr marL="0" indent="0" algn="ctr">
              <a:buNone/>
            </a:pPr>
            <a:endParaRPr lang="en-US" sz="2200" b="1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School of Computer &amp; Information Technology</a:t>
            </a:r>
            <a:endParaRPr lang="en-US" sz="22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3000" b="1" dirty="0" err="1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Beaconhouse</a:t>
            </a:r>
            <a:r>
              <a:rPr lang="en-US" sz="3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0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National University, Lahore</a:t>
            </a:r>
            <a:endParaRPr lang="en-US" sz="30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sz="3600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5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899614"/>
            <a:ext cx="1627496" cy="1964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0765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816591"/>
            <a:ext cx="7440993" cy="5406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3612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817583"/>
            <a:ext cx="6965245" cy="85881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Chap </a:t>
            </a:r>
            <a:r>
              <a:rPr lang="en-US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8 </a:t>
            </a:r>
            <a:r>
              <a:rPr lang="en-US" sz="2800" b="1" dirty="0" smtClean="0">
                <a:solidFill>
                  <a:srgbClr val="C00000"/>
                </a:solidFill>
              </a:rPr>
              <a:t>Errors, Failures, And Risks</a:t>
            </a:r>
            <a:endParaRPr lang="en-US" sz="28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1828800"/>
            <a:ext cx="7010400" cy="4191000"/>
          </a:xfrm>
        </p:spPr>
        <p:txBody>
          <a:bodyPr>
            <a:norm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Failures and Errors in Computer Systems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Problems for Individuals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System Failures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What Goes Wrong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So Why Software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and Design Problems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Many Incidents?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Observations and Perspective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Increasing Reliability and Safety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Professional Techniques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Trust the Human or the Computer System?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Law, Regulation, and Markets</a:t>
            </a:r>
          </a:p>
          <a:p>
            <a:pPr marL="0" marR="0" algn="just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Dependence, Risk, and Progress</a:t>
            </a:r>
            <a:endParaRPr lang="en-US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18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460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005811"/>
            <a:ext cx="7342496" cy="5149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028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Failures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and Errors in Computer Systems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1. Failures and Errors in Computer Systems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Failures occur due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hardware faults, software bugs, or human errors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Can be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temporary (glitches)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permanent (system crash)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banking app crash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during peak hours prevents transactions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Software bug causing incorrect calculations (e.g., billing errors)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Critical systems (healthcare, aviation) require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near-zero failure tolerance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Problems for Individuals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Financial loss: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Incorrect bank transfers or duplicate transactions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Privacy breach: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Personal data leaks from hacked systems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Identity theft: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Stolen credentials used for fraud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Emotional stress: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Losing important files or facing service downtime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Social media account hacked → misuse of personal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identit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133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914399"/>
            <a:ext cx="7004713" cy="5104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36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System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Failures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3. System Failures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Complete failure: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Entire system stops (e.g., server crash)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Partial failure: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Some features stop working (e.g., payment gateway down)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Network failure: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Internet outage disrupts communication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Airline reservation system crash → flight delays worldwide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Hospital system failure delaying patient treatment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What Goes Wrong?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Software bugs: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Coding mistakes or logic errors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Hardware issues: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Disk failure, overheating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Human error: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Wrong configuration or accidental deletion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Poor 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Bugs not detected before deployment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Wrong database update deleting user records</a:t>
            </a:r>
          </a:p>
        </p:txBody>
      </p:sp>
    </p:spTree>
    <p:extLst>
      <p:ext uri="{BB962C8B-B14F-4D97-AF65-F5344CB8AC3E}">
        <p14:creationId xmlns:p14="http://schemas.microsoft.com/office/powerpoint/2010/main" val="3964406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685800"/>
            <a:ext cx="6235890" cy="5522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36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So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Why Software and Design Problems?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5. So Why Software and Design Problems?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System complexity: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Millions of lines of code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Time pressure: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Deadlines reduce quality checks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Poor requirements: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Misunderstanding user needs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Lack of expertise: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Inexperienced developers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 rushed update causes app crashes after release 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Many Incidents?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Frequent failures in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banking systems, airlines, telecom networks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ATM network outage → customers unable to withdraw cash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Website downtime during big sales (e.g., e-commerce crash) </a:t>
            </a:r>
          </a:p>
          <a:p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Cyberattacks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exploiting system weaknesses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Shows that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failures are common even in advanced systems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1475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914400"/>
            <a:ext cx="7307427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36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Observations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and Perspective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7. Observations and Perspective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No system is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100% error-free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Failures help improve future system design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Technology evolves through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trial and correction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Early software versions often unstable, later improved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Need for balance between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innovation and reliability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Increasing Reliability and Safety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Testing: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Unit testing, integration testing, system testing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Backup systems: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Data recovery mechanisms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Redundancy: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Multiple systems to prevent total failure </a:t>
            </a:r>
          </a:p>
          <a:p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Monitoring: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Real-time alerts for issues </a:t>
            </a:r>
          </a:p>
          <a:p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Cloud services using backup servers to avoid downtime</a:t>
            </a:r>
          </a:p>
        </p:txBody>
      </p:sp>
    </p:spTree>
    <p:extLst>
      <p:ext uri="{BB962C8B-B14F-4D97-AF65-F5344CB8AC3E}">
        <p14:creationId xmlns:p14="http://schemas.microsoft.com/office/powerpoint/2010/main" val="2655112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9227" y="685800"/>
            <a:ext cx="7359258" cy="55051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36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Professional 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9. </a:t>
            </a: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Professional Techniques</a:t>
            </a: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Code reviews:</a:t>
            </a:r>
            <a:r>
              <a:rPr lang="en-US" sz="1800" dirty="0" smtClean="0">
                <a:latin typeface="Times New Roman" pitchFamily="18" charset="0"/>
                <a:cs typeface="Times New Roman" pitchFamily="18" charset="0"/>
              </a:rPr>
              <a:t> Team checks each other’s work </a:t>
            </a:r>
          </a:p>
          <a:p>
            <a:pPr algn="just"/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Version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control: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Track changes (e.g., </a:t>
            </a:r>
            <a:r>
              <a:rPr lang="en-US" sz="1800" dirty="0" err="1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Documentation: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Clear system design and instructions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Ethics: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Avoid shortcuts that risk safety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Following software engineering standards to prevent bugs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10.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Trust the Human or the Computer System?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Humans: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Creative but error-prone </a:t>
            </a:r>
          </a:p>
          <a:p>
            <a:pPr algn="just"/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Computers: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Accurate but lack judgment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Best approach: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Human + system collaboration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Pilots rely on autopilot but can override in emergencies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Doctors use software but make final decisions </a:t>
            </a:r>
          </a:p>
        </p:txBody>
      </p:sp>
    </p:spTree>
    <p:extLst>
      <p:ext uri="{BB962C8B-B14F-4D97-AF65-F5344CB8AC3E}">
        <p14:creationId xmlns:p14="http://schemas.microsoft.com/office/powerpoint/2010/main" val="32806413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762000"/>
            <a:ext cx="7379808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48368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5023" y="533400"/>
            <a:ext cx="6965245" cy="858818"/>
          </a:xfrm>
        </p:spPr>
        <p:txBody>
          <a:bodyPr>
            <a:noAutofit/>
          </a:bodyPr>
          <a:lstStyle/>
          <a:p>
            <a:pPr marL="0" indent="0"/>
            <a:r>
              <a:rPr lang="en-US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Law</a:t>
            </a: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, Regulation, and Markets</a:t>
            </a: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143000"/>
            <a:ext cx="7315200" cy="49530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11. Law, Regulation, and Markets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Governments enforce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data protection laws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Companies must ensure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user safety and privacy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Regulations create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accountability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Companies fined for data breaches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Market competition encourages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better quality systems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 algn="just">
              <a:buNone/>
            </a:pPr>
            <a:endParaRPr lang="en-US" sz="1800" b="1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en-US" sz="1800" b="1" dirty="0" smtClean="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. Dependence, Risk, and Progress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Society depends on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technology for daily life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More dependence → higher risks if systems fail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Example: Internet outage affecting businesses, education, banking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Continuous improvement leads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technological progress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/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Need to </a:t>
            </a:r>
            <a:r>
              <a:rPr lang="en-US" sz="1800" b="1" dirty="0">
                <a:latin typeface="Times New Roman" pitchFamily="18" charset="0"/>
                <a:cs typeface="Times New Roman" pitchFamily="18" charset="0"/>
              </a:rPr>
              <a:t>manage risks while embracing innovation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84462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838200"/>
            <a:ext cx="704510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4740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762000"/>
            <a:ext cx="713619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6513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ushpin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Pushpin">
      <a:majorFont>
        <a:latin typeface="Constantia"/>
        <a:ea typeface=""/>
        <a:cs typeface=""/>
        <a:font script="Jpan" typeface="HGS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Arial"/>
        <a:font script="Cyrl" typeface="Arial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ushpi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  <a:lumMod val="100000"/>
              </a:schemeClr>
            </a:gs>
            <a:gs pos="40000">
              <a:schemeClr val="phClr">
                <a:tint val="60000"/>
                <a:satMod val="130000"/>
                <a:lumMod val="100000"/>
              </a:schemeClr>
            </a:gs>
            <a:gs pos="100000">
              <a:schemeClr val="phClr">
                <a:tint val="96000"/>
                <a:lumMod val="108000"/>
              </a:schemeClr>
            </a:gs>
          </a:gsLst>
          <a:lin ang="5400000" scaled="0"/>
        </a:gradFill>
        <a:gradFill rotWithShape="1">
          <a:gsLst>
            <a:gs pos="0">
              <a:schemeClr val="phClr"/>
            </a:gs>
            <a:gs pos="100000">
              <a:schemeClr val="phClr">
                <a:shade val="76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80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38100" dir="4800000" sx="98000" sy="98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38100" dist="38100" dir="4800000" sx="96000" sy="96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3240000"/>
            </a:lightRig>
          </a:scene3d>
          <a:sp3d>
            <a:bevelT w="28575" h="28575"/>
          </a:sp3d>
        </a:effectStyle>
      </a:effectStyleLst>
      <a:bgFillStyleLst>
        <a:solidFill>
          <a:schemeClr val="phClr">
            <a:tint val="93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satMod val="140000"/>
                <a:lumMod val="50000"/>
              </a:schemeClr>
              <a:schemeClr val="phClr">
                <a:tint val="95000"/>
                <a:satMod val="180000"/>
                <a:lumMod val="160000"/>
              </a:schemeClr>
            </a:duotone>
          </a:blip>
          <a:stretch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  <a:shade val="90000"/>
                <a:satMod val="120000"/>
                <a:lumMod val="54000"/>
              </a:schemeClr>
              <a:schemeClr val="phClr">
                <a:tint val="80000"/>
                <a:satMod val="160000"/>
                <a:lumMod val="14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Pushpin</Template>
  <TotalTime>4254</TotalTime>
  <Words>671</Words>
  <Application>Microsoft Office PowerPoint</Application>
  <PresentationFormat>On-screen Show (4:3)</PresentationFormat>
  <Paragraphs>108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Pushpin</vt:lpstr>
      <vt:lpstr>PowerPoint Presentation</vt:lpstr>
      <vt:lpstr>PowerPoint Presentation</vt:lpstr>
      <vt:lpstr>Chap 8 Errors, Failures, And Risks</vt:lpstr>
      <vt:lpstr>PowerPoint Presentation</vt:lpstr>
      <vt:lpstr>Failures and Errors in Computer Systems</vt:lpstr>
      <vt:lpstr>PowerPoint Presentation</vt:lpstr>
      <vt:lpstr>System Failures</vt:lpstr>
      <vt:lpstr>PowerPoint Presentation</vt:lpstr>
      <vt:lpstr>So Why Software and Design Problems?</vt:lpstr>
      <vt:lpstr>PowerPoint Presentation</vt:lpstr>
      <vt:lpstr>Observations and Perspective</vt:lpstr>
      <vt:lpstr>PowerPoint Presentation</vt:lpstr>
      <vt:lpstr>Professional Techniques</vt:lpstr>
      <vt:lpstr>PowerPoint Presentation</vt:lpstr>
      <vt:lpstr>Law, Regulation, and Markets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68</cp:revision>
  <dcterms:created xsi:type="dcterms:W3CDTF">2023-10-01T18:45:03Z</dcterms:created>
  <dcterms:modified xsi:type="dcterms:W3CDTF">2026-04-18T04:46:25Z</dcterms:modified>
</cp:coreProperties>
</file>