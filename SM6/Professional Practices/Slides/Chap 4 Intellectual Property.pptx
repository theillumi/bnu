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65" r:id="rId3"/>
    <p:sldId id="259" r:id="rId4"/>
    <p:sldId id="317" r:id="rId5"/>
    <p:sldId id="360" r:id="rId6"/>
    <p:sldId id="331" r:id="rId7"/>
    <p:sldId id="351" r:id="rId8"/>
    <p:sldId id="342" r:id="rId9"/>
    <p:sldId id="352" r:id="rId10"/>
    <p:sldId id="343" r:id="rId11"/>
    <p:sldId id="353" r:id="rId12"/>
    <p:sldId id="344" r:id="rId13"/>
    <p:sldId id="354" r:id="rId14"/>
    <p:sldId id="345" r:id="rId15"/>
    <p:sldId id="355" r:id="rId16"/>
    <p:sldId id="346" r:id="rId17"/>
    <p:sldId id="356" r:id="rId18"/>
    <p:sldId id="347" r:id="rId19"/>
    <p:sldId id="357" r:id="rId20"/>
    <p:sldId id="348" r:id="rId21"/>
    <p:sldId id="358" r:id="rId22"/>
    <p:sldId id="349" r:id="rId23"/>
    <p:sldId id="359" r:id="rId24"/>
    <p:sldId id="350" r:id="rId25"/>
    <p:sldId id="262" r:id="rId26"/>
    <p:sldId id="263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386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891821" y="5617774"/>
            <a:ext cx="7382935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89952" y="1016990"/>
            <a:ext cx="7179733" cy="48316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90600" y="1009650"/>
            <a:ext cx="7179733" cy="4831643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769521" y="702069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7855433" y="749720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1" y="1794935"/>
            <a:ext cx="5723468" cy="182809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0" y="3736622"/>
            <a:ext cx="5712179" cy="152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70676" y="5357592"/>
            <a:ext cx="1213821" cy="365125"/>
          </a:xfrm>
        </p:spPr>
        <p:txBody>
          <a:bodyPr/>
          <a:lstStyle/>
          <a:p>
            <a:fld id="{72D92F55-3793-4648-AF7A-D9CEEE88ECC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4044" y="5357592"/>
            <a:ext cx="503484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13930" y="5357592"/>
            <a:ext cx="554023" cy="365125"/>
          </a:xfrm>
        </p:spPr>
        <p:txBody>
          <a:bodyPr/>
          <a:lstStyle>
            <a:lvl1pPr algn="ctr">
              <a:defRPr/>
            </a:lvl1pPr>
          </a:lstStyle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979" y="2239430"/>
            <a:ext cx="6254044" cy="1362075"/>
          </a:xfrm>
        </p:spPr>
        <p:txBody>
          <a:bodyPr anchor="b"/>
          <a:lstStyle>
            <a:lvl1pPr algn="ctr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267" y="3725334"/>
            <a:ext cx="6231467" cy="1309511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298448" y="2121407"/>
            <a:ext cx="3200400" cy="36027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63440" y="2119313"/>
            <a:ext cx="3200400" cy="36052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7869" y="2122312"/>
            <a:ext cx="2939521" cy="82020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669" y="2122311"/>
            <a:ext cx="2944368" cy="822960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298448" y="2944368"/>
            <a:ext cx="3227832" cy="2779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5151" y="2944813"/>
            <a:ext cx="3227832" cy="2779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Freeform 1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60000">
            <a:off x="4471416" y="603504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rot="21540000">
            <a:off x="749808" y="576072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9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8976" y="2020042"/>
            <a:ext cx="3064827" cy="15030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60000">
            <a:off x="4854291" y="1150993"/>
            <a:ext cx="3020792" cy="4625489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48125" y="3623748"/>
            <a:ext cx="3048891" cy="2100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1698" y="5885672"/>
            <a:ext cx="1213821" cy="365125"/>
          </a:xfrm>
        </p:spPr>
        <p:txBody>
          <a:bodyPr/>
          <a:lstStyle/>
          <a:p>
            <a:fld id="{72D92F55-3793-4648-AF7A-D9CEEE88ECC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54" y="5829261"/>
            <a:ext cx="352260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57313" y="5896961"/>
            <a:ext cx="554023" cy="365125"/>
          </a:xfrm>
        </p:spPr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Freeform 3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5058" y="575769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60000">
            <a:off x="4464768" y="603920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5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6424" y="2020824"/>
            <a:ext cx="3063240" cy="1499616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60000">
            <a:off x="4898615" y="1207272"/>
            <a:ext cx="2913863" cy="4539412"/>
          </a:xfrm>
          <a:ln w="101600" cap="rnd">
            <a:solidFill>
              <a:srgbClr val="FFFFFF"/>
            </a:solidFill>
          </a:ln>
          <a:effectLst>
            <a:outerShdw blurRad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52144" y="3621024"/>
            <a:ext cx="3044952" cy="210312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5936" y="5888737"/>
            <a:ext cx="1213821" cy="365125"/>
          </a:xfrm>
        </p:spPr>
        <p:txBody>
          <a:bodyPr/>
          <a:lstStyle/>
          <a:p>
            <a:fld id="{72D92F55-3793-4648-AF7A-D9CEEE88ECC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69" y="5831037"/>
            <a:ext cx="331904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62089" y="5900026"/>
            <a:ext cx="554023" cy="365125"/>
          </a:xfrm>
        </p:spPr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925690"/>
            <a:ext cx="1430867" cy="476391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8221" y="1106312"/>
            <a:ext cx="5178779" cy="440266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628650" y="6069330"/>
            <a:ext cx="792099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1520" y="575310"/>
            <a:ext cx="7696200" cy="5715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31520" y="576072"/>
            <a:ext cx="7696200" cy="5715000"/>
          </a:xfrm>
          <a:prstGeom prst="rect">
            <a:avLst/>
          </a:prstGeom>
          <a:blipFill dpi="0" rotWithShape="1">
            <a:blip r:embed="rId13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1435684">
            <a:off x="543741" y="273091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4096196">
            <a:off x="8115079" y="298163"/>
            <a:ext cx="566928" cy="566928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5023" y="817582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2119257"/>
            <a:ext cx="6196405" cy="36038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4588" y="5809152"/>
            <a:ext cx="1213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72D92F55-3793-4648-AF7A-D9CEEE88ECC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1" y="5809152"/>
            <a:ext cx="5540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0202" y="5809152"/>
            <a:ext cx="554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3040" y="2119257"/>
            <a:ext cx="6766560" cy="3603812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Professional </a:t>
            </a:r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Practices (HUM-305)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endParaRPr lang="en-US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SPRING SEMESTER 2026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By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Prof  </a:t>
            </a:r>
            <a:r>
              <a:rPr lang="en-US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Engr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Muhammad </a:t>
            </a:r>
            <a:r>
              <a:rPr lang="en-US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Raheel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Iqbal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Butt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Resource Person 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Contact: +92 321 7433568</a:t>
            </a:r>
          </a:p>
          <a:p>
            <a:pPr marL="0" indent="0" algn="ctr">
              <a:buNone/>
            </a:pPr>
            <a:endParaRPr lang="en-US" sz="22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22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School of Computer &amp; Information Technology</a:t>
            </a:r>
            <a:endParaRPr lang="en-US" sz="22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3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Beaconhouse</a:t>
            </a:r>
            <a:r>
              <a:rPr lang="en-US" sz="3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National University, Lahore</a:t>
            </a:r>
            <a:endParaRPr lang="en-US" sz="3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sz="36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899614"/>
            <a:ext cx="1627496" cy="1964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0765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869" y="762000"/>
            <a:ext cx="7493672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3612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817583"/>
            <a:ext cx="6965245" cy="858818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Chap 4: 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Intellectual Property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828800"/>
            <a:ext cx="7010400" cy="4191000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Principles, Laws, and Cases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What Is Intellectual Property?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Challenges of New Technologies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Bit of History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Ethical Arguments About Copying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Significant Legal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Cases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Search Engines and Online Libraries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Free Software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What Is Free Software?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Should All Software Be Free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Search Engines and Online Libraries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Free Software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What Is Free Software?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Should All Software Be Free?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460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817583"/>
            <a:ext cx="6965245" cy="858818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Video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3040" y="1676400"/>
            <a:ext cx="6842760" cy="4046669"/>
          </a:xfrm>
        </p:spPr>
        <p:txBody>
          <a:bodyPr/>
          <a:lstStyle/>
          <a:p>
            <a:r>
              <a:rPr lang="en-US" dirty="0"/>
              <a:t>https://study.com/academy/lesson/video/what-is-intellectual-property-definition-laws-quiz.html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667000"/>
            <a:ext cx="7239000" cy="33478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3450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75" y="685800"/>
            <a:ext cx="7515225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74234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Core Principles of Intellectual Property (IP)</a:t>
            </a:r>
            <a:endParaRPr lang="en-US" sz="24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Core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Principles of Intellectual Property (IP)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Intellectual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Property laws are designed to:</a:t>
            </a:r>
          </a:p>
          <a:p>
            <a:pPr lvl="0" algn="just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Encourage innovation and creativity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Reward creators financially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Protect ownership rights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Balance public access and private rights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IP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mainly includes:</a:t>
            </a:r>
          </a:p>
          <a:p>
            <a:pPr lvl="0" algn="just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Copyright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– protects books, software, music, videos</a:t>
            </a:r>
          </a:p>
          <a:p>
            <a:pPr lvl="0" algn="just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Patents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– protects inventions and processes</a:t>
            </a:r>
          </a:p>
          <a:p>
            <a:pPr lvl="0" algn="just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Trademarks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– protects brand names and logos</a:t>
            </a:r>
          </a:p>
          <a:p>
            <a:pPr lvl="0" algn="just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Trade Secrets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– protects confidential business information</a:t>
            </a:r>
          </a:p>
        </p:txBody>
      </p:sp>
    </p:spTree>
    <p:extLst>
      <p:ext uri="{BB962C8B-B14F-4D97-AF65-F5344CB8AC3E}">
        <p14:creationId xmlns:p14="http://schemas.microsoft.com/office/powerpoint/2010/main" val="1931728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61999"/>
            <a:ext cx="7424382" cy="52430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6891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What </a:t>
            </a: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Is Intellectual Property?</a:t>
            </a:r>
            <a:endParaRPr lang="en-US" sz="24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Intellectual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Property (IP) refers to creations of the mind such as: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Software code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Research papers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Digital art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Music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Designs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Algorithms</a:t>
            </a:r>
          </a:p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In Computer Science, IP covers: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Source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code , Apps, Database, Websites, AI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models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Windows operating system is protected by copyright owned by Microsoft.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iPhone design and technology are protected by patents owned by Apple Inc..</a:t>
            </a:r>
          </a:p>
        </p:txBody>
      </p:sp>
    </p:spTree>
    <p:extLst>
      <p:ext uri="{BB962C8B-B14F-4D97-AF65-F5344CB8AC3E}">
        <p14:creationId xmlns:p14="http://schemas.microsoft.com/office/powerpoint/2010/main" val="2101028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685800"/>
            <a:ext cx="7280852" cy="54966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20783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Challenges of New Technologies</a:t>
            </a:r>
            <a:endParaRPr lang="en-US" sz="24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Challenges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of New Technologies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Technology creates new IP problems:</a:t>
            </a: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Digital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Copying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Easy to copy software, movies, books.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One click = unlimited duplication.</a:t>
            </a: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Internet Distribution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Peer-to-peer sharing (e.g.,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torrenting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Cloud storage sharing.</a:t>
            </a: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AI &amp; Content Creation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Who owns AI-generated content?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Is training AI on copyrighted data legal?</a:t>
            </a: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3D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Printing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Physical products can be copied digitally.</a:t>
            </a:r>
          </a:p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Example: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Music-sharing platforms like Napster created major copyright conflicts.</a:t>
            </a:r>
          </a:p>
        </p:txBody>
      </p:sp>
    </p:spTree>
    <p:extLst>
      <p:ext uri="{BB962C8B-B14F-4D97-AF65-F5344CB8AC3E}">
        <p14:creationId xmlns:p14="http://schemas.microsoft.com/office/powerpoint/2010/main" val="4036012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838199"/>
            <a:ext cx="7243449" cy="5371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1200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A </a:t>
            </a:r>
            <a:r>
              <a:rPr lang="en-US" sz="2400" b="1" dirty="0">
                <a:solidFill>
                  <a:srgbClr val="C00000"/>
                </a:solidFill>
              </a:rPr>
              <a:t>Bit of History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Early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Copyright Law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First copyright law: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Statute of Anne (1710)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in England.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US Copyright Act: 1790.</a:t>
            </a:r>
          </a:p>
          <a:p>
            <a:pPr marL="0" indent="0"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Software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Protection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 the 1970s, software was not clearly protected.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Later recognized as copyright-protected.</a:t>
            </a:r>
          </a:p>
          <a:p>
            <a:pPr marL="0" indent="0"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Digital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Millennium Copyright Act (DMCA) – 1998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Protects digital content.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Criminalizes bypassing DRM (Digital Rights Management)</a:t>
            </a:r>
          </a:p>
        </p:txBody>
      </p:sp>
    </p:spTree>
    <p:extLst>
      <p:ext uri="{BB962C8B-B14F-4D97-AF65-F5344CB8AC3E}">
        <p14:creationId xmlns:p14="http://schemas.microsoft.com/office/powerpoint/2010/main" val="2775372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838200"/>
            <a:ext cx="7377788" cy="5344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462731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Ethical Arguments About Copying</a:t>
            </a:r>
            <a:endParaRPr lang="en-US" sz="24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Arguments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Against Copying (Piracy is Wrong)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Creators deserve payment.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Copying harms innovation.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It is theft of intellectual labor.</a:t>
            </a:r>
          </a:p>
          <a:p>
            <a:pPr marL="0" indent="0"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Arguments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Supporting Copying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Information should be free.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High prices limit education.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Sharing promotes knowledge.</a:t>
            </a:r>
          </a:p>
          <a:p>
            <a:pPr marL="0" indent="0"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Ethical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debate: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Is downloading a movie illegally the same as stealing a physical object?</a:t>
            </a:r>
          </a:p>
        </p:txBody>
      </p:sp>
    </p:spTree>
    <p:extLst>
      <p:ext uri="{BB962C8B-B14F-4D97-AF65-F5344CB8AC3E}">
        <p14:creationId xmlns:p14="http://schemas.microsoft.com/office/powerpoint/2010/main" val="3662998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685799"/>
            <a:ext cx="7266296" cy="5482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62537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Significant Legal Cases</a:t>
            </a:r>
            <a:endParaRPr lang="en-US" sz="24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A&amp;M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Records v. Napster (2001)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Napster was sued for enabling music piracy.</a:t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Court ruled Napster responsible for copyright infringement.</a:t>
            </a:r>
          </a:p>
          <a:p>
            <a:pPr marL="0" indent="0" algn="just"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MGM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Studios v. 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Grokster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 (2005)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MGM Studios sued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Grokster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Supreme Court ruled companies encouraging piracy can be liable.</a:t>
            </a:r>
          </a:p>
          <a:p>
            <a:pPr marL="0" indent="0" algn="just"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Authors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Guild v. Google (2015)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Authors Guild sued Google over Google Books scanning.</a:t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Court ruled Google's scanning was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fair use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96335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85812"/>
            <a:ext cx="7367546" cy="5287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967335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Search </a:t>
            </a:r>
            <a:r>
              <a:rPr lang="en-US" sz="2400" b="1" dirty="0">
                <a:solidFill>
                  <a:srgbClr val="C00000"/>
                </a:solidFill>
              </a:rPr>
              <a:t>Engines and Online Libraries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Search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Engines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Search engines like Google: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Copy web pages temporarily.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Store cached versions.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Display snippets.</a:t>
            </a:r>
          </a:p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Legal issue: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Is copying web pages for indexing copyright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violation? Courts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generally allow it under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fair use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Online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Libraries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Examples: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Project Gutenberg (public domain books)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Internet Archive</a:t>
            </a:r>
          </a:p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Issues: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Digitizing copyrighted books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Controlled digital lending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Publisher lawsuits</a:t>
            </a:r>
          </a:p>
        </p:txBody>
      </p:sp>
    </p:spTree>
    <p:extLst>
      <p:ext uri="{BB962C8B-B14F-4D97-AF65-F5344CB8AC3E}">
        <p14:creationId xmlns:p14="http://schemas.microsoft.com/office/powerpoint/2010/main" val="26041316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61999"/>
            <a:ext cx="7391355" cy="5379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46938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Free </a:t>
            </a:r>
            <a:r>
              <a:rPr lang="en-US" sz="2400" b="1" dirty="0">
                <a:solidFill>
                  <a:srgbClr val="C00000"/>
                </a:solidFill>
              </a:rPr>
              <a:t>Software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What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Is Free Software?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Free software means: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Freedom to use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Freedom to modify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Freedom to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share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Not necessarily "zero price".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Founded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by: Richard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Stallman</a:t>
            </a:r>
          </a:p>
          <a:p>
            <a:pPr marL="0" indent="0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Organization: Free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Software Foundation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Linux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GNU Compiler Collection</a:t>
            </a:r>
          </a:p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Key Freedoms (Four Freedoms)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Run the program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Study the code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Modify it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Share copies</a:t>
            </a:r>
          </a:p>
        </p:txBody>
      </p:sp>
    </p:spTree>
    <p:extLst>
      <p:ext uri="{BB962C8B-B14F-4D97-AF65-F5344CB8AC3E}">
        <p14:creationId xmlns:p14="http://schemas.microsoft.com/office/powerpoint/2010/main" val="18270365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688" y="685799"/>
            <a:ext cx="7359972" cy="5442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262779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Should </a:t>
            </a:r>
            <a:r>
              <a:rPr lang="en-US" sz="2400" b="1" dirty="0">
                <a:solidFill>
                  <a:srgbClr val="C00000"/>
                </a:solidFill>
              </a:rPr>
              <a:t>All Software Be Free?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Arguments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FOR Free Software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Promotes innovation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Reduces monopoly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Improves security (code is open)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Encourages collaboration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Example:</a:t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Linux powers: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Servers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Android phones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Supercomputers</a:t>
            </a:r>
          </a:p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Arguments AGAINST All Software Being Free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Developers need financial incentive.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Companies invest billions in R&amp;D.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Some projects require strong commercial protection.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Example:</a:t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Microsoft sells Windows as proprietary software for revenue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5569111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" y="761999"/>
            <a:ext cx="7383439" cy="5352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828866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914399"/>
            <a:ext cx="7313946" cy="5172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918149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838200"/>
            <a:ext cx="7045105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47409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762000"/>
            <a:ext cx="713619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16513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ushpin">
  <a:themeElements>
    <a:clrScheme name="Pushpin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Pushpin">
      <a:majorFont>
        <a:latin typeface="Constantia"/>
        <a:ea typeface=""/>
        <a:cs typeface=""/>
        <a:font script="Jpan" typeface="HGS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Arial"/>
        <a:font script="Cyrl" typeface="Arial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ushpi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  <a:lumMod val="100000"/>
              </a:schemeClr>
            </a:gs>
            <a:gs pos="40000">
              <a:schemeClr val="phClr">
                <a:tint val="60000"/>
                <a:satMod val="130000"/>
                <a:lumMod val="100000"/>
              </a:schemeClr>
            </a:gs>
            <a:gs pos="100000">
              <a:schemeClr val="phClr">
                <a:tint val="96000"/>
                <a:lumMod val="108000"/>
              </a:schemeClr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>
                <a:shade val="76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80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38100" dir="4800000" sx="98000" sy="98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38100" dist="38100" dir="4800000" sx="96000" sy="96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240000"/>
            </a:lightRig>
          </a:scene3d>
          <a:sp3d>
            <a:bevelT w="28575" h="28575"/>
          </a:sp3d>
        </a:effectStyle>
      </a:effectStyleLst>
      <a:bgFillStyleLst>
        <a:solidFill>
          <a:schemeClr val="phClr">
            <a:tint val="93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satMod val="140000"/>
                <a:lumMod val="50000"/>
              </a:schemeClr>
              <a:schemeClr val="phClr">
                <a:tint val="95000"/>
                <a:satMod val="180000"/>
                <a:lumMod val="16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  <a:shade val="90000"/>
                <a:satMod val="120000"/>
                <a:lumMod val="54000"/>
              </a:schemeClr>
              <a:schemeClr val="phClr">
                <a:tint val="80000"/>
                <a:satMod val="160000"/>
                <a:lumMod val="14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Pushpin</Template>
  <TotalTime>4229</TotalTime>
  <Words>537</Words>
  <Application>Microsoft Office PowerPoint</Application>
  <PresentationFormat>On-screen Show (4:3)</PresentationFormat>
  <Paragraphs>151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Pushpin</vt:lpstr>
      <vt:lpstr>PowerPoint Presentation</vt:lpstr>
      <vt:lpstr>PowerPoint Presentation</vt:lpstr>
      <vt:lpstr>Chap 4: Intellectual Property</vt:lpstr>
      <vt:lpstr>Video</vt:lpstr>
      <vt:lpstr>PowerPoint Presentation</vt:lpstr>
      <vt:lpstr>Core Principles of Intellectual Property (IP)</vt:lpstr>
      <vt:lpstr>PowerPoint Presentation</vt:lpstr>
      <vt:lpstr>What Is Intellectual Property?</vt:lpstr>
      <vt:lpstr>PowerPoint Presentation</vt:lpstr>
      <vt:lpstr>Challenges of New Technologies</vt:lpstr>
      <vt:lpstr>PowerPoint Presentation</vt:lpstr>
      <vt:lpstr>A Bit of History</vt:lpstr>
      <vt:lpstr>PowerPoint Presentation</vt:lpstr>
      <vt:lpstr>Ethical Arguments About Copying</vt:lpstr>
      <vt:lpstr>PowerPoint Presentation</vt:lpstr>
      <vt:lpstr>Significant Legal Cases</vt:lpstr>
      <vt:lpstr>PowerPoint Presentation</vt:lpstr>
      <vt:lpstr>Search Engines and Online Libraries</vt:lpstr>
      <vt:lpstr>PowerPoint Presentation</vt:lpstr>
      <vt:lpstr>Free Software</vt:lpstr>
      <vt:lpstr>PowerPoint Presentation</vt:lpstr>
      <vt:lpstr>Should All Software Be Free?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64</cp:revision>
  <dcterms:created xsi:type="dcterms:W3CDTF">2023-10-01T18:45:03Z</dcterms:created>
  <dcterms:modified xsi:type="dcterms:W3CDTF">2026-03-03T01:51:09Z</dcterms:modified>
</cp:coreProperties>
</file>