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2"/>
  </p:notesMasterIdLst>
  <p:sldIdLst>
    <p:sldId id="257" r:id="rId2"/>
    <p:sldId id="265" r:id="rId3"/>
    <p:sldId id="259" r:id="rId4"/>
    <p:sldId id="317" r:id="rId5"/>
    <p:sldId id="341" r:id="rId6"/>
    <p:sldId id="331" r:id="rId7"/>
    <p:sldId id="342" r:id="rId8"/>
    <p:sldId id="343" r:id="rId9"/>
    <p:sldId id="344" r:id="rId10"/>
    <p:sldId id="345" r:id="rId11"/>
    <p:sldId id="346" r:id="rId12"/>
    <p:sldId id="348" r:id="rId13"/>
    <p:sldId id="347" r:id="rId14"/>
    <p:sldId id="349" r:id="rId15"/>
    <p:sldId id="350" r:id="rId16"/>
    <p:sldId id="351" r:id="rId17"/>
    <p:sldId id="353" r:id="rId18"/>
    <p:sldId id="352" r:id="rId19"/>
    <p:sldId id="262" r:id="rId20"/>
    <p:sldId id="263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0" d="100"/>
          <a:sy n="70" d="100"/>
        </p:scale>
        <p:origin x="-1386" y="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6BD0B4-4ABD-467C-9EB4-04F653D3D415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B68F07-0ECC-4CFA-BC3E-9FA163DB3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7514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# 2. The Need for Responsible Judgment</a:t>
            </a:r>
          </a:p>
          <a:p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* Technology decisions impact **society, privacy, and ethics**</a:t>
            </a:r>
          </a:p>
          <a:p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* Requires:</a:t>
            </a:r>
          </a:p>
          <a:p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 * **Ethical reasoning**</a:t>
            </a:r>
          </a:p>
          <a:p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 * Awareness of **social consequences**</a:t>
            </a:r>
          </a:p>
          <a:p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 * **Accountability** in decision-making</a:t>
            </a:r>
          </a:p>
          <a:p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* Professionals must balance:</a:t>
            </a:r>
          </a:p>
          <a:p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 * Innovation </a:t>
            </a:r>
            <a:r>
              <a:rPr lang="en-US" sz="1200" dirty="0" err="1" smtClean="0">
                <a:latin typeface="Times New Roman" pitchFamily="18" charset="0"/>
                <a:cs typeface="Times New Roman" pitchFamily="18" charset="0"/>
              </a:rPr>
              <a:t>vs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**risk**</a:t>
            </a:r>
          </a:p>
          <a:p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 * Profit </a:t>
            </a:r>
            <a:r>
              <a:rPr lang="en-US" sz="1200" dirty="0" err="1" smtClean="0">
                <a:latin typeface="Times New Roman" pitchFamily="18" charset="0"/>
                <a:cs typeface="Times New Roman" pitchFamily="18" charset="0"/>
              </a:rPr>
              <a:t>vs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**public welfare**</a:t>
            </a:r>
          </a:p>
          <a:p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* Example: Data privacy </a:t>
            </a:r>
            <a:r>
              <a:rPr lang="en-US" sz="1200" dirty="0" err="1" smtClean="0">
                <a:latin typeface="Times New Roman" pitchFamily="18" charset="0"/>
                <a:cs typeface="Times New Roman" pitchFamily="18" charset="0"/>
              </a:rPr>
              <a:t>vs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business analytics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B68F07-0ECC-4CFA-BC3E-9FA163DB399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4962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Freeform 9"/>
          <p:cNvSpPr/>
          <p:nvPr/>
        </p:nvSpPr>
        <p:spPr>
          <a:xfrm rot="10800000">
            <a:off x="891821" y="5617774"/>
            <a:ext cx="7382935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989952" y="1016990"/>
            <a:ext cx="7179733" cy="4831643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990600" y="1009650"/>
            <a:ext cx="7179733" cy="4831643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435684">
            <a:off x="769521" y="702069"/>
            <a:ext cx="567831" cy="567830"/>
          </a:xfrm>
          <a:prstGeom prst="rect">
            <a:avLst/>
          </a:prstGeom>
          <a:noFill/>
        </p:spPr>
      </p:pic>
      <p:pic>
        <p:nvPicPr>
          <p:cNvPr id="14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4096196">
            <a:off x="7855433" y="749720"/>
            <a:ext cx="566928" cy="566928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27201" y="1794935"/>
            <a:ext cx="5723468" cy="1828090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27200" y="3736622"/>
            <a:ext cx="5712179" cy="1524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70676" y="5357592"/>
            <a:ext cx="1213821" cy="365125"/>
          </a:xfrm>
        </p:spPr>
        <p:txBody>
          <a:bodyPr/>
          <a:lstStyle/>
          <a:p>
            <a:fld id="{72D92F55-3793-4648-AF7A-D9CEEE88ECC8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74044" y="5357592"/>
            <a:ext cx="503484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13930" y="5357592"/>
            <a:ext cx="554023" cy="365125"/>
          </a:xfrm>
        </p:spPr>
        <p:txBody>
          <a:bodyPr/>
          <a:lstStyle>
            <a:lvl1pPr algn="ctr">
              <a:defRPr/>
            </a:lvl1pPr>
          </a:lstStyle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979" y="2239430"/>
            <a:ext cx="6254044" cy="1362075"/>
          </a:xfrm>
        </p:spPr>
        <p:txBody>
          <a:bodyPr anchor="b"/>
          <a:lstStyle>
            <a:lvl1pPr algn="ctr">
              <a:defRPr sz="4000" b="0" cap="none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6267" y="3725334"/>
            <a:ext cx="6231467" cy="1309511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298448" y="2121407"/>
            <a:ext cx="3200400" cy="360273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63440" y="2119313"/>
            <a:ext cx="3200400" cy="360521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7869" y="2122312"/>
            <a:ext cx="2939521" cy="820208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10669" y="2122311"/>
            <a:ext cx="2944368" cy="822960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1298448" y="2944368"/>
            <a:ext cx="3227832" cy="277977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45151" y="2944813"/>
            <a:ext cx="3227832" cy="277977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Freeform 10"/>
          <p:cNvSpPr/>
          <p:nvPr/>
        </p:nvSpPr>
        <p:spPr>
          <a:xfrm rot="10800000">
            <a:off x="632177" y="6058038"/>
            <a:ext cx="7721601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 rot="60000">
            <a:off x="4468872" y="605163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 rot="60000">
            <a:off x="4471416" y="603504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 rot="21540000">
            <a:off x="749204" y="576868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 rot="21540000">
            <a:off x="749808" y="576072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435684">
            <a:off x="2371106" y="293953"/>
            <a:ext cx="567831" cy="567830"/>
          </a:xfrm>
          <a:prstGeom prst="rect">
            <a:avLst/>
          </a:prstGeom>
          <a:noFill/>
        </p:spPr>
      </p:pic>
      <p:pic>
        <p:nvPicPr>
          <p:cNvPr id="19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4096196">
            <a:off x="6279647" y="333163"/>
            <a:ext cx="566928" cy="566928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-60000">
            <a:off x="1108976" y="2020042"/>
            <a:ext cx="3064827" cy="1503037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 rot="60000">
            <a:off x="4854291" y="1150993"/>
            <a:ext cx="3020792" cy="4625489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-60000">
            <a:off x="1148125" y="3623748"/>
            <a:ext cx="3048891" cy="2100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 rot="60000">
            <a:off x="6341698" y="5885672"/>
            <a:ext cx="1213821" cy="365125"/>
          </a:xfrm>
        </p:spPr>
        <p:txBody>
          <a:bodyPr/>
          <a:lstStyle/>
          <a:p>
            <a:fld id="{72D92F55-3793-4648-AF7A-D9CEEE88ECC8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 rot="-60000">
            <a:off x="914554" y="5829261"/>
            <a:ext cx="352260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 rot="60000">
            <a:off x="7557313" y="5896961"/>
            <a:ext cx="554023" cy="365125"/>
          </a:xfrm>
        </p:spPr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" name="Freeform 30"/>
          <p:cNvSpPr/>
          <p:nvPr/>
        </p:nvSpPr>
        <p:spPr>
          <a:xfrm rot="10800000">
            <a:off x="632177" y="6058038"/>
            <a:ext cx="7721601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 rot="21540000">
            <a:off x="749204" y="576868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 rot="21540000">
            <a:off x="745058" y="575769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 rot="60000">
            <a:off x="4468872" y="605163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 rot="60000">
            <a:off x="4464768" y="603920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435684">
            <a:off x="2371106" y="293953"/>
            <a:ext cx="567831" cy="567830"/>
          </a:xfrm>
          <a:prstGeom prst="rect">
            <a:avLst/>
          </a:prstGeom>
          <a:noFill/>
        </p:spPr>
      </p:pic>
      <p:pic>
        <p:nvPicPr>
          <p:cNvPr id="15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4096196">
            <a:off x="6279647" y="333163"/>
            <a:ext cx="566928" cy="566928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-60000">
            <a:off x="1106424" y="2020824"/>
            <a:ext cx="3063240" cy="1499616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60000">
            <a:off x="4898615" y="1207272"/>
            <a:ext cx="2913863" cy="4539412"/>
          </a:xfrm>
          <a:ln w="101600" cap="rnd">
            <a:solidFill>
              <a:srgbClr val="FFFFFF"/>
            </a:solidFill>
          </a:ln>
          <a:effectLst>
            <a:outerShdw blurRad="889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-60000">
            <a:off x="1152144" y="3621024"/>
            <a:ext cx="3044952" cy="210312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 rot="60000">
            <a:off x="6345936" y="5888737"/>
            <a:ext cx="1213821" cy="365125"/>
          </a:xfrm>
        </p:spPr>
        <p:txBody>
          <a:bodyPr/>
          <a:lstStyle/>
          <a:p>
            <a:fld id="{72D92F55-3793-4648-AF7A-D9CEEE88ECC8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 rot="-60000">
            <a:off x="914569" y="5831037"/>
            <a:ext cx="331904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 rot="60000">
            <a:off x="7562089" y="5900026"/>
            <a:ext cx="554023" cy="365125"/>
          </a:xfrm>
        </p:spPr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1" y="925690"/>
            <a:ext cx="1430867" cy="476391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8221" y="1106312"/>
            <a:ext cx="5178779" cy="440266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Freeform 9"/>
          <p:cNvSpPr/>
          <p:nvPr/>
        </p:nvSpPr>
        <p:spPr>
          <a:xfrm rot="10800000">
            <a:off x="628650" y="6069330"/>
            <a:ext cx="7920991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31520" y="575310"/>
            <a:ext cx="7696200" cy="5715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31520" y="576072"/>
            <a:ext cx="7696200" cy="5715000"/>
          </a:xfrm>
          <a:prstGeom prst="rect">
            <a:avLst/>
          </a:prstGeom>
          <a:blipFill dpi="0" rotWithShape="1">
            <a:blip r:embed="rId13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 rot="1435684">
            <a:off x="543741" y="273091"/>
            <a:ext cx="567831" cy="567830"/>
          </a:xfrm>
          <a:prstGeom prst="rect">
            <a:avLst/>
          </a:prstGeom>
          <a:noFill/>
        </p:spPr>
      </p:pic>
      <p:pic>
        <p:nvPicPr>
          <p:cNvPr id="14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 rot="4096196">
            <a:off x="8115079" y="298163"/>
            <a:ext cx="566928" cy="566928"/>
          </a:xfrm>
          <a:prstGeom prst="rect">
            <a:avLst/>
          </a:prstGeom>
          <a:noFill/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5023" y="817582"/>
            <a:ext cx="6965245" cy="12024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63040" y="2119257"/>
            <a:ext cx="6196405" cy="36038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54588" y="5809152"/>
            <a:ext cx="12138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  <a:latin typeface="Rage Italic" pitchFamily="66" charset="0"/>
              </a:defRPr>
            </a:lvl1pPr>
          </a:lstStyle>
          <a:p>
            <a:fld id="{72D92F55-3793-4648-AF7A-D9CEEE88ECC8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4401" y="5809152"/>
            <a:ext cx="55401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2"/>
                </a:solidFill>
                <a:latin typeface="Rage Italic" pitchFamily="66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0202" y="5809152"/>
            <a:ext cx="5540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2"/>
                </a:solidFill>
                <a:latin typeface="Rage Italic" pitchFamily="66" charset="0"/>
              </a:defRPr>
            </a:lvl1pPr>
          </a:lstStyle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1168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youtu.be/Vz3KVBu6lxM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63040" y="2119257"/>
            <a:ext cx="6766560" cy="3603812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Professional </a:t>
            </a:r>
            <a:r>
              <a:rPr lang="en-US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Practices (HUM-305)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endParaRPr lang="en-US" b="1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SPRING SEMESTER 2026</a:t>
            </a:r>
          </a:p>
          <a:p>
            <a:pPr marL="0" indent="0" algn="ctr">
              <a:buNone/>
            </a:pP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By</a:t>
            </a:r>
          </a:p>
          <a:p>
            <a:pPr marL="0" indent="0" algn="ctr">
              <a:buNone/>
            </a:pPr>
            <a:r>
              <a:rPr lang="en-US" sz="20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Prof  </a:t>
            </a:r>
            <a:r>
              <a:rPr lang="en-US" sz="2000" b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Engr</a:t>
            </a:r>
            <a:r>
              <a:rPr lang="en-US" sz="20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Muhammad </a:t>
            </a:r>
            <a:r>
              <a:rPr lang="en-US" sz="2000" b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Raheel</a:t>
            </a:r>
            <a:r>
              <a:rPr lang="en-US" sz="20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Iqbal</a:t>
            </a:r>
            <a:r>
              <a:rPr lang="en-US" sz="20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Butt</a:t>
            </a:r>
          </a:p>
          <a:p>
            <a:pPr marL="0" indent="0" algn="ctr">
              <a:buNone/>
            </a:pPr>
            <a:r>
              <a:rPr lang="en-US" sz="20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Resource Person </a:t>
            </a:r>
          </a:p>
          <a:p>
            <a:pPr marL="0" indent="0" algn="ctr">
              <a:buNone/>
            </a:pP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Contact: +92 321 7433568</a:t>
            </a:r>
          </a:p>
          <a:p>
            <a:pPr marL="0" indent="0" algn="ctr">
              <a:buNone/>
            </a:pPr>
            <a:endParaRPr lang="en-US" sz="2200" b="1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sz="22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School of Computer &amp; Information Technology</a:t>
            </a:r>
            <a:endParaRPr lang="en-US" sz="22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sz="3000" b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Beaconhouse</a:t>
            </a:r>
            <a:r>
              <a:rPr lang="en-US" sz="30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National University, Lahore</a:t>
            </a:r>
            <a:endParaRPr lang="en-US" sz="3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sz="36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5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899614"/>
            <a:ext cx="1627496" cy="1964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50765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869" y="762000"/>
            <a:ext cx="7493672" cy="541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936129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817583"/>
            <a:ext cx="6965245" cy="858818"/>
          </a:xfrm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Chap 7 Evaluating And Controlling Technology</a:t>
            </a:r>
            <a:endParaRPr lang="en-US" sz="28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828800"/>
            <a:ext cx="7010400" cy="4191000"/>
          </a:xfrm>
        </p:spPr>
        <p:txBody>
          <a:bodyPr>
            <a:normAutofit fontScale="92500" lnSpcReduction="10000"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Evaluating Information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Need for Responsible Judgment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Computer Models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“Digital Divide”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Trends in Computer Access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Global Divide and the Next Billion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Users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Neo-Luddite Views of Computers, Technology, and Quality of Life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Criticisms of Computing Technologies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Views of Economics, Nature, and Human Needs Making Decisions About Technology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Intelligent Machines and Super intelligent Humans—Or the End of the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Human Race?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54604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817583"/>
            <a:ext cx="6965245" cy="858818"/>
          </a:xfrm>
        </p:spPr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Video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63040" y="1676400"/>
            <a:ext cx="6196405" cy="4046669"/>
          </a:xfrm>
        </p:spPr>
        <p:txBody>
          <a:bodyPr/>
          <a:lstStyle/>
          <a:p>
            <a:r>
              <a:rPr lang="en-US" dirty="0">
                <a:hlinkClick r:id="rId2" tooltip="Share link"/>
              </a:rPr>
              <a:t>https://youtu.be/Vz3KVBu6lxM</a:t>
            </a:r>
            <a:endParaRPr lang="en-US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209800"/>
            <a:ext cx="7467600" cy="396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834506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399" y="1000124"/>
            <a:ext cx="7305757" cy="51550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0287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1. Evaluating Information</a:t>
            </a:r>
            <a:endParaRPr lang="en-US" sz="24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Ability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to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assess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accuracy, reliability, and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relevance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of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information</a:t>
            </a:r>
          </a:p>
          <a:p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Important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in the age of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fake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news, misinformation, and AI-generated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content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Key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evaluation criteria: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Source credibility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(author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, organization)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Evidence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references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Bias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objectivity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Timeliness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(updated data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Critical thinking is essential to avoid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misleading conclusions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17280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r>
              <a:rPr lang="en-US" sz="24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. The Need for Responsible Judgment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  Technology decisions impact society, privacy, and ethics</a:t>
            </a:r>
          </a:p>
          <a:p>
            <a:pPr marL="0" indent="0">
              <a:buNone/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Requires:</a:t>
            </a: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 Ethical reasoning</a:t>
            </a: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 Awareness of social consequences</a:t>
            </a: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 Accountability in decision-making</a:t>
            </a:r>
          </a:p>
          <a:p>
            <a:pPr marL="0" indent="0">
              <a:buNone/>
            </a:pPr>
            <a:endParaRPr lang="en-US" sz="18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Professionals must balance:</a:t>
            </a: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 Innovation </a:t>
            </a:r>
            <a:r>
              <a:rPr lang="en-US" sz="1800" dirty="0" err="1" smtClean="0">
                <a:latin typeface="Times New Roman" pitchFamily="18" charset="0"/>
                <a:cs typeface="Times New Roman" pitchFamily="18" charset="0"/>
              </a:rPr>
              <a:t>vs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risk</a:t>
            </a: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 Profit </a:t>
            </a:r>
            <a:r>
              <a:rPr lang="en-US" sz="1800" dirty="0" err="1" smtClean="0">
                <a:latin typeface="Times New Roman" pitchFamily="18" charset="0"/>
                <a:cs typeface="Times New Roman" pitchFamily="18" charset="0"/>
              </a:rPr>
              <a:t>vs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public welfare</a:t>
            </a:r>
          </a:p>
          <a:p>
            <a:pPr marL="0" indent="0">
              <a:buNone/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Example: Data privacy </a:t>
            </a:r>
            <a:r>
              <a:rPr lang="en-US" sz="1800" dirty="0" err="1" smtClean="0">
                <a:latin typeface="Times New Roman" pitchFamily="18" charset="0"/>
                <a:cs typeface="Times New Roman" pitchFamily="18" charset="0"/>
              </a:rPr>
              <a:t>vs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business analytics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073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# 3. Computer Models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Mathematical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or simulation-based systems used to **predict outcomes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**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* Used in: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 * Weather forecasting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 * Business decision-making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 * Healthcare and research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* Advantages: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 * Fast processing of complex data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 * Helps in **decision support**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* Limitations: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 * Based on assumptions → may be inaccurate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 * “Garbage in, garbage out” problem</a:t>
            </a:r>
          </a:p>
        </p:txBody>
      </p:sp>
    </p:spTree>
    <p:extLst>
      <p:ext uri="{BB962C8B-B14F-4D97-AF65-F5344CB8AC3E}">
        <p14:creationId xmlns:p14="http://schemas.microsoft.com/office/powerpoint/2010/main" val="9413369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# 4. The Digital Divide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* Gap between people who have access to technology and those who don’t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* Types: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 * **Access divide** (devices, internet)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 * **Skill divide** (digital literacy)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* Causes: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 * Poverty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 * Lack of infrastructure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 * Education level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* Effects: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 * Inequality in education, jobs, and opportunities</a:t>
            </a:r>
          </a:p>
        </p:txBody>
      </p:sp>
    </p:spTree>
    <p:extLst>
      <p:ext uri="{BB962C8B-B14F-4D97-AF65-F5344CB8AC3E}">
        <p14:creationId xmlns:p14="http://schemas.microsoft.com/office/powerpoint/2010/main" val="3502850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# 5. Trends in Computer Access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* Increasing use of: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 * Smartphones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 * Cloud computing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 * Internet services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* Growth in: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 * Remote work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 * Online education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* Shift from **desktop → mobile-first world**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* However, inequality still exists in rural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vs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urban areas</a:t>
            </a:r>
          </a:p>
        </p:txBody>
      </p:sp>
    </p:spTree>
    <p:extLst>
      <p:ext uri="{BB962C8B-B14F-4D97-AF65-F5344CB8AC3E}">
        <p14:creationId xmlns:p14="http://schemas.microsoft.com/office/powerpoint/2010/main" val="13995846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# 6. The Global Divide and the Next Billion Users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* Focus on connecting the **next billion users** (mostly in developing countries)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* Challenges: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 * Infrastructure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 * Cost of devices and internet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 * Language barriers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* Opportunities: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 * Economic growth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 * Education access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 * Digital inclusion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* Companies expanding into **Asia, Africa, and rural regions**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2115324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7. Neo-Luddite Views of Technology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* Neo-Luddites criticize rapid technological growth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* Concerns: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 * Loss of jobs due to automation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 * Overdependence on machines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 * Reduced human interaction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* Believe technology may **harm quality of life**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* Advocate for **controlled and limited use of technology**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7247110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8. Criticisms of Computing Technologies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* Privacy invasion (data tracking, surveillance)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* Cybercrime and hacking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* Job displacement due to automation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* Health issues: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 * Screen addiction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 * Reduced physical activity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* Environmental concerns: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 * E-waste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 * Energy consumption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8483125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r>
              <a:rPr lang="en-US" sz="2400" b="1" dirty="0" smtClean="0">
                <a:solidFill>
                  <a:srgbClr val="C00000"/>
                </a:solidFill>
              </a:rPr>
              <a:t>9</a:t>
            </a:r>
            <a:r>
              <a:rPr lang="en-US" sz="2400" b="1" dirty="0">
                <a:solidFill>
                  <a:srgbClr val="C00000"/>
                </a:solidFill>
              </a:rPr>
              <a:t>. Views of Economics, Nature, and Human Needs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* Technology affects: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 * **Economy** → productivity, jobs, global trade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 * **Nature** → pollution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vs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green tech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 * **Human needs** → comfort, communication, healthcare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* Debate: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 * Is technology fulfilling real needs or creating artificial ones?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* Balance required between: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 * Growth and sustainability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9313888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10. Making Decisions About Technology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Requires:</a:t>
            </a:r>
          </a:p>
          <a:p>
            <a:pPr marL="0" indent="0">
              <a:buNone/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 * Cost-benefit analysis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 * Ethical considerations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 * Risk assessment</a:t>
            </a:r>
          </a:p>
          <a:p>
            <a:pPr marL="0" indent="0"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Questions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to ask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 * Who benefits?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 * Who is harmed?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 * Is it sustainable?</a:t>
            </a:r>
          </a:p>
          <a:p>
            <a:pPr marL="0" indent="0">
              <a:buNone/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Involves stakeholders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 * Government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 * Businesses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 * Society</a:t>
            </a:r>
          </a:p>
        </p:txBody>
      </p:sp>
    </p:spTree>
    <p:extLst>
      <p:ext uri="{BB962C8B-B14F-4D97-AF65-F5344CB8AC3E}">
        <p14:creationId xmlns:p14="http://schemas.microsoft.com/office/powerpoint/2010/main" val="3523886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r>
              <a:rPr lang="en-US" sz="1800" b="1" dirty="0">
                <a:solidFill>
                  <a:srgbClr val="C00000"/>
                </a:solidFill>
              </a:rPr>
              <a:t>11. Intelligent Machines and </a:t>
            </a:r>
            <a:r>
              <a:rPr lang="en-US" sz="1800" b="1" dirty="0" err="1">
                <a:solidFill>
                  <a:srgbClr val="C00000"/>
                </a:solidFill>
              </a:rPr>
              <a:t>Superintelligent</a:t>
            </a:r>
            <a:r>
              <a:rPr lang="en-US" sz="1800" b="1" dirty="0">
                <a:solidFill>
                  <a:srgbClr val="C00000"/>
                </a:solidFill>
              </a:rPr>
              <a:t> Humans — Or the End of the Human Race?</a:t>
            </a:r>
            <a:endParaRPr lang="en-US" sz="1800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Concept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Development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of **Artificial Intelligence (AI)** that may surpass human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intelligence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Optimistic View</a:t>
            </a:r>
          </a:p>
          <a:p>
            <a:pPr marL="0" indent="0"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AI can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 * Improve healthcare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 * Solve global problems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 * Enhance human abilities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* Concept of **human-AI collaboration**</a:t>
            </a:r>
          </a:p>
          <a:p>
            <a:pPr marL="0" indent="0"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Pessimistic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View</a:t>
            </a:r>
          </a:p>
          <a:p>
            <a:pPr marL="0" indent="0"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Risks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 * Loss of human control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 * Job elimination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 * Ethical concerns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* Fear of **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superintelligent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AI dominating humans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**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24835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r>
              <a:rPr lang="en-US" sz="1800" b="1" dirty="0">
                <a:solidFill>
                  <a:srgbClr val="C00000"/>
                </a:solidFill>
              </a:rPr>
              <a:t>11. Intelligent Machines and </a:t>
            </a:r>
            <a:r>
              <a:rPr lang="en-US" sz="1800" b="1" dirty="0" err="1">
                <a:solidFill>
                  <a:srgbClr val="C00000"/>
                </a:solidFill>
              </a:rPr>
              <a:t>Superintelligent</a:t>
            </a:r>
            <a:r>
              <a:rPr lang="en-US" sz="1800" b="1" dirty="0">
                <a:solidFill>
                  <a:srgbClr val="C00000"/>
                </a:solidFill>
              </a:rPr>
              <a:t> Humans — Or the End of the Human Race?</a:t>
            </a:r>
            <a:endParaRPr lang="en-US" sz="1800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Key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Debate</a:t>
            </a:r>
          </a:p>
          <a:p>
            <a:pPr marL="0" indent="0"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Will AI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 * **Enhance humanity?**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 * Or **replace it?**</a:t>
            </a:r>
          </a:p>
        </p:txBody>
      </p:sp>
    </p:spTree>
    <p:extLst>
      <p:ext uri="{BB962C8B-B14F-4D97-AF65-F5344CB8AC3E}">
        <p14:creationId xmlns:p14="http://schemas.microsoft.com/office/powerpoint/2010/main" val="14174884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Conclusion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Future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depends on:</a:t>
            </a:r>
          </a:p>
          <a:p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 * Responsible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development</a:t>
            </a:r>
          </a:p>
          <a:p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 * </a:t>
            </a:r>
            <a:r>
              <a:rPr lang="en-US" sz="1800">
                <a:latin typeface="Times New Roman" pitchFamily="18" charset="0"/>
                <a:cs typeface="Times New Roman" pitchFamily="18" charset="0"/>
              </a:rPr>
              <a:t>Ethical </a:t>
            </a:r>
            <a:r>
              <a:rPr lang="en-US" sz="1800" smtClean="0">
                <a:latin typeface="Times New Roman" pitchFamily="18" charset="0"/>
                <a:cs typeface="Times New Roman" pitchFamily="18" charset="0"/>
              </a:rPr>
              <a:t>guidelines</a:t>
            </a:r>
          </a:p>
          <a:p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 * Human control over technology</a:t>
            </a:r>
          </a:p>
        </p:txBody>
      </p:sp>
    </p:spTree>
    <p:extLst>
      <p:ext uri="{BB962C8B-B14F-4D97-AF65-F5344CB8AC3E}">
        <p14:creationId xmlns:p14="http://schemas.microsoft.com/office/powerpoint/2010/main" val="33351333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838200"/>
            <a:ext cx="7045105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847409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762000"/>
            <a:ext cx="7136190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3165133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ushpin">
  <a:themeElements>
    <a:clrScheme name="Pushpin">
      <a:dk1>
        <a:sysClr val="windowText" lastClr="000000"/>
      </a:dk1>
      <a:lt1>
        <a:sysClr val="window" lastClr="FFFFFF"/>
      </a:lt1>
      <a:dk2>
        <a:srgbClr val="465E9C"/>
      </a:dk2>
      <a:lt2>
        <a:srgbClr val="CCDDEA"/>
      </a:lt2>
      <a:accent1>
        <a:srgbClr val="FDA023"/>
      </a:accent1>
      <a:accent2>
        <a:srgbClr val="AA2B1E"/>
      </a:accent2>
      <a:accent3>
        <a:srgbClr val="71685C"/>
      </a:accent3>
      <a:accent4>
        <a:srgbClr val="64A73B"/>
      </a:accent4>
      <a:accent5>
        <a:srgbClr val="EB5605"/>
      </a:accent5>
      <a:accent6>
        <a:srgbClr val="B9CA1A"/>
      </a:accent6>
      <a:hlink>
        <a:srgbClr val="D83E2C"/>
      </a:hlink>
      <a:folHlink>
        <a:srgbClr val="ED7D27"/>
      </a:folHlink>
    </a:clrScheme>
    <a:fontScheme name="Pushpin">
      <a:majorFont>
        <a:latin typeface="Constantia"/>
        <a:ea typeface=""/>
        <a:cs typeface=""/>
        <a:font script="Jpan" typeface="HGS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Grek" typeface="Arial"/>
        <a:font script="Cyrl" typeface="Arial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ushpi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  <a:lumMod val="100000"/>
              </a:schemeClr>
            </a:gs>
            <a:gs pos="40000">
              <a:schemeClr val="phClr">
                <a:tint val="60000"/>
                <a:satMod val="130000"/>
                <a:lumMod val="100000"/>
              </a:schemeClr>
            </a:gs>
            <a:gs pos="100000">
              <a:schemeClr val="phClr">
                <a:tint val="96000"/>
                <a:lumMod val="108000"/>
              </a:schemeClr>
            </a:gs>
          </a:gsLst>
          <a:lin ang="5400000" scaled="0"/>
        </a:gradFill>
        <a:gradFill rotWithShape="1">
          <a:gsLst>
            <a:gs pos="0">
              <a:schemeClr val="phClr"/>
            </a:gs>
            <a:gs pos="100000">
              <a:schemeClr val="phClr">
                <a:shade val="76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80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38100" dir="4800000" sx="98000" sy="98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38100" dist="38100" dir="4800000" sx="96000" sy="96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3240000"/>
            </a:lightRig>
          </a:scene3d>
          <a:sp3d>
            <a:bevelT w="28575" h="28575"/>
          </a:sp3d>
        </a:effectStyle>
      </a:effectStyleLst>
      <a:bgFillStyleLst>
        <a:solidFill>
          <a:schemeClr val="phClr">
            <a:tint val="93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satMod val="140000"/>
                <a:lumMod val="50000"/>
              </a:schemeClr>
              <a:schemeClr val="phClr">
                <a:tint val="95000"/>
                <a:satMod val="180000"/>
                <a:lumMod val="160000"/>
              </a:schemeClr>
            </a:duotone>
          </a:blip>
          <a:stretch/>
        </a:blipFill>
        <a:blipFill rotWithShape="1">
          <a:blip xmlns:r="http://schemas.openxmlformats.org/officeDocument/2006/relationships" r:embed="rId2">
            <a:duotone>
              <a:schemeClr val="phClr">
                <a:tint val="98000"/>
                <a:shade val="90000"/>
                <a:satMod val="120000"/>
                <a:lumMod val="54000"/>
              </a:schemeClr>
              <a:schemeClr val="phClr">
                <a:tint val="80000"/>
                <a:satMod val="160000"/>
                <a:lumMod val="140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Pushpin</Template>
  <TotalTime>4222</TotalTime>
  <Words>309</Words>
  <Application>Microsoft Office PowerPoint</Application>
  <PresentationFormat>On-screen Show (4:3)</PresentationFormat>
  <Paragraphs>204</Paragraphs>
  <Slides>20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Pushpin</vt:lpstr>
      <vt:lpstr>PowerPoint Presentation</vt:lpstr>
      <vt:lpstr>PowerPoint Presentation</vt:lpstr>
      <vt:lpstr>Chap 7 Evaluating And Controlling Technology</vt:lpstr>
      <vt:lpstr>Video</vt:lpstr>
      <vt:lpstr>PowerPoint Presentation</vt:lpstr>
      <vt:lpstr>1. Evaluating Information</vt:lpstr>
      <vt:lpstr>2. The Need for Responsible Judgment</vt:lpstr>
      <vt:lpstr># 3. Computer Models</vt:lpstr>
      <vt:lpstr># 4. The Digital Divide</vt:lpstr>
      <vt:lpstr># 5. Trends in Computer Access</vt:lpstr>
      <vt:lpstr># 6. The Global Divide and the Next Billion Users</vt:lpstr>
      <vt:lpstr>7. Neo-Luddite Views of Technology</vt:lpstr>
      <vt:lpstr>8. Criticisms of Computing Technologies</vt:lpstr>
      <vt:lpstr>9. Views of Economics, Nature, and Human Needs</vt:lpstr>
      <vt:lpstr>10. Making Decisions About Technology</vt:lpstr>
      <vt:lpstr>11. Intelligent Machines and Superintelligent Humans — Or the End of the Human Race?</vt:lpstr>
      <vt:lpstr>11. Intelligent Machines and Superintelligent Humans — Or the End of the Human Race?</vt:lpstr>
      <vt:lpstr>Conclusion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63</cp:revision>
  <dcterms:created xsi:type="dcterms:W3CDTF">2023-10-01T18:45:03Z</dcterms:created>
  <dcterms:modified xsi:type="dcterms:W3CDTF">2026-03-30T03:58:22Z</dcterms:modified>
</cp:coreProperties>
</file>