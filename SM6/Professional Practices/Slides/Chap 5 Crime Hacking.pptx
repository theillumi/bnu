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65" r:id="rId3"/>
    <p:sldId id="259" r:id="rId4"/>
    <p:sldId id="341" r:id="rId5"/>
    <p:sldId id="331" r:id="rId6"/>
    <p:sldId id="357" r:id="rId7"/>
    <p:sldId id="342" r:id="rId8"/>
    <p:sldId id="332" r:id="rId9"/>
    <p:sldId id="343" r:id="rId10"/>
    <p:sldId id="333" r:id="rId11"/>
    <p:sldId id="344" r:id="rId12"/>
    <p:sldId id="334" r:id="rId13"/>
    <p:sldId id="345" r:id="rId14"/>
    <p:sldId id="335" r:id="rId15"/>
    <p:sldId id="346" r:id="rId16"/>
    <p:sldId id="336" r:id="rId17"/>
    <p:sldId id="347" r:id="rId18"/>
    <p:sldId id="337" r:id="rId19"/>
    <p:sldId id="350" r:id="rId20"/>
    <p:sldId id="338" r:id="rId21"/>
    <p:sldId id="352" r:id="rId22"/>
    <p:sldId id="339" r:id="rId23"/>
    <p:sldId id="351" r:id="rId24"/>
    <p:sldId id="340" r:id="rId25"/>
    <p:sldId id="368" r:id="rId26"/>
    <p:sldId id="353" r:id="rId27"/>
    <p:sldId id="369" r:id="rId28"/>
    <p:sldId id="354" r:id="rId29"/>
    <p:sldId id="370" r:id="rId30"/>
    <p:sldId id="355" r:id="rId31"/>
    <p:sldId id="371" r:id="rId32"/>
    <p:sldId id="356" r:id="rId33"/>
    <p:sldId id="372" r:id="rId34"/>
    <p:sldId id="358" r:id="rId35"/>
    <p:sldId id="359" r:id="rId36"/>
    <p:sldId id="360" r:id="rId37"/>
    <p:sldId id="367" r:id="rId38"/>
    <p:sldId id="361" r:id="rId39"/>
    <p:sldId id="362" r:id="rId40"/>
    <p:sldId id="366" r:id="rId41"/>
    <p:sldId id="363" r:id="rId42"/>
    <p:sldId id="365" r:id="rId43"/>
    <p:sldId id="364" r:id="rId44"/>
    <p:sldId id="262" r:id="rId45"/>
    <p:sldId id="263"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38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89952" y="1016990"/>
            <a:ext cx="7179733" cy="4831643"/>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0600" y="1009650"/>
            <a:ext cx="7179733" cy="4831643"/>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769521" y="702069"/>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7855433" y="749720"/>
            <a:ext cx="566928" cy="566928"/>
          </a:xfrm>
          <a:prstGeom prst="rect">
            <a:avLst/>
          </a:prstGeom>
          <a:noFill/>
        </p:spPr>
      </p:pic>
      <p:sp>
        <p:nvSpPr>
          <p:cNvPr id="2" name="Title 1"/>
          <p:cNvSpPr>
            <a:spLocks noGrp="1"/>
          </p:cNvSpPr>
          <p:nvPr>
            <p:ph type="ctrTitle"/>
          </p:nvPr>
        </p:nvSpPr>
        <p:spPr>
          <a:xfrm>
            <a:off x="1727201" y="1794935"/>
            <a:ext cx="5723468" cy="1828090"/>
          </a:xfrm>
        </p:spPr>
        <p:txBody>
          <a:bodyPr anchor="b">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1727200"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770676" y="5357592"/>
            <a:ext cx="1213821" cy="365125"/>
          </a:xfrm>
        </p:spPr>
        <p:txBody>
          <a:bodyPr/>
          <a:lstStyle/>
          <a:p>
            <a:fld id="{72D92F55-3793-4648-AF7A-D9CEEE88ECC8}" type="datetimeFigureOut">
              <a:rPr lang="en-US" smtClean="0"/>
              <a:t>3/16/2026</a:t>
            </a:fld>
            <a:endParaRPr lang="en-US"/>
          </a:p>
        </p:txBody>
      </p:sp>
      <p:sp>
        <p:nvSpPr>
          <p:cNvPr id="5" name="Footer Placeholder 4"/>
          <p:cNvSpPr>
            <a:spLocks noGrp="1"/>
          </p:cNvSpPr>
          <p:nvPr>
            <p:ph type="ftr" sz="quarter" idx="11"/>
          </p:nvPr>
        </p:nvSpPr>
        <p:spPr>
          <a:xfrm>
            <a:off x="1174044" y="5357592"/>
            <a:ext cx="5034845" cy="365125"/>
          </a:xfrm>
        </p:spPr>
        <p:txBody>
          <a:bodyPr/>
          <a:lstStyle/>
          <a:p>
            <a:endParaRPr lang="en-US"/>
          </a:p>
        </p:txBody>
      </p:sp>
      <p:sp>
        <p:nvSpPr>
          <p:cNvPr id="6" name="Slide Number Placeholder 5"/>
          <p:cNvSpPr>
            <a:spLocks noGrp="1"/>
          </p:cNvSpPr>
          <p:nvPr>
            <p:ph type="sldNum" sz="quarter" idx="12"/>
          </p:nvPr>
        </p:nvSpPr>
        <p:spPr>
          <a:xfrm>
            <a:off x="6213930" y="5357592"/>
            <a:ext cx="554023" cy="365125"/>
          </a:xfrm>
        </p:spPr>
        <p:txBody>
          <a:bodyPr/>
          <a:lstStyle>
            <a:lvl1pPr algn="ctr">
              <a:defRPr/>
            </a:lvl1pPr>
          </a:lstStyle>
          <a:p>
            <a:fld id="{ACFB6CC9-8C31-4D8E-AC9E-47C05B6B3BE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D92F55-3793-4648-AF7A-D9CEEE88ECC8}"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979" y="2239430"/>
            <a:ext cx="6254044" cy="1362075"/>
          </a:xfrm>
        </p:spPr>
        <p:txBody>
          <a:bodyPr anchor="b"/>
          <a:lstStyle>
            <a:lvl1pPr algn="ctr">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456267" y="3725334"/>
            <a:ext cx="6231467" cy="1309511"/>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D92F55-3793-4648-AF7A-D9CEEE88ECC8}"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72D92F55-3793-4648-AF7A-D9CEEE88ECC8}"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B6CC9-8C31-4D8E-AC9E-47C05B6B3BED}" type="slidenum">
              <a:rPr lang="en-US" smtClean="0"/>
              <a:t>‹#›</a:t>
            </a:fld>
            <a:endParaRPr lang="en-US"/>
          </a:p>
        </p:txBody>
      </p:sp>
      <p:sp>
        <p:nvSpPr>
          <p:cNvPr id="9" name="Content Placeholder 8"/>
          <p:cNvSpPr>
            <a:spLocks noGrp="1"/>
          </p:cNvSpPr>
          <p:nvPr>
            <p:ph sz="quarter" idx="13"/>
          </p:nvPr>
        </p:nvSpPr>
        <p:spPr>
          <a:xfrm>
            <a:off x="1298448" y="2121407"/>
            <a:ext cx="3200400" cy="360273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63440" y="2119313"/>
            <a:ext cx="3200400" cy="36052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72D92F55-3793-4648-AF7A-D9CEEE88ECC8}"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B6CC9-8C31-4D8E-AC9E-47C05B6B3BED}" type="slidenum">
              <a:rPr lang="en-US" smtClean="0"/>
              <a:t>‹#›</a:t>
            </a:fld>
            <a:endParaRPr lang="en-US"/>
          </a:p>
        </p:txBody>
      </p:sp>
      <p:sp>
        <p:nvSpPr>
          <p:cNvPr id="11" name="Content Placeholder 10"/>
          <p:cNvSpPr>
            <a:spLocks noGrp="1"/>
          </p:cNvSpPr>
          <p:nvPr>
            <p:ph sz="quarter" idx="13"/>
          </p:nvPr>
        </p:nvSpPr>
        <p:spPr>
          <a:xfrm>
            <a:off x="1298448" y="2944368"/>
            <a:ext cx="3227832" cy="27797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45151" y="2944813"/>
            <a:ext cx="3227832" cy="27797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2D92F55-3793-4648-AF7A-D9CEEE88ECC8}"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D92F55-3793-4648-AF7A-D9CEEE88ECC8}"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Freeform 1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60000">
            <a:off x="4471416" y="603504"/>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21540000">
            <a:off x="749808" y="576072"/>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9"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8976" y="2020042"/>
            <a:ext cx="3064827" cy="1503037"/>
          </a:xfrm>
        </p:spPr>
        <p:txBody>
          <a:bodyPr anchor="b">
            <a:normAutofit/>
          </a:bodyPr>
          <a:lstStyle>
            <a:lvl1pPr algn="ctr">
              <a:defRPr sz="2400" b="0"/>
            </a:lvl1pPr>
          </a:lstStyle>
          <a:p>
            <a:r>
              <a:rPr lang="en-US" smtClean="0"/>
              <a:t>Click to edit Master title style</a:t>
            </a:r>
            <a:endParaRPr lang="en-US"/>
          </a:p>
        </p:txBody>
      </p:sp>
      <p:sp>
        <p:nvSpPr>
          <p:cNvPr id="3" name="Content Placeholder 2"/>
          <p:cNvSpPr>
            <a:spLocks noGrp="1"/>
          </p:cNvSpPr>
          <p:nvPr>
            <p:ph idx="1"/>
          </p:nvPr>
        </p:nvSpPr>
        <p:spPr>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rot="60000">
            <a:off x="6341698" y="5885672"/>
            <a:ext cx="1213821" cy="365125"/>
          </a:xfrm>
        </p:spPr>
        <p:txBody>
          <a:bodyPr/>
          <a:lstStyle/>
          <a:p>
            <a:fld id="{72D92F55-3793-4648-AF7A-D9CEEE88ECC8}" type="datetimeFigureOut">
              <a:rPr lang="en-US" smtClean="0"/>
              <a:t>3/16/2026</a:t>
            </a:fld>
            <a:endParaRPr lang="en-US"/>
          </a:p>
        </p:txBody>
      </p:sp>
      <p:sp>
        <p:nvSpPr>
          <p:cNvPr id="6" name="Footer Placeholder 5"/>
          <p:cNvSpPr>
            <a:spLocks noGrp="1"/>
          </p:cNvSpPr>
          <p:nvPr>
            <p:ph type="ftr" sz="quarter" idx="11"/>
          </p:nvPr>
        </p:nvSpPr>
        <p:spPr>
          <a:xfrm rot="-60000">
            <a:off x="914554" y="5829261"/>
            <a:ext cx="3522607" cy="365125"/>
          </a:xfrm>
        </p:spPr>
        <p:txBody>
          <a:bodyPr/>
          <a:lstStyle/>
          <a:p>
            <a:endParaRPr lang="en-US"/>
          </a:p>
        </p:txBody>
      </p:sp>
      <p:sp>
        <p:nvSpPr>
          <p:cNvPr id="7" name="Slide Number Placeholder 6"/>
          <p:cNvSpPr>
            <a:spLocks noGrp="1"/>
          </p:cNvSpPr>
          <p:nvPr>
            <p:ph type="sldNum" sz="quarter" idx="12"/>
          </p:nvPr>
        </p:nvSpPr>
        <p:spPr>
          <a:xfrm rot="60000">
            <a:off x="7557313" y="5896961"/>
            <a:ext cx="554023" cy="365125"/>
          </a:xfrm>
        </p:spPr>
        <p:txBody>
          <a:bodyPr/>
          <a:lstStyle/>
          <a:p>
            <a:fld id="{ACFB6CC9-8C31-4D8E-AC9E-47C05B6B3BE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3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5058" y="575769"/>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rot="60000">
            <a:off x="4464768" y="603920"/>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5"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6424" y="2020824"/>
            <a:ext cx="3063240" cy="1499616"/>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rot="60000">
            <a:off x="4898615" y="1207272"/>
            <a:ext cx="2913863" cy="4539412"/>
          </a:xfrm>
          <a:ln w="101600" cap="rnd">
            <a:solidFill>
              <a:srgbClr val="FFFFFF"/>
            </a:solidFill>
          </a:ln>
          <a:effectLst>
            <a:outerShdw blurRad="889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rot="60000">
            <a:off x="6345936" y="5888737"/>
            <a:ext cx="1213821" cy="365125"/>
          </a:xfrm>
        </p:spPr>
        <p:txBody>
          <a:bodyPr/>
          <a:lstStyle/>
          <a:p>
            <a:fld id="{72D92F55-3793-4648-AF7A-D9CEEE88ECC8}" type="datetimeFigureOut">
              <a:rPr lang="en-US" smtClean="0"/>
              <a:t>3/16/2026</a:t>
            </a:fld>
            <a:endParaRPr lang="en-US"/>
          </a:p>
        </p:txBody>
      </p:sp>
      <p:sp>
        <p:nvSpPr>
          <p:cNvPr id="6" name="Footer Placeholder 5"/>
          <p:cNvSpPr>
            <a:spLocks noGrp="1"/>
          </p:cNvSpPr>
          <p:nvPr>
            <p:ph type="ftr" sz="quarter" idx="11"/>
          </p:nvPr>
        </p:nvSpPr>
        <p:spPr>
          <a:xfrm rot="-60000">
            <a:off x="914569" y="5831037"/>
            <a:ext cx="3319043" cy="365125"/>
          </a:xfrm>
        </p:spPr>
        <p:txBody>
          <a:bodyPr/>
          <a:lstStyle/>
          <a:p>
            <a:endParaRPr lang="en-US"/>
          </a:p>
        </p:txBody>
      </p:sp>
      <p:sp>
        <p:nvSpPr>
          <p:cNvPr id="7" name="Slide Number Placeholder 6"/>
          <p:cNvSpPr>
            <a:spLocks noGrp="1"/>
          </p:cNvSpPr>
          <p:nvPr>
            <p:ph type="sldNum" sz="quarter" idx="12"/>
          </p:nvPr>
        </p:nvSpPr>
        <p:spPr>
          <a:xfrm rot="60000">
            <a:off x="7562089" y="5900026"/>
            <a:ext cx="554023" cy="365125"/>
          </a:xfrm>
        </p:spPr>
        <p:txBody>
          <a:bodyPr/>
          <a:lstStyle/>
          <a:p>
            <a:fld id="{ACFB6CC9-8C31-4D8E-AC9E-47C05B6B3BE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D92F55-3793-4648-AF7A-D9CEEE88ECC8}"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925690"/>
            <a:ext cx="1430867" cy="476391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8221" y="1106312"/>
            <a:ext cx="5178779" cy="440266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D92F55-3793-4648-AF7A-D9CEEE88ECC8}"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B6CC9-8C31-4D8E-AC9E-47C05B6B3BE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1520" y="575310"/>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31520" y="576072"/>
            <a:ext cx="7696200" cy="5715000"/>
          </a:xfrm>
          <a:prstGeom prst="rect">
            <a:avLst/>
          </a:prstGeom>
          <a:blipFill dpi="0" rotWithShape="1">
            <a:blip r:embed="rId13"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14" cstate="print"/>
          <a:srcRect/>
          <a:stretch>
            <a:fillRect/>
          </a:stretch>
        </p:blipFill>
        <p:spPr bwMode="auto">
          <a:xfrm rot="1435684">
            <a:off x="543741" y="273091"/>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14" cstate="print"/>
          <a:srcRect/>
          <a:stretch>
            <a:fillRect/>
          </a:stretch>
        </p:blipFill>
        <p:spPr bwMode="auto">
          <a:xfrm rot="4096196">
            <a:off x="8115079" y="298163"/>
            <a:ext cx="566928" cy="566928"/>
          </a:xfrm>
          <a:prstGeom prst="rect">
            <a:avLst/>
          </a:prstGeom>
          <a:noFill/>
        </p:spPr>
      </p:pic>
      <p:sp>
        <p:nvSpPr>
          <p:cNvPr id="2" name="Title Placeholder 1"/>
          <p:cNvSpPr>
            <a:spLocks noGrp="1"/>
          </p:cNvSpPr>
          <p:nvPr>
            <p:ph type="title"/>
          </p:nvPr>
        </p:nvSpPr>
        <p:spPr>
          <a:xfrm>
            <a:off x="1095023" y="817582"/>
            <a:ext cx="6965245" cy="120248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63040" y="2119257"/>
            <a:ext cx="6196405" cy="3603812"/>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54588" y="5809152"/>
            <a:ext cx="1213821" cy="365125"/>
          </a:xfrm>
          <a:prstGeom prst="rect">
            <a:avLst/>
          </a:prstGeom>
        </p:spPr>
        <p:txBody>
          <a:bodyPr vert="horz" lIns="91440" tIns="45720" rIns="91440" bIns="45720" rtlCol="0" anchor="ctr"/>
          <a:lstStyle>
            <a:lvl1pPr algn="r">
              <a:defRPr sz="1200">
                <a:solidFill>
                  <a:schemeClr val="tx2"/>
                </a:solidFill>
                <a:latin typeface="Rage Italic" pitchFamily="66" charset="0"/>
              </a:defRPr>
            </a:lvl1pPr>
          </a:lstStyle>
          <a:p>
            <a:fld id="{72D92F55-3793-4648-AF7A-D9CEEE88ECC8}" type="datetimeFigureOut">
              <a:rPr lang="en-US" smtClean="0"/>
              <a:t>3/16/2026</a:t>
            </a:fld>
            <a:endParaRPr lang="en-US"/>
          </a:p>
        </p:txBody>
      </p:sp>
      <p:sp>
        <p:nvSpPr>
          <p:cNvPr id="5" name="Footer Placeholder 4"/>
          <p:cNvSpPr>
            <a:spLocks noGrp="1"/>
          </p:cNvSpPr>
          <p:nvPr>
            <p:ph type="ftr" sz="quarter" idx="3"/>
          </p:nvPr>
        </p:nvSpPr>
        <p:spPr>
          <a:xfrm>
            <a:off x="914401" y="5809152"/>
            <a:ext cx="5540188" cy="365125"/>
          </a:xfrm>
          <a:prstGeom prst="rect">
            <a:avLst/>
          </a:prstGeom>
        </p:spPr>
        <p:txBody>
          <a:bodyPr vert="horz" lIns="91440" tIns="45720" rIns="91440" bIns="45720" rtlCol="0" anchor="ctr"/>
          <a:lstStyle>
            <a:lvl1pPr algn="l">
              <a:defRPr sz="1400">
                <a:solidFill>
                  <a:schemeClr val="tx2"/>
                </a:solidFill>
                <a:latin typeface="Rage Italic" pitchFamily="66" charset="0"/>
              </a:defRPr>
            </a:lvl1pPr>
          </a:lstStyle>
          <a:p>
            <a:endParaRPr lang="en-US"/>
          </a:p>
        </p:txBody>
      </p:sp>
      <p:sp>
        <p:nvSpPr>
          <p:cNvPr id="6" name="Slide Number Placeholder 5"/>
          <p:cNvSpPr>
            <a:spLocks noGrp="1"/>
          </p:cNvSpPr>
          <p:nvPr>
            <p:ph type="sldNum" sz="quarter" idx="4"/>
          </p:nvPr>
        </p:nvSpPr>
        <p:spPr>
          <a:xfrm>
            <a:off x="7670202" y="5809152"/>
            <a:ext cx="554023" cy="365125"/>
          </a:xfrm>
          <a:prstGeom prst="rect">
            <a:avLst/>
          </a:prstGeom>
        </p:spPr>
        <p:txBody>
          <a:bodyPr vert="horz" lIns="91440" tIns="45720" rIns="91440" bIns="45720" rtlCol="0" anchor="ctr"/>
          <a:lstStyle>
            <a:lvl1pPr algn="r">
              <a:defRPr sz="1400">
                <a:solidFill>
                  <a:schemeClr val="tx2"/>
                </a:solidFill>
                <a:latin typeface="Rage Italic" pitchFamily="66" charset="0"/>
              </a:defRPr>
            </a:lvl1pPr>
          </a:lstStyle>
          <a:p>
            <a:fld id="{ACFB6CC9-8C31-4D8E-AC9E-47C05B6B3BE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2"/>
        </a:buClr>
        <a:buSzPct val="85000"/>
        <a:buFont typeface="Brush Script MT" pitchFamily="66" charset="0"/>
        <a:buChar char="O"/>
        <a:defRPr sz="2400" kern="1200">
          <a:solidFill>
            <a:schemeClr val="tx1"/>
          </a:solidFill>
          <a:latin typeface="+mn-lt"/>
          <a:ea typeface="+mn-ea"/>
          <a:cs typeface="+mn-cs"/>
        </a:defRPr>
      </a:lvl1pPr>
      <a:lvl2pPr marL="640080" indent="-274320" algn="l" defTabSz="914400" rtl="0" eaLnBrk="1" latinLnBrk="0" hangingPunct="1">
        <a:spcBef>
          <a:spcPct val="20000"/>
        </a:spcBef>
        <a:buClr>
          <a:schemeClr val="accent2"/>
        </a:buClr>
        <a:buSzPct val="85000"/>
        <a:buFont typeface="Brush Script MT" pitchFamily="66" charset="0"/>
        <a:buChar char="O"/>
        <a:defRPr sz="22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SzPct val="85000"/>
        <a:buFont typeface="Brush Script MT" pitchFamily="66" charset="0"/>
        <a:buChar char="O"/>
        <a:defRPr sz="2000" kern="1200">
          <a:solidFill>
            <a:schemeClr val="tx1"/>
          </a:solidFill>
          <a:latin typeface="+mn-lt"/>
          <a:ea typeface="+mn-ea"/>
          <a:cs typeface="+mn-cs"/>
        </a:defRPr>
      </a:lvl3pPr>
      <a:lvl4pPr marL="1280160" indent="-228600" algn="l" defTabSz="914400" rtl="0" eaLnBrk="1" latinLnBrk="0" hangingPunct="1">
        <a:spcBef>
          <a:spcPct val="20000"/>
        </a:spcBef>
        <a:buClr>
          <a:schemeClr val="accent2"/>
        </a:buClr>
        <a:buSzPct val="85000"/>
        <a:buFont typeface="Brush Script MT" pitchFamily="66" charset="0"/>
        <a:buChar char="O"/>
        <a:defRPr sz="1800" kern="1200">
          <a:solidFill>
            <a:schemeClr val="tx1"/>
          </a:solidFill>
          <a:latin typeface="+mn-lt"/>
          <a:ea typeface="+mn-ea"/>
          <a:cs typeface="+mn-cs"/>
        </a:defRPr>
      </a:lvl4pPr>
      <a:lvl5pPr marL="164592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5pPr>
      <a:lvl6pPr marL="201168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6pPr>
      <a:lvl7pPr marL="237744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7pPr>
      <a:lvl8pPr marL="274320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8pPr>
      <a:lvl9pPr marL="310896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63040" y="2119257"/>
            <a:ext cx="6766560" cy="3603812"/>
          </a:xfrm>
        </p:spPr>
        <p:txBody>
          <a:bodyPr>
            <a:normAutofit fontScale="92500" lnSpcReduction="20000"/>
          </a:bodyPr>
          <a:lstStyle/>
          <a:p>
            <a:pPr marL="0" indent="0" algn="ctr">
              <a:buNone/>
            </a:pPr>
            <a:endParaRPr lang="en-US" sz="2800" dirty="0">
              <a:latin typeface="Times New Roman" pitchFamily="18" charset="0"/>
              <a:cs typeface="Times New Roman" pitchFamily="18" charset="0"/>
            </a:endParaRPr>
          </a:p>
          <a:p>
            <a:pPr marL="0" indent="0" algn="ctr">
              <a:buNone/>
            </a:pPr>
            <a:endParaRPr lang="en-US" dirty="0">
              <a:solidFill>
                <a:srgbClr val="002060"/>
              </a:solidFill>
              <a:latin typeface="Times New Roman" pitchFamily="18" charset="0"/>
              <a:cs typeface="Times New Roman" pitchFamily="18" charset="0"/>
            </a:endParaRPr>
          </a:p>
          <a:p>
            <a:pPr marL="0" indent="0" algn="ctr">
              <a:buNone/>
            </a:pPr>
            <a:r>
              <a:rPr lang="en-US" b="1" dirty="0">
                <a:solidFill>
                  <a:srgbClr val="002060"/>
                </a:solidFill>
                <a:latin typeface="Times New Roman" pitchFamily="18" charset="0"/>
                <a:cs typeface="Times New Roman" pitchFamily="18" charset="0"/>
              </a:rPr>
              <a:t>Professional </a:t>
            </a:r>
            <a:r>
              <a:rPr lang="en-US" b="1" dirty="0" smtClean="0">
                <a:solidFill>
                  <a:srgbClr val="002060"/>
                </a:solidFill>
                <a:latin typeface="Times New Roman" pitchFamily="18" charset="0"/>
                <a:cs typeface="Times New Roman" pitchFamily="18" charset="0"/>
              </a:rPr>
              <a:t>Practices (HUM-305)</a:t>
            </a:r>
            <a:r>
              <a:rPr lang="en-US" b="1" dirty="0">
                <a:solidFill>
                  <a:srgbClr val="002060"/>
                </a:solidFill>
                <a:latin typeface="Times New Roman" pitchFamily="18" charset="0"/>
                <a:cs typeface="Times New Roman" pitchFamily="18" charset="0"/>
              </a:rPr>
              <a:t>	</a:t>
            </a:r>
            <a:endParaRPr lang="en-US" b="1" dirty="0" smtClean="0">
              <a:solidFill>
                <a:srgbClr val="002060"/>
              </a:solidFill>
              <a:latin typeface="Times New Roman" pitchFamily="18" charset="0"/>
              <a:cs typeface="Times New Roman" pitchFamily="18" charset="0"/>
            </a:endParaRPr>
          </a:p>
          <a:p>
            <a:pPr marL="0" indent="0" algn="ctr">
              <a:buNone/>
            </a:pPr>
            <a:r>
              <a:rPr lang="en-US" sz="2000" b="1" dirty="0" smtClean="0">
                <a:solidFill>
                  <a:srgbClr val="002060"/>
                </a:solidFill>
                <a:latin typeface="Times New Roman" pitchFamily="18" charset="0"/>
                <a:cs typeface="Times New Roman" pitchFamily="18" charset="0"/>
              </a:rPr>
              <a:t>SPRING SEMESTER 2026</a:t>
            </a:r>
          </a:p>
          <a:p>
            <a:pPr marL="0" indent="0" algn="ctr">
              <a:buNone/>
            </a:pPr>
            <a:r>
              <a:rPr lang="en-US" sz="2000" b="1" dirty="0" smtClean="0">
                <a:solidFill>
                  <a:srgbClr val="002060"/>
                </a:solidFill>
                <a:latin typeface="Times New Roman" pitchFamily="18" charset="0"/>
                <a:cs typeface="Times New Roman" pitchFamily="18" charset="0"/>
              </a:rPr>
              <a:t>By</a:t>
            </a:r>
          </a:p>
          <a:p>
            <a:pPr marL="0" indent="0" algn="ctr">
              <a:buNone/>
            </a:pPr>
            <a:r>
              <a:rPr lang="en-US" sz="2000" b="1" dirty="0" smtClean="0">
                <a:solidFill>
                  <a:srgbClr val="C00000"/>
                </a:solidFill>
                <a:latin typeface="Times New Roman" pitchFamily="18" charset="0"/>
                <a:cs typeface="Times New Roman" pitchFamily="18" charset="0"/>
              </a:rPr>
              <a:t>Prof  </a:t>
            </a:r>
            <a:r>
              <a:rPr lang="en-US" sz="2000" b="1" dirty="0" err="1" smtClean="0">
                <a:solidFill>
                  <a:srgbClr val="C00000"/>
                </a:solidFill>
                <a:latin typeface="Times New Roman" pitchFamily="18" charset="0"/>
                <a:cs typeface="Times New Roman" pitchFamily="18" charset="0"/>
              </a:rPr>
              <a:t>Engr</a:t>
            </a:r>
            <a:r>
              <a:rPr lang="en-US" sz="2000" b="1" dirty="0" smtClean="0">
                <a:solidFill>
                  <a:srgbClr val="C00000"/>
                </a:solidFill>
                <a:latin typeface="Times New Roman" pitchFamily="18" charset="0"/>
                <a:cs typeface="Times New Roman" pitchFamily="18" charset="0"/>
              </a:rPr>
              <a:t> Muhammad </a:t>
            </a:r>
            <a:r>
              <a:rPr lang="en-US" sz="2000" b="1" dirty="0" err="1" smtClean="0">
                <a:solidFill>
                  <a:srgbClr val="C00000"/>
                </a:solidFill>
                <a:latin typeface="Times New Roman" pitchFamily="18" charset="0"/>
                <a:cs typeface="Times New Roman" pitchFamily="18" charset="0"/>
              </a:rPr>
              <a:t>Raheel</a:t>
            </a:r>
            <a:r>
              <a:rPr lang="en-US" sz="2000" b="1" dirty="0" smtClean="0">
                <a:solidFill>
                  <a:srgbClr val="C00000"/>
                </a:solidFill>
                <a:latin typeface="Times New Roman" pitchFamily="18" charset="0"/>
                <a:cs typeface="Times New Roman" pitchFamily="18" charset="0"/>
              </a:rPr>
              <a:t> </a:t>
            </a:r>
            <a:r>
              <a:rPr lang="en-US" sz="2000" b="1" dirty="0" err="1" smtClean="0">
                <a:solidFill>
                  <a:srgbClr val="C00000"/>
                </a:solidFill>
                <a:latin typeface="Times New Roman" pitchFamily="18" charset="0"/>
                <a:cs typeface="Times New Roman" pitchFamily="18" charset="0"/>
              </a:rPr>
              <a:t>Iqbal</a:t>
            </a:r>
            <a:r>
              <a:rPr lang="en-US" sz="2000" b="1" dirty="0" smtClean="0">
                <a:solidFill>
                  <a:srgbClr val="C00000"/>
                </a:solidFill>
                <a:latin typeface="Times New Roman" pitchFamily="18" charset="0"/>
                <a:cs typeface="Times New Roman" pitchFamily="18" charset="0"/>
              </a:rPr>
              <a:t> Butt</a:t>
            </a:r>
          </a:p>
          <a:p>
            <a:pPr marL="0" indent="0" algn="ctr">
              <a:buNone/>
            </a:pPr>
            <a:r>
              <a:rPr lang="en-US" sz="2000" b="1" dirty="0" smtClean="0">
                <a:solidFill>
                  <a:srgbClr val="C00000"/>
                </a:solidFill>
                <a:latin typeface="Times New Roman" pitchFamily="18" charset="0"/>
                <a:cs typeface="Times New Roman" pitchFamily="18" charset="0"/>
              </a:rPr>
              <a:t>Resource Person </a:t>
            </a:r>
          </a:p>
          <a:p>
            <a:pPr marL="0" indent="0" algn="ctr">
              <a:buNone/>
            </a:pPr>
            <a:r>
              <a:rPr lang="en-US" sz="2000" b="1" dirty="0" smtClean="0">
                <a:solidFill>
                  <a:srgbClr val="002060"/>
                </a:solidFill>
                <a:latin typeface="Times New Roman" pitchFamily="18" charset="0"/>
                <a:cs typeface="Times New Roman" pitchFamily="18" charset="0"/>
              </a:rPr>
              <a:t>Contact: +92 321 7433568</a:t>
            </a:r>
          </a:p>
          <a:p>
            <a:pPr marL="0" indent="0" algn="ctr">
              <a:buNone/>
            </a:pPr>
            <a:endParaRPr lang="en-US" sz="2200" b="1" dirty="0" smtClean="0">
              <a:solidFill>
                <a:srgbClr val="002060"/>
              </a:solidFill>
              <a:latin typeface="Times New Roman" pitchFamily="18" charset="0"/>
              <a:cs typeface="Times New Roman" pitchFamily="18" charset="0"/>
            </a:endParaRPr>
          </a:p>
          <a:p>
            <a:pPr marL="0" indent="0" algn="ctr">
              <a:buNone/>
            </a:pPr>
            <a:r>
              <a:rPr lang="en-US" sz="2200" b="1" dirty="0">
                <a:solidFill>
                  <a:srgbClr val="002060"/>
                </a:solidFill>
                <a:latin typeface="Times New Roman" pitchFamily="18" charset="0"/>
                <a:cs typeface="Times New Roman" pitchFamily="18" charset="0"/>
              </a:rPr>
              <a:t>School of Computer &amp; Information Technology</a:t>
            </a:r>
            <a:endParaRPr lang="en-US" sz="2200" dirty="0">
              <a:solidFill>
                <a:srgbClr val="002060"/>
              </a:solidFill>
              <a:latin typeface="Times New Roman" pitchFamily="18" charset="0"/>
              <a:cs typeface="Times New Roman" pitchFamily="18" charset="0"/>
            </a:endParaRPr>
          </a:p>
          <a:p>
            <a:pPr marL="0" indent="0" algn="ctr">
              <a:buNone/>
            </a:pPr>
            <a:r>
              <a:rPr lang="en-US" sz="3000" b="1" dirty="0" err="1" smtClean="0">
                <a:solidFill>
                  <a:srgbClr val="C00000"/>
                </a:solidFill>
                <a:latin typeface="Times New Roman" pitchFamily="18" charset="0"/>
                <a:cs typeface="Times New Roman" pitchFamily="18" charset="0"/>
              </a:rPr>
              <a:t>Beaconhouse</a:t>
            </a:r>
            <a:r>
              <a:rPr lang="en-US" sz="3000" b="1" dirty="0" smtClean="0">
                <a:solidFill>
                  <a:srgbClr val="C00000"/>
                </a:solidFill>
                <a:latin typeface="Times New Roman" pitchFamily="18" charset="0"/>
                <a:cs typeface="Times New Roman" pitchFamily="18" charset="0"/>
              </a:rPr>
              <a:t> </a:t>
            </a:r>
            <a:r>
              <a:rPr lang="en-US" sz="3000" b="1" dirty="0">
                <a:solidFill>
                  <a:srgbClr val="C00000"/>
                </a:solidFill>
                <a:latin typeface="Times New Roman" pitchFamily="18" charset="0"/>
                <a:cs typeface="Times New Roman" pitchFamily="18" charset="0"/>
              </a:rPr>
              <a:t>National University, Lahore</a:t>
            </a:r>
            <a:endParaRPr lang="en-US" sz="3000" dirty="0">
              <a:solidFill>
                <a:srgbClr val="C00000"/>
              </a:solidFill>
              <a:latin typeface="Times New Roman" pitchFamily="18" charset="0"/>
              <a:cs typeface="Times New Roman" pitchFamily="18" charset="0"/>
            </a:endParaRPr>
          </a:p>
          <a:p>
            <a:pPr marL="0" indent="0" algn="ctr">
              <a:buNone/>
            </a:pPr>
            <a:endParaRPr lang="en-US" sz="3600" dirty="0">
              <a:solidFill>
                <a:srgbClr val="C00000"/>
              </a:solidFill>
              <a:latin typeface="Times New Roman" pitchFamily="18" charset="0"/>
              <a:cs typeface="Times New Roman" pitchFamily="18" charset="0"/>
            </a:endParaRPr>
          </a:p>
          <a:p>
            <a:pPr marL="0" indent="0" algn="ctr">
              <a:buNone/>
            </a:pPr>
            <a:endParaRPr lang="en-US" dirty="0">
              <a:latin typeface="Times New Roman" pitchFamily="18" charset="0"/>
              <a:cs typeface="Times New Roman" pitchFamily="18" charset="0"/>
            </a:endParaRPr>
          </a:p>
        </p:txBody>
      </p:sp>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899614"/>
            <a:ext cx="1627496" cy="1964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0765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61999"/>
            <a:ext cx="7410734" cy="543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3612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58818"/>
          </a:xfrm>
        </p:spPr>
        <p:txBody>
          <a:bodyPr>
            <a:noAutofit/>
          </a:bodyPr>
          <a:lstStyle/>
          <a:p>
            <a:r>
              <a:rPr lang="en-US" sz="2800" b="1" dirty="0" smtClean="0">
                <a:solidFill>
                  <a:srgbClr val="C00000"/>
                </a:solidFill>
                <a:latin typeface="Times New Roman" pitchFamily="18" charset="0"/>
                <a:cs typeface="Times New Roman" pitchFamily="18" charset="0"/>
              </a:rPr>
              <a:t>Chap </a:t>
            </a:r>
            <a:r>
              <a:rPr lang="en-US" sz="2800" b="1" dirty="0" smtClean="0">
                <a:solidFill>
                  <a:srgbClr val="C00000"/>
                </a:solidFill>
                <a:latin typeface="Times New Roman" pitchFamily="18" charset="0"/>
                <a:cs typeface="Times New Roman" pitchFamily="18" charset="0"/>
              </a:rPr>
              <a:t>5: Crime Hacking </a:t>
            </a:r>
            <a:endParaRPr lang="en-US" sz="28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1066800" y="1828800"/>
            <a:ext cx="7010400" cy="4191000"/>
          </a:xfrm>
        </p:spPr>
        <p:txBody>
          <a:bodyPr>
            <a:normAutofit fontScale="92500" lnSpcReduction="20000"/>
          </a:bodyPr>
          <a:lstStyle/>
          <a:p>
            <a:r>
              <a:rPr lang="en-US" sz="2000" dirty="0">
                <a:latin typeface="Times New Roman" pitchFamily="18" charset="0"/>
                <a:cs typeface="Times New Roman" pitchFamily="18" charset="0"/>
              </a:rPr>
              <a:t>What is “Hacking”?</a:t>
            </a:r>
          </a:p>
          <a:p>
            <a:r>
              <a:rPr lang="en-US" sz="2000" dirty="0" err="1">
                <a:latin typeface="Times New Roman" pitchFamily="18" charset="0"/>
                <a:cs typeface="Times New Roman" pitchFamily="18" charset="0"/>
              </a:rPr>
              <a:t>Hacktivism</a:t>
            </a:r>
            <a:r>
              <a:rPr lang="en-US" sz="2000" dirty="0">
                <a:latin typeface="Times New Roman" pitchFamily="18" charset="0"/>
                <a:cs typeface="Times New Roman" pitchFamily="18" charset="0"/>
              </a:rPr>
              <a:t>, or Political Hacking</a:t>
            </a:r>
          </a:p>
          <a:p>
            <a:r>
              <a:rPr lang="en-US" sz="2000" dirty="0">
                <a:latin typeface="Times New Roman" pitchFamily="18" charset="0"/>
                <a:cs typeface="Times New Roman" pitchFamily="18" charset="0"/>
              </a:rPr>
              <a:t>Hackers as Security Researchers</a:t>
            </a:r>
          </a:p>
          <a:p>
            <a:r>
              <a:rPr lang="en-US" sz="2000" dirty="0">
                <a:latin typeface="Times New Roman" pitchFamily="18" charset="0"/>
                <a:cs typeface="Times New Roman" pitchFamily="18" charset="0"/>
              </a:rPr>
              <a:t>Hacking as Foreign Policy</a:t>
            </a:r>
          </a:p>
          <a:p>
            <a:r>
              <a:rPr lang="en-US" sz="2000" dirty="0">
                <a:latin typeface="Times New Roman" pitchFamily="18" charset="0"/>
                <a:cs typeface="Times New Roman" pitchFamily="18" charset="0"/>
              </a:rPr>
              <a:t>The Law: Catching and Punishing </a:t>
            </a:r>
            <a:r>
              <a:rPr lang="en-US" sz="2000" dirty="0" smtClean="0">
                <a:latin typeface="Times New Roman" pitchFamily="18" charset="0"/>
                <a:cs typeface="Times New Roman" pitchFamily="18" charset="0"/>
              </a:rPr>
              <a:t>Hackers</a:t>
            </a:r>
          </a:p>
          <a:p>
            <a:r>
              <a:rPr lang="en-US" sz="2000" dirty="0">
                <a:latin typeface="Times New Roman" pitchFamily="18" charset="0"/>
                <a:cs typeface="Times New Roman" pitchFamily="18" charset="0"/>
              </a:rPr>
              <a:t>Identity Theft and Credit Card Fraud</a:t>
            </a:r>
          </a:p>
          <a:p>
            <a:r>
              <a:rPr lang="en-US" sz="2000" dirty="0">
                <a:latin typeface="Times New Roman" pitchFamily="18" charset="0"/>
                <a:cs typeface="Times New Roman" pitchFamily="18" charset="0"/>
              </a:rPr>
              <a:t>Stealing Identities</a:t>
            </a:r>
          </a:p>
          <a:p>
            <a:r>
              <a:rPr lang="en-US" sz="2000" dirty="0">
                <a:latin typeface="Times New Roman" pitchFamily="18" charset="0"/>
                <a:cs typeface="Times New Roman" pitchFamily="18" charset="0"/>
              </a:rPr>
              <a:t>Responses to Identity Theft</a:t>
            </a:r>
          </a:p>
          <a:p>
            <a:r>
              <a:rPr lang="en-US" sz="2000" dirty="0">
                <a:latin typeface="Times New Roman" pitchFamily="18" charset="0"/>
                <a:cs typeface="Times New Roman" pitchFamily="18" charset="0"/>
              </a:rPr>
              <a:t>Biometrics</a:t>
            </a:r>
          </a:p>
          <a:p>
            <a:r>
              <a:rPr lang="en-US" sz="2000" dirty="0">
                <a:latin typeface="Times New Roman" pitchFamily="18" charset="0"/>
                <a:cs typeface="Times New Roman" pitchFamily="18" charset="0"/>
              </a:rPr>
              <a:t>Whose Laws Rule the Web?</a:t>
            </a:r>
          </a:p>
          <a:p>
            <a:r>
              <a:rPr lang="en-US" sz="2000" dirty="0">
                <a:latin typeface="Times New Roman" pitchFamily="18" charset="0"/>
                <a:cs typeface="Times New Roman" pitchFamily="18" charset="0"/>
              </a:rPr>
              <a:t>When Digital Actions Cross Borders</a:t>
            </a:r>
          </a:p>
          <a:p>
            <a:r>
              <a:rPr lang="en-US" sz="2000" dirty="0">
                <a:latin typeface="Times New Roman" pitchFamily="18" charset="0"/>
                <a:cs typeface="Times New Roman" pitchFamily="18" charset="0"/>
              </a:rPr>
              <a:t>Libel, Speech, and Commercial Law</a:t>
            </a:r>
          </a:p>
          <a:p>
            <a:r>
              <a:rPr lang="en-US" sz="2000" dirty="0">
                <a:latin typeface="Times New Roman" pitchFamily="18" charset="0"/>
                <a:cs typeface="Times New Roman" pitchFamily="18" charset="0"/>
              </a:rPr>
              <a:t>Culture, Law, and Ethics</a:t>
            </a:r>
          </a:p>
          <a:p>
            <a:r>
              <a:rPr lang="en-US" sz="2000" dirty="0">
                <a:latin typeface="Times New Roman" pitchFamily="18" charset="0"/>
                <a:cs typeface="Times New Roman" pitchFamily="18" charset="0"/>
              </a:rPr>
              <a:t>Potential Solutions</a:t>
            </a:r>
            <a:endParaRPr lang="en-US" sz="20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505460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838200"/>
            <a:ext cx="6934200" cy="5161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28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What is “Hacking”?</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Definition</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Hacking refers to gaining </a:t>
            </a:r>
            <a:r>
              <a:rPr lang="en-US" sz="1800" b="1" dirty="0">
                <a:latin typeface="Times New Roman" pitchFamily="18" charset="0"/>
                <a:cs typeface="Times New Roman" pitchFamily="18" charset="0"/>
              </a:rPr>
              <a:t>unauthorized access to computer systems, networks, or data</a:t>
            </a:r>
            <a:r>
              <a:rPr lang="en-US" sz="1800" dirty="0">
                <a:latin typeface="Times New Roman" pitchFamily="18" charset="0"/>
                <a:cs typeface="Times New Roman" pitchFamily="18" charset="0"/>
              </a:rPr>
              <a:t>. </a:t>
            </a:r>
          </a:p>
          <a:p>
            <a:r>
              <a:rPr lang="en-US" sz="1800" dirty="0">
                <a:latin typeface="Times New Roman" pitchFamily="18" charset="0"/>
                <a:cs typeface="Times New Roman" pitchFamily="18" charset="0"/>
              </a:rPr>
              <a:t>It involves exploiting </a:t>
            </a:r>
            <a:r>
              <a:rPr lang="en-US" sz="1800" b="1" dirty="0">
                <a:latin typeface="Times New Roman" pitchFamily="18" charset="0"/>
                <a:cs typeface="Times New Roman" pitchFamily="18" charset="0"/>
              </a:rPr>
              <a:t>software vulnerabilities, weak passwords, or security gaps</a:t>
            </a:r>
            <a:r>
              <a:rPr lang="en-US" sz="1800" dirty="0">
                <a:latin typeface="Times New Roman" pitchFamily="18" charset="0"/>
                <a:cs typeface="Times New Roman" pitchFamily="18" charset="0"/>
              </a:rPr>
              <a:t>. </a:t>
            </a:r>
            <a:endParaRPr lang="en-US" sz="1800" dirty="0" smtClean="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pPr marL="0" indent="0">
              <a:buNone/>
            </a:pPr>
            <a:r>
              <a:rPr lang="en-US" sz="1800" b="1" dirty="0">
                <a:latin typeface="Times New Roman" pitchFamily="18" charset="0"/>
                <a:cs typeface="Times New Roman" pitchFamily="18" charset="0"/>
              </a:rPr>
              <a:t>Types of Hackers</a:t>
            </a:r>
            <a:endParaRPr lang="en-US" sz="1800" dirty="0">
              <a:latin typeface="Times New Roman" pitchFamily="18" charset="0"/>
              <a:cs typeface="Times New Roman" pitchFamily="18" charset="0"/>
            </a:endParaRPr>
          </a:p>
          <a:p>
            <a:endParaRPr lang="en-US" sz="1800" b="1"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White </a:t>
            </a:r>
            <a:r>
              <a:rPr lang="en-US" sz="1800" b="1" dirty="0">
                <a:latin typeface="Times New Roman" pitchFamily="18" charset="0"/>
                <a:cs typeface="Times New Roman" pitchFamily="18" charset="0"/>
              </a:rPr>
              <a:t>Hat Hackers</a:t>
            </a:r>
            <a:r>
              <a:rPr lang="en-US" sz="1800" dirty="0">
                <a:latin typeface="Times New Roman" pitchFamily="18" charset="0"/>
                <a:cs typeface="Times New Roman" pitchFamily="18" charset="0"/>
              </a:rPr>
              <a:t> – Ethical hackers who improve security. </a:t>
            </a:r>
          </a:p>
          <a:p>
            <a:endParaRPr lang="en-US" sz="1800" b="1"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Black </a:t>
            </a:r>
            <a:r>
              <a:rPr lang="en-US" sz="1800" b="1" dirty="0">
                <a:latin typeface="Times New Roman" pitchFamily="18" charset="0"/>
                <a:cs typeface="Times New Roman" pitchFamily="18" charset="0"/>
              </a:rPr>
              <a:t>Hat Hackers</a:t>
            </a:r>
            <a:r>
              <a:rPr lang="en-US" sz="1800" dirty="0">
                <a:latin typeface="Times New Roman" pitchFamily="18" charset="0"/>
                <a:cs typeface="Times New Roman" pitchFamily="18" charset="0"/>
              </a:rPr>
              <a:t> – Malicious hackers who steal or damage data. </a:t>
            </a:r>
          </a:p>
          <a:p>
            <a:endParaRPr lang="en-US" sz="1800" b="1"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Gray </a:t>
            </a:r>
            <a:r>
              <a:rPr lang="en-US" sz="1800" b="1" dirty="0">
                <a:latin typeface="Times New Roman" pitchFamily="18" charset="0"/>
                <a:cs typeface="Times New Roman" pitchFamily="18" charset="0"/>
              </a:rPr>
              <a:t>Hat Hackers</a:t>
            </a:r>
            <a:r>
              <a:rPr lang="en-US" sz="1800" dirty="0">
                <a:latin typeface="Times New Roman" pitchFamily="18" charset="0"/>
                <a:cs typeface="Times New Roman" pitchFamily="18" charset="0"/>
              </a:rPr>
              <a:t> – Hackers who access systems without permission but may not intend harm. </a:t>
            </a:r>
          </a:p>
        </p:txBody>
      </p:sp>
    </p:spTree>
    <p:extLst>
      <p:ext uri="{BB962C8B-B14F-4D97-AF65-F5344CB8AC3E}">
        <p14:creationId xmlns:p14="http://schemas.microsoft.com/office/powerpoint/2010/main" val="1931728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What is “Hacking”?</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Common </a:t>
            </a:r>
            <a:r>
              <a:rPr lang="en-US" sz="1800" b="1" dirty="0">
                <a:latin typeface="Times New Roman" pitchFamily="18" charset="0"/>
                <a:cs typeface="Times New Roman" pitchFamily="18" charset="0"/>
              </a:rPr>
              <a:t>Techniques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Phishing attacks </a:t>
            </a:r>
          </a:p>
          <a:p>
            <a:r>
              <a:rPr lang="en-US" sz="1800" dirty="0">
                <a:latin typeface="Times New Roman" pitchFamily="18" charset="0"/>
                <a:cs typeface="Times New Roman" pitchFamily="18" charset="0"/>
              </a:rPr>
              <a:t>Malware installation </a:t>
            </a:r>
          </a:p>
          <a:p>
            <a:r>
              <a:rPr lang="en-US" sz="1800" dirty="0">
                <a:latin typeface="Times New Roman" pitchFamily="18" charset="0"/>
                <a:cs typeface="Times New Roman" pitchFamily="18" charset="0"/>
              </a:rPr>
              <a:t>Password cracking </a:t>
            </a:r>
          </a:p>
          <a:p>
            <a:r>
              <a:rPr lang="en-US" sz="1800" dirty="0">
                <a:latin typeface="Times New Roman" pitchFamily="18" charset="0"/>
                <a:cs typeface="Times New Roman" pitchFamily="18" charset="0"/>
              </a:rPr>
              <a:t>Network intrusion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Impact</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Data theft </a:t>
            </a:r>
          </a:p>
          <a:p>
            <a:r>
              <a:rPr lang="en-US" sz="1800" dirty="0">
                <a:latin typeface="Times New Roman" pitchFamily="18" charset="0"/>
                <a:cs typeface="Times New Roman" pitchFamily="18" charset="0"/>
              </a:rPr>
              <a:t>Financial losses </a:t>
            </a:r>
          </a:p>
          <a:p>
            <a:r>
              <a:rPr lang="en-US" sz="1800" dirty="0">
                <a:latin typeface="Times New Roman" pitchFamily="18" charset="0"/>
                <a:cs typeface="Times New Roman" pitchFamily="18" charset="0"/>
              </a:rPr>
              <a:t>Privacy violations </a:t>
            </a:r>
          </a:p>
          <a:p>
            <a:r>
              <a:rPr lang="en-US" sz="1800" dirty="0">
                <a:latin typeface="Times New Roman" pitchFamily="18" charset="0"/>
                <a:cs typeface="Times New Roman" pitchFamily="18" charset="0"/>
              </a:rPr>
              <a:t>National security risks</a:t>
            </a:r>
          </a:p>
        </p:txBody>
      </p:sp>
    </p:spTree>
    <p:extLst>
      <p:ext uri="{BB962C8B-B14F-4D97-AF65-F5344CB8AC3E}">
        <p14:creationId xmlns:p14="http://schemas.microsoft.com/office/powerpoint/2010/main" val="4257730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936" y="685799"/>
            <a:ext cx="7484651" cy="5442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058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err="1">
                <a:solidFill>
                  <a:srgbClr val="C00000"/>
                </a:solidFill>
                <a:latin typeface="Times New Roman" pitchFamily="18" charset="0"/>
                <a:cs typeface="Times New Roman" pitchFamily="18" charset="0"/>
              </a:rPr>
              <a:t>Hacktivism</a:t>
            </a:r>
            <a:r>
              <a:rPr lang="en-US" sz="2400" b="1" dirty="0">
                <a:solidFill>
                  <a:srgbClr val="C00000"/>
                </a:solidFill>
                <a:latin typeface="Times New Roman" pitchFamily="18" charset="0"/>
                <a:cs typeface="Times New Roman" pitchFamily="18" charset="0"/>
              </a:rPr>
              <a:t> (Political Hacking)</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685800" y="1143000"/>
            <a:ext cx="7848600" cy="4953000"/>
          </a:xfrm>
        </p:spPr>
        <p:txBody>
          <a:bodyPr>
            <a:noAutofit/>
          </a:bodyPr>
          <a:lstStyle/>
          <a:p>
            <a:pPr marL="0" indent="0">
              <a:buNone/>
            </a:pPr>
            <a:r>
              <a:rPr lang="en-US" sz="1700" b="1" dirty="0" smtClean="0">
                <a:latin typeface="Times New Roman" pitchFamily="18" charset="0"/>
                <a:cs typeface="Times New Roman" pitchFamily="18" charset="0"/>
              </a:rPr>
              <a:t>Definition</a:t>
            </a:r>
            <a:endParaRPr lang="en-US" sz="1700" dirty="0">
              <a:latin typeface="Times New Roman" pitchFamily="18" charset="0"/>
              <a:cs typeface="Times New Roman" pitchFamily="18" charset="0"/>
            </a:endParaRPr>
          </a:p>
          <a:p>
            <a:r>
              <a:rPr lang="en-US" sz="1700" dirty="0" err="1">
                <a:latin typeface="Times New Roman" pitchFamily="18" charset="0"/>
                <a:cs typeface="Times New Roman" pitchFamily="18" charset="0"/>
              </a:rPr>
              <a:t>Hacktivism</a:t>
            </a:r>
            <a:r>
              <a:rPr lang="en-US" sz="1700" dirty="0">
                <a:latin typeface="Times New Roman" pitchFamily="18" charset="0"/>
                <a:cs typeface="Times New Roman" pitchFamily="18" charset="0"/>
              </a:rPr>
              <a:t> is the use of hacking techniques to </a:t>
            </a:r>
            <a:r>
              <a:rPr lang="en-US" sz="1700" b="1" dirty="0">
                <a:latin typeface="Times New Roman" pitchFamily="18" charset="0"/>
                <a:cs typeface="Times New Roman" pitchFamily="18" charset="0"/>
              </a:rPr>
              <a:t>promote political or social causes</a:t>
            </a:r>
            <a:r>
              <a:rPr lang="en-US" sz="1700" dirty="0">
                <a:latin typeface="Times New Roman" pitchFamily="18" charset="0"/>
                <a:cs typeface="Times New Roman" pitchFamily="18" charset="0"/>
              </a:rPr>
              <a:t>. </a:t>
            </a:r>
          </a:p>
          <a:p>
            <a:pPr marL="0" indent="0">
              <a:buNone/>
            </a:pPr>
            <a:r>
              <a:rPr lang="en-US" sz="1700" b="1" dirty="0">
                <a:latin typeface="Times New Roman" pitchFamily="18" charset="0"/>
                <a:cs typeface="Times New Roman" pitchFamily="18" charset="0"/>
              </a:rPr>
              <a:t>Objectives</a:t>
            </a:r>
            <a:endParaRPr lang="en-US" sz="1700" dirty="0">
              <a:latin typeface="Times New Roman" pitchFamily="18" charset="0"/>
              <a:cs typeface="Times New Roman" pitchFamily="18" charset="0"/>
            </a:endParaRPr>
          </a:p>
          <a:p>
            <a:r>
              <a:rPr lang="en-US" sz="1700" dirty="0">
                <a:latin typeface="Times New Roman" pitchFamily="18" charset="0"/>
                <a:cs typeface="Times New Roman" pitchFamily="18" charset="0"/>
              </a:rPr>
              <a:t>Protest against governments or corporations </a:t>
            </a:r>
          </a:p>
          <a:p>
            <a:r>
              <a:rPr lang="en-US" sz="1700" dirty="0">
                <a:latin typeface="Times New Roman" pitchFamily="18" charset="0"/>
                <a:cs typeface="Times New Roman" pitchFamily="18" charset="0"/>
              </a:rPr>
              <a:t>Promote political ideologies </a:t>
            </a:r>
          </a:p>
          <a:p>
            <a:r>
              <a:rPr lang="en-US" sz="1700" dirty="0">
                <a:latin typeface="Times New Roman" pitchFamily="18" charset="0"/>
                <a:cs typeface="Times New Roman" pitchFamily="18" charset="0"/>
              </a:rPr>
              <a:t>Expose corruption or injustice </a:t>
            </a:r>
          </a:p>
          <a:p>
            <a:pPr marL="0" indent="0">
              <a:buNone/>
            </a:pPr>
            <a:r>
              <a:rPr lang="en-US" sz="1700" b="1" dirty="0">
                <a:latin typeface="Times New Roman" pitchFamily="18" charset="0"/>
                <a:cs typeface="Times New Roman" pitchFamily="18" charset="0"/>
              </a:rPr>
              <a:t>Common Activities</a:t>
            </a:r>
            <a:endParaRPr lang="en-US" sz="1700" dirty="0">
              <a:latin typeface="Times New Roman" pitchFamily="18" charset="0"/>
              <a:cs typeface="Times New Roman" pitchFamily="18" charset="0"/>
            </a:endParaRPr>
          </a:p>
          <a:p>
            <a:r>
              <a:rPr lang="en-US" sz="1700" dirty="0">
                <a:latin typeface="Times New Roman" pitchFamily="18" charset="0"/>
                <a:cs typeface="Times New Roman" pitchFamily="18" charset="0"/>
              </a:rPr>
              <a:t>Website defacement </a:t>
            </a:r>
          </a:p>
          <a:p>
            <a:r>
              <a:rPr lang="en-US" sz="1700" dirty="0">
                <a:latin typeface="Times New Roman" pitchFamily="18" charset="0"/>
                <a:cs typeface="Times New Roman" pitchFamily="18" charset="0"/>
              </a:rPr>
              <a:t>Data leaks </a:t>
            </a:r>
          </a:p>
          <a:p>
            <a:r>
              <a:rPr lang="en-US" sz="1700" dirty="0">
                <a:latin typeface="Times New Roman" pitchFamily="18" charset="0"/>
                <a:cs typeface="Times New Roman" pitchFamily="18" charset="0"/>
              </a:rPr>
              <a:t>Distributed Denial-of-Service (</a:t>
            </a:r>
            <a:r>
              <a:rPr lang="en-US" sz="1700" dirty="0" err="1">
                <a:latin typeface="Times New Roman" pitchFamily="18" charset="0"/>
                <a:cs typeface="Times New Roman" pitchFamily="18" charset="0"/>
              </a:rPr>
              <a:t>DDoS</a:t>
            </a:r>
            <a:r>
              <a:rPr lang="en-US" sz="1700" dirty="0">
                <a:latin typeface="Times New Roman" pitchFamily="18" charset="0"/>
                <a:cs typeface="Times New Roman" pitchFamily="18" charset="0"/>
              </a:rPr>
              <a:t>) attacks </a:t>
            </a:r>
          </a:p>
          <a:p>
            <a:pPr marL="0" indent="0">
              <a:buNone/>
            </a:pPr>
            <a:r>
              <a:rPr lang="en-US" sz="1700" b="1" dirty="0">
                <a:latin typeface="Times New Roman" pitchFamily="18" charset="0"/>
                <a:cs typeface="Times New Roman" pitchFamily="18" charset="0"/>
              </a:rPr>
              <a:t>Examples</a:t>
            </a:r>
            <a:endParaRPr lang="en-US" sz="1700" dirty="0">
              <a:latin typeface="Times New Roman" pitchFamily="18" charset="0"/>
              <a:cs typeface="Times New Roman" pitchFamily="18" charset="0"/>
            </a:endParaRPr>
          </a:p>
          <a:p>
            <a:r>
              <a:rPr lang="en-US" sz="1700" dirty="0">
                <a:latin typeface="Times New Roman" pitchFamily="18" charset="0"/>
                <a:cs typeface="Times New Roman" pitchFamily="18" charset="0"/>
              </a:rPr>
              <a:t>Political protest hacking groups </a:t>
            </a:r>
          </a:p>
          <a:p>
            <a:r>
              <a:rPr lang="en-US" sz="1700" dirty="0">
                <a:latin typeface="Times New Roman" pitchFamily="18" charset="0"/>
                <a:cs typeface="Times New Roman" pitchFamily="18" charset="0"/>
              </a:rPr>
              <a:t>Campaigns against censorship or surveillance </a:t>
            </a:r>
          </a:p>
          <a:p>
            <a:pPr marL="0" indent="0">
              <a:buNone/>
            </a:pPr>
            <a:r>
              <a:rPr lang="en-US" sz="1700" b="1" dirty="0">
                <a:latin typeface="Times New Roman" pitchFamily="18" charset="0"/>
                <a:cs typeface="Times New Roman" pitchFamily="18" charset="0"/>
              </a:rPr>
              <a:t>Debate</a:t>
            </a:r>
            <a:endParaRPr lang="en-US" sz="1700" dirty="0">
              <a:latin typeface="Times New Roman" pitchFamily="18" charset="0"/>
              <a:cs typeface="Times New Roman" pitchFamily="18" charset="0"/>
            </a:endParaRPr>
          </a:p>
          <a:p>
            <a:r>
              <a:rPr lang="en-US" sz="1700" dirty="0">
                <a:latin typeface="Times New Roman" pitchFamily="18" charset="0"/>
                <a:cs typeface="Times New Roman" pitchFamily="18" charset="0"/>
              </a:rPr>
              <a:t>Supporters: Digital activism </a:t>
            </a:r>
          </a:p>
          <a:p>
            <a:r>
              <a:rPr lang="en-US" sz="1700" dirty="0">
                <a:latin typeface="Times New Roman" pitchFamily="18" charset="0"/>
                <a:cs typeface="Times New Roman" pitchFamily="18" charset="0"/>
              </a:rPr>
              <a:t>Critics: Cybercrime and illegal disruption</a:t>
            </a:r>
          </a:p>
        </p:txBody>
      </p:sp>
    </p:spTree>
    <p:extLst>
      <p:ext uri="{BB962C8B-B14F-4D97-AF65-F5344CB8AC3E}">
        <p14:creationId xmlns:p14="http://schemas.microsoft.com/office/powerpoint/2010/main" val="1488091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981075"/>
            <a:ext cx="7349078" cy="5160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1540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Hackers as Security Researchers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Role</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Many hackers work as </a:t>
            </a:r>
            <a:r>
              <a:rPr lang="en-US" sz="1800" b="1" dirty="0">
                <a:latin typeface="Times New Roman" pitchFamily="18" charset="0"/>
                <a:cs typeface="Times New Roman" pitchFamily="18" charset="0"/>
              </a:rPr>
              <a:t>ethical security researchers</a:t>
            </a:r>
            <a:r>
              <a:rPr lang="en-US" sz="1800" dirty="0">
                <a:latin typeface="Times New Roman" pitchFamily="18" charset="0"/>
                <a:cs typeface="Times New Roman" pitchFamily="18" charset="0"/>
              </a:rPr>
              <a:t>. </a:t>
            </a:r>
          </a:p>
          <a:p>
            <a:pPr marL="0" indent="0">
              <a:buNone/>
            </a:pPr>
            <a:r>
              <a:rPr lang="en-US" sz="1800" b="1" dirty="0">
                <a:latin typeface="Times New Roman" pitchFamily="18" charset="0"/>
                <a:cs typeface="Times New Roman" pitchFamily="18" charset="0"/>
              </a:rPr>
              <a:t>Purpose</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Identify vulnerabilities in systems </a:t>
            </a:r>
          </a:p>
          <a:p>
            <a:r>
              <a:rPr lang="en-US" sz="1800" dirty="0">
                <a:latin typeface="Times New Roman" pitchFamily="18" charset="0"/>
                <a:cs typeface="Times New Roman" pitchFamily="18" charset="0"/>
              </a:rPr>
              <a:t>Prevent </a:t>
            </a:r>
            <a:r>
              <a:rPr lang="en-US" sz="1800" dirty="0" err="1">
                <a:latin typeface="Times New Roman" pitchFamily="18" charset="0"/>
                <a:cs typeface="Times New Roman" pitchFamily="18" charset="0"/>
              </a:rPr>
              <a:t>cyberattacks</a:t>
            </a:r>
            <a:r>
              <a:rPr lang="en-US" sz="1800" dirty="0">
                <a:latin typeface="Times New Roman" pitchFamily="18" charset="0"/>
                <a:cs typeface="Times New Roman" pitchFamily="18" charset="0"/>
              </a:rPr>
              <a:t> </a:t>
            </a:r>
          </a:p>
          <a:p>
            <a:r>
              <a:rPr lang="en-US" sz="1800" dirty="0">
                <a:latin typeface="Times New Roman" pitchFamily="18" charset="0"/>
                <a:cs typeface="Times New Roman" pitchFamily="18" charset="0"/>
              </a:rPr>
              <a:t>Strengthen </a:t>
            </a:r>
            <a:r>
              <a:rPr lang="en-US" sz="1800" dirty="0" err="1">
                <a:latin typeface="Times New Roman" pitchFamily="18" charset="0"/>
                <a:cs typeface="Times New Roman" pitchFamily="18" charset="0"/>
              </a:rPr>
              <a:t>cybersecurity</a:t>
            </a:r>
            <a:r>
              <a:rPr lang="en-US" sz="1800" dirty="0">
                <a:latin typeface="Times New Roman" pitchFamily="18" charset="0"/>
                <a:cs typeface="Times New Roman" pitchFamily="18" charset="0"/>
              </a:rPr>
              <a:t> defenses </a:t>
            </a:r>
          </a:p>
          <a:p>
            <a:pPr marL="0" indent="0">
              <a:buNone/>
            </a:pPr>
            <a:r>
              <a:rPr lang="en-US" sz="1800" b="1" dirty="0">
                <a:latin typeface="Times New Roman" pitchFamily="18" charset="0"/>
                <a:cs typeface="Times New Roman" pitchFamily="18" charset="0"/>
              </a:rPr>
              <a:t>Activities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Penetration testing </a:t>
            </a:r>
          </a:p>
          <a:p>
            <a:r>
              <a:rPr lang="en-US" sz="1800" dirty="0">
                <a:latin typeface="Times New Roman" pitchFamily="18" charset="0"/>
                <a:cs typeface="Times New Roman" pitchFamily="18" charset="0"/>
              </a:rPr>
              <a:t>Vulnerability scanning </a:t>
            </a:r>
          </a:p>
          <a:p>
            <a:r>
              <a:rPr lang="en-US" sz="1800" dirty="0">
                <a:latin typeface="Times New Roman" pitchFamily="18" charset="0"/>
                <a:cs typeface="Times New Roman" pitchFamily="18" charset="0"/>
              </a:rPr>
              <a:t>Responsible disclosure of security flaws </a:t>
            </a:r>
          </a:p>
          <a:p>
            <a:pPr marL="0" indent="0">
              <a:buNone/>
            </a:pPr>
            <a:r>
              <a:rPr lang="en-US" sz="1800" b="1" dirty="0">
                <a:latin typeface="Times New Roman" pitchFamily="18" charset="0"/>
                <a:cs typeface="Times New Roman" pitchFamily="18" charset="0"/>
              </a:rPr>
              <a:t>Benefits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Improves software security </a:t>
            </a:r>
          </a:p>
          <a:p>
            <a:r>
              <a:rPr lang="en-US" sz="1800" dirty="0">
                <a:latin typeface="Times New Roman" pitchFamily="18" charset="0"/>
                <a:cs typeface="Times New Roman" pitchFamily="18" charset="0"/>
              </a:rPr>
              <a:t>Protects users from cyber threats </a:t>
            </a:r>
          </a:p>
          <a:p>
            <a:r>
              <a:rPr lang="en-US" sz="1800" dirty="0">
                <a:latin typeface="Times New Roman" pitchFamily="18" charset="0"/>
                <a:cs typeface="Times New Roman" pitchFamily="18" charset="0"/>
              </a:rPr>
              <a:t>Helps organizations strengthen defenses</a:t>
            </a:r>
          </a:p>
        </p:txBody>
      </p:sp>
    </p:spTree>
    <p:extLst>
      <p:ext uri="{BB962C8B-B14F-4D97-AF65-F5344CB8AC3E}">
        <p14:creationId xmlns:p14="http://schemas.microsoft.com/office/powerpoint/2010/main" val="4072212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61999"/>
            <a:ext cx="7477113" cy="53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6305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Hacking as Foreign Policy</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Cyber </a:t>
            </a:r>
            <a:r>
              <a:rPr lang="en-US" sz="1800" b="1" dirty="0">
                <a:latin typeface="Times New Roman" pitchFamily="18" charset="0"/>
                <a:cs typeface="Times New Roman" pitchFamily="18" charset="0"/>
              </a:rPr>
              <a:t>Warfare</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Governments sometimes use hacking for </a:t>
            </a:r>
            <a:r>
              <a:rPr lang="en-US" sz="1800" b="1" dirty="0">
                <a:latin typeface="Times New Roman" pitchFamily="18" charset="0"/>
                <a:cs typeface="Times New Roman" pitchFamily="18" charset="0"/>
              </a:rPr>
              <a:t>national security or intelligence purposes</a:t>
            </a:r>
            <a:r>
              <a:rPr lang="en-US" sz="1800" dirty="0">
                <a:latin typeface="Times New Roman" pitchFamily="18" charset="0"/>
                <a:cs typeface="Times New Roman" pitchFamily="18" charset="0"/>
              </a:rPr>
              <a:t>. </a:t>
            </a:r>
          </a:p>
          <a:p>
            <a:pPr marL="0" indent="0">
              <a:buNone/>
            </a:pPr>
            <a:r>
              <a:rPr lang="en-US" sz="1800" b="1" dirty="0">
                <a:latin typeface="Times New Roman" pitchFamily="18" charset="0"/>
                <a:cs typeface="Times New Roman" pitchFamily="18" charset="0"/>
              </a:rPr>
              <a:t>Uses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Espionage (stealing classified information) </a:t>
            </a:r>
          </a:p>
          <a:p>
            <a:r>
              <a:rPr lang="en-US" sz="1800" dirty="0">
                <a:latin typeface="Times New Roman" pitchFamily="18" charset="0"/>
                <a:cs typeface="Times New Roman" pitchFamily="18" charset="0"/>
              </a:rPr>
              <a:t>Disrupting infrastructure </a:t>
            </a:r>
          </a:p>
          <a:p>
            <a:r>
              <a:rPr lang="en-US" sz="1800" dirty="0">
                <a:latin typeface="Times New Roman" pitchFamily="18" charset="0"/>
                <a:cs typeface="Times New Roman" pitchFamily="18" charset="0"/>
              </a:rPr>
              <a:t>Influencing elections </a:t>
            </a:r>
          </a:p>
          <a:p>
            <a:pPr marL="0" indent="0">
              <a:buNone/>
            </a:pPr>
            <a:r>
              <a:rPr lang="en-US" sz="1800" b="1" dirty="0">
                <a:latin typeface="Times New Roman" pitchFamily="18" charset="0"/>
                <a:cs typeface="Times New Roman" pitchFamily="18" charset="0"/>
              </a:rPr>
              <a:t>Examples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Cyber attacks on power grids </a:t>
            </a:r>
          </a:p>
          <a:p>
            <a:r>
              <a:rPr lang="en-US" sz="1800" dirty="0">
                <a:latin typeface="Times New Roman" pitchFamily="18" charset="0"/>
                <a:cs typeface="Times New Roman" pitchFamily="18" charset="0"/>
              </a:rPr>
              <a:t>Government-sponsored cyber espionage </a:t>
            </a:r>
          </a:p>
          <a:p>
            <a:pPr marL="0" indent="0">
              <a:buNone/>
            </a:pPr>
            <a:r>
              <a:rPr lang="en-US" sz="1800" b="1" dirty="0">
                <a:latin typeface="Times New Roman" pitchFamily="18" charset="0"/>
                <a:cs typeface="Times New Roman" pitchFamily="18" charset="0"/>
              </a:rPr>
              <a:t>Concerns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International conflict </a:t>
            </a:r>
          </a:p>
          <a:p>
            <a:r>
              <a:rPr lang="en-US" sz="1800" dirty="0">
                <a:latin typeface="Times New Roman" pitchFamily="18" charset="0"/>
                <a:cs typeface="Times New Roman" pitchFamily="18" charset="0"/>
              </a:rPr>
              <a:t>Cyber arms race </a:t>
            </a:r>
          </a:p>
          <a:p>
            <a:r>
              <a:rPr lang="en-US" sz="1800" dirty="0">
                <a:latin typeface="Times New Roman" pitchFamily="18" charset="0"/>
                <a:cs typeface="Times New Roman" pitchFamily="18" charset="0"/>
              </a:rPr>
              <a:t>Difficulty in attribution</a:t>
            </a:r>
          </a:p>
        </p:txBody>
      </p:sp>
    </p:spTree>
    <p:extLst>
      <p:ext uri="{BB962C8B-B14F-4D97-AF65-F5344CB8AC3E}">
        <p14:creationId xmlns:p14="http://schemas.microsoft.com/office/powerpoint/2010/main" val="1682176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762000"/>
            <a:ext cx="7334534" cy="531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1537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1800" b="1" dirty="0">
                <a:solidFill>
                  <a:srgbClr val="C00000"/>
                </a:solidFill>
                <a:latin typeface="Times New Roman" pitchFamily="18" charset="0"/>
                <a:cs typeface="Times New Roman" pitchFamily="18" charset="0"/>
              </a:rPr>
              <a:t>The Law: Catching and Punishing Hackers</a:t>
            </a:r>
            <a:endParaRPr lang="en-US" sz="18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Cybercrime </a:t>
            </a:r>
            <a:r>
              <a:rPr lang="en-US" sz="1800" b="1" dirty="0">
                <a:latin typeface="Times New Roman" pitchFamily="18" charset="0"/>
                <a:cs typeface="Times New Roman" pitchFamily="18" charset="0"/>
              </a:rPr>
              <a:t>Laws</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Governments have introduced laws to punish cybercriminals.</a:t>
            </a:r>
          </a:p>
          <a:p>
            <a:pPr marL="0" indent="0">
              <a:buNone/>
            </a:pPr>
            <a:r>
              <a:rPr lang="en-US" sz="1800" b="1" dirty="0">
                <a:latin typeface="Times New Roman" pitchFamily="18" charset="0"/>
                <a:cs typeface="Times New Roman" pitchFamily="18" charset="0"/>
              </a:rPr>
              <a:t>Key Legal Measures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Computer misuse laws </a:t>
            </a:r>
          </a:p>
          <a:p>
            <a:r>
              <a:rPr lang="en-US" sz="1800" dirty="0">
                <a:latin typeface="Times New Roman" pitchFamily="18" charset="0"/>
                <a:cs typeface="Times New Roman" pitchFamily="18" charset="0"/>
              </a:rPr>
              <a:t>Cybercrime investigation units </a:t>
            </a:r>
          </a:p>
          <a:p>
            <a:r>
              <a:rPr lang="en-US" sz="1800" dirty="0">
                <a:latin typeface="Times New Roman" pitchFamily="18" charset="0"/>
                <a:cs typeface="Times New Roman" pitchFamily="18" charset="0"/>
              </a:rPr>
              <a:t>Digital evidence collection </a:t>
            </a:r>
          </a:p>
          <a:p>
            <a:pPr marL="0" indent="0">
              <a:buNone/>
            </a:pPr>
            <a:r>
              <a:rPr lang="en-US" sz="1800" b="1" dirty="0">
                <a:latin typeface="Times New Roman" pitchFamily="18" charset="0"/>
                <a:cs typeface="Times New Roman" pitchFamily="18" charset="0"/>
              </a:rPr>
              <a:t>Challenges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Hackers hide identities </a:t>
            </a:r>
          </a:p>
          <a:p>
            <a:r>
              <a:rPr lang="en-US" sz="1800" dirty="0">
                <a:latin typeface="Times New Roman" pitchFamily="18" charset="0"/>
                <a:cs typeface="Times New Roman" pitchFamily="18" charset="0"/>
              </a:rPr>
              <a:t>Cross-border crimes </a:t>
            </a:r>
          </a:p>
          <a:p>
            <a:r>
              <a:rPr lang="en-US" sz="1800" dirty="0">
                <a:latin typeface="Times New Roman" pitchFamily="18" charset="0"/>
                <a:cs typeface="Times New Roman" pitchFamily="18" charset="0"/>
              </a:rPr>
              <a:t>Rapidly evolving technology </a:t>
            </a:r>
          </a:p>
          <a:p>
            <a:pPr marL="0" indent="0">
              <a:buNone/>
            </a:pPr>
            <a:r>
              <a:rPr lang="en-US" sz="1800" b="1" dirty="0">
                <a:latin typeface="Times New Roman" pitchFamily="18" charset="0"/>
                <a:cs typeface="Times New Roman" pitchFamily="18" charset="0"/>
              </a:rPr>
              <a:t>Punishments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Fines </a:t>
            </a:r>
          </a:p>
          <a:p>
            <a:r>
              <a:rPr lang="en-US" sz="1800" dirty="0">
                <a:latin typeface="Times New Roman" pitchFamily="18" charset="0"/>
                <a:cs typeface="Times New Roman" pitchFamily="18" charset="0"/>
              </a:rPr>
              <a:t>Imprisonment </a:t>
            </a:r>
          </a:p>
          <a:p>
            <a:r>
              <a:rPr lang="en-US" sz="1800" dirty="0">
                <a:latin typeface="Times New Roman" pitchFamily="18" charset="0"/>
                <a:cs typeface="Times New Roman" pitchFamily="18" charset="0"/>
              </a:rPr>
              <a:t>Asset confiscation</a:t>
            </a:r>
          </a:p>
        </p:txBody>
      </p:sp>
    </p:spTree>
    <p:extLst>
      <p:ext uri="{BB962C8B-B14F-4D97-AF65-F5344CB8AC3E}">
        <p14:creationId xmlns:p14="http://schemas.microsoft.com/office/powerpoint/2010/main" val="3157251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685801"/>
            <a:ext cx="7369791" cy="5578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7787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Identity Theft and Credit Card Fraud</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Identity </a:t>
            </a:r>
            <a:r>
              <a:rPr lang="en-US" sz="1800" b="1" dirty="0">
                <a:latin typeface="Times New Roman" pitchFamily="18" charset="0"/>
                <a:cs typeface="Times New Roman" pitchFamily="18" charset="0"/>
              </a:rPr>
              <a:t>Theft</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When someone </a:t>
            </a:r>
            <a:r>
              <a:rPr lang="en-US" sz="1800" b="1" dirty="0">
                <a:latin typeface="Times New Roman" pitchFamily="18" charset="0"/>
                <a:cs typeface="Times New Roman" pitchFamily="18" charset="0"/>
              </a:rPr>
              <a:t>steals personal information</a:t>
            </a:r>
            <a:r>
              <a:rPr lang="en-US" sz="1800" dirty="0">
                <a:latin typeface="Times New Roman" pitchFamily="18" charset="0"/>
                <a:cs typeface="Times New Roman" pitchFamily="18" charset="0"/>
              </a:rPr>
              <a:t> to impersonate another person. </a:t>
            </a:r>
          </a:p>
          <a:p>
            <a:pPr marL="0" indent="0">
              <a:buNone/>
            </a:pPr>
            <a:r>
              <a:rPr lang="en-US" sz="1800" b="1" dirty="0">
                <a:latin typeface="Times New Roman" pitchFamily="18" charset="0"/>
                <a:cs typeface="Times New Roman" pitchFamily="18" charset="0"/>
              </a:rPr>
              <a:t>Common Targets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Bank accounts </a:t>
            </a:r>
          </a:p>
          <a:p>
            <a:r>
              <a:rPr lang="en-US" sz="1800" dirty="0">
                <a:latin typeface="Times New Roman" pitchFamily="18" charset="0"/>
                <a:cs typeface="Times New Roman" pitchFamily="18" charset="0"/>
              </a:rPr>
              <a:t>Credit cards </a:t>
            </a:r>
          </a:p>
          <a:p>
            <a:r>
              <a:rPr lang="en-US" sz="1800" dirty="0">
                <a:latin typeface="Times New Roman" pitchFamily="18" charset="0"/>
                <a:cs typeface="Times New Roman" pitchFamily="18" charset="0"/>
              </a:rPr>
              <a:t>Social security numbers </a:t>
            </a:r>
          </a:p>
          <a:p>
            <a:pPr marL="0" indent="0">
              <a:buNone/>
            </a:pPr>
            <a:r>
              <a:rPr lang="en-US" sz="1800" b="1" dirty="0">
                <a:latin typeface="Times New Roman" pitchFamily="18" charset="0"/>
                <a:cs typeface="Times New Roman" pitchFamily="18" charset="0"/>
              </a:rPr>
              <a:t>Methods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Phishing emails </a:t>
            </a:r>
          </a:p>
          <a:p>
            <a:r>
              <a:rPr lang="en-US" sz="1800" dirty="0">
                <a:latin typeface="Times New Roman" pitchFamily="18" charset="0"/>
                <a:cs typeface="Times New Roman" pitchFamily="18" charset="0"/>
              </a:rPr>
              <a:t>Data breaches </a:t>
            </a:r>
          </a:p>
          <a:p>
            <a:r>
              <a:rPr lang="en-US" sz="1800" dirty="0">
                <a:latin typeface="Times New Roman" pitchFamily="18" charset="0"/>
                <a:cs typeface="Times New Roman" pitchFamily="18" charset="0"/>
              </a:rPr>
              <a:t>Malware </a:t>
            </a:r>
          </a:p>
          <a:p>
            <a:pPr marL="0" indent="0">
              <a:buNone/>
            </a:pPr>
            <a:r>
              <a:rPr lang="en-US" sz="1800" b="1" dirty="0">
                <a:latin typeface="Times New Roman" pitchFamily="18" charset="0"/>
                <a:cs typeface="Times New Roman" pitchFamily="18" charset="0"/>
              </a:rPr>
              <a:t>Consequences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Financial loss </a:t>
            </a:r>
          </a:p>
          <a:p>
            <a:r>
              <a:rPr lang="en-US" sz="1800" dirty="0">
                <a:latin typeface="Times New Roman" pitchFamily="18" charset="0"/>
                <a:cs typeface="Times New Roman" pitchFamily="18" charset="0"/>
              </a:rPr>
              <a:t>Damaged credit history </a:t>
            </a:r>
          </a:p>
          <a:p>
            <a:r>
              <a:rPr lang="en-US" sz="1800" dirty="0">
                <a:latin typeface="Times New Roman" pitchFamily="18" charset="0"/>
                <a:cs typeface="Times New Roman" pitchFamily="18" charset="0"/>
              </a:rPr>
              <a:t>Privacy violations</a:t>
            </a:r>
          </a:p>
        </p:txBody>
      </p:sp>
    </p:spTree>
    <p:extLst>
      <p:ext uri="{BB962C8B-B14F-4D97-AF65-F5344CB8AC3E}">
        <p14:creationId xmlns:p14="http://schemas.microsoft.com/office/powerpoint/2010/main" val="2995349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685800"/>
            <a:ext cx="7491287" cy="5537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809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Stealing Identities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Definition</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Criminals obtain personal data such as: </a:t>
            </a:r>
          </a:p>
          <a:p>
            <a:pPr lvl="1"/>
            <a:r>
              <a:rPr lang="en-US" sz="1800" dirty="0">
                <a:latin typeface="Times New Roman" pitchFamily="18" charset="0"/>
                <a:cs typeface="Times New Roman" pitchFamily="18" charset="0"/>
              </a:rPr>
              <a:t>Names </a:t>
            </a:r>
          </a:p>
          <a:p>
            <a:pPr lvl="1"/>
            <a:r>
              <a:rPr lang="en-US" sz="1800" dirty="0">
                <a:latin typeface="Times New Roman" pitchFamily="18" charset="0"/>
                <a:cs typeface="Times New Roman" pitchFamily="18" charset="0"/>
              </a:rPr>
              <a:t>CNIC numbers </a:t>
            </a:r>
          </a:p>
          <a:p>
            <a:pPr lvl="1"/>
            <a:r>
              <a:rPr lang="en-US" sz="1800" dirty="0">
                <a:latin typeface="Times New Roman" pitchFamily="18" charset="0"/>
                <a:cs typeface="Times New Roman" pitchFamily="18" charset="0"/>
              </a:rPr>
              <a:t>Bank details </a:t>
            </a:r>
          </a:p>
          <a:p>
            <a:pPr lvl="1"/>
            <a:r>
              <a:rPr lang="en-US" sz="1800" dirty="0">
                <a:latin typeface="Times New Roman" pitchFamily="18" charset="0"/>
                <a:cs typeface="Times New Roman" pitchFamily="18" charset="0"/>
              </a:rPr>
              <a:t>Passwords </a:t>
            </a:r>
          </a:p>
          <a:p>
            <a:pPr marL="0" indent="0">
              <a:buNone/>
            </a:pPr>
            <a:r>
              <a:rPr lang="en-US" sz="1800" b="1" dirty="0">
                <a:latin typeface="Times New Roman" pitchFamily="18" charset="0"/>
                <a:cs typeface="Times New Roman" pitchFamily="18" charset="0"/>
              </a:rPr>
              <a:t>Sources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Social media </a:t>
            </a:r>
          </a:p>
          <a:p>
            <a:r>
              <a:rPr lang="en-US" sz="1800" dirty="0">
                <a:latin typeface="Times New Roman" pitchFamily="18" charset="0"/>
                <a:cs typeface="Times New Roman" pitchFamily="18" charset="0"/>
              </a:rPr>
              <a:t>Data breaches </a:t>
            </a:r>
          </a:p>
          <a:p>
            <a:r>
              <a:rPr lang="en-US" sz="1800" dirty="0">
                <a:latin typeface="Times New Roman" pitchFamily="18" charset="0"/>
                <a:cs typeface="Times New Roman" pitchFamily="18" charset="0"/>
              </a:rPr>
              <a:t>Public databases </a:t>
            </a:r>
          </a:p>
          <a:p>
            <a:pPr marL="0" indent="0">
              <a:buNone/>
            </a:pPr>
            <a:r>
              <a:rPr lang="en-US" sz="1800" b="1" dirty="0">
                <a:latin typeface="Times New Roman" pitchFamily="18" charset="0"/>
                <a:cs typeface="Times New Roman" pitchFamily="18" charset="0"/>
              </a:rPr>
              <a:t>Uses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Fraudulent transactions </a:t>
            </a:r>
          </a:p>
          <a:p>
            <a:r>
              <a:rPr lang="en-US" sz="1800" dirty="0">
                <a:latin typeface="Times New Roman" pitchFamily="18" charset="0"/>
                <a:cs typeface="Times New Roman" pitchFamily="18" charset="0"/>
              </a:rPr>
              <a:t>Opening fake accounts </a:t>
            </a:r>
          </a:p>
          <a:p>
            <a:r>
              <a:rPr lang="en-US" sz="1800" dirty="0">
                <a:latin typeface="Times New Roman" pitchFamily="18" charset="0"/>
                <a:cs typeface="Times New Roman" pitchFamily="18" charset="0"/>
              </a:rPr>
              <a:t>Identity impersonation</a:t>
            </a:r>
          </a:p>
        </p:txBody>
      </p:sp>
    </p:spTree>
    <p:extLst>
      <p:ext uri="{BB962C8B-B14F-4D97-AF65-F5344CB8AC3E}">
        <p14:creationId xmlns:p14="http://schemas.microsoft.com/office/powerpoint/2010/main" val="2225763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61999"/>
            <a:ext cx="7356143" cy="5324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3487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000" b="1" dirty="0">
                <a:solidFill>
                  <a:srgbClr val="C00000"/>
                </a:solidFill>
                <a:latin typeface="Times New Roman" pitchFamily="18" charset="0"/>
                <a:cs typeface="Times New Roman" pitchFamily="18" charset="0"/>
              </a:rPr>
              <a:t>Responses to Identity Theft</a:t>
            </a:r>
            <a:endParaRPr lang="en-US" sz="20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Personal </a:t>
            </a:r>
            <a:r>
              <a:rPr lang="en-US" sz="1800" b="1" dirty="0">
                <a:latin typeface="Times New Roman" pitchFamily="18" charset="0"/>
                <a:cs typeface="Times New Roman" pitchFamily="18" charset="0"/>
              </a:rPr>
              <a:t>Protection</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Strong passwords </a:t>
            </a:r>
          </a:p>
          <a:p>
            <a:r>
              <a:rPr lang="en-US" sz="1800" dirty="0">
                <a:latin typeface="Times New Roman" pitchFamily="18" charset="0"/>
                <a:cs typeface="Times New Roman" pitchFamily="18" charset="0"/>
              </a:rPr>
              <a:t>Two-factor authentication </a:t>
            </a:r>
          </a:p>
          <a:p>
            <a:r>
              <a:rPr lang="en-US" sz="1800" dirty="0">
                <a:latin typeface="Times New Roman" pitchFamily="18" charset="0"/>
                <a:cs typeface="Times New Roman" pitchFamily="18" charset="0"/>
              </a:rPr>
              <a:t>Regular credit monitoring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Institutional </a:t>
            </a:r>
            <a:r>
              <a:rPr lang="en-US" sz="1800" b="1" dirty="0">
                <a:latin typeface="Times New Roman" pitchFamily="18" charset="0"/>
                <a:cs typeface="Times New Roman" pitchFamily="18" charset="0"/>
              </a:rPr>
              <a:t>Measures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Fraud detection systems </a:t>
            </a:r>
          </a:p>
          <a:p>
            <a:r>
              <a:rPr lang="en-US" sz="1800" dirty="0">
                <a:latin typeface="Times New Roman" pitchFamily="18" charset="0"/>
                <a:cs typeface="Times New Roman" pitchFamily="18" charset="0"/>
              </a:rPr>
              <a:t>Secure payment technologies </a:t>
            </a:r>
          </a:p>
          <a:p>
            <a:r>
              <a:rPr lang="en-US" sz="1800" dirty="0">
                <a:latin typeface="Times New Roman" pitchFamily="18" charset="0"/>
                <a:cs typeface="Times New Roman" pitchFamily="18" charset="0"/>
              </a:rPr>
              <a:t>Customer verification processes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Government </a:t>
            </a:r>
            <a:r>
              <a:rPr lang="en-US" sz="1800" b="1" dirty="0">
                <a:latin typeface="Times New Roman" pitchFamily="18" charset="0"/>
                <a:cs typeface="Times New Roman" pitchFamily="18" charset="0"/>
              </a:rPr>
              <a:t>Role</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Cybercrime laws </a:t>
            </a:r>
          </a:p>
          <a:p>
            <a:r>
              <a:rPr lang="en-US" sz="1800" dirty="0">
                <a:latin typeface="Times New Roman" pitchFamily="18" charset="0"/>
                <a:cs typeface="Times New Roman" pitchFamily="18" charset="0"/>
              </a:rPr>
              <a:t>Consumer protection regulations </a:t>
            </a:r>
          </a:p>
          <a:p>
            <a:r>
              <a:rPr lang="en-US" sz="1800" dirty="0">
                <a:latin typeface="Times New Roman" pitchFamily="18" charset="0"/>
                <a:cs typeface="Times New Roman" pitchFamily="18" charset="0"/>
              </a:rPr>
              <a:t>Cybercrime investigation agencies</a:t>
            </a:r>
          </a:p>
        </p:txBody>
      </p:sp>
    </p:spTree>
    <p:extLst>
      <p:ext uri="{BB962C8B-B14F-4D97-AF65-F5344CB8AC3E}">
        <p14:creationId xmlns:p14="http://schemas.microsoft.com/office/powerpoint/2010/main" val="887756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62000"/>
            <a:ext cx="7328659" cy="5393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581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Biometrics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Definition</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Biometrics uses </a:t>
            </a:r>
            <a:r>
              <a:rPr lang="en-US" sz="1800" b="1" dirty="0">
                <a:latin typeface="Times New Roman" pitchFamily="18" charset="0"/>
                <a:cs typeface="Times New Roman" pitchFamily="18" charset="0"/>
              </a:rPr>
              <a:t>unique biological characteristics</a:t>
            </a:r>
            <a:r>
              <a:rPr lang="en-US" sz="1800" dirty="0">
                <a:latin typeface="Times New Roman" pitchFamily="18" charset="0"/>
                <a:cs typeface="Times New Roman" pitchFamily="18" charset="0"/>
              </a:rPr>
              <a:t> for identification. </a:t>
            </a:r>
          </a:p>
          <a:p>
            <a:pPr marL="0" indent="0">
              <a:buNone/>
            </a:pPr>
            <a:r>
              <a:rPr lang="en-US" sz="1800" b="1" dirty="0">
                <a:latin typeface="Times New Roman" pitchFamily="18" charset="0"/>
                <a:cs typeface="Times New Roman" pitchFamily="18" charset="0"/>
              </a:rPr>
              <a:t>Examples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Fingerprints </a:t>
            </a:r>
          </a:p>
          <a:p>
            <a:r>
              <a:rPr lang="en-US" sz="1800" dirty="0">
                <a:latin typeface="Times New Roman" pitchFamily="18" charset="0"/>
                <a:cs typeface="Times New Roman" pitchFamily="18" charset="0"/>
              </a:rPr>
              <a:t>Facial recognition </a:t>
            </a:r>
          </a:p>
          <a:p>
            <a:r>
              <a:rPr lang="en-US" sz="1800" dirty="0">
                <a:latin typeface="Times New Roman" pitchFamily="18" charset="0"/>
                <a:cs typeface="Times New Roman" pitchFamily="18" charset="0"/>
              </a:rPr>
              <a:t>Iris scans </a:t>
            </a:r>
          </a:p>
          <a:p>
            <a:r>
              <a:rPr lang="en-US" sz="1800" dirty="0">
                <a:latin typeface="Times New Roman" pitchFamily="18" charset="0"/>
                <a:cs typeface="Times New Roman" pitchFamily="18" charset="0"/>
              </a:rPr>
              <a:t>Voice recognition </a:t>
            </a:r>
          </a:p>
          <a:p>
            <a:pPr marL="0" indent="0">
              <a:buNone/>
            </a:pPr>
            <a:r>
              <a:rPr lang="en-US" sz="1800" b="1" dirty="0">
                <a:latin typeface="Times New Roman" pitchFamily="18" charset="0"/>
                <a:cs typeface="Times New Roman" pitchFamily="18" charset="0"/>
              </a:rPr>
              <a:t>Advantages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Strong authentication </a:t>
            </a:r>
          </a:p>
          <a:p>
            <a:r>
              <a:rPr lang="en-US" sz="1800" dirty="0">
                <a:latin typeface="Times New Roman" pitchFamily="18" charset="0"/>
                <a:cs typeface="Times New Roman" pitchFamily="18" charset="0"/>
              </a:rPr>
              <a:t>Hard to duplicate </a:t>
            </a:r>
          </a:p>
          <a:p>
            <a:r>
              <a:rPr lang="en-US" sz="1800" dirty="0">
                <a:latin typeface="Times New Roman" pitchFamily="18" charset="0"/>
                <a:cs typeface="Times New Roman" pitchFamily="18" charset="0"/>
              </a:rPr>
              <a:t>Convenient for users </a:t>
            </a:r>
          </a:p>
          <a:p>
            <a:pPr marL="0" indent="0">
              <a:buNone/>
            </a:pPr>
            <a:r>
              <a:rPr lang="en-US" sz="1800" b="1" dirty="0">
                <a:latin typeface="Times New Roman" pitchFamily="18" charset="0"/>
                <a:cs typeface="Times New Roman" pitchFamily="18" charset="0"/>
              </a:rPr>
              <a:t>Concerns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Privacy issues </a:t>
            </a:r>
          </a:p>
          <a:p>
            <a:r>
              <a:rPr lang="en-US" sz="1800" dirty="0">
                <a:latin typeface="Times New Roman" pitchFamily="18" charset="0"/>
                <a:cs typeface="Times New Roman" pitchFamily="18" charset="0"/>
              </a:rPr>
              <a:t>Data misuse </a:t>
            </a:r>
          </a:p>
          <a:p>
            <a:r>
              <a:rPr lang="en-US" sz="1800" dirty="0">
                <a:latin typeface="Times New Roman" pitchFamily="18" charset="0"/>
                <a:cs typeface="Times New Roman" pitchFamily="18" charset="0"/>
              </a:rPr>
              <a:t>Biometric database breaches</a:t>
            </a:r>
          </a:p>
        </p:txBody>
      </p:sp>
    </p:spTree>
    <p:extLst>
      <p:ext uri="{BB962C8B-B14F-4D97-AF65-F5344CB8AC3E}">
        <p14:creationId xmlns:p14="http://schemas.microsoft.com/office/powerpoint/2010/main" val="3917731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810194"/>
            <a:ext cx="7410734" cy="5327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1506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Whose Laws Rule the Web?</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Global </a:t>
            </a:r>
            <a:r>
              <a:rPr lang="en-US" sz="1800" b="1" dirty="0">
                <a:latin typeface="Times New Roman" pitchFamily="18" charset="0"/>
                <a:cs typeface="Times New Roman" pitchFamily="18" charset="0"/>
              </a:rPr>
              <a:t>Nature of the Internet</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Internet operates </a:t>
            </a:r>
            <a:r>
              <a:rPr lang="en-US" sz="1800" b="1" dirty="0">
                <a:latin typeface="Times New Roman" pitchFamily="18" charset="0"/>
                <a:cs typeface="Times New Roman" pitchFamily="18" charset="0"/>
              </a:rPr>
              <a:t>across national borders</a:t>
            </a:r>
            <a:r>
              <a:rPr lang="en-US" sz="1800" dirty="0">
                <a:latin typeface="Times New Roman" pitchFamily="18" charset="0"/>
                <a:cs typeface="Times New Roman" pitchFamily="18" charset="0"/>
              </a:rPr>
              <a:t>.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Problem</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Different countries have </a:t>
            </a:r>
            <a:r>
              <a:rPr lang="en-US" sz="1800" b="1" dirty="0">
                <a:latin typeface="Times New Roman" pitchFamily="18" charset="0"/>
                <a:cs typeface="Times New Roman" pitchFamily="18" charset="0"/>
              </a:rPr>
              <a:t>different laws</a:t>
            </a:r>
            <a:r>
              <a:rPr lang="en-US" sz="1800" dirty="0">
                <a:latin typeface="Times New Roman" pitchFamily="18" charset="0"/>
                <a:cs typeface="Times New Roman" pitchFamily="18" charset="0"/>
              </a:rPr>
              <a:t> regarding:</a:t>
            </a:r>
          </a:p>
          <a:p>
            <a:r>
              <a:rPr lang="en-US" sz="1800" dirty="0">
                <a:latin typeface="Times New Roman" pitchFamily="18" charset="0"/>
                <a:cs typeface="Times New Roman" pitchFamily="18" charset="0"/>
              </a:rPr>
              <a:t>Privacy </a:t>
            </a:r>
          </a:p>
          <a:p>
            <a:r>
              <a:rPr lang="en-US" sz="1800" dirty="0">
                <a:latin typeface="Times New Roman" pitchFamily="18" charset="0"/>
                <a:cs typeface="Times New Roman" pitchFamily="18" charset="0"/>
              </a:rPr>
              <a:t>Cybercrime </a:t>
            </a:r>
          </a:p>
          <a:p>
            <a:r>
              <a:rPr lang="en-US" sz="1800" dirty="0">
                <a:latin typeface="Times New Roman" pitchFamily="18" charset="0"/>
                <a:cs typeface="Times New Roman" pitchFamily="18" charset="0"/>
              </a:rPr>
              <a:t>Content regulation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Example</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 website hosted in one country may violate laws in another country.</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Key </a:t>
            </a:r>
            <a:r>
              <a:rPr lang="en-US" sz="1800" b="1" dirty="0">
                <a:latin typeface="Times New Roman" pitchFamily="18" charset="0"/>
                <a:cs typeface="Times New Roman" pitchFamily="18" charset="0"/>
              </a:rPr>
              <a:t>Question</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Which country's law should apply?</a:t>
            </a:r>
          </a:p>
        </p:txBody>
      </p:sp>
    </p:spTree>
    <p:extLst>
      <p:ext uri="{BB962C8B-B14F-4D97-AF65-F5344CB8AC3E}">
        <p14:creationId xmlns:p14="http://schemas.microsoft.com/office/powerpoint/2010/main" val="175449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838200"/>
            <a:ext cx="74676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0940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When Digital Actions Cross Borders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Cross-Border </a:t>
            </a:r>
            <a:r>
              <a:rPr lang="en-US" sz="1800" b="1" dirty="0">
                <a:latin typeface="Times New Roman" pitchFamily="18" charset="0"/>
                <a:cs typeface="Times New Roman" pitchFamily="18" charset="0"/>
              </a:rPr>
              <a:t>Cybercrime</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Many cybercrimes occur </a:t>
            </a:r>
            <a:r>
              <a:rPr lang="en-US" sz="1800" b="1" dirty="0">
                <a:latin typeface="Times New Roman" pitchFamily="18" charset="0"/>
                <a:cs typeface="Times New Roman" pitchFamily="18" charset="0"/>
              </a:rPr>
              <a:t>across multiple countries</a:t>
            </a:r>
            <a:r>
              <a:rPr lang="en-US" sz="1800" dirty="0">
                <a:latin typeface="Times New Roman" pitchFamily="18" charset="0"/>
                <a:cs typeface="Times New Roman" pitchFamily="18" charset="0"/>
              </a:rPr>
              <a:t>.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Challenges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Jurisdiction issues </a:t>
            </a:r>
          </a:p>
          <a:p>
            <a:r>
              <a:rPr lang="en-US" sz="1800" dirty="0">
                <a:latin typeface="Times New Roman" pitchFamily="18" charset="0"/>
                <a:cs typeface="Times New Roman" pitchFamily="18" charset="0"/>
              </a:rPr>
              <a:t>International cooperation </a:t>
            </a:r>
          </a:p>
          <a:p>
            <a:r>
              <a:rPr lang="en-US" sz="1800" dirty="0">
                <a:latin typeface="Times New Roman" pitchFamily="18" charset="0"/>
                <a:cs typeface="Times New Roman" pitchFamily="18" charset="0"/>
              </a:rPr>
              <a:t>Evidence sharing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Solutions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International treaties </a:t>
            </a:r>
          </a:p>
          <a:p>
            <a:r>
              <a:rPr lang="en-US" sz="1800" dirty="0">
                <a:latin typeface="Times New Roman" pitchFamily="18" charset="0"/>
                <a:cs typeface="Times New Roman" pitchFamily="18" charset="0"/>
              </a:rPr>
              <a:t>Cybercrime cooperation agreements </a:t>
            </a:r>
          </a:p>
          <a:p>
            <a:r>
              <a:rPr lang="en-US" sz="1800" dirty="0">
                <a:latin typeface="Times New Roman" pitchFamily="18" charset="0"/>
                <a:cs typeface="Times New Roman" pitchFamily="18" charset="0"/>
              </a:rPr>
              <a:t>Global law enforcement collaboration</a:t>
            </a:r>
          </a:p>
        </p:txBody>
      </p:sp>
    </p:spTree>
    <p:extLst>
      <p:ext uri="{BB962C8B-B14F-4D97-AF65-F5344CB8AC3E}">
        <p14:creationId xmlns:p14="http://schemas.microsoft.com/office/powerpoint/2010/main" val="249684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775" y="838199"/>
            <a:ext cx="7499303" cy="541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0940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Libel, Speech, and Commercial Law</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Libel</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Publishing false statements that harm someone's reputation.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Online </a:t>
            </a:r>
            <a:r>
              <a:rPr lang="en-US" sz="1800" b="1" dirty="0">
                <a:latin typeface="Times New Roman" pitchFamily="18" charset="0"/>
                <a:cs typeface="Times New Roman" pitchFamily="18" charset="0"/>
              </a:rPr>
              <a:t>Speech</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Social media raises issues of: </a:t>
            </a:r>
          </a:p>
          <a:p>
            <a:pPr lvl="1"/>
            <a:r>
              <a:rPr lang="en-US" sz="1800" dirty="0">
                <a:latin typeface="Times New Roman" pitchFamily="18" charset="0"/>
                <a:cs typeface="Times New Roman" pitchFamily="18" charset="0"/>
              </a:rPr>
              <a:t>Freedom of speech </a:t>
            </a:r>
          </a:p>
          <a:p>
            <a:pPr lvl="1"/>
            <a:r>
              <a:rPr lang="en-US" sz="1800" dirty="0">
                <a:latin typeface="Times New Roman" pitchFamily="18" charset="0"/>
                <a:cs typeface="Times New Roman" pitchFamily="18" charset="0"/>
              </a:rPr>
              <a:t>Hate speech </a:t>
            </a:r>
          </a:p>
          <a:p>
            <a:pPr lvl="1"/>
            <a:r>
              <a:rPr lang="en-US" sz="1800" dirty="0">
                <a:latin typeface="Times New Roman" pitchFamily="18" charset="0"/>
                <a:cs typeface="Times New Roman" pitchFamily="18" charset="0"/>
              </a:rPr>
              <a:t>Fake news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Commercial </a:t>
            </a:r>
            <a:r>
              <a:rPr lang="en-US" sz="1800" b="1" dirty="0">
                <a:latin typeface="Times New Roman" pitchFamily="18" charset="0"/>
                <a:cs typeface="Times New Roman" pitchFamily="18" charset="0"/>
              </a:rPr>
              <a:t>Law Online</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E-commerce regulations </a:t>
            </a:r>
          </a:p>
          <a:p>
            <a:r>
              <a:rPr lang="en-US" sz="1800" dirty="0">
                <a:latin typeface="Times New Roman" pitchFamily="18" charset="0"/>
                <a:cs typeface="Times New Roman" pitchFamily="18" charset="0"/>
              </a:rPr>
              <a:t>Consumer protection </a:t>
            </a:r>
          </a:p>
          <a:p>
            <a:r>
              <a:rPr lang="en-US" sz="1800" dirty="0">
                <a:latin typeface="Times New Roman" pitchFamily="18" charset="0"/>
                <a:cs typeface="Times New Roman" pitchFamily="18" charset="0"/>
              </a:rPr>
              <a:t>Digital contracts</a:t>
            </a:r>
          </a:p>
        </p:txBody>
      </p:sp>
    </p:spTree>
    <p:extLst>
      <p:ext uri="{BB962C8B-B14F-4D97-AF65-F5344CB8AC3E}">
        <p14:creationId xmlns:p14="http://schemas.microsoft.com/office/powerpoint/2010/main" val="38935848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62000"/>
            <a:ext cx="7509153" cy="540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09400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rPr>
              <a:t>Culture, Law, and Ethics</a:t>
            </a:r>
            <a:endParaRPr lang="en-US" sz="2400" b="1" dirty="0">
              <a:solidFill>
                <a:srgbClr val="C00000"/>
              </a:solidFill>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Different </a:t>
            </a:r>
            <a:r>
              <a:rPr lang="en-US" sz="1800" b="1" dirty="0">
                <a:latin typeface="Times New Roman" pitchFamily="18" charset="0"/>
                <a:cs typeface="Times New Roman" pitchFamily="18" charset="0"/>
              </a:rPr>
              <a:t>Cultural Values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What is acceptable online varies by culture.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Examples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Free speech laws differ worldwide </a:t>
            </a:r>
          </a:p>
          <a:p>
            <a:r>
              <a:rPr lang="en-US" sz="1800" dirty="0">
                <a:latin typeface="Times New Roman" pitchFamily="18" charset="0"/>
                <a:cs typeface="Times New Roman" pitchFamily="18" charset="0"/>
              </a:rPr>
              <a:t>Privacy expectations vary </a:t>
            </a:r>
          </a:p>
          <a:p>
            <a:pPr marL="0" indent="0">
              <a:buNone/>
            </a:pP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Ethical </a:t>
            </a:r>
            <a:r>
              <a:rPr lang="en-US" sz="1800" b="1" dirty="0">
                <a:latin typeface="Times New Roman" pitchFamily="18" charset="0"/>
                <a:cs typeface="Times New Roman" pitchFamily="18" charset="0"/>
              </a:rPr>
              <a:t>Issues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Responsible technology use </a:t>
            </a:r>
          </a:p>
          <a:p>
            <a:r>
              <a:rPr lang="en-US" sz="1800" dirty="0">
                <a:latin typeface="Times New Roman" pitchFamily="18" charset="0"/>
                <a:cs typeface="Times New Roman" pitchFamily="18" charset="0"/>
              </a:rPr>
              <a:t>Respect for privacy </a:t>
            </a:r>
          </a:p>
          <a:p>
            <a:r>
              <a:rPr lang="en-US" sz="1800" dirty="0">
                <a:latin typeface="Times New Roman" pitchFamily="18" charset="0"/>
                <a:cs typeface="Times New Roman" pitchFamily="18" charset="0"/>
              </a:rPr>
              <a:t>Avoiding harm through digital actions</a:t>
            </a:r>
          </a:p>
        </p:txBody>
      </p:sp>
    </p:spTree>
    <p:extLst>
      <p:ext uri="{BB962C8B-B14F-4D97-AF65-F5344CB8AC3E}">
        <p14:creationId xmlns:p14="http://schemas.microsoft.com/office/powerpoint/2010/main" val="2510000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685799"/>
            <a:ext cx="7416164" cy="5428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0940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Potential Solutions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Improving </a:t>
            </a:r>
            <a:r>
              <a:rPr lang="en-US" sz="1800" b="1" dirty="0" err="1">
                <a:latin typeface="Times New Roman" pitchFamily="18" charset="0"/>
                <a:cs typeface="Times New Roman" pitchFamily="18" charset="0"/>
              </a:rPr>
              <a:t>Cybersecurity</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Strong encryption </a:t>
            </a:r>
          </a:p>
          <a:p>
            <a:r>
              <a:rPr lang="en-US" sz="1800" dirty="0">
                <a:latin typeface="Times New Roman" pitchFamily="18" charset="0"/>
                <a:cs typeface="Times New Roman" pitchFamily="18" charset="0"/>
              </a:rPr>
              <a:t>Advanced security systems </a:t>
            </a:r>
          </a:p>
          <a:p>
            <a:pPr marL="0" indent="0">
              <a:buNone/>
            </a:pPr>
            <a:r>
              <a:rPr lang="en-US" sz="1800" b="1" dirty="0">
                <a:latin typeface="Times New Roman" pitchFamily="18" charset="0"/>
                <a:cs typeface="Times New Roman" pitchFamily="18" charset="0"/>
              </a:rPr>
              <a:t>International Cooperation</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Global cybercrime laws </a:t>
            </a:r>
          </a:p>
          <a:p>
            <a:r>
              <a:rPr lang="en-US" sz="1800" dirty="0">
                <a:latin typeface="Times New Roman" pitchFamily="18" charset="0"/>
                <a:cs typeface="Times New Roman" pitchFamily="18" charset="0"/>
              </a:rPr>
              <a:t>Information sharing between countries </a:t>
            </a:r>
          </a:p>
          <a:p>
            <a:pPr marL="0" indent="0">
              <a:buNone/>
            </a:pPr>
            <a:r>
              <a:rPr lang="en-US" sz="1800" b="1" dirty="0">
                <a:latin typeface="Times New Roman" pitchFamily="18" charset="0"/>
                <a:cs typeface="Times New Roman" pitchFamily="18" charset="0"/>
              </a:rPr>
              <a:t>Public Awareness</a:t>
            </a:r>
            <a:endParaRPr lang="en-US" sz="1800" dirty="0">
              <a:latin typeface="Times New Roman" pitchFamily="18" charset="0"/>
              <a:cs typeface="Times New Roman" pitchFamily="18" charset="0"/>
            </a:endParaRPr>
          </a:p>
          <a:p>
            <a:r>
              <a:rPr lang="en-US" sz="1800" dirty="0" err="1">
                <a:latin typeface="Times New Roman" pitchFamily="18" charset="0"/>
                <a:cs typeface="Times New Roman" pitchFamily="18" charset="0"/>
              </a:rPr>
              <a:t>Cybersecurity</a:t>
            </a:r>
            <a:r>
              <a:rPr lang="en-US" sz="1800" dirty="0">
                <a:latin typeface="Times New Roman" pitchFamily="18" charset="0"/>
                <a:cs typeface="Times New Roman" pitchFamily="18" charset="0"/>
              </a:rPr>
              <a:t> education </a:t>
            </a:r>
          </a:p>
          <a:p>
            <a:r>
              <a:rPr lang="en-US" sz="1800" dirty="0">
                <a:latin typeface="Times New Roman" pitchFamily="18" charset="0"/>
                <a:cs typeface="Times New Roman" pitchFamily="18" charset="0"/>
              </a:rPr>
              <a:t>Safe internet practices </a:t>
            </a:r>
          </a:p>
          <a:p>
            <a:pPr marL="0" indent="0">
              <a:buNone/>
            </a:pPr>
            <a:r>
              <a:rPr lang="en-US" sz="1800" b="1" dirty="0">
                <a:latin typeface="Times New Roman" pitchFamily="18" charset="0"/>
                <a:cs typeface="Times New Roman" pitchFamily="18" charset="0"/>
              </a:rPr>
              <a:t>Technological Solutions</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AI-based threat detection </a:t>
            </a:r>
          </a:p>
          <a:p>
            <a:r>
              <a:rPr lang="en-US" sz="1800" dirty="0">
                <a:latin typeface="Times New Roman" pitchFamily="18" charset="0"/>
                <a:cs typeface="Times New Roman" pitchFamily="18" charset="0"/>
              </a:rPr>
              <a:t>Multi-factor authentication </a:t>
            </a:r>
          </a:p>
          <a:p>
            <a:r>
              <a:rPr lang="en-US" sz="1800" dirty="0">
                <a:latin typeface="Times New Roman" pitchFamily="18" charset="0"/>
                <a:cs typeface="Times New Roman" pitchFamily="18" charset="0"/>
              </a:rPr>
              <a:t>Secure digital identity systems</a:t>
            </a:r>
          </a:p>
        </p:txBody>
      </p:sp>
    </p:spTree>
    <p:extLst>
      <p:ext uri="{BB962C8B-B14F-4D97-AF65-F5344CB8AC3E}">
        <p14:creationId xmlns:p14="http://schemas.microsoft.com/office/powerpoint/2010/main" val="1943350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761999"/>
            <a:ext cx="7132911" cy="5338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0940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pPr marL="0" indent="0"/>
            <a:r>
              <a:rPr lang="en-US" sz="2400" b="1" dirty="0">
                <a:solidFill>
                  <a:srgbClr val="C00000"/>
                </a:solidFill>
                <a:latin typeface="Times New Roman" pitchFamily="18" charset="0"/>
                <a:cs typeface="Times New Roman" pitchFamily="18" charset="0"/>
              </a:rPr>
              <a:t>Case Study: The Cyber Attack on </a:t>
            </a:r>
            <a:r>
              <a:rPr lang="en-US" sz="2400" b="1" dirty="0" err="1">
                <a:solidFill>
                  <a:srgbClr val="C00000"/>
                </a:solidFill>
                <a:latin typeface="Times New Roman" pitchFamily="18" charset="0"/>
                <a:cs typeface="Times New Roman" pitchFamily="18" charset="0"/>
              </a:rPr>
              <a:t>GlobalTech</a:t>
            </a:r>
            <a:r>
              <a:rPr lang="en-US" sz="2400" b="1" dirty="0">
                <a:solidFill>
                  <a:srgbClr val="C00000"/>
                </a:solidFill>
                <a:latin typeface="Times New Roman" pitchFamily="18" charset="0"/>
                <a:cs typeface="Times New Roman" pitchFamily="18" charset="0"/>
              </a:rPr>
              <a:t> Corporation</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lgn="just">
              <a:buNone/>
            </a:pPr>
            <a:endParaRPr lang="en-US" sz="1800" b="1" dirty="0" smtClean="0">
              <a:latin typeface="Times New Roman" pitchFamily="18" charset="0"/>
              <a:cs typeface="Times New Roman" pitchFamily="18" charset="0"/>
            </a:endParaRPr>
          </a:p>
          <a:p>
            <a:pPr marL="0" indent="0" algn="just">
              <a:buNone/>
            </a:pPr>
            <a:r>
              <a:rPr lang="en-US" sz="1800" b="1" dirty="0" smtClean="0">
                <a:latin typeface="Times New Roman" pitchFamily="18" charset="0"/>
                <a:cs typeface="Times New Roman" pitchFamily="18" charset="0"/>
              </a:rPr>
              <a:t>Background</a:t>
            </a:r>
            <a:endParaRPr lang="en-US" sz="1800" b="1" dirty="0">
              <a:latin typeface="Times New Roman" pitchFamily="18" charset="0"/>
              <a:cs typeface="Times New Roman" pitchFamily="18" charset="0"/>
            </a:endParaRPr>
          </a:p>
          <a:p>
            <a:pPr algn="just"/>
            <a:r>
              <a:rPr lang="en-US" sz="1800" dirty="0" err="1">
                <a:latin typeface="Times New Roman" pitchFamily="18" charset="0"/>
                <a:cs typeface="Times New Roman" pitchFamily="18" charset="0"/>
              </a:rPr>
              <a:t>GlobalTech</a:t>
            </a:r>
            <a:r>
              <a:rPr lang="en-US" sz="1800" dirty="0">
                <a:latin typeface="Times New Roman" pitchFamily="18" charset="0"/>
                <a:cs typeface="Times New Roman" pitchFamily="18" charset="0"/>
              </a:rPr>
              <a:t> Corporation is a multinational technology company that provides cloud services, e-commerce platforms, and digital payment systems. Millions of customers worldwide use its services to store personal data, make online purchases, and conduct financial transactions.</a:t>
            </a:r>
          </a:p>
          <a:p>
            <a:pPr algn="just"/>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One </a:t>
            </a:r>
            <a:r>
              <a:rPr lang="en-US" sz="1800" dirty="0">
                <a:latin typeface="Times New Roman" pitchFamily="18" charset="0"/>
                <a:cs typeface="Times New Roman" pitchFamily="18" charset="0"/>
              </a:rPr>
              <a:t>day, </a:t>
            </a:r>
            <a:r>
              <a:rPr lang="en-US" sz="1800" dirty="0" err="1">
                <a:latin typeface="Times New Roman" pitchFamily="18" charset="0"/>
                <a:cs typeface="Times New Roman" pitchFamily="18" charset="0"/>
              </a:rPr>
              <a:t>GlobalTech</a:t>
            </a:r>
            <a:r>
              <a:rPr lang="en-US" sz="1800" dirty="0">
                <a:latin typeface="Times New Roman" pitchFamily="18" charset="0"/>
                <a:cs typeface="Times New Roman" pitchFamily="18" charset="0"/>
              </a:rPr>
              <a:t> discovered that its systems had been compromised by a group of hackers. The attackers gained unauthorized access to customer databases and stole thousands of users’ personal identities, including credit card details, addresses, and login credentials</a:t>
            </a: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1478613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Case Study: The Cyber Attack on </a:t>
            </a:r>
            <a:r>
              <a:rPr lang="en-US" sz="2400" b="1" dirty="0" err="1">
                <a:solidFill>
                  <a:srgbClr val="C00000"/>
                </a:solidFill>
                <a:latin typeface="Times New Roman" pitchFamily="18" charset="0"/>
                <a:cs typeface="Times New Roman" pitchFamily="18" charset="0"/>
              </a:rPr>
              <a:t>GlobalTech</a:t>
            </a:r>
            <a:r>
              <a:rPr lang="en-US" sz="2400" b="1" dirty="0">
                <a:solidFill>
                  <a:srgbClr val="C00000"/>
                </a:solidFill>
                <a:latin typeface="Times New Roman" pitchFamily="18" charset="0"/>
                <a:cs typeface="Times New Roman" pitchFamily="18" charset="0"/>
              </a:rPr>
              <a:t> Corporation</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algn="just"/>
            <a:r>
              <a:rPr lang="en-US" sz="1800" dirty="0" smtClean="0">
                <a:latin typeface="Times New Roman" pitchFamily="18" charset="0"/>
                <a:cs typeface="Times New Roman" pitchFamily="18" charset="0"/>
              </a:rPr>
              <a:t>Shortly </a:t>
            </a:r>
            <a:r>
              <a:rPr lang="en-US" sz="1800" dirty="0">
                <a:latin typeface="Times New Roman" pitchFamily="18" charset="0"/>
                <a:cs typeface="Times New Roman" pitchFamily="18" charset="0"/>
              </a:rPr>
              <a:t>after the breach, some of the stolen data appeared online. Investigators later found that the attackers were part of a </a:t>
            </a:r>
            <a:r>
              <a:rPr lang="en-US" sz="1800" dirty="0" err="1">
                <a:latin typeface="Times New Roman" pitchFamily="18" charset="0"/>
                <a:cs typeface="Times New Roman" pitchFamily="18" charset="0"/>
              </a:rPr>
              <a:t>hacktivist</a:t>
            </a:r>
            <a:r>
              <a:rPr lang="en-US" sz="1800" dirty="0">
                <a:latin typeface="Times New Roman" pitchFamily="18" charset="0"/>
                <a:cs typeface="Times New Roman" pitchFamily="18" charset="0"/>
              </a:rPr>
              <a:t> group protesting against </a:t>
            </a:r>
            <a:r>
              <a:rPr lang="en-US" sz="1800" dirty="0" err="1">
                <a:latin typeface="Times New Roman" pitchFamily="18" charset="0"/>
                <a:cs typeface="Times New Roman" pitchFamily="18" charset="0"/>
              </a:rPr>
              <a:t>GlobalTech’s</a:t>
            </a:r>
            <a:r>
              <a:rPr lang="en-US" sz="1800" dirty="0">
                <a:latin typeface="Times New Roman" pitchFamily="18" charset="0"/>
                <a:cs typeface="Times New Roman" pitchFamily="18" charset="0"/>
              </a:rPr>
              <a:t> alleged involvement in government surveillance programs.</a:t>
            </a:r>
          </a:p>
          <a:p>
            <a:pPr algn="just"/>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The </a:t>
            </a:r>
            <a:r>
              <a:rPr lang="en-US" sz="1800" dirty="0">
                <a:latin typeface="Times New Roman" pitchFamily="18" charset="0"/>
                <a:cs typeface="Times New Roman" pitchFamily="18" charset="0"/>
              </a:rPr>
              <a:t>hackers claimed that their actions were meant to expose unethical practices and raise awareness about privacy violations. However, the breach also resulted in serious consequences for customers, including identity theft and credit card fraud.</a:t>
            </a:r>
          </a:p>
          <a:p>
            <a:pPr algn="just"/>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Authorities </a:t>
            </a:r>
            <a:r>
              <a:rPr lang="en-US" sz="1800" dirty="0">
                <a:latin typeface="Times New Roman" pitchFamily="18" charset="0"/>
                <a:cs typeface="Times New Roman" pitchFamily="18" charset="0"/>
              </a:rPr>
              <a:t>from several countries began investigating the case because the hackers operated from different countries, the company’s servers were located in multiple regions, and the victims were spread across the globe.</a:t>
            </a:r>
          </a:p>
        </p:txBody>
      </p:sp>
    </p:spTree>
    <p:extLst>
      <p:ext uri="{BB962C8B-B14F-4D97-AF65-F5344CB8AC3E}">
        <p14:creationId xmlns:p14="http://schemas.microsoft.com/office/powerpoint/2010/main" val="20307257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Case Study: The Cyber Attack on </a:t>
            </a:r>
            <a:r>
              <a:rPr lang="en-US" sz="2400" b="1" dirty="0" err="1">
                <a:solidFill>
                  <a:srgbClr val="C00000"/>
                </a:solidFill>
                <a:latin typeface="Times New Roman" pitchFamily="18" charset="0"/>
                <a:cs typeface="Times New Roman" pitchFamily="18" charset="0"/>
              </a:rPr>
              <a:t>GlobalTech</a:t>
            </a:r>
            <a:r>
              <a:rPr lang="en-US" sz="2400" b="1" dirty="0">
                <a:solidFill>
                  <a:srgbClr val="C00000"/>
                </a:solidFill>
                <a:latin typeface="Times New Roman" pitchFamily="18" charset="0"/>
                <a:cs typeface="Times New Roman" pitchFamily="18" charset="0"/>
              </a:rPr>
              <a:t> Corporation</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a:latin typeface="Times New Roman" pitchFamily="18" charset="0"/>
                <a:cs typeface="Times New Roman" pitchFamily="18" charset="0"/>
              </a:rPr>
              <a:t>1. What type of hacking occurred in this case?</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This case involves </a:t>
            </a:r>
            <a:r>
              <a:rPr lang="en-US" sz="1800" b="1" dirty="0">
                <a:latin typeface="Times New Roman" pitchFamily="18" charset="0"/>
                <a:cs typeface="Times New Roman" pitchFamily="18" charset="0"/>
              </a:rPr>
              <a:t>unauthorized access to computer systems and databases</a:t>
            </a:r>
            <a:r>
              <a:rPr lang="en-US" sz="1800" dirty="0">
                <a:latin typeface="Times New Roman" pitchFamily="18" charset="0"/>
                <a:cs typeface="Times New Roman" pitchFamily="18" charset="0"/>
              </a:rPr>
              <a:t>, which is a form of hacking. The hackers exploited vulnerabilities in </a:t>
            </a:r>
            <a:r>
              <a:rPr lang="en-US" sz="1800" dirty="0" err="1">
                <a:latin typeface="Times New Roman" pitchFamily="18" charset="0"/>
                <a:cs typeface="Times New Roman" pitchFamily="18" charset="0"/>
              </a:rPr>
              <a:t>GlobalTech’s</a:t>
            </a:r>
            <a:r>
              <a:rPr lang="en-US" sz="1800" dirty="0">
                <a:latin typeface="Times New Roman" pitchFamily="18" charset="0"/>
                <a:cs typeface="Times New Roman" pitchFamily="18" charset="0"/>
              </a:rPr>
              <a:t> network security to gain access to sensitive customer data.</a:t>
            </a:r>
          </a:p>
          <a:p>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2</a:t>
            </a:r>
            <a:r>
              <a:rPr lang="en-US" sz="1800" b="1" dirty="0">
                <a:latin typeface="Times New Roman" pitchFamily="18" charset="0"/>
                <a:cs typeface="Times New Roman" pitchFamily="18" charset="0"/>
              </a:rPr>
              <a:t>. How does this case demonstrate </a:t>
            </a:r>
            <a:r>
              <a:rPr lang="en-US" sz="1800" b="1" dirty="0" err="1">
                <a:latin typeface="Times New Roman" pitchFamily="18" charset="0"/>
                <a:cs typeface="Times New Roman" pitchFamily="18" charset="0"/>
              </a:rPr>
              <a:t>hacktivism</a:t>
            </a:r>
            <a:r>
              <a:rPr lang="en-US" sz="1800" b="1"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attackers claimed they were protesting against </a:t>
            </a:r>
            <a:r>
              <a:rPr lang="en-US" sz="1800" dirty="0" err="1">
                <a:latin typeface="Times New Roman" pitchFamily="18" charset="0"/>
                <a:cs typeface="Times New Roman" pitchFamily="18" charset="0"/>
              </a:rPr>
              <a:t>GlobalTech’s</a:t>
            </a:r>
            <a:r>
              <a:rPr lang="en-US" sz="1800" dirty="0">
                <a:latin typeface="Times New Roman" pitchFamily="18" charset="0"/>
                <a:cs typeface="Times New Roman" pitchFamily="18" charset="0"/>
              </a:rPr>
              <a:t> alleged cooperation with government surveillance programs. Using hacking to promote a political or social cause is known as </a:t>
            </a:r>
            <a:r>
              <a:rPr lang="en-US" sz="1800" b="1" dirty="0" err="1">
                <a:latin typeface="Times New Roman" pitchFamily="18" charset="0"/>
                <a:cs typeface="Times New Roman" pitchFamily="18" charset="0"/>
              </a:rPr>
              <a:t>hacktivism</a:t>
            </a: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601175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Potential Solutions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3</a:t>
            </a:r>
            <a:r>
              <a:rPr lang="en-US" sz="1800" b="1" dirty="0">
                <a:latin typeface="Times New Roman" pitchFamily="18" charset="0"/>
                <a:cs typeface="Times New Roman" pitchFamily="18" charset="0"/>
              </a:rPr>
              <a:t>. How could ethical hackers or security researchers have helped prevent this attack?</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Ethical hackers could have:</a:t>
            </a:r>
          </a:p>
          <a:p>
            <a:pPr lvl="0"/>
            <a:r>
              <a:rPr lang="en-US" sz="1800" dirty="0">
                <a:latin typeface="Times New Roman" pitchFamily="18" charset="0"/>
                <a:cs typeface="Times New Roman" pitchFamily="18" charset="0"/>
              </a:rPr>
              <a:t>Conducted </a:t>
            </a:r>
            <a:r>
              <a:rPr lang="en-US" sz="1800" b="1" dirty="0">
                <a:latin typeface="Times New Roman" pitchFamily="18" charset="0"/>
                <a:cs typeface="Times New Roman" pitchFamily="18" charset="0"/>
              </a:rPr>
              <a:t>penetration testing</a:t>
            </a:r>
            <a:r>
              <a:rPr lang="en-US" sz="1800" dirty="0">
                <a:latin typeface="Times New Roman" pitchFamily="18" charset="0"/>
                <a:cs typeface="Times New Roman" pitchFamily="18" charset="0"/>
              </a:rPr>
              <a:t> </a:t>
            </a:r>
          </a:p>
          <a:p>
            <a:pPr lvl="0"/>
            <a:r>
              <a:rPr lang="en-US" sz="1800" dirty="0">
                <a:latin typeface="Times New Roman" pitchFamily="18" charset="0"/>
                <a:cs typeface="Times New Roman" pitchFamily="18" charset="0"/>
              </a:rPr>
              <a:t>Identified vulnerabilities in the company’s systems </a:t>
            </a:r>
          </a:p>
          <a:p>
            <a:pPr lvl="0"/>
            <a:r>
              <a:rPr lang="en-US" sz="1800" dirty="0">
                <a:latin typeface="Times New Roman" pitchFamily="18" charset="0"/>
                <a:cs typeface="Times New Roman" pitchFamily="18" charset="0"/>
              </a:rPr>
              <a:t>Reported weaknesses through </a:t>
            </a:r>
            <a:r>
              <a:rPr lang="en-US" sz="1800" b="1" dirty="0">
                <a:latin typeface="Times New Roman" pitchFamily="18" charset="0"/>
                <a:cs typeface="Times New Roman" pitchFamily="18" charset="0"/>
              </a:rPr>
              <a:t>responsible disclosure</a:t>
            </a:r>
            <a:r>
              <a:rPr lang="en-US" sz="1800" dirty="0">
                <a:latin typeface="Times New Roman" pitchFamily="18" charset="0"/>
                <a:cs typeface="Times New Roman" pitchFamily="18" charset="0"/>
              </a:rPr>
              <a:t> </a:t>
            </a:r>
          </a:p>
          <a:p>
            <a:r>
              <a:rPr lang="en-US" sz="1800" dirty="0" smtClean="0">
                <a:latin typeface="Times New Roman" pitchFamily="18" charset="0"/>
                <a:cs typeface="Times New Roman" pitchFamily="18" charset="0"/>
              </a:rPr>
              <a:t>This would allow </a:t>
            </a:r>
            <a:r>
              <a:rPr lang="en-US" sz="1800" dirty="0" err="1" smtClean="0">
                <a:latin typeface="Times New Roman" pitchFamily="18" charset="0"/>
                <a:cs typeface="Times New Roman" pitchFamily="18" charset="0"/>
              </a:rPr>
              <a:t>GlobalTech</a:t>
            </a:r>
            <a:r>
              <a:rPr lang="en-US" sz="1800" dirty="0" smtClean="0">
                <a:latin typeface="Times New Roman" pitchFamily="18" charset="0"/>
                <a:cs typeface="Times New Roman" pitchFamily="18" charset="0"/>
              </a:rPr>
              <a:t> to fix security flaws before attackers exploited them.</a:t>
            </a:r>
          </a:p>
          <a:p>
            <a:pPr marL="0" indent="0">
              <a:buNone/>
            </a:pPr>
            <a:r>
              <a:rPr lang="en-US" sz="1800" b="1" dirty="0">
                <a:latin typeface="Times New Roman" pitchFamily="18" charset="0"/>
                <a:cs typeface="Times New Roman" pitchFamily="18" charset="0"/>
              </a:rPr>
              <a:t>4. How can hacking be used as a foreign policy tool?</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Governments sometimes support cyber operations to gather intelligence, influence political situations, or disrupt foreign systems. If a government had secretly supported the hackers in this case, it could represent </a:t>
            </a:r>
            <a:r>
              <a:rPr lang="en-US" sz="1800" b="1" dirty="0">
                <a:latin typeface="Times New Roman" pitchFamily="18" charset="0"/>
                <a:cs typeface="Times New Roman" pitchFamily="18" charset="0"/>
              </a:rPr>
              <a:t>cyber warfare or cyber espionage</a:t>
            </a:r>
            <a:r>
              <a:rPr lang="en-US" sz="1800" dirty="0">
                <a:latin typeface="Times New Roman" pitchFamily="18" charset="0"/>
                <a:cs typeface="Times New Roman" pitchFamily="18" charset="0"/>
              </a:rPr>
              <a:t>.</a:t>
            </a:r>
          </a:p>
          <a:p>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40268154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Potential Solutions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5</a:t>
            </a:r>
            <a:r>
              <a:rPr lang="en-US" sz="1800" b="1" dirty="0">
                <a:latin typeface="Times New Roman" pitchFamily="18" charset="0"/>
                <a:cs typeface="Times New Roman" pitchFamily="18" charset="0"/>
              </a:rPr>
              <a:t>. What laws apply to catching and punishing the hackers?</a:t>
            </a:r>
            <a:endParaRPr lang="en-US" sz="1800" dirty="0">
              <a:latin typeface="Times New Roman" pitchFamily="18" charset="0"/>
              <a:cs typeface="Times New Roman" pitchFamily="18" charset="0"/>
            </a:endParaRPr>
          </a:p>
          <a:p>
            <a:pPr marL="0" indent="0">
              <a:buNone/>
            </a:pPr>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Cybercrime laws such as:</a:t>
            </a:r>
          </a:p>
          <a:p>
            <a:pPr lvl="0"/>
            <a:r>
              <a:rPr lang="en-US" sz="1800" dirty="0">
                <a:latin typeface="Times New Roman" pitchFamily="18" charset="0"/>
                <a:cs typeface="Times New Roman" pitchFamily="18" charset="0"/>
              </a:rPr>
              <a:t>Computer misuse laws </a:t>
            </a:r>
          </a:p>
          <a:p>
            <a:pPr lvl="0"/>
            <a:r>
              <a:rPr lang="en-US" sz="1800" dirty="0">
                <a:latin typeface="Times New Roman" pitchFamily="18" charset="0"/>
                <a:cs typeface="Times New Roman" pitchFamily="18" charset="0"/>
              </a:rPr>
              <a:t>Data protection laws </a:t>
            </a:r>
          </a:p>
          <a:p>
            <a:pPr lvl="0"/>
            <a:r>
              <a:rPr lang="en-US" sz="1800" dirty="0">
                <a:latin typeface="Times New Roman" pitchFamily="18" charset="0"/>
                <a:cs typeface="Times New Roman" pitchFamily="18" charset="0"/>
              </a:rPr>
              <a:t>Fraud and identity theft laws </a:t>
            </a:r>
          </a:p>
          <a:p>
            <a:r>
              <a:rPr lang="en-US" sz="1800" dirty="0">
                <a:latin typeface="Times New Roman" pitchFamily="18" charset="0"/>
                <a:cs typeface="Times New Roman" pitchFamily="18" charset="0"/>
              </a:rPr>
              <a:t>Law enforcement agencies can investigate the attack, collect digital evidence, and prosecute those responsible.</a:t>
            </a:r>
          </a:p>
          <a:p>
            <a:pPr marL="0" indent="0">
              <a:buNone/>
            </a:pPr>
            <a:r>
              <a:rPr lang="en-US" sz="1800" b="1" dirty="0">
                <a:latin typeface="Times New Roman" pitchFamily="18" charset="0"/>
                <a:cs typeface="Times New Roman" pitchFamily="18" charset="0"/>
              </a:rPr>
              <a:t>6. What is identity theft and how did it occur in this case?</a:t>
            </a:r>
            <a:endParaRPr lang="en-US" sz="1800" dirty="0">
              <a:latin typeface="Times New Roman" pitchFamily="18" charset="0"/>
              <a:cs typeface="Times New Roman" pitchFamily="18" charset="0"/>
            </a:endParaRPr>
          </a:p>
          <a:p>
            <a:pPr marL="0" indent="0">
              <a:buNone/>
            </a:pPr>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Identity theft occurs when criminals steal personal information and use it to impersonate someone else. In this case, hackers stole customers’ </a:t>
            </a:r>
            <a:r>
              <a:rPr lang="en-US" sz="1800" b="1" dirty="0">
                <a:latin typeface="Times New Roman" pitchFamily="18" charset="0"/>
                <a:cs typeface="Times New Roman" pitchFamily="18" charset="0"/>
              </a:rPr>
              <a:t>names, credit card numbers, and addresses</a:t>
            </a:r>
            <a:r>
              <a:rPr lang="en-US" sz="1800" dirty="0">
                <a:latin typeface="Times New Roman" pitchFamily="18" charset="0"/>
                <a:cs typeface="Times New Roman" pitchFamily="18" charset="0"/>
              </a:rPr>
              <a:t>, which could be used for fraudulent transactions.</a:t>
            </a:r>
          </a:p>
        </p:txBody>
      </p:sp>
    </p:spTree>
    <p:extLst>
      <p:ext uri="{BB962C8B-B14F-4D97-AF65-F5344CB8AC3E}">
        <p14:creationId xmlns:p14="http://schemas.microsoft.com/office/powerpoint/2010/main" val="3092633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Potential Solutions</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a:latin typeface="Times New Roman" pitchFamily="18" charset="0"/>
                <a:cs typeface="Times New Roman" pitchFamily="18" charset="0"/>
              </a:rPr>
              <a:t>7. What is credit card fraud and how might criminals use the stolen data?</a:t>
            </a:r>
            <a:endParaRPr lang="en-US" sz="1800" dirty="0">
              <a:latin typeface="Times New Roman" pitchFamily="18" charset="0"/>
              <a:cs typeface="Times New Roman" pitchFamily="18" charset="0"/>
            </a:endParaRPr>
          </a:p>
          <a:p>
            <a:pPr marL="0" indent="0">
              <a:buNone/>
            </a:pPr>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Credit card fraud occurs when someone uses another person’s credit card details without permission. Criminals could:</a:t>
            </a:r>
          </a:p>
          <a:p>
            <a:pPr lvl="0"/>
            <a:r>
              <a:rPr lang="en-US" sz="1800" dirty="0">
                <a:latin typeface="Times New Roman" pitchFamily="18" charset="0"/>
                <a:cs typeface="Times New Roman" pitchFamily="18" charset="0"/>
              </a:rPr>
              <a:t>Make unauthorized purchases </a:t>
            </a:r>
          </a:p>
          <a:p>
            <a:pPr lvl="0"/>
            <a:r>
              <a:rPr lang="en-US" sz="1800" dirty="0">
                <a:latin typeface="Times New Roman" pitchFamily="18" charset="0"/>
                <a:cs typeface="Times New Roman" pitchFamily="18" charset="0"/>
              </a:rPr>
              <a:t>Transfer money </a:t>
            </a:r>
          </a:p>
          <a:p>
            <a:pPr lvl="0"/>
            <a:r>
              <a:rPr lang="en-US" sz="1800" dirty="0">
                <a:latin typeface="Times New Roman" pitchFamily="18" charset="0"/>
                <a:cs typeface="Times New Roman" pitchFamily="18" charset="0"/>
              </a:rPr>
              <a:t>Create fake accounts for financial transactions </a:t>
            </a:r>
          </a:p>
          <a:p>
            <a:pPr marL="0" indent="0">
              <a:buNone/>
            </a:pPr>
            <a:r>
              <a:rPr lang="en-US" sz="1800" b="1" dirty="0">
                <a:latin typeface="Times New Roman" pitchFamily="18" charset="0"/>
                <a:cs typeface="Times New Roman" pitchFamily="18" charset="0"/>
              </a:rPr>
              <a:t>8. What steps should victims take in response to identity theft?</a:t>
            </a:r>
            <a:endParaRPr lang="en-US" sz="1800" dirty="0">
              <a:latin typeface="Times New Roman" pitchFamily="18" charset="0"/>
              <a:cs typeface="Times New Roman" pitchFamily="18" charset="0"/>
            </a:endParaRPr>
          </a:p>
          <a:p>
            <a:pPr marL="0" indent="0">
              <a:buNone/>
            </a:pPr>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Victims should:</a:t>
            </a:r>
          </a:p>
          <a:p>
            <a:pPr lvl="0"/>
            <a:r>
              <a:rPr lang="en-US" sz="1800" dirty="0">
                <a:latin typeface="Times New Roman" pitchFamily="18" charset="0"/>
                <a:cs typeface="Times New Roman" pitchFamily="18" charset="0"/>
              </a:rPr>
              <a:t>Report the fraud to their bank immediately </a:t>
            </a:r>
          </a:p>
          <a:p>
            <a:pPr lvl="0"/>
            <a:r>
              <a:rPr lang="en-US" sz="1800" dirty="0">
                <a:latin typeface="Times New Roman" pitchFamily="18" charset="0"/>
                <a:cs typeface="Times New Roman" pitchFamily="18" charset="0"/>
              </a:rPr>
              <a:t>Change passwords </a:t>
            </a:r>
          </a:p>
          <a:p>
            <a:pPr lvl="0"/>
            <a:r>
              <a:rPr lang="en-US" sz="1800" dirty="0">
                <a:latin typeface="Times New Roman" pitchFamily="18" charset="0"/>
                <a:cs typeface="Times New Roman" pitchFamily="18" charset="0"/>
              </a:rPr>
              <a:t>Monitor credit reports </a:t>
            </a:r>
          </a:p>
          <a:p>
            <a:pPr lvl="0"/>
            <a:r>
              <a:rPr lang="en-US" sz="1800" dirty="0">
                <a:latin typeface="Times New Roman" pitchFamily="18" charset="0"/>
                <a:cs typeface="Times New Roman" pitchFamily="18" charset="0"/>
              </a:rPr>
              <a:t>Enable two-factor authentication </a:t>
            </a:r>
          </a:p>
          <a:p>
            <a:pPr lvl="0"/>
            <a:r>
              <a:rPr lang="en-US" sz="1800" dirty="0">
                <a:latin typeface="Times New Roman" pitchFamily="18" charset="0"/>
                <a:cs typeface="Times New Roman" pitchFamily="18" charset="0"/>
              </a:rPr>
              <a:t>Report the incident to cybercrime authorities </a:t>
            </a:r>
          </a:p>
        </p:txBody>
      </p:sp>
    </p:spTree>
    <p:extLst>
      <p:ext uri="{BB962C8B-B14F-4D97-AF65-F5344CB8AC3E}">
        <p14:creationId xmlns:p14="http://schemas.microsoft.com/office/powerpoint/2010/main" val="18215612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Case Study: The Cyber Attack on </a:t>
            </a:r>
            <a:r>
              <a:rPr lang="en-US" sz="2400" b="1" dirty="0" err="1">
                <a:solidFill>
                  <a:srgbClr val="C00000"/>
                </a:solidFill>
                <a:latin typeface="Times New Roman" pitchFamily="18" charset="0"/>
                <a:cs typeface="Times New Roman" pitchFamily="18" charset="0"/>
              </a:rPr>
              <a:t>GlobalTech</a:t>
            </a:r>
            <a:r>
              <a:rPr lang="en-US" sz="2400" b="1" dirty="0">
                <a:solidFill>
                  <a:srgbClr val="C00000"/>
                </a:solidFill>
                <a:latin typeface="Times New Roman" pitchFamily="18" charset="0"/>
                <a:cs typeface="Times New Roman" pitchFamily="18" charset="0"/>
              </a:rPr>
              <a:t> Corporation</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9</a:t>
            </a:r>
            <a:r>
              <a:rPr lang="en-US" sz="1800" b="1" dirty="0">
                <a:latin typeface="Times New Roman" pitchFamily="18" charset="0"/>
                <a:cs typeface="Times New Roman" pitchFamily="18" charset="0"/>
              </a:rPr>
              <a:t>. How could biometric security help prevent such incidents?</a:t>
            </a:r>
            <a:endParaRPr lang="en-US" sz="1800" dirty="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Answer:</a:t>
            </a:r>
            <a:endParaRPr lang="en-US" sz="1800" dirty="0">
              <a:latin typeface="Times New Roman" pitchFamily="18" charset="0"/>
              <a:cs typeface="Times New Roman" pitchFamily="18" charset="0"/>
            </a:endParaRPr>
          </a:p>
          <a:p>
            <a:r>
              <a:rPr lang="en-US" sz="1800" dirty="0" smtClean="0">
                <a:latin typeface="Times New Roman" pitchFamily="18" charset="0"/>
                <a:cs typeface="Times New Roman" pitchFamily="18" charset="0"/>
              </a:rPr>
              <a:t>Biometric </a:t>
            </a:r>
            <a:r>
              <a:rPr lang="en-US" sz="1800" dirty="0">
                <a:latin typeface="Times New Roman" pitchFamily="18" charset="0"/>
                <a:cs typeface="Times New Roman" pitchFamily="18" charset="0"/>
              </a:rPr>
              <a:t>systems such as </a:t>
            </a:r>
            <a:r>
              <a:rPr lang="en-US" sz="1800" b="1" dirty="0">
                <a:latin typeface="Times New Roman" pitchFamily="18" charset="0"/>
                <a:cs typeface="Times New Roman" pitchFamily="18" charset="0"/>
              </a:rPr>
              <a:t>fingerprints, facial recognition, or iris scans</a:t>
            </a:r>
            <a:r>
              <a:rPr lang="en-US" sz="1800" dirty="0">
                <a:latin typeface="Times New Roman" pitchFamily="18" charset="0"/>
                <a:cs typeface="Times New Roman" pitchFamily="18" charset="0"/>
              </a:rPr>
              <a:t> can strengthen security because they rely on unique physical characteristics. Even if passwords are stolen, biometric verification can prevent unauthorized access.</a:t>
            </a:r>
          </a:p>
        </p:txBody>
      </p:sp>
    </p:spTree>
    <p:extLst>
      <p:ext uri="{BB962C8B-B14F-4D97-AF65-F5344CB8AC3E}">
        <p14:creationId xmlns:p14="http://schemas.microsoft.com/office/powerpoint/2010/main" val="30770901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Case Study: The Cyber Attack on </a:t>
            </a:r>
            <a:r>
              <a:rPr lang="en-US" sz="2400" b="1" dirty="0" err="1">
                <a:solidFill>
                  <a:srgbClr val="C00000"/>
                </a:solidFill>
                <a:latin typeface="Times New Roman" pitchFamily="18" charset="0"/>
                <a:cs typeface="Times New Roman" pitchFamily="18" charset="0"/>
              </a:rPr>
              <a:t>GlobalTech</a:t>
            </a:r>
            <a:r>
              <a:rPr lang="en-US" sz="2400" b="1" dirty="0">
                <a:solidFill>
                  <a:srgbClr val="C00000"/>
                </a:solidFill>
                <a:latin typeface="Times New Roman" pitchFamily="18" charset="0"/>
                <a:cs typeface="Times New Roman" pitchFamily="18" charset="0"/>
              </a:rPr>
              <a:t> Corporation</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a:latin typeface="Times New Roman" pitchFamily="18" charset="0"/>
                <a:cs typeface="Times New Roman" pitchFamily="18" charset="0"/>
              </a:rPr>
              <a:t>10. Why is it difficult to determine whose laws apply in this case?</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internet operates globally. In this case:</a:t>
            </a:r>
          </a:p>
          <a:p>
            <a:pPr lvl="0"/>
            <a:r>
              <a:rPr lang="en-US" sz="1800" dirty="0">
                <a:latin typeface="Times New Roman" pitchFamily="18" charset="0"/>
                <a:cs typeface="Times New Roman" pitchFamily="18" charset="0"/>
              </a:rPr>
              <a:t>Hackers were in different countries </a:t>
            </a:r>
          </a:p>
          <a:p>
            <a:pPr lvl="0"/>
            <a:r>
              <a:rPr lang="en-US" sz="1800" dirty="0">
                <a:latin typeface="Times New Roman" pitchFamily="18" charset="0"/>
                <a:cs typeface="Times New Roman" pitchFamily="18" charset="0"/>
              </a:rPr>
              <a:t>The company’s servers were located internationally </a:t>
            </a:r>
          </a:p>
          <a:p>
            <a:pPr lvl="0"/>
            <a:r>
              <a:rPr lang="en-US" sz="1800" dirty="0">
                <a:latin typeface="Times New Roman" pitchFamily="18" charset="0"/>
                <a:cs typeface="Times New Roman" pitchFamily="18" charset="0"/>
              </a:rPr>
              <a:t>Victims were worldwide </a:t>
            </a:r>
          </a:p>
          <a:p>
            <a:r>
              <a:rPr lang="en-US" sz="1800" dirty="0">
                <a:latin typeface="Times New Roman" pitchFamily="18" charset="0"/>
                <a:cs typeface="Times New Roman" pitchFamily="18" charset="0"/>
              </a:rPr>
              <a:t>This creates </a:t>
            </a:r>
            <a:r>
              <a:rPr lang="en-US" sz="1800" b="1" dirty="0">
                <a:latin typeface="Times New Roman" pitchFamily="18" charset="0"/>
                <a:cs typeface="Times New Roman" pitchFamily="18" charset="0"/>
              </a:rPr>
              <a:t>jurisdiction problems</a:t>
            </a:r>
            <a:r>
              <a:rPr lang="en-US" sz="1800" dirty="0">
                <a:latin typeface="Times New Roman" pitchFamily="18" charset="0"/>
                <a:cs typeface="Times New Roman" pitchFamily="18" charset="0"/>
              </a:rPr>
              <a:t>, making it difficult to determine which country’s laws apply.</a:t>
            </a:r>
          </a:p>
          <a:p>
            <a:pPr marL="0" indent="0">
              <a:buNone/>
            </a:pPr>
            <a:r>
              <a:rPr lang="en-US" sz="1800" b="1" dirty="0">
                <a:latin typeface="Times New Roman" pitchFamily="18" charset="0"/>
                <a:cs typeface="Times New Roman" pitchFamily="18" charset="0"/>
              </a:rPr>
              <a:t>11. How do digital actions crossing borders complicate cybercrime investigations?</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Cross-border cybercrime investigations are difficult because:</a:t>
            </a:r>
          </a:p>
          <a:p>
            <a:pPr lvl="0"/>
            <a:r>
              <a:rPr lang="en-US" sz="1800" dirty="0">
                <a:latin typeface="Times New Roman" pitchFamily="18" charset="0"/>
                <a:cs typeface="Times New Roman" pitchFamily="18" charset="0"/>
              </a:rPr>
              <a:t>Countries have different legal systems </a:t>
            </a:r>
          </a:p>
          <a:p>
            <a:pPr lvl="0"/>
            <a:r>
              <a:rPr lang="en-US" sz="1800" dirty="0">
                <a:latin typeface="Times New Roman" pitchFamily="18" charset="0"/>
                <a:cs typeface="Times New Roman" pitchFamily="18" charset="0"/>
              </a:rPr>
              <a:t>Evidence may be stored internationally </a:t>
            </a:r>
          </a:p>
          <a:p>
            <a:pPr lvl="0"/>
            <a:r>
              <a:rPr lang="en-US" sz="1800" dirty="0">
                <a:latin typeface="Times New Roman" pitchFamily="18" charset="0"/>
                <a:cs typeface="Times New Roman" pitchFamily="18" charset="0"/>
              </a:rPr>
              <a:t>Cooperation between law enforcement agencies is required </a:t>
            </a:r>
          </a:p>
        </p:txBody>
      </p:sp>
    </p:spTree>
    <p:extLst>
      <p:ext uri="{BB962C8B-B14F-4D97-AF65-F5344CB8AC3E}">
        <p14:creationId xmlns:p14="http://schemas.microsoft.com/office/powerpoint/2010/main" val="554058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Case Study: The Cyber Attack on </a:t>
            </a:r>
            <a:r>
              <a:rPr lang="en-US" sz="2400" b="1" dirty="0" err="1">
                <a:solidFill>
                  <a:srgbClr val="C00000"/>
                </a:solidFill>
                <a:latin typeface="Times New Roman" pitchFamily="18" charset="0"/>
                <a:cs typeface="Times New Roman" pitchFamily="18" charset="0"/>
              </a:rPr>
              <a:t>GlobalTech</a:t>
            </a:r>
            <a:r>
              <a:rPr lang="en-US" sz="2400" b="1" dirty="0">
                <a:solidFill>
                  <a:srgbClr val="C00000"/>
                </a:solidFill>
                <a:latin typeface="Times New Roman" pitchFamily="18" charset="0"/>
                <a:cs typeface="Times New Roman" pitchFamily="18" charset="0"/>
              </a:rPr>
              <a:t> Corporation</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r>
              <a:rPr lang="en-US" sz="1800" b="1" dirty="0" smtClean="0">
                <a:latin typeface="Times New Roman" pitchFamily="18" charset="0"/>
                <a:cs typeface="Times New Roman" pitchFamily="18" charset="0"/>
              </a:rPr>
              <a:t>12</a:t>
            </a:r>
            <a:r>
              <a:rPr lang="en-US" sz="1800" b="1" dirty="0">
                <a:latin typeface="Times New Roman" pitchFamily="18" charset="0"/>
                <a:cs typeface="Times New Roman" pitchFamily="18" charset="0"/>
              </a:rPr>
              <a:t>. How could libel, speech, and commercial law issues arise in this situation?</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If the hackers published allegations about </a:t>
            </a:r>
            <a:r>
              <a:rPr lang="en-US" sz="1800" dirty="0" err="1">
                <a:latin typeface="Times New Roman" pitchFamily="18" charset="0"/>
                <a:cs typeface="Times New Roman" pitchFamily="18" charset="0"/>
              </a:rPr>
              <a:t>GlobalTech</a:t>
            </a:r>
            <a:r>
              <a:rPr lang="en-US" sz="1800" dirty="0">
                <a:latin typeface="Times New Roman" pitchFamily="18" charset="0"/>
                <a:cs typeface="Times New Roman" pitchFamily="18" charset="0"/>
              </a:rPr>
              <a:t> online, it could raise </a:t>
            </a:r>
            <a:r>
              <a:rPr lang="en-US" sz="1800" b="1" dirty="0">
                <a:latin typeface="Times New Roman" pitchFamily="18" charset="0"/>
                <a:cs typeface="Times New Roman" pitchFamily="18" charset="0"/>
              </a:rPr>
              <a:t>libel issues</a:t>
            </a:r>
            <a:r>
              <a:rPr lang="en-US" sz="1800" dirty="0">
                <a:latin typeface="Times New Roman" pitchFamily="18" charset="0"/>
                <a:cs typeface="Times New Roman" pitchFamily="18" charset="0"/>
              </a:rPr>
              <a:t> if the claims were false.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Additionally, commercial laws may apply because customer financial information and e-commerce transactions were affected</a:t>
            </a:r>
            <a:r>
              <a:rPr lang="en-US" sz="1800" dirty="0" smtClean="0">
                <a:latin typeface="Times New Roman" pitchFamily="18" charset="0"/>
                <a:cs typeface="Times New Roman" pitchFamily="18" charset="0"/>
              </a:rPr>
              <a:t>.</a:t>
            </a:r>
          </a:p>
          <a:p>
            <a:endParaRPr lang="en-US" sz="1800" dirty="0">
              <a:latin typeface="Times New Roman" pitchFamily="18" charset="0"/>
              <a:cs typeface="Times New Roman" pitchFamily="18" charset="0"/>
            </a:endParaRPr>
          </a:p>
          <a:p>
            <a:pPr marL="0" indent="0">
              <a:buNone/>
            </a:pPr>
            <a:r>
              <a:rPr lang="en-US" sz="1800" b="1" dirty="0">
                <a:latin typeface="Times New Roman" pitchFamily="18" charset="0"/>
                <a:cs typeface="Times New Roman" pitchFamily="18" charset="0"/>
              </a:rPr>
              <a:t>13. How do culture, law, and ethics influence perspectives on this case?</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Different societies may view </a:t>
            </a:r>
            <a:r>
              <a:rPr lang="en-US" sz="1800" dirty="0" err="1">
                <a:latin typeface="Times New Roman" pitchFamily="18" charset="0"/>
                <a:cs typeface="Times New Roman" pitchFamily="18" charset="0"/>
              </a:rPr>
              <a:t>hacktivism</a:t>
            </a:r>
            <a:r>
              <a:rPr lang="en-US" sz="1800" dirty="0">
                <a:latin typeface="Times New Roman" pitchFamily="18" charset="0"/>
                <a:cs typeface="Times New Roman" pitchFamily="18" charset="0"/>
              </a:rPr>
              <a:t> differently. Some may see it as </a:t>
            </a:r>
            <a:r>
              <a:rPr lang="en-US" sz="1800" b="1" dirty="0">
                <a:latin typeface="Times New Roman" pitchFamily="18" charset="0"/>
                <a:cs typeface="Times New Roman" pitchFamily="18" charset="0"/>
              </a:rPr>
              <a:t>digital protest</a:t>
            </a:r>
            <a:r>
              <a:rPr lang="en-US" sz="1800" dirty="0">
                <a:latin typeface="Times New Roman" pitchFamily="18" charset="0"/>
                <a:cs typeface="Times New Roman" pitchFamily="18" charset="0"/>
              </a:rPr>
              <a:t>, while others consider it </a:t>
            </a:r>
            <a:r>
              <a:rPr lang="en-US" sz="1800" b="1" dirty="0">
                <a:latin typeface="Times New Roman" pitchFamily="18" charset="0"/>
                <a:cs typeface="Times New Roman" pitchFamily="18" charset="0"/>
              </a:rPr>
              <a:t>illegal cybercrime</a:t>
            </a:r>
            <a:r>
              <a:rPr lang="en-US" sz="1800" dirty="0">
                <a:latin typeface="Times New Roman" pitchFamily="18" charset="0"/>
                <a:cs typeface="Times New Roman" pitchFamily="18" charset="0"/>
              </a:rPr>
              <a:t>. Ethical perspectives also vary regarding privacy, activism, and corporate responsibility.</a:t>
            </a:r>
          </a:p>
          <a:p>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38782575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533400"/>
            <a:ext cx="6965245" cy="858818"/>
          </a:xfrm>
        </p:spPr>
        <p:txBody>
          <a:bodyPr>
            <a:noAutofit/>
          </a:bodyPr>
          <a:lstStyle/>
          <a:p>
            <a:r>
              <a:rPr lang="en-US" sz="2400" b="1" dirty="0">
                <a:solidFill>
                  <a:srgbClr val="C00000"/>
                </a:solidFill>
                <a:latin typeface="Times New Roman" pitchFamily="18" charset="0"/>
                <a:cs typeface="Times New Roman" pitchFamily="18" charset="0"/>
              </a:rPr>
              <a:t>Case Study: The Cyber Attack on </a:t>
            </a:r>
            <a:r>
              <a:rPr lang="en-US" sz="2400" b="1" dirty="0" err="1">
                <a:solidFill>
                  <a:srgbClr val="C00000"/>
                </a:solidFill>
                <a:latin typeface="Times New Roman" pitchFamily="18" charset="0"/>
                <a:cs typeface="Times New Roman" pitchFamily="18" charset="0"/>
              </a:rPr>
              <a:t>GlobalTech</a:t>
            </a:r>
            <a:r>
              <a:rPr lang="en-US" sz="2400" b="1" dirty="0">
                <a:solidFill>
                  <a:srgbClr val="C00000"/>
                </a:solidFill>
                <a:latin typeface="Times New Roman" pitchFamily="18" charset="0"/>
                <a:cs typeface="Times New Roman" pitchFamily="18" charset="0"/>
              </a:rPr>
              <a:t> Corporation</a:t>
            </a:r>
            <a:endParaRPr lang="en-US" sz="24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315200" cy="4953000"/>
          </a:xfrm>
        </p:spPr>
        <p:txBody>
          <a:bodyPr>
            <a:noAutofit/>
          </a:bodyPr>
          <a:lstStyle/>
          <a:p>
            <a:pPr marL="0" indent="0">
              <a:buNone/>
            </a:pPr>
            <a:r>
              <a:rPr lang="en-US" sz="1800" b="1" dirty="0" smtClean="0">
                <a:latin typeface="Times New Roman" pitchFamily="18" charset="0"/>
                <a:cs typeface="Times New Roman" pitchFamily="18" charset="0"/>
              </a:rPr>
              <a:t>14</a:t>
            </a:r>
            <a:r>
              <a:rPr lang="en-US" sz="1800" b="1" dirty="0">
                <a:latin typeface="Times New Roman" pitchFamily="18" charset="0"/>
                <a:cs typeface="Times New Roman" pitchFamily="18" charset="0"/>
              </a:rPr>
              <a:t>. What are potential solutions to prevent such cyber incidents in the future?</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Answer: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Possible solutions include:</a:t>
            </a:r>
          </a:p>
          <a:p>
            <a:pPr lvl="0"/>
            <a:r>
              <a:rPr lang="en-US" sz="1800" dirty="0">
                <a:latin typeface="Times New Roman" pitchFamily="18" charset="0"/>
                <a:cs typeface="Times New Roman" pitchFamily="18" charset="0"/>
              </a:rPr>
              <a:t>Strong </a:t>
            </a:r>
            <a:r>
              <a:rPr lang="en-US" sz="1800" dirty="0" err="1">
                <a:latin typeface="Times New Roman" pitchFamily="18" charset="0"/>
                <a:cs typeface="Times New Roman" pitchFamily="18" charset="0"/>
              </a:rPr>
              <a:t>cybersecurity</a:t>
            </a:r>
            <a:r>
              <a:rPr lang="en-US" sz="1800" dirty="0">
                <a:latin typeface="Times New Roman" pitchFamily="18" charset="0"/>
                <a:cs typeface="Times New Roman" pitchFamily="18" charset="0"/>
              </a:rPr>
              <a:t> systems </a:t>
            </a:r>
          </a:p>
          <a:p>
            <a:pPr lvl="0"/>
            <a:r>
              <a:rPr lang="en-US" sz="1800" dirty="0">
                <a:latin typeface="Times New Roman" pitchFamily="18" charset="0"/>
                <a:cs typeface="Times New Roman" pitchFamily="18" charset="0"/>
              </a:rPr>
              <a:t>Encryption and multi-factor authentication </a:t>
            </a:r>
          </a:p>
          <a:p>
            <a:pPr lvl="0"/>
            <a:r>
              <a:rPr lang="en-US" sz="1800" dirty="0">
                <a:latin typeface="Times New Roman" pitchFamily="18" charset="0"/>
                <a:cs typeface="Times New Roman" pitchFamily="18" charset="0"/>
              </a:rPr>
              <a:t>Ethical hacking and security audits </a:t>
            </a:r>
          </a:p>
          <a:p>
            <a:pPr lvl="0"/>
            <a:r>
              <a:rPr lang="en-US" sz="1800" dirty="0">
                <a:latin typeface="Times New Roman" pitchFamily="18" charset="0"/>
                <a:cs typeface="Times New Roman" pitchFamily="18" charset="0"/>
              </a:rPr>
              <a:t>International cooperation against cybercrime </a:t>
            </a:r>
          </a:p>
          <a:p>
            <a:pPr lvl="0"/>
            <a:r>
              <a:rPr lang="en-US" sz="1800" dirty="0">
                <a:latin typeface="Times New Roman" pitchFamily="18" charset="0"/>
                <a:cs typeface="Times New Roman" pitchFamily="18" charset="0"/>
              </a:rPr>
              <a:t>Public awareness about </a:t>
            </a:r>
            <a:r>
              <a:rPr lang="en-US" sz="1800" dirty="0" err="1">
                <a:latin typeface="Times New Roman" pitchFamily="18" charset="0"/>
                <a:cs typeface="Times New Roman" pitchFamily="18" charset="0"/>
              </a:rPr>
              <a:t>cybersecurity</a:t>
            </a:r>
            <a:r>
              <a:rPr lang="en-US" sz="1800" dirty="0">
                <a:latin typeface="Times New Roman" pitchFamily="18" charset="0"/>
                <a:cs typeface="Times New Roman" pitchFamily="18" charset="0"/>
              </a:rPr>
              <a:t> risks</a:t>
            </a:r>
          </a:p>
          <a:p>
            <a:r>
              <a:rPr lang="en-US" sz="1800" dirty="0">
                <a:latin typeface="Times New Roman" pitchFamily="18" charset="0"/>
                <a:cs typeface="Times New Roman" pitchFamily="18" charset="0"/>
              </a:rPr>
              <a:t> </a:t>
            </a:r>
          </a:p>
        </p:txBody>
      </p:sp>
    </p:spTree>
    <p:extLst>
      <p:ext uri="{BB962C8B-B14F-4D97-AF65-F5344CB8AC3E}">
        <p14:creationId xmlns:p14="http://schemas.microsoft.com/office/powerpoint/2010/main" val="128881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838200"/>
            <a:ext cx="704510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47409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762000"/>
            <a:ext cx="713619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165133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ushpi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Pushpin">
      <a:majorFont>
        <a:latin typeface="Constantia"/>
        <a:ea typeface=""/>
        <a:cs typeface=""/>
        <a:font script="Jpan" typeface="HGS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ushpin">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tint val="93000"/>
          </a:schemeClr>
        </a:solidFill>
        <a:blipFill rotWithShape="1">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rotWithShape="1">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Pushpin</Template>
  <TotalTime>16790</TotalTime>
  <Words>1074</Words>
  <Application>Microsoft Office PowerPoint</Application>
  <PresentationFormat>On-screen Show (4:3)</PresentationFormat>
  <Paragraphs>316</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Pushpin</vt:lpstr>
      <vt:lpstr>PowerPoint Presentation</vt:lpstr>
      <vt:lpstr>PowerPoint Presentation</vt:lpstr>
      <vt:lpstr>Chap 5: Crime Hacking </vt:lpstr>
      <vt:lpstr>PowerPoint Presentation</vt:lpstr>
      <vt:lpstr>What is “Hacking”?</vt:lpstr>
      <vt:lpstr>What is “Hacking”?</vt:lpstr>
      <vt:lpstr>PowerPoint Presentation</vt:lpstr>
      <vt:lpstr>Hacktivism (Political Hacking)</vt:lpstr>
      <vt:lpstr>PowerPoint Presentation</vt:lpstr>
      <vt:lpstr>Hackers as Security Researchers</vt:lpstr>
      <vt:lpstr>PowerPoint Presentation</vt:lpstr>
      <vt:lpstr>Hacking as Foreign Policy</vt:lpstr>
      <vt:lpstr>PowerPoint Presentation</vt:lpstr>
      <vt:lpstr>The Law: Catching and Punishing Hackers</vt:lpstr>
      <vt:lpstr>PowerPoint Presentation</vt:lpstr>
      <vt:lpstr>Identity Theft and Credit Card Fraud</vt:lpstr>
      <vt:lpstr>PowerPoint Presentation</vt:lpstr>
      <vt:lpstr>Stealing Identities</vt:lpstr>
      <vt:lpstr>PowerPoint Presentation</vt:lpstr>
      <vt:lpstr>Responses to Identity Theft</vt:lpstr>
      <vt:lpstr>PowerPoint Presentation</vt:lpstr>
      <vt:lpstr>Biometrics</vt:lpstr>
      <vt:lpstr>PowerPoint Presentation</vt:lpstr>
      <vt:lpstr>Whose Laws Rule the Web?</vt:lpstr>
      <vt:lpstr>PowerPoint Presentation</vt:lpstr>
      <vt:lpstr>When Digital Actions Cross Borders</vt:lpstr>
      <vt:lpstr>PowerPoint Presentation</vt:lpstr>
      <vt:lpstr>Libel, Speech, and Commercial Law</vt:lpstr>
      <vt:lpstr>PowerPoint Presentation</vt:lpstr>
      <vt:lpstr>Culture, Law, and Ethics</vt:lpstr>
      <vt:lpstr>PowerPoint Presentation</vt:lpstr>
      <vt:lpstr>Potential Solutions</vt:lpstr>
      <vt:lpstr>PowerPoint Presentation</vt:lpstr>
      <vt:lpstr>Case Study: The Cyber Attack on GlobalTech Corporation</vt:lpstr>
      <vt:lpstr>Case Study: The Cyber Attack on GlobalTech Corporation</vt:lpstr>
      <vt:lpstr>Case Study: The Cyber Attack on GlobalTech Corporation</vt:lpstr>
      <vt:lpstr>Potential Solutions</vt:lpstr>
      <vt:lpstr>Potential Solutions</vt:lpstr>
      <vt:lpstr>Potential Solutions</vt:lpstr>
      <vt:lpstr>Case Study: The Cyber Attack on GlobalTech Corporation</vt:lpstr>
      <vt:lpstr>Case Study: The Cyber Attack on GlobalTech Corporation</vt:lpstr>
      <vt:lpstr>Case Study: The Cyber Attack on GlobalTech Corporation</vt:lpstr>
      <vt:lpstr>Case Study: The Cyber Attack on GlobalTech Corporation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66</cp:revision>
  <dcterms:created xsi:type="dcterms:W3CDTF">2023-10-01T18:45:03Z</dcterms:created>
  <dcterms:modified xsi:type="dcterms:W3CDTF">2026-03-24T21:31:32Z</dcterms:modified>
</cp:coreProperties>
</file>