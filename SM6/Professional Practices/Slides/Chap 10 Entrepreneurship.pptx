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28"/>
  </p:notesMasterIdLst>
  <p:sldIdLst>
    <p:sldId id="257" r:id="rId2"/>
    <p:sldId id="265" r:id="rId3"/>
    <p:sldId id="259" r:id="rId4"/>
    <p:sldId id="341" r:id="rId5"/>
    <p:sldId id="347" r:id="rId6"/>
    <p:sldId id="357" r:id="rId7"/>
    <p:sldId id="349" r:id="rId8"/>
    <p:sldId id="358" r:id="rId9"/>
    <p:sldId id="350" r:id="rId10"/>
    <p:sldId id="359" r:id="rId11"/>
    <p:sldId id="348" r:id="rId12"/>
    <p:sldId id="360" r:id="rId13"/>
    <p:sldId id="351" r:id="rId14"/>
    <p:sldId id="361" r:id="rId15"/>
    <p:sldId id="352" r:id="rId16"/>
    <p:sldId id="362" r:id="rId17"/>
    <p:sldId id="353" r:id="rId18"/>
    <p:sldId id="363" r:id="rId19"/>
    <p:sldId id="354" r:id="rId20"/>
    <p:sldId id="364" r:id="rId21"/>
    <p:sldId id="355" r:id="rId22"/>
    <p:sldId id="365" r:id="rId23"/>
    <p:sldId id="356" r:id="rId24"/>
    <p:sldId id="366" r:id="rId25"/>
    <p:sldId id="262" r:id="rId26"/>
    <p:sldId id="263" r:id="rId27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>
        <p:scale>
          <a:sx n="70" d="100"/>
          <a:sy n="70" d="100"/>
        </p:scale>
        <p:origin x="-1386" y="9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6BD0B4-4ABD-467C-9EB4-04F653D3D415}" type="datetimeFigureOut">
              <a:rPr lang="en-US" smtClean="0"/>
              <a:t>4/25/2026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AB68F07-0ECC-4CFA-BC3E-9FA163DB39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47514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15"/>
          <p:cNvGrpSpPr/>
          <p:nvPr/>
        </p:nvGrpSpPr>
        <p:grpSpPr>
          <a:xfrm>
            <a:off x="0" y="0"/>
            <a:ext cx="9144000" cy="6858000"/>
            <a:chOff x="0" y="0"/>
            <a:chExt cx="9144000" cy="6858000"/>
          </a:xfrm>
        </p:grpSpPr>
        <p:sp>
          <p:nvSpPr>
            <p:cNvPr id="8" name="Rectangle 7"/>
            <p:cNvSpPr/>
            <p:nvPr/>
          </p:nvSpPr>
          <p:spPr>
            <a:xfrm>
              <a:off x="0" y="0"/>
              <a:ext cx="7162800" cy="6858000"/>
            </a:xfrm>
            <a:prstGeom prst="rect">
              <a:avLst/>
            </a:prstGeom>
            <a:gradFill flip="none" rotWithShape="1">
              <a:gsLst>
                <a:gs pos="0">
                  <a:srgbClr val="010101">
                    <a:alpha val="51765"/>
                  </a:srgbClr>
                </a:gs>
                <a:gs pos="60000">
                  <a:srgbClr val="FEFEFE">
                    <a:alpha val="0"/>
                  </a:srgbClr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/>
            <p:cNvSpPr/>
            <p:nvPr/>
          </p:nvSpPr>
          <p:spPr>
            <a:xfrm>
              <a:off x="1143000" y="0"/>
              <a:ext cx="8001000" cy="6858000"/>
            </a:xfrm>
            <a:prstGeom prst="rect">
              <a:avLst/>
            </a:prstGeom>
            <a:gradFill flip="none" rotWithShape="1">
              <a:gsLst>
                <a:gs pos="0">
                  <a:srgbClr val="010101">
                    <a:alpha val="56000"/>
                  </a:srgbClr>
                </a:gs>
                <a:gs pos="61000">
                  <a:srgbClr val="FEFEFE">
                    <a:alpha val="0"/>
                  </a:srgbClr>
                </a:gs>
              </a:gsLst>
              <a:path path="circle">
                <a:fillToRect l="100000" t="100000"/>
              </a:path>
              <a:tileRect r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0" name="Freeform 9"/>
          <p:cNvSpPr/>
          <p:nvPr/>
        </p:nvSpPr>
        <p:spPr>
          <a:xfrm rot="10800000">
            <a:off x="891821" y="5617774"/>
            <a:ext cx="7382935" cy="537210"/>
          </a:xfrm>
          <a:custGeom>
            <a:avLst/>
            <a:gdLst>
              <a:gd name="connsiteX0" fmla="*/ 0 w 7955280"/>
              <a:gd name="connsiteY0" fmla="*/ 495300 h 495300"/>
              <a:gd name="connsiteX1" fmla="*/ 169546 w 7955280"/>
              <a:gd name="connsiteY1" fmla="*/ 0 h 495300"/>
              <a:gd name="connsiteX2" fmla="*/ 7785734 w 7955280"/>
              <a:gd name="connsiteY2" fmla="*/ 0 h 495300"/>
              <a:gd name="connsiteX3" fmla="*/ 7955280 w 7955280"/>
              <a:gd name="connsiteY3" fmla="*/ 495300 h 495300"/>
              <a:gd name="connsiteX4" fmla="*/ 0 w 7955280"/>
              <a:gd name="connsiteY4" fmla="*/ 495300 h 495300"/>
              <a:gd name="connsiteX0" fmla="*/ 0 w 7955280"/>
              <a:gd name="connsiteY0" fmla="*/ 495300 h 495300"/>
              <a:gd name="connsiteX1" fmla="*/ 169546 w 7955280"/>
              <a:gd name="connsiteY1" fmla="*/ 0 h 495300"/>
              <a:gd name="connsiteX2" fmla="*/ 3966210 w 7955280"/>
              <a:gd name="connsiteY2" fmla="*/ 95250 h 495300"/>
              <a:gd name="connsiteX3" fmla="*/ 7785734 w 7955280"/>
              <a:gd name="connsiteY3" fmla="*/ 0 h 495300"/>
              <a:gd name="connsiteX4" fmla="*/ 7955280 w 7955280"/>
              <a:gd name="connsiteY4" fmla="*/ 495300 h 495300"/>
              <a:gd name="connsiteX5" fmla="*/ 0 w 7955280"/>
              <a:gd name="connsiteY5" fmla="*/ 495300 h 495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955280" h="495300">
                <a:moveTo>
                  <a:pt x="0" y="495300"/>
                </a:moveTo>
                <a:lnTo>
                  <a:pt x="169546" y="0"/>
                </a:lnTo>
                <a:lnTo>
                  <a:pt x="3966210" y="95250"/>
                </a:lnTo>
                <a:lnTo>
                  <a:pt x="7785734" y="0"/>
                </a:lnTo>
                <a:lnTo>
                  <a:pt x="7955280" y="495300"/>
                </a:lnTo>
                <a:lnTo>
                  <a:pt x="0" y="495300"/>
                </a:lnTo>
                <a:close/>
              </a:path>
            </a:pathLst>
          </a:custGeom>
          <a:gradFill flip="none" rotWithShape="1">
            <a:gsLst>
              <a:gs pos="30000">
                <a:srgbClr val="010101">
                  <a:alpha val="34000"/>
                </a:srgbClr>
              </a:gs>
              <a:gs pos="100000">
                <a:srgbClr val="010101">
                  <a:alpha val="26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>
            <a:softEdge rad="1270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989952" y="1016990"/>
            <a:ext cx="7179733" cy="4831643"/>
          </a:xfrm>
          <a:prstGeom prst="rect">
            <a:avLst/>
          </a:prstGeom>
          <a:solidFill>
            <a:schemeClr val="bg1">
              <a:lumMod val="75000"/>
              <a:lumOff val="25000"/>
            </a:schemeClr>
          </a:solidFill>
          <a:ln w="6350">
            <a:noFill/>
          </a:ln>
          <a:effectLst>
            <a:outerShdw blurRad="101600" dist="50800" dir="5400000" algn="t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990600" y="1009650"/>
            <a:ext cx="7179733" cy="4831643"/>
          </a:xfrm>
          <a:prstGeom prst="rect">
            <a:avLst/>
          </a:prstGeom>
          <a:blipFill dpi="0" rotWithShape="1">
            <a:blip r:embed="rId2" cstate="print">
              <a:alphaModFix amt="20000"/>
              <a:grayscl/>
              <a:lum contrast="12000"/>
            </a:blip>
            <a:srcRect/>
            <a:tile tx="0" ty="0" sx="100000" sy="100000" flip="none" algn="tl"/>
          </a:blipFill>
          <a:ln w="6350">
            <a:noFill/>
          </a:ln>
          <a:effectLst>
            <a:outerShdw blurRad="101600" dist="50800" dir="5400000" algn="t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Picture 2" descr="C:\Users\Administrator\Desktop\Pushpin Dev\Assets\pushpinLeft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 rot="1435684">
            <a:off x="769521" y="702069"/>
            <a:ext cx="567831" cy="567830"/>
          </a:xfrm>
          <a:prstGeom prst="rect">
            <a:avLst/>
          </a:prstGeom>
          <a:noFill/>
        </p:spPr>
      </p:pic>
      <p:pic>
        <p:nvPicPr>
          <p:cNvPr id="14" name="Picture 2" descr="C:\Users\Administrator\Desktop\Pushpin Dev\Assets\pushpinLeft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 rot="4096196">
            <a:off x="7855433" y="749720"/>
            <a:ext cx="566928" cy="566928"/>
          </a:xfrm>
          <a:prstGeom prst="rect">
            <a:avLst/>
          </a:prstGeom>
          <a:noFill/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27201" y="1794935"/>
            <a:ext cx="5723468" cy="1828090"/>
          </a:xfrm>
        </p:spPr>
        <p:txBody>
          <a:bodyPr anchor="b">
            <a:normAutofit/>
          </a:bodyPr>
          <a:lstStyle>
            <a:lvl1pPr>
              <a:defRPr sz="48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27200" y="3736622"/>
            <a:ext cx="5712179" cy="15240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770676" y="5357592"/>
            <a:ext cx="1213821" cy="365125"/>
          </a:xfrm>
        </p:spPr>
        <p:txBody>
          <a:bodyPr/>
          <a:lstStyle/>
          <a:p>
            <a:fld id="{72D92F55-3793-4648-AF7A-D9CEEE88ECC8}" type="datetimeFigureOut">
              <a:rPr lang="en-US" smtClean="0"/>
              <a:t>4/25/2026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174044" y="5357592"/>
            <a:ext cx="5034845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213930" y="5357592"/>
            <a:ext cx="554023" cy="365125"/>
          </a:xfrm>
        </p:spPr>
        <p:txBody>
          <a:bodyPr/>
          <a:lstStyle>
            <a:lvl1pPr algn="ctr">
              <a:defRPr/>
            </a:lvl1pPr>
          </a:lstStyle>
          <a:p>
            <a:fld id="{ACFB6CC9-8C31-4D8E-AC9E-47C05B6B3BE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D92F55-3793-4648-AF7A-D9CEEE88ECC8}" type="datetimeFigureOut">
              <a:rPr lang="en-US" smtClean="0"/>
              <a:t>4/25/2026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FB6CC9-8C31-4D8E-AC9E-47C05B6B3BE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979" y="2239430"/>
            <a:ext cx="6254044" cy="1362075"/>
          </a:xfrm>
        </p:spPr>
        <p:txBody>
          <a:bodyPr anchor="b"/>
          <a:lstStyle>
            <a:lvl1pPr algn="ctr">
              <a:defRPr sz="4000" b="0" cap="none" baseline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6267" y="3725334"/>
            <a:ext cx="6231467" cy="1309511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D92F55-3793-4648-AF7A-D9CEEE88ECC8}" type="datetimeFigureOut">
              <a:rPr lang="en-US" smtClean="0"/>
              <a:t>4/25/2026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FB6CC9-8C31-4D8E-AC9E-47C05B6B3BE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D92F55-3793-4648-AF7A-D9CEEE88ECC8}" type="datetimeFigureOut">
              <a:rPr lang="en-US" smtClean="0"/>
              <a:t>4/25/2026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FB6CC9-8C31-4D8E-AC9E-47C05B6B3BED}" type="slidenum">
              <a:rPr lang="en-US" smtClean="0"/>
              <a:t>‹#›</a:t>
            </a:fld>
            <a:endParaRPr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1298448" y="2121407"/>
            <a:ext cx="3200400" cy="3602736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4"/>
          </p:nvPr>
        </p:nvSpPr>
        <p:spPr>
          <a:xfrm>
            <a:off x="4663440" y="2119313"/>
            <a:ext cx="3200400" cy="3605212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57869" y="2122312"/>
            <a:ext cx="2939521" cy="820208"/>
          </a:xfrm>
        </p:spPr>
        <p:txBody>
          <a:bodyPr anchor="b">
            <a:normAutofit/>
          </a:bodyPr>
          <a:lstStyle>
            <a:lvl1pPr marL="0" indent="0" algn="ctr">
              <a:buNone/>
              <a:defRPr sz="2000" b="1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910669" y="2122311"/>
            <a:ext cx="2944368" cy="822960"/>
          </a:xfrm>
        </p:spPr>
        <p:txBody>
          <a:bodyPr anchor="b">
            <a:normAutofit/>
          </a:bodyPr>
          <a:lstStyle>
            <a:lvl1pPr marL="0" indent="0" algn="ctr">
              <a:buNone/>
              <a:defRPr sz="2000" b="1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D92F55-3793-4648-AF7A-D9CEEE88ECC8}" type="datetimeFigureOut">
              <a:rPr lang="en-US" smtClean="0"/>
              <a:t>4/25/2026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FB6CC9-8C31-4D8E-AC9E-47C05B6B3BED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3"/>
          </p:nvPr>
        </p:nvSpPr>
        <p:spPr>
          <a:xfrm>
            <a:off x="1298448" y="2944368"/>
            <a:ext cx="3227832" cy="2779776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14"/>
          </p:nvPr>
        </p:nvSpPr>
        <p:spPr>
          <a:xfrm>
            <a:off x="4645151" y="2944813"/>
            <a:ext cx="3227832" cy="2779776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D92F55-3793-4648-AF7A-D9CEEE88ECC8}" type="datetimeFigureOut">
              <a:rPr lang="en-US" smtClean="0"/>
              <a:t>4/25/2026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FB6CC9-8C31-4D8E-AC9E-47C05B6B3BE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D92F55-3793-4648-AF7A-D9CEEE88ECC8}" type="datetimeFigureOut">
              <a:rPr lang="en-US" smtClean="0"/>
              <a:t>4/25/2026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FB6CC9-8C31-4D8E-AC9E-47C05B6B3BE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15"/>
          <p:cNvGrpSpPr/>
          <p:nvPr/>
        </p:nvGrpSpPr>
        <p:grpSpPr>
          <a:xfrm>
            <a:off x="0" y="0"/>
            <a:ext cx="9144000" cy="6858000"/>
            <a:chOff x="0" y="0"/>
            <a:chExt cx="9144000" cy="6858000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7162800" cy="6858000"/>
            </a:xfrm>
            <a:prstGeom prst="rect">
              <a:avLst/>
            </a:prstGeom>
            <a:gradFill flip="none" rotWithShape="1">
              <a:gsLst>
                <a:gs pos="0">
                  <a:srgbClr val="010101">
                    <a:alpha val="51765"/>
                  </a:srgbClr>
                </a:gs>
                <a:gs pos="60000">
                  <a:srgbClr val="FEFEFE">
                    <a:alpha val="0"/>
                  </a:srgbClr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143000" y="0"/>
              <a:ext cx="8001000" cy="6858000"/>
            </a:xfrm>
            <a:prstGeom prst="rect">
              <a:avLst/>
            </a:prstGeom>
            <a:gradFill flip="none" rotWithShape="1">
              <a:gsLst>
                <a:gs pos="0">
                  <a:srgbClr val="010101">
                    <a:alpha val="56000"/>
                  </a:srgbClr>
                </a:gs>
                <a:gs pos="61000">
                  <a:srgbClr val="FEFEFE">
                    <a:alpha val="0"/>
                  </a:srgbClr>
                </a:gs>
              </a:gsLst>
              <a:path path="circle">
                <a:fillToRect l="100000" t="100000"/>
              </a:path>
              <a:tileRect r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1" name="Freeform 10"/>
          <p:cNvSpPr/>
          <p:nvPr/>
        </p:nvSpPr>
        <p:spPr>
          <a:xfrm rot="10800000">
            <a:off x="632177" y="6058038"/>
            <a:ext cx="7721601" cy="537210"/>
          </a:xfrm>
          <a:custGeom>
            <a:avLst/>
            <a:gdLst>
              <a:gd name="connsiteX0" fmla="*/ 0 w 7955280"/>
              <a:gd name="connsiteY0" fmla="*/ 495300 h 495300"/>
              <a:gd name="connsiteX1" fmla="*/ 169546 w 7955280"/>
              <a:gd name="connsiteY1" fmla="*/ 0 h 495300"/>
              <a:gd name="connsiteX2" fmla="*/ 7785734 w 7955280"/>
              <a:gd name="connsiteY2" fmla="*/ 0 h 495300"/>
              <a:gd name="connsiteX3" fmla="*/ 7955280 w 7955280"/>
              <a:gd name="connsiteY3" fmla="*/ 495300 h 495300"/>
              <a:gd name="connsiteX4" fmla="*/ 0 w 7955280"/>
              <a:gd name="connsiteY4" fmla="*/ 495300 h 495300"/>
              <a:gd name="connsiteX0" fmla="*/ 0 w 7955280"/>
              <a:gd name="connsiteY0" fmla="*/ 495300 h 495300"/>
              <a:gd name="connsiteX1" fmla="*/ 169546 w 7955280"/>
              <a:gd name="connsiteY1" fmla="*/ 0 h 495300"/>
              <a:gd name="connsiteX2" fmla="*/ 3966210 w 7955280"/>
              <a:gd name="connsiteY2" fmla="*/ 95250 h 495300"/>
              <a:gd name="connsiteX3" fmla="*/ 7785734 w 7955280"/>
              <a:gd name="connsiteY3" fmla="*/ 0 h 495300"/>
              <a:gd name="connsiteX4" fmla="*/ 7955280 w 7955280"/>
              <a:gd name="connsiteY4" fmla="*/ 495300 h 495300"/>
              <a:gd name="connsiteX5" fmla="*/ 0 w 7955280"/>
              <a:gd name="connsiteY5" fmla="*/ 495300 h 495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955280" h="495300">
                <a:moveTo>
                  <a:pt x="0" y="495300"/>
                </a:moveTo>
                <a:lnTo>
                  <a:pt x="169546" y="0"/>
                </a:lnTo>
                <a:lnTo>
                  <a:pt x="3966210" y="95250"/>
                </a:lnTo>
                <a:lnTo>
                  <a:pt x="7785734" y="0"/>
                </a:lnTo>
                <a:lnTo>
                  <a:pt x="7955280" y="495300"/>
                </a:lnTo>
                <a:lnTo>
                  <a:pt x="0" y="495300"/>
                </a:lnTo>
                <a:close/>
              </a:path>
            </a:pathLst>
          </a:custGeom>
          <a:gradFill flip="none" rotWithShape="1">
            <a:gsLst>
              <a:gs pos="30000">
                <a:srgbClr val="010101">
                  <a:alpha val="34000"/>
                </a:srgbClr>
              </a:gs>
              <a:gs pos="100000">
                <a:srgbClr val="010101">
                  <a:alpha val="26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>
            <a:softEdge rad="1270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/>
          <p:cNvSpPr/>
          <p:nvPr/>
        </p:nvSpPr>
        <p:spPr>
          <a:xfrm rot="60000">
            <a:off x="4468872" y="605163"/>
            <a:ext cx="3788941" cy="5722296"/>
          </a:xfrm>
          <a:prstGeom prst="rect">
            <a:avLst/>
          </a:prstGeom>
          <a:solidFill>
            <a:schemeClr val="bg1"/>
          </a:solidFill>
          <a:ln w="6350">
            <a:noFill/>
          </a:ln>
          <a:effectLst>
            <a:outerShdw blurRad="101600" dist="50800" dir="5400000" algn="t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/>
          <p:cNvSpPr/>
          <p:nvPr/>
        </p:nvSpPr>
        <p:spPr>
          <a:xfrm rot="60000">
            <a:off x="4471416" y="603504"/>
            <a:ext cx="3788941" cy="5722296"/>
          </a:xfrm>
          <a:prstGeom prst="rect">
            <a:avLst/>
          </a:prstGeom>
          <a:blipFill dpi="0" rotWithShape="1">
            <a:blip r:embed="rId2" cstate="print">
              <a:alphaModFix amt="20000"/>
              <a:grayscl/>
              <a:lum contrast="12000"/>
            </a:blip>
            <a:srcRect/>
            <a:tile tx="0" ty="0" sx="100000" sy="100000" flip="none" algn="tl"/>
          </a:blipFill>
          <a:ln w="6350">
            <a:noFill/>
          </a:ln>
          <a:effectLst>
            <a:outerShdw blurRad="101600" dist="50800" dir="5400000" algn="t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/>
          <p:cNvSpPr/>
          <p:nvPr/>
        </p:nvSpPr>
        <p:spPr>
          <a:xfrm rot="21540000">
            <a:off x="749204" y="576868"/>
            <a:ext cx="3788941" cy="5722296"/>
          </a:xfrm>
          <a:prstGeom prst="rect">
            <a:avLst/>
          </a:prstGeom>
          <a:solidFill>
            <a:schemeClr val="bg1"/>
          </a:solidFill>
          <a:ln w="6350">
            <a:noFill/>
          </a:ln>
          <a:effectLst>
            <a:outerShdw blurRad="101600" dist="50800" dir="5400000" algn="t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/>
          <p:cNvSpPr/>
          <p:nvPr/>
        </p:nvSpPr>
        <p:spPr>
          <a:xfrm rot="21540000">
            <a:off x="749808" y="576072"/>
            <a:ext cx="3788941" cy="5722296"/>
          </a:xfrm>
          <a:prstGeom prst="rect">
            <a:avLst/>
          </a:prstGeom>
          <a:blipFill dpi="0" rotWithShape="1">
            <a:blip r:embed="rId2" cstate="print">
              <a:alphaModFix amt="20000"/>
              <a:grayscl/>
              <a:lum contrast="12000"/>
            </a:blip>
            <a:srcRect/>
            <a:tile tx="0" ty="0" sx="100000" sy="100000" flip="none" algn="tl"/>
          </a:blipFill>
          <a:ln w="6350">
            <a:noFill/>
          </a:ln>
          <a:effectLst>
            <a:outerShdw blurRad="101600" dist="50800" dir="5400000" algn="t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8" name="Picture 2" descr="C:\Users\Administrator\Desktop\Pushpin Dev\Assets\pushpinLeft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 rot="1435684">
            <a:off x="2371106" y="293953"/>
            <a:ext cx="567831" cy="567830"/>
          </a:xfrm>
          <a:prstGeom prst="rect">
            <a:avLst/>
          </a:prstGeom>
          <a:noFill/>
        </p:spPr>
      </p:pic>
      <p:pic>
        <p:nvPicPr>
          <p:cNvPr id="19" name="Picture 2" descr="C:\Users\Administrator\Desktop\Pushpin Dev\Assets\pushpinLeft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 rot="4096196">
            <a:off x="6279647" y="333163"/>
            <a:ext cx="566928" cy="566928"/>
          </a:xfrm>
          <a:prstGeom prst="rect">
            <a:avLst/>
          </a:prstGeom>
          <a:noFill/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 rot="-60000">
            <a:off x="1108976" y="2020042"/>
            <a:ext cx="3064827" cy="1503037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 rot="60000">
            <a:off x="4854291" y="1150993"/>
            <a:ext cx="3020792" cy="4625489"/>
          </a:xfrm>
        </p:spPr>
        <p:txBody>
          <a:bodyPr anchor="ctr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 rot="-60000">
            <a:off x="1148125" y="3623748"/>
            <a:ext cx="3048891" cy="21004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 rot="60000">
            <a:off x="6341698" y="5885672"/>
            <a:ext cx="1213821" cy="365125"/>
          </a:xfrm>
        </p:spPr>
        <p:txBody>
          <a:bodyPr/>
          <a:lstStyle/>
          <a:p>
            <a:fld id="{72D92F55-3793-4648-AF7A-D9CEEE88ECC8}" type="datetimeFigureOut">
              <a:rPr lang="en-US" smtClean="0"/>
              <a:t>4/25/2026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 rot="-60000">
            <a:off x="914554" y="5829261"/>
            <a:ext cx="3522607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 rot="60000">
            <a:off x="7557313" y="5896961"/>
            <a:ext cx="554023" cy="365125"/>
          </a:xfrm>
        </p:spPr>
        <p:txBody>
          <a:bodyPr/>
          <a:lstStyle/>
          <a:p>
            <a:fld id="{ACFB6CC9-8C31-4D8E-AC9E-47C05B6B3BE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15"/>
          <p:cNvGrpSpPr/>
          <p:nvPr/>
        </p:nvGrpSpPr>
        <p:grpSpPr>
          <a:xfrm>
            <a:off x="0" y="0"/>
            <a:ext cx="9144000" cy="6858000"/>
            <a:chOff x="0" y="0"/>
            <a:chExt cx="9144000" cy="6858000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7162800" cy="6858000"/>
            </a:xfrm>
            <a:prstGeom prst="rect">
              <a:avLst/>
            </a:prstGeom>
            <a:gradFill flip="none" rotWithShape="1">
              <a:gsLst>
                <a:gs pos="0">
                  <a:srgbClr val="010101">
                    <a:alpha val="51765"/>
                  </a:srgbClr>
                </a:gs>
                <a:gs pos="60000">
                  <a:srgbClr val="FEFEFE">
                    <a:alpha val="0"/>
                  </a:srgbClr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143000" y="0"/>
              <a:ext cx="8001000" cy="6858000"/>
            </a:xfrm>
            <a:prstGeom prst="rect">
              <a:avLst/>
            </a:prstGeom>
            <a:gradFill flip="none" rotWithShape="1">
              <a:gsLst>
                <a:gs pos="0">
                  <a:srgbClr val="010101">
                    <a:alpha val="56000"/>
                  </a:srgbClr>
                </a:gs>
                <a:gs pos="61000">
                  <a:srgbClr val="FEFEFE">
                    <a:alpha val="0"/>
                  </a:srgbClr>
                </a:gs>
              </a:gsLst>
              <a:path path="circle">
                <a:fillToRect l="100000" t="100000"/>
              </a:path>
              <a:tileRect r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1" name="Freeform 30"/>
          <p:cNvSpPr/>
          <p:nvPr/>
        </p:nvSpPr>
        <p:spPr>
          <a:xfrm rot="10800000">
            <a:off x="632177" y="6058038"/>
            <a:ext cx="7721601" cy="537210"/>
          </a:xfrm>
          <a:custGeom>
            <a:avLst/>
            <a:gdLst>
              <a:gd name="connsiteX0" fmla="*/ 0 w 7955280"/>
              <a:gd name="connsiteY0" fmla="*/ 495300 h 495300"/>
              <a:gd name="connsiteX1" fmla="*/ 169546 w 7955280"/>
              <a:gd name="connsiteY1" fmla="*/ 0 h 495300"/>
              <a:gd name="connsiteX2" fmla="*/ 7785734 w 7955280"/>
              <a:gd name="connsiteY2" fmla="*/ 0 h 495300"/>
              <a:gd name="connsiteX3" fmla="*/ 7955280 w 7955280"/>
              <a:gd name="connsiteY3" fmla="*/ 495300 h 495300"/>
              <a:gd name="connsiteX4" fmla="*/ 0 w 7955280"/>
              <a:gd name="connsiteY4" fmla="*/ 495300 h 495300"/>
              <a:gd name="connsiteX0" fmla="*/ 0 w 7955280"/>
              <a:gd name="connsiteY0" fmla="*/ 495300 h 495300"/>
              <a:gd name="connsiteX1" fmla="*/ 169546 w 7955280"/>
              <a:gd name="connsiteY1" fmla="*/ 0 h 495300"/>
              <a:gd name="connsiteX2" fmla="*/ 3966210 w 7955280"/>
              <a:gd name="connsiteY2" fmla="*/ 95250 h 495300"/>
              <a:gd name="connsiteX3" fmla="*/ 7785734 w 7955280"/>
              <a:gd name="connsiteY3" fmla="*/ 0 h 495300"/>
              <a:gd name="connsiteX4" fmla="*/ 7955280 w 7955280"/>
              <a:gd name="connsiteY4" fmla="*/ 495300 h 495300"/>
              <a:gd name="connsiteX5" fmla="*/ 0 w 7955280"/>
              <a:gd name="connsiteY5" fmla="*/ 495300 h 495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955280" h="495300">
                <a:moveTo>
                  <a:pt x="0" y="495300"/>
                </a:moveTo>
                <a:lnTo>
                  <a:pt x="169546" y="0"/>
                </a:lnTo>
                <a:lnTo>
                  <a:pt x="3966210" y="95250"/>
                </a:lnTo>
                <a:lnTo>
                  <a:pt x="7785734" y="0"/>
                </a:lnTo>
                <a:lnTo>
                  <a:pt x="7955280" y="495300"/>
                </a:lnTo>
                <a:lnTo>
                  <a:pt x="0" y="495300"/>
                </a:lnTo>
                <a:close/>
              </a:path>
            </a:pathLst>
          </a:custGeom>
          <a:gradFill flip="none" rotWithShape="1">
            <a:gsLst>
              <a:gs pos="30000">
                <a:srgbClr val="010101">
                  <a:alpha val="34000"/>
                </a:srgbClr>
              </a:gs>
              <a:gs pos="100000">
                <a:srgbClr val="010101">
                  <a:alpha val="26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>
            <a:softEdge rad="1270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/>
        </p:nvSpPr>
        <p:spPr>
          <a:xfrm rot="21540000">
            <a:off x="749204" y="576868"/>
            <a:ext cx="3788941" cy="5722296"/>
          </a:xfrm>
          <a:prstGeom prst="rect">
            <a:avLst/>
          </a:prstGeom>
          <a:solidFill>
            <a:schemeClr val="bg1"/>
          </a:solidFill>
          <a:ln w="6350">
            <a:noFill/>
          </a:ln>
          <a:effectLst>
            <a:outerShdw blurRad="101600" dist="50800" dir="5400000" algn="t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/>
          <p:cNvSpPr/>
          <p:nvPr/>
        </p:nvSpPr>
        <p:spPr>
          <a:xfrm rot="21540000">
            <a:off x="745058" y="575769"/>
            <a:ext cx="3788941" cy="5722296"/>
          </a:xfrm>
          <a:prstGeom prst="rect">
            <a:avLst/>
          </a:prstGeom>
          <a:blipFill dpi="0" rotWithShape="1">
            <a:blip r:embed="rId2" cstate="print">
              <a:alphaModFix amt="20000"/>
              <a:grayscl/>
              <a:lum contrast="12000"/>
            </a:blip>
            <a:srcRect/>
            <a:tile tx="0" ty="0" sx="100000" sy="100000" flip="none" algn="tl"/>
          </a:blipFill>
          <a:ln w="6350">
            <a:noFill/>
          </a:ln>
          <a:effectLst>
            <a:outerShdw blurRad="101600" dist="50800" dir="5400000" algn="t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/>
          <p:cNvSpPr/>
          <p:nvPr/>
        </p:nvSpPr>
        <p:spPr>
          <a:xfrm rot="60000">
            <a:off x="4468872" y="605163"/>
            <a:ext cx="3788941" cy="5722296"/>
          </a:xfrm>
          <a:prstGeom prst="rect">
            <a:avLst/>
          </a:prstGeom>
          <a:solidFill>
            <a:schemeClr val="bg1"/>
          </a:solidFill>
          <a:ln w="6350">
            <a:noFill/>
          </a:ln>
          <a:effectLst>
            <a:outerShdw blurRad="101600" dist="50800" dir="5400000" algn="t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/>
          <p:cNvSpPr/>
          <p:nvPr/>
        </p:nvSpPr>
        <p:spPr>
          <a:xfrm rot="60000">
            <a:off x="4464768" y="603920"/>
            <a:ext cx="3788941" cy="5722296"/>
          </a:xfrm>
          <a:prstGeom prst="rect">
            <a:avLst/>
          </a:prstGeom>
          <a:blipFill dpi="0" rotWithShape="1">
            <a:blip r:embed="rId2" cstate="print">
              <a:alphaModFix amt="20000"/>
              <a:grayscl/>
              <a:lum contrast="12000"/>
            </a:blip>
            <a:srcRect/>
            <a:tile tx="0" ty="0" sx="100000" sy="100000" flip="none" algn="tl"/>
          </a:blipFill>
          <a:ln w="6350">
            <a:noFill/>
          </a:ln>
          <a:effectLst>
            <a:outerShdw blurRad="101600" dist="50800" dir="5400000" algn="t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4" name="Picture 2" descr="C:\Users\Administrator\Desktop\Pushpin Dev\Assets\pushpinLeft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 rot="1435684">
            <a:off x="2371106" y="293953"/>
            <a:ext cx="567831" cy="567830"/>
          </a:xfrm>
          <a:prstGeom prst="rect">
            <a:avLst/>
          </a:prstGeom>
          <a:noFill/>
        </p:spPr>
      </p:pic>
      <p:pic>
        <p:nvPicPr>
          <p:cNvPr id="15" name="Picture 2" descr="C:\Users\Administrator\Desktop\Pushpin Dev\Assets\pushpinLeft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 rot="4096196">
            <a:off x="6279647" y="333163"/>
            <a:ext cx="566928" cy="566928"/>
          </a:xfrm>
          <a:prstGeom prst="rect">
            <a:avLst/>
          </a:prstGeom>
          <a:noFill/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 rot="-60000">
            <a:off x="1106424" y="2020824"/>
            <a:ext cx="3063240" cy="1499616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 rot="60000">
            <a:off x="4898615" y="1207272"/>
            <a:ext cx="2913863" cy="4539412"/>
          </a:xfrm>
          <a:ln w="101600" cap="rnd">
            <a:solidFill>
              <a:srgbClr val="FFFFFF"/>
            </a:solidFill>
          </a:ln>
          <a:effectLst>
            <a:outerShdw blurRad="88900" dir="2700000" algn="tl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 rot="-60000">
            <a:off x="1152144" y="3621024"/>
            <a:ext cx="3044952" cy="210312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 rot="60000">
            <a:off x="6345936" y="5888737"/>
            <a:ext cx="1213821" cy="365125"/>
          </a:xfrm>
        </p:spPr>
        <p:txBody>
          <a:bodyPr/>
          <a:lstStyle/>
          <a:p>
            <a:fld id="{72D92F55-3793-4648-AF7A-D9CEEE88ECC8}" type="datetimeFigureOut">
              <a:rPr lang="en-US" smtClean="0"/>
              <a:t>4/25/2026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 rot="-60000">
            <a:off x="914569" y="5831037"/>
            <a:ext cx="3319043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 rot="60000">
            <a:off x="7562089" y="5900026"/>
            <a:ext cx="554023" cy="365125"/>
          </a:xfrm>
        </p:spPr>
        <p:txBody>
          <a:bodyPr/>
          <a:lstStyle/>
          <a:p>
            <a:fld id="{ACFB6CC9-8C31-4D8E-AC9E-47C05B6B3BE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ctr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D92F55-3793-4648-AF7A-D9CEEE88ECC8}" type="datetimeFigureOut">
              <a:rPr lang="en-US" smtClean="0"/>
              <a:t>4/25/2026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FB6CC9-8C31-4D8E-AC9E-47C05B6B3BE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1" y="925690"/>
            <a:ext cx="1430867" cy="476391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8221" y="1106312"/>
            <a:ext cx="5178779" cy="4402667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D92F55-3793-4648-AF7A-D9CEEE88ECC8}" type="datetimeFigureOut">
              <a:rPr lang="en-US" smtClean="0"/>
              <a:t>4/25/2026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FB6CC9-8C31-4D8E-AC9E-47C05B6B3BE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3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4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15"/>
          <p:cNvGrpSpPr/>
          <p:nvPr/>
        </p:nvGrpSpPr>
        <p:grpSpPr>
          <a:xfrm>
            <a:off x="0" y="0"/>
            <a:ext cx="9144000" cy="6858000"/>
            <a:chOff x="0" y="0"/>
            <a:chExt cx="9144000" cy="6858000"/>
          </a:xfrm>
        </p:grpSpPr>
        <p:sp>
          <p:nvSpPr>
            <p:cNvPr id="8" name="Rectangle 7"/>
            <p:cNvSpPr/>
            <p:nvPr/>
          </p:nvSpPr>
          <p:spPr>
            <a:xfrm>
              <a:off x="0" y="0"/>
              <a:ext cx="7162800" cy="6858000"/>
            </a:xfrm>
            <a:prstGeom prst="rect">
              <a:avLst/>
            </a:prstGeom>
            <a:gradFill flip="none" rotWithShape="1">
              <a:gsLst>
                <a:gs pos="0">
                  <a:srgbClr val="010101">
                    <a:alpha val="51765"/>
                  </a:srgbClr>
                </a:gs>
                <a:gs pos="60000">
                  <a:srgbClr val="FEFEFE">
                    <a:alpha val="0"/>
                  </a:srgbClr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/>
            <p:cNvSpPr/>
            <p:nvPr/>
          </p:nvSpPr>
          <p:spPr>
            <a:xfrm>
              <a:off x="1143000" y="0"/>
              <a:ext cx="8001000" cy="6858000"/>
            </a:xfrm>
            <a:prstGeom prst="rect">
              <a:avLst/>
            </a:prstGeom>
            <a:gradFill flip="none" rotWithShape="1">
              <a:gsLst>
                <a:gs pos="0">
                  <a:srgbClr val="010101">
                    <a:alpha val="56000"/>
                  </a:srgbClr>
                </a:gs>
                <a:gs pos="61000">
                  <a:srgbClr val="FEFEFE">
                    <a:alpha val="0"/>
                  </a:srgbClr>
                </a:gs>
              </a:gsLst>
              <a:path path="circle">
                <a:fillToRect l="100000" t="100000"/>
              </a:path>
              <a:tileRect r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0" name="Freeform 9"/>
          <p:cNvSpPr/>
          <p:nvPr/>
        </p:nvSpPr>
        <p:spPr>
          <a:xfrm rot="10800000">
            <a:off x="628650" y="6069330"/>
            <a:ext cx="7920991" cy="537210"/>
          </a:xfrm>
          <a:custGeom>
            <a:avLst/>
            <a:gdLst>
              <a:gd name="connsiteX0" fmla="*/ 0 w 7955280"/>
              <a:gd name="connsiteY0" fmla="*/ 495300 h 495300"/>
              <a:gd name="connsiteX1" fmla="*/ 169546 w 7955280"/>
              <a:gd name="connsiteY1" fmla="*/ 0 h 495300"/>
              <a:gd name="connsiteX2" fmla="*/ 7785734 w 7955280"/>
              <a:gd name="connsiteY2" fmla="*/ 0 h 495300"/>
              <a:gd name="connsiteX3" fmla="*/ 7955280 w 7955280"/>
              <a:gd name="connsiteY3" fmla="*/ 495300 h 495300"/>
              <a:gd name="connsiteX4" fmla="*/ 0 w 7955280"/>
              <a:gd name="connsiteY4" fmla="*/ 495300 h 495300"/>
              <a:gd name="connsiteX0" fmla="*/ 0 w 7955280"/>
              <a:gd name="connsiteY0" fmla="*/ 495300 h 495300"/>
              <a:gd name="connsiteX1" fmla="*/ 169546 w 7955280"/>
              <a:gd name="connsiteY1" fmla="*/ 0 h 495300"/>
              <a:gd name="connsiteX2" fmla="*/ 3966210 w 7955280"/>
              <a:gd name="connsiteY2" fmla="*/ 95250 h 495300"/>
              <a:gd name="connsiteX3" fmla="*/ 7785734 w 7955280"/>
              <a:gd name="connsiteY3" fmla="*/ 0 h 495300"/>
              <a:gd name="connsiteX4" fmla="*/ 7955280 w 7955280"/>
              <a:gd name="connsiteY4" fmla="*/ 495300 h 495300"/>
              <a:gd name="connsiteX5" fmla="*/ 0 w 7955280"/>
              <a:gd name="connsiteY5" fmla="*/ 495300 h 495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955280" h="495300">
                <a:moveTo>
                  <a:pt x="0" y="495300"/>
                </a:moveTo>
                <a:lnTo>
                  <a:pt x="169546" y="0"/>
                </a:lnTo>
                <a:lnTo>
                  <a:pt x="3966210" y="95250"/>
                </a:lnTo>
                <a:lnTo>
                  <a:pt x="7785734" y="0"/>
                </a:lnTo>
                <a:lnTo>
                  <a:pt x="7955280" y="495300"/>
                </a:lnTo>
                <a:lnTo>
                  <a:pt x="0" y="495300"/>
                </a:lnTo>
                <a:close/>
              </a:path>
            </a:pathLst>
          </a:custGeom>
          <a:gradFill flip="none" rotWithShape="1">
            <a:gsLst>
              <a:gs pos="30000">
                <a:srgbClr val="010101">
                  <a:alpha val="34000"/>
                </a:srgbClr>
              </a:gs>
              <a:gs pos="100000">
                <a:srgbClr val="010101">
                  <a:alpha val="26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>
            <a:softEdge rad="1270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731520" y="575310"/>
            <a:ext cx="7696200" cy="5715000"/>
          </a:xfrm>
          <a:prstGeom prst="rect">
            <a:avLst/>
          </a:prstGeom>
          <a:solidFill>
            <a:schemeClr val="bg1">
              <a:lumMod val="75000"/>
              <a:lumOff val="25000"/>
            </a:schemeClr>
          </a:solidFill>
          <a:ln w="6350">
            <a:noFill/>
          </a:ln>
          <a:effectLst>
            <a:outerShdw blurRad="101600" dist="50800" dir="5400000" algn="t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731520" y="576072"/>
            <a:ext cx="7696200" cy="5715000"/>
          </a:xfrm>
          <a:prstGeom prst="rect">
            <a:avLst/>
          </a:prstGeom>
          <a:blipFill dpi="0" rotWithShape="1">
            <a:blip r:embed="rId13" cstate="print">
              <a:alphaModFix amt="20000"/>
              <a:grayscl/>
              <a:lum contrast="12000"/>
            </a:blip>
            <a:srcRect/>
            <a:tile tx="0" ty="0" sx="100000" sy="100000" flip="none" algn="tl"/>
          </a:blipFill>
          <a:ln w="6350">
            <a:noFill/>
          </a:ln>
          <a:effectLst>
            <a:outerShdw blurRad="101600" dist="50800" dir="5400000" algn="t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Picture 2" descr="C:\Users\Administrator\Desktop\Pushpin Dev\Assets\pushpinLeft.png"/>
          <p:cNvPicPr>
            <a:picLocks noChangeAspect="1" noChangeArrowheads="1"/>
          </p:cNvPicPr>
          <p:nvPr/>
        </p:nvPicPr>
        <p:blipFill>
          <a:blip r:embed="rId14" cstate="print"/>
          <a:srcRect/>
          <a:stretch>
            <a:fillRect/>
          </a:stretch>
        </p:blipFill>
        <p:spPr bwMode="auto">
          <a:xfrm rot="1435684">
            <a:off x="543741" y="273091"/>
            <a:ext cx="567831" cy="567830"/>
          </a:xfrm>
          <a:prstGeom prst="rect">
            <a:avLst/>
          </a:prstGeom>
          <a:noFill/>
        </p:spPr>
      </p:pic>
      <p:pic>
        <p:nvPicPr>
          <p:cNvPr id="14" name="Picture 2" descr="C:\Users\Administrator\Desktop\Pushpin Dev\Assets\pushpinLeft.png"/>
          <p:cNvPicPr>
            <a:picLocks noChangeAspect="1" noChangeArrowheads="1"/>
          </p:cNvPicPr>
          <p:nvPr/>
        </p:nvPicPr>
        <p:blipFill>
          <a:blip r:embed="rId14" cstate="print"/>
          <a:srcRect/>
          <a:stretch>
            <a:fillRect/>
          </a:stretch>
        </p:blipFill>
        <p:spPr bwMode="auto">
          <a:xfrm rot="4096196">
            <a:off x="8115079" y="298163"/>
            <a:ext cx="566928" cy="566928"/>
          </a:xfrm>
          <a:prstGeom prst="rect">
            <a:avLst/>
          </a:prstGeom>
          <a:noFill/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5023" y="817582"/>
            <a:ext cx="6965245" cy="120248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63040" y="2119257"/>
            <a:ext cx="6196405" cy="360381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454588" y="5809152"/>
            <a:ext cx="121382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2"/>
                </a:solidFill>
                <a:latin typeface="Rage Italic" pitchFamily="66" charset="0"/>
              </a:defRPr>
            </a:lvl1pPr>
          </a:lstStyle>
          <a:p>
            <a:fld id="{72D92F55-3793-4648-AF7A-D9CEEE88ECC8}" type="datetimeFigureOut">
              <a:rPr lang="en-US" smtClean="0"/>
              <a:t>4/25/2026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4401" y="5809152"/>
            <a:ext cx="554018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>
                <a:solidFill>
                  <a:schemeClr val="tx2"/>
                </a:solidFill>
                <a:latin typeface="Rage Italic" pitchFamily="66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670202" y="5809152"/>
            <a:ext cx="55402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00">
                <a:solidFill>
                  <a:schemeClr val="tx2"/>
                </a:solidFill>
                <a:latin typeface="Rage Italic" pitchFamily="66" charset="0"/>
              </a:defRPr>
            </a:lvl1pPr>
          </a:lstStyle>
          <a:p>
            <a:fld id="{ACFB6CC9-8C31-4D8E-AC9E-47C05B6B3BED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74320" indent="-274320" algn="l" defTabSz="914400" rtl="0" eaLnBrk="1" latinLnBrk="0" hangingPunct="1">
        <a:spcBef>
          <a:spcPct val="20000"/>
        </a:spcBef>
        <a:buClr>
          <a:schemeClr val="accent2"/>
        </a:buClr>
        <a:buSzPct val="85000"/>
        <a:buFont typeface="Brush Script MT" pitchFamily="66" charset="0"/>
        <a:buChar char="O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74320" algn="l" defTabSz="914400" rtl="0" eaLnBrk="1" latinLnBrk="0" hangingPunct="1">
        <a:spcBef>
          <a:spcPct val="20000"/>
        </a:spcBef>
        <a:buClr>
          <a:schemeClr val="accent2"/>
        </a:buClr>
        <a:buSzPct val="85000"/>
        <a:buFont typeface="Brush Script MT" pitchFamily="66" charset="0"/>
        <a:buChar char="O"/>
        <a:defRPr sz="22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28600" algn="l" defTabSz="914400" rtl="0" eaLnBrk="1" latinLnBrk="0" hangingPunct="1">
        <a:spcBef>
          <a:spcPct val="20000"/>
        </a:spcBef>
        <a:buClr>
          <a:schemeClr val="accent2"/>
        </a:buClr>
        <a:buSzPct val="85000"/>
        <a:buFont typeface="Brush Script MT" pitchFamily="66" charset="0"/>
        <a:buChar char="O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280160" indent="-228600" algn="l" defTabSz="914400" rtl="0" eaLnBrk="1" latinLnBrk="0" hangingPunct="1">
        <a:spcBef>
          <a:spcPct val="20000"/>
        </a:spcBef>
        <a:buClr>
          <a:schemeClr val="accent2"/>
        </a:buClr>
        <a:buSzPct val="85000"/>
        <a:buFont typeface="Brush Script MT" pitchFamily="66" charset="0"/>
        <a:buChar char="O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645920" indent="-228600" algn="l" defTabSz="914400" rtl="0" eaLnBrk="1" latinLnBrk="0" hangingPunct="1">
        <a:spcBef>
          <a:spcPct val="20000"/>
        </a:spcBef>
        <a:buClr>
          <a:schemeClr val="accent2"/>
        </a:buClr>
        <a:buSzPct val="85000"/>
        <a:buFont typeface="Brush Script MT" pitchFamily="66" charset="0"/>
        <a:buChar char="O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011680" indent="-228600" algn="l" defTabSz="914400" rtl="0" eaLnBrk="1" latinLnBrk="0" hangingPunct="1">
        <a:spcBef>
          <a:spcPct val="20000"/>
        </a:spcBef>
        <a:buClr>
          <a:schemeClr val="accent2"/>
        </a:buClr>
        <a:buSzPct val="85000"/>
        <a:buFont typeface="Brush Script MT" pitchFamily="66" charset="0"/>
        <a:buChar char="O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377440" indent="-228600" algn="l" defTabSz="914400" rtl="0" eaLnBrk="1" latinLnBrk="0" hangingPunct="1">
        <a:spcBef>
          <a:spcPct val="20000"/>
        </a:spcBef>
        <a:buClr>
          <a:schemeClr val="accent2"/>
        </a:buClr>
        <a:buSzPct val="85000"/>
        <a:buFont typeface="Brush Script MT" pitchFamily="66" charset="0"/>
        <a:buChar char="O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743200" indent="-228600" algn="l" defTabSz="914400" rtl="0" eaLnBrk="1" latinLnBrk="0" hangingPunct="1">
        <a:spcBef>
          <a:spcPct val="20000"/>
        </a:spcBef>
        <a:buClr>
          <a:schemeClr val="accent2"/>
        </a:buClr>
        <a:buSzPct val="85000"/>
        <a:buFont typeface="Brush Script MT" pitchFamily="66" charset="0"/>
        <a:buChar char="O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108960" indent="-228600" algn="l" defTabSz="914400" rtl="0" eaLnBrk="1" latinLnBrk="0" hangingPunct="1">
        <a:spcBef>
          <a:spcPct val="20000"/>
        </a:spcBef>
        <a:buClr>
          <a:schemeClr val="accent2"/>
        </a:buClr>
        <a:buSzPct val="85000"/>
        <a:buFont typeface="Brush Script MT" pitchFamily="66" charset="0"/>
        <a:buChar char="O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hyperlink" Target="https://youtu.be/vI8QTe7_8X8?si=_cYagIinvJBMX6AQ" TargetMode="Externa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63040" y="2119257"/>
            <a:ext cx="6766560" cy="3603812"/>
          </a:xfrm>
        </p:spPr>
        <p:txBody>
          <a:bodyPr>
            <a:normAutofit fontScale="92500" lnSpcReduction="20000"/>
          </a:bodyPr>
          <a:lstStyle/>
          <a:p>
            <a:pPr marL="0" indent="0" algn="ctr">
              <a:buNone/>
            </a:pPr>
            <a:endParaRPr lang="en-US" sz="2800" dirty="0">
              <a:latin typeface="Times New Roman" pitchFamily="18" charset="0"/>
              <a:cs typeface="Times New Roman" pitchFamily="18" charset="0"/>
            </a:endParaRPr>
          </a:p>
          <a:p>
            <a:pPr marL="0" indent="0" algn="ctr">
              <a:buNone/>
            </a:pPr>
            <a:endParaRPr lang="en-US" dirty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 algn="ctr">
              <a:buNone/>
            </a:pPr>
            <a:r>
              <a:rPr lang="en-US" b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Professional </a:t>
            </a:r>
            <a:r>
              <a:rPr lang="en-US" b="1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Practices (HUM-305)</a:t>
            </a:r>
            <a:r>
              <a:rPr lang="en-US" b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	</a:t>
            </a:r>
            <a:endParaRPr lang="en-US" b="1" dirty="0" smtClean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 algn="ctr">
              <a:buNone/>
            </a:pPr>
            <a:r>
              <a:rPr lang="en-US" sz="2000" b="1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SPRING SEMESTER 2026</a:t>
            </a:r>
          </a:p>
          <a:p>
            <a:pPr marL="0" indent="0" algn="ctr">
              <a:buNone/>
            </a:pPr>
            <a:r>
              <a:rPr lang="en-US" sz="2000" b="1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By</a:t>
            </a:r>
          </a:p>
          <a:p>
            <a:pPr marL="0" indent="0" algn="ctr">
              <a:buNone/>
            </a:pPr>
            <a:r>
              <a:rPr lang="en-US" sz="2000" b="1" dirty="0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Prof  </a:t>
            </a:r>
            <a:r>
              <a:rPr lang="en-US" sz="2000" b="1" dirty="0" err="1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Engr</a:t>
            </a:r>
            <a:r>
              <a:rPr lang="en-US" sz="2000" b="1" dirty="0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 Muhammad </a:t>
            </a:r>
            <a:r>
              <a:rPr lang="en-US" sz="2000" b="1" dirty="0" err="1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Raheel</a:t>
            </a:r>
            <a:r>
              <a:rPr lang="en-US" sz="2000" b="1" dirty="0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b="1" dirty="0" err="1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Iqbal</a:t>
            </a:r>
            <a:r>
              <a:rPr lang="en-US" sz="2000" b="1" dirty="0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 Butt</a:t>
            </a:r>
          </a:p>
          <a:p>
            <a:pPr marL="0" indent="0" algn="ctr">
              <a:buNone/>
            </a:pPr>
            <a:r>
              <a:rPr lang="en-US" sz="2000" b="1" dirty="0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Resource Person </a:t>
            </a:r>
          </a:p>
          <a:p>
            <a:pPr marL="0" indent="0" algn="ctr">
              <a:buNone/>
            </a:pPr>
            <a:r>
              <a:rPr lang="en-US" sz="2000" b="1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Contact: +92 321 7433568</a:t>
            </a:r>
          </a:p>
          <a:p>
            <a:pPr marL="0" indent="0" algn="ctr">
              <a:buNone/>
            </a:pPr>
            <a:endParaRPr lang="en-US" sz="2200" b="1" dirty="0" smtClean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 algn="ctr">
              <a:buNone/>
            </a:pPr>
            <a:r>
              <a:rPr lang="en-US" sz="2200" b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School of Computer &amp; Information Technology</a:t>
            </a:r>
            <a:endParaRPr lang="en-US" sz="2200" dirty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 algn="ctr">
              <a:buNone/>
            </a:pPr>
            <a:r>
              <a:rPr lang="en-US" sz="3000" b="1" dirty="0" err="1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Beaconhouse</a:t>
            </a:r>
            <a:r>
              <a:rPr lang="en-US" sz="3000" b="1" dirty="0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0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National University, Lahore</a:t>
            </a:r>
            <a:endParaRPr lang="en-US" sz="3000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 algn="ctr">
              <a:buNone/>
            </a:pPr>
            <a:endParaRPr lang="en-US" sz="3600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 algn="ctr">
              <a:buNone/>
            </a:pP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025" name="Picture 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86200" y="899614"/>
            <a:ext cx="1627496" cy="19642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3507650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600" y="879141"/>
            <a:ext cx="7371416" cy="53340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4936129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5023" y="817583"/>
            <a:ext cx="6965245" cy="858818"/>
          </a:xfrm>
        </p:spPr>
        <p:txBody>
          <a:bodyPr>
            <a:noAutofit/>
          </a:bodyPr>
          <a:lstStyle/>
          <a:p>
            <a:r>
              <a:rPr lang="en-US" sz="24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Chap 10 </a:t>
            </a:r>
            <a:r>
              <a:rPr lang="en-US" sz="2400" b="1" dirty="0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: Entrepreneurship</a:t>
            </a:r>
            <a:endParaRPr lang="en-US" sz="2400" b="1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66800" y="1828800"/>
            <a:ext cx="7010400" cy="4191000"/>
          </a:xfrm>
        </p:spPr>
        <p:txBody>
          <a:bodyPr>
            <a:normAutofit/>
          </a:bodyPr>
          <a:lstStyle/>
          <a:p>
            <a:pPr algn="just"/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Corporate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job and attempt an entrepreneurial activity</a:t>
            </a:r>
          </a:p>
          <a:p>
            <a:pPr algn="just"/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I have a great idea but will not pursue it since funding it is almost impossible</a:t>
            </a:r>
          </a:p>
          <a:p>
            <a:pPr algn="just"/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A great idea </a:t>
            </a:r>
          </a:p>
          <a:p>
            <a:pPr algn="just"/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Newton discovering gravity , </a:t>
            </a: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CEOs of Tech companies </a:t>
            </a:r>
          </a:p>
          <a:p>
            <a:pPr algn="just"/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A great role in becoming an entrepreneur, the younger the easier </a:t>
            </a: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054604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685800"/>
            <a:ext cx="7459639" cy="5562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10287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5023" y="533400"/>
            <a:ext cx="6965245" cy="858818"/>
          </a:xfrm>
        </p:spPr>
        <p:txBody>
          <a:bodyPr>
            <a:noAutofit/>
          </a:bodyPr>
          <a:lstStyle/>
          <a:p>
            <a:pPr marL="0" indent="0"/>
            <a:r>
              <a:rPr lang="en-US" sz="24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A great role in becoming an entrepreneur</a:t>
            </a:r>
            <a:endParaRPr lang="en-US" sz="2400" b="1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90600" y="1143000"/>
            <a:ext cx="7315200" cy="4953000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Entrepreneurship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  <a:p>
            <a:pPr marL="0" indent="0" algn="just">
              <a:buNone/>
            </a:pP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Definition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Entrepreneurship is the process of creating, developing, and managing a new business venture in order to make a profit while taking financial risks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marL="0" indent="0" algn="just">
              <a:buNone/>
            </a:pPr>
            <a:endParaRPr lang="en-US" sz="2000" b="1" dirty="0" smtClean="0">
              <a:latin typeface="Times New Roman" pitchFamily="18" charset="0"/>
              <a:cs typeface="Times New Roman" pitchFamily="18" charset="0"/>
            </a:endParaRPr>
          </a:p>
          <a:p>
            <a:pPr marL="0" indent="0" algn="just">
              <a:buNone/>
            </a:pP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Key </a:t>
            </a: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Characteristics of Entrepreneurship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  <a:p>
            <a:pPr lvl="0" algn="just"/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Innovation: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Introducing new ideas, products, or services </a:t>
            </a:r>
          </a:p>
          <a:p>
            <a:pPr lvl="0" algn="just"/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Risk-taking: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Willingness to face uncertainty </a:t>
            </a:r>
          </a:p>
          <a:p>
            <a:pPr lvl="0" algn="just"/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Leadership: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Managing people and resources </a:t>
            </a:r>
          </a:p>
          <a:p>
            <a:pPr lvl="0" algn="just"/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Decision-making: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Making strategic choices </a:t>
            </a:r>
          </a:p>
          <a:p>
            <a:pPr lvl="0" algn="just"/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Creativity: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Finding unique solutions </a:t>
            </a:r>
          </a:p>
          <a:p>
            <a:pPr algn="just"/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077203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3450" y="685799"/>
            <a:ext cx="7296150" cy="545569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2617321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5023" y="533400"/>
            <a:ext cx="6965245" cy="858818"/>
          </a:xfrm>
        </p:spPr>
        <p:txBody>
          <a:bodyPr>
            <a:noAutofit/>
          </a:bodyPr>
          <a:lstStyle/>
          <a:p>
            <a:pPr marL="0" indent="0"/>
            <a:r>
              <a:rPr lang="en-US" sz="24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A great role in becoming an entrepreneur</a:t>
            </a:r>
            <a:endParaRPr lang="en-US" sz="2400" b="1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90600" y="1143000"/>
            <a:ext cx="7315200" cy="4953000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en-US" b="1" dirty="0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Types of Entrepreneurship</a:t>
            </a:r>
            <a:endParaRPr lang="en-US" dirty="0">
              <a:solidFill>
                <a:schemeClr val="tx2">
                  <a:lumMod val="60000"/>
                  <a:lumOff val="40000"/>
                </a:schemeClr>
              </a:solidFill>
              <a:latin typeface="Times New Roman" pitchFamily="18" charset="0"/>
              <a:cs typeface="Times New Roman" pitchFamily="18" charset="0"/>
            </a:endParaRPr>
          </a:p>
          <a:p>
            <a:pPr marL="0" lvl="0" indent="0" algn="just">
              <a:buNone/>
            </a:pP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Small 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Business Entrepreneurship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</a:p>
          <a:p>
            <a:pPr lvl="1" algn="just"/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Local shops, restaurants, freelancers </a:t>
            </a:r>
          </a:p>
          <a:p>
            <a:pPr marL="0" lvl="0" indent="0" algn="just">
              <a:buNone/>
            </a:pPr>
            <a:r>
              <a:rPr lang="en-US" b="1" dirty="0">
                <a:latin typeface="Times New Roman" pitchFamily="18" charset="0"/>
                <a:cs typeface="Times New Roman" pitchFamily="18" charset="0"/>
              </a:rPr>
              <a:t>Scalable Startup Entrepreneurship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</a:p>
          <a:p>
            <a:pPr lvl="1" algn="just"/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Tech startups aiming for rapid growth </a:t>
            </a:r>
          </a:p>
          <a:p>
            <a:pPr marL="0" lvl="0" indent="0" algn="just">
              <a:buNone/>
            </a:pP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Social Entrepreneurship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pPr lvl="1" algn="just"/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Focus on solving social problems </a:t>
            </a:r>
          </a:p>
          <a:p>
            <a:pPr marL="0" lvl="0" indent="0" algn="just">
              <a:buNone/>
            </a:pPr>
            <a:r>
              <a:rPr lang="en-US" b="1" dirty="0">
                <a:latin typeface="Times New Roman" pitchFamily="18" charset="0"/>
                <a:cs typeface="Times New Roman" pitchFamily="18" charset="0"/>
              </a:rPr>
              <a:t>Corporate Entrepreneurship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</a:p>
          <a:p>
            <a:pPr lvl="1" algn="just"/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Innovation within large companies </a:t>
            </a:r>
          </a:p>
        </p:txBody>
      </p:sp>
    </p:spTree>
    <p:extLst>
      <p:ext uri="{BB962C8B-B14F-4D97-AF65-F5344CB8AC3E}">
        <p14:creationId xmlns:p14="http://schemas.microsoft.com/office/powerpoint/2010/main" val="225703367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761999"/>
            <a:ext cx="7410734" cy="54613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10324888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5023" y="533400"/>
            <a:ext cx="6965245" cy="858818"/>
          </a:xfrm>
        </p:spPr>
        <p:txBody>
          <a:bodyPr>
            <a:noAutofit/>
          </a:bodyPr>
          <a:lstStyle/>
          <a:p>
            <a:pPr marL="0" indent="0"/>
            <a:r>
              <a:rPr lang="en-US" sz="24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A great role in becoming an entrepreneur</a:t>
            </a:r>
            <a:endParaRPr lang="en-US" sz="2400" b="1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90600" y="1143000"/>
            <a:ext cx="7315200" cy="4953000"/>
          </a:xfrm>
        </p:spPr>
        <p:txBody>
          <a:bodyPr>
            <a:no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Importance of Entrepreneurship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  <a:p>
            <a:pPr lvl="0">
              <a:spcBef>
                <a:spcPts val="0"/>
              </a:spcBef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Creates job opportunities </a:t>
            </a:r>
          </a:p>
          <a:p>
            <a:pPr lvl="0">
              <a:spcBef>
                <a:spcPts val="0"/>
              </a:spcBef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Boosts economic growth </a:t>
            </a:r>
          </a:p>
          <a:p>
            <a:pPr lvl="0">
              <a:spcBef>
                <a:spcPts val="0"/>
              </a:spcBef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Encourages innovation </a:t>
            </a:r>
          </a:p>
          <a:p>
            <a:pPr lvl="0">
              <a:spcBef>
                <a:spcPts val="0"/>
              </a:spcBef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Improves standard of living 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Advantages of Entrepreneurship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  <a:p>
            <a:pPr lvl="0">
              <a:spcBef>
                <a:spcPts val="0"/>
              </a:spcBef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Independence and freedom </a:t>
            </a:r>
          </a:p>
          <a:p>
            <a:pPr lvl="0">
              <a:spcBef>
                <a:spcPts val="0"/>
              </a:spcBef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Unlimited income potential </a:t>
            </a:r>
          </a:p>
          <a:p>
            <a:pPr lvl="0">
              <a:spcBef>
                <a:spcPts val="0"/>
              </a:spcBef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Personal satisfaction </a:t>
            </a:r>
          </a:p>
          <a:p>
            <a:pPr lvl="0">
              <a:spcBef>
                <a:spcPts val="0"/>
              </a:spcBef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Opportunity to follow your passion 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Disadvantages of Entrepreneurship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  <a:p>
            <a:pPr lvl="0">
              <a:spcBef>
                <a:spcPts val="0"/>
              </a:spcBef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High risk of failure </a:t>
            </a:r>
          </a:p>
          <a:p>
            <a:pPr lvl="0">
              <a:spcBef>
                <a:spcPts val="0"/>
              </a:spcBef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Financial uncertainty </a:t>
            </a:r>
          </a:p>
          <a:p>
            <a:pPr lvl="0">
              <a:spcBef>
                <a:spcPts val="0"/>
              </a:spcBef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Long working hours </a:t>
            </a:r>
          </a:p>
          <a:p>
            <a:pPr lvl="0">
              <a:spcBef>
                <a:spcPts val="0"/>
              </a:spcBef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Stress and responsibility </a:t>
            </a:r>
          </a:p>
        </p:txBody>
      </p:sp>
    </p:spTree>
    <p:extLst>
      <p:ext uri="{BB962C8B-B14F-4D97-AF65-F5344CB8AC3E}">
        <p14:creationId xmlns:p14="http://schemas.microsoft.com/office/powerpoint/2010/main" val="255308423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685800"/>
            <a:ext cx="7541525" cy="55102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10324888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5023" y="533400"/>
            <a:ext cx="6965245" cy="858818"/>
          </a:xfrm>
        </p:spPr>
        <p:txBody>
          <a:bodyPr>
            <a:noAutofit/>
          </a:bodyPr>
          <a:lstStyle/>
          <a:p>
            <a:pPr marL="0" indent="0"/>
            <a:r>
              <a:rPr lang="en-US" sz="24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A great role in becoming an entrepreneur</a:t>
            </a:r>
            <a:endParaRPr lang="en-US" sz="2400" b="1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90600" y="1143000"/>
            <a:ext cx="7315200" cy="495300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Career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choices shape our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future</a:t>
            </a:r>
          </a:p>
          <a:p>
            <a:pPr marL="0" indent="0">
              <a:buNone/>
            </a:pP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Two </a:t>
            </a: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major paths:</a:t>
            </a:r>
          </a:p>
          <a:p>
            <a:pPr marL="0" indent="0">
              <a:buNone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 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Corporate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Job</a:t>
            </a:r>
          </a:p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Entrepreneurship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Both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offer unique opportunities and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challenges</a:t>
            </a:r>
          </a:p>
          <a:p>
            <a:pPr marL="0" indent="0">
              <a:buNone/>
            </a:pP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What is a Corporate Job</a:t>
            </a: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?</a:t>
            </a:r>
            <a:endParaRPr lang="en-US" sz="2000" b="1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Employment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in an established organization</a:t>
            </a:r>
          </a:p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Structured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work environment</a:t>
            </a:r>
          </a:p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Fixed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salary and defined roles</a:t>
            </a:r>
          </a:p>
          <a:p>
            <a:pPr marL="0" indent="0">
              <a:buNone/>
            </a:pP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Examples:</a:t>
            </a:r>
            <a:endParaRPr lang="en-US" sz="2000" b="1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Manager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Software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Engineer</a:t>
            </a:r>
          </a:p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HR 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Specialist</a:t>
            </a:r>
          </a:p>
          <a:p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6799322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761999"/>
            <a:ext cx="7401539" cy="54750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10324888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5023" y="533400"/>
            <a:ext cx="6965245" cy="858818"/>
          </a:xfrm>
        </p:spPr>
        <p:txBody>
          <a:bodyPr>
            <a:noAutofit/>
          </a:bodyPr>
          <a:lstStyle/>
          <a:p>
            <a:pPr marL="0" indent="0"/>
            <a:r>
              <a:rPr lang="en-US" sz="24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A great role in becoming an entrepreneur</a:t>
            </a:r>
            <a:endParaRPr lang="en-US" sz="2400" b="1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90600" y="1143000"/>
            <a:ext cx="7315200" cy="495300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200" b="1" dirty="0" smtClean="0">
                <a:latin typeface="Times New Roman" pitchFamily="18" charset="0"/>
                <a:cs typeface="Times New Roman" pitchFamily="18" charset="0"/>
              </a:rPr>
              <a:t>Benefits </a:t>
            </a:r>
            <a:r>
              <a:rPr lang="en-US" sz="2200" b="1" dirty="0">
                <a:latin typeface="Times New Roman" pitchFamily="18" charset="0"/>
                <a:cs typeface="Times New Roman" pitchFamily="18" charset="0"/>
              </a:rPr>
              <a:t>of a Corporate </a:t>
            </a:r>
            <a:r>
              <a:rPr lang="en-US" sz="2200" b="1" dirty="0" smtClean="0">
                <a:latin typeface="Times New Roman" pitchFamily="18" charset="0"/>
                <a:cs typeface="Times New Roman" pitchFamily="18" charset="0"/>
              </a:rPr>
              <a:t>Job</a:t>
            </a:r>
            <a:endParaRPr lang="en-US" sz="2200" b="1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Financial 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stability (monthly income)</a:t>
            </a:r>
          </a:p>
          <a:p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Job 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security</a:t>
            </a:r>
          </a:p>
          <a:p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Professional 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growth and training</a:t>
            </a:r>
          </a:p>
          <a:p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Work-life 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balance (in many cases)</a:t>
            </a:r>
          </a:p>
          <a:p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Networking 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opportunities</a:t>
            </a:r>
          </a:p>
          <a:p>
            <a:pPr marL="0" indent="0">
              <a:buNone/>
            </a:pPr>
            <a:r>
              <a:rPr lang="en-US" sz="2200" b="1" dirty="0" smtClean="0">
                <a:latin typeface="Times New Roman" pitchFamily="18" charset="0"/>
                <a:cs typeface="Times New Roman" pitchFamily="18" charset="0"/>
              </a:rPr>
              <a:t>Limitations of a Corporate Job </a:t>
            </a:r>
          </a:p>
          <a:p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Limited creativity</a:t>
            </a:r>
          </a:p>
          <a:p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Fixed 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hierarchy (slow promotions)</a:t>
            </a:r>
          </a:p>
          <a:p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Less 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independence</a:t>
            </a:r>
          </a:p>
          <a:p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Dependency 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on company 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policies</a:t>
            </a:r>
            <a:endParaRPr lang="en-US" sz="22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5335820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399" y="762000"/>
            <a:ext cx="7356143" cy="54340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10324888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5023" y="533400"/>
            <a:ext cx="6965245" cy="858818"/>
          </a:xfrm>
        </p:spPr>
        <p:txBody>
          <a:bodyPr>
            <a:noAutofit/>
          </a:bodyPr>
          <a:lstStyle/>
          <a:p>
            <a:pPr marL="0" indent="0"/>
            <a:r>
              <a:rPr lang="en-US" sz="24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A great role in becoming an entrepreneur</a:t>
            </a:r>
            <a:endParaRPr lang="en-US" sz="2400" b="1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90600" y="1143000"/>
            <a:ext cx="7315200" cy="4953000"/>
          </a:xfrm>
        </p:spPr>
        <p:txBody>
          <a:bodyPr>
            <a:no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What is Entrepreneurship</a:t>
            </a:r>
            <a:r>
              <a:rPr lang="en-US" sz="1800" b="1" dirty="0" smtClean="0">
                <a:latin typeface="Times New Roman" pitchFamily="18" charset="0"/>
                <a:cs typeface="Times New Roman" pitchFamily="18" charset="0"/>
              </a:rPr>
              <a:t>?</a:t>
            </a:r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 </a:t>
            </a:r>
          </a:p>
          <a:p>
            <a:pPr>
              <a:spcBef>
                <a:spcPts val="0"/>
              </a:spcBef>
            </a:pP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Starting 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and managing your own business</a:t>
            </a:r>
          </a:p>
          <a:p>
            <a:pPr>
              <a:spcBef>
                <a:spcPts val="0"/>
              </a:spcBef>
            </a:pP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Turning 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ideas into reality</a:t>
            </a:r>
          </a:p>
          <a:p>
            <a:pPr>
              <a:spcBef>
                <a:spcPts val="0"/>
              </a:spcBef>
            </a:pP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Requires 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innovation and </a:t>
            </a: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risk-taking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800" b="1" dirty="0" smtClean="0">
                <a:latin typeface="Times New Roman" pitchFamily="18" charset="0"/>
                <a:cs typeface="Times New Roman" pitchFamily="18" charset="0"/>
              </a:rPr>
              <a:t>Example:</a:t>
            </a:r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 </a:t>
            </a:r>
          </a:p>
          <a:p>
            <a:pPr>
              <a:spcBef>
                <a:spcPts val="0"/>
              </a:spcBef>
            </a:pP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Startups</a:t>
            </a:r>
            <a:endParaRPr lang="en-US" sz="1800" dirty="0">
              <a:latin typeface="Times New Roman" pitchFamily="18" charset="0"/>
              <a:cs typeface="Times New Roman" pitchFamily="18" charset="0"/>
            </a:endParaRPr>
          </a:p>
          <a:p>
            <a:pPr>
              <a:spcBef>
                <a:spcPts val="0"/>
              </a:spcBef>
            </a:pP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Small 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businesses</a:t>
            </a:r>
          </a:p>
          <a:p>
            <a:pPr>
              <a:spcBef>
                <a:spcPts val="0"/>
              </a:spcBef>
            </a:pP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Tech ventures</a:t>
            </a:r>
            <a:endParaRPr lang="en-US" sz="1800" dirty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Benefits of </a:t>
            </a:r>
            <a:r>
              <a:rPr lang="en-US" sz="1800" b="1" dirty="0" smtClean="0">
                <a:latin typeface="Times New Roman" pitchFamily="18" charset="0"/>
                <a:cs typeface="Times New Roman" pitchFamily="18" charset="0"/>
              </a:rPr>
              <a:t>Entrepreneurship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 </a:t>
            </a:r>
          </a:p>
          <a:p>
            <a:pPr>
              <a:spcBef>
                <a:spcPts val="0"/>
              </a:spcBef>
            </a:pP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Independence 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and freedom</a:t>
            </a:r>
          </a:p>
          <a:p>
            <a:pPr>
              <a:spcBef>
                <a:spcPts val="0"/>
              </a:spcBef>
            </a:pP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Unlimited 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earning potential</a:t>
            </a:r>
          </a:p>
          <a:p>
            <a:pPr>
              <a:spcBef>
                <a:spcPts val="0"/>
              </a:spcBef>
            </a:pP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Creative 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control</a:t>
            </a:r>
          </a:p>
          <a:p>
            <a:pPr>
              <a:spcBef>
                <a:spcPts val="0"/>
              </a:spcBef>
            </a:pP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Personal satisfaction</a:t>
            </a:r>
            <a:endParaRPr lang="en-US" sz="1800" dirty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Challenges of </a:t>
            </a:r>
            <a:r>
              <a:rPr lang="en-US" sz="1800" b="1" dirty="0" smtClean="0">
                <a:latin typeface="Times New Roman" pitchFamily="18" charset="0"/>
                <a:cs typeface="Times New Roman" pitchFamily="18" charset="0"/>
              </a:rPr>
              <a:t>Entrepreneurship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 </a:t>
            </a:r>
          </a:p>
          <a:p>
            <a:pPr>
              <a:spcBef>
                <a:spcPts val="0"/>
              </a:spcBef>
            </a:pP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Financial 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risk</a:t>
            </a:r>
          </a:p>
          <a:p>
            <a:pPr>
              <a:spcBef>
                <a:spcPts val="0"/>
              </a:spcBef>
            </a:pP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Uncertain 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income</a:t>
            </a:r>
          </a:p>
          <a:p>
            <a:pPr>
              <a:spcBef>
                <a:spcPts val="0"/>
              </a:spcBef>
            </a:pP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High 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responsibility</a:t>
            </a:r>
          </a:p>
          <a:p>
            <a:pPr>
              <a:spcBef>
                <a:spcPts val="0"/>
              </a:spcBef>
            </a:pP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Long 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working hours</a:t>
            </a:r>
          </a:p>
        </p:txBody>
      </p:sp>
    </p:spTree>
    <p:extLst>
      <p:ext uri="{BB962C8B-B14F-4D97-AF65-F5344CB8AC3E}">
        <p14:creationId xmlns:p14="http://schemas.microsoft.com/office/powerpoint/2010/main" val="414154694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399" y="838200"/>
            <a:ext cx="7476751" cy="5334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10324888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0" y="457200"/>
            <a:ext cx="6965245" cy="609600"/>
          </a:xfrm>
        </p:spPr>
        <p:txBody>
          <a:bodyPr>
            <a:noAutofit/>
          </a:bodyPr>
          <a:lstStyle/>
          <a:p>
            <a:pPr marL="0" indent="0"/>
            <a:r>
              <a:rPr lang="en-US" sz="24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A great role in becoming an entrepreneur</a:t>
            </a:r>
            <a:endParaRPr lang="en-US" sz="2400" b="1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90600" y="914400"/>
            <a:ext cx="7315200" cy="5181600"/>
          </a:xfrm>
        </p:spPr>
        <p:txBody>
          <a:bodyPr>
            <a:no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en-US" sz="1800" b="1" dirty="0" smtClean="0">
                <a:latin typeface="Times New Roman" pitchFamily="18" charset="0"/>
                <a:cs typeface="Times New Roman" pitchFamily="18" charset="0"/>
              </a:rPr>
              <a:t>“</a:t>
            </a:r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I Have a Great Idea but Won’t Pursue It</a:t>
            </a:r>
            <a:r>
              <a:rPr lang="en-US" sz="1800" b="1" dirty="0" smtClean="0">
                <a:latin typeface="Times New Roman" pitchFamily="18" charset="0"/>
                <a:cs typeface="Times New Roman" pitchFamily="18" charset="0"/>
              </a:rPr>
              <a:t>”</a:t>
            </a:r>
            <a:endParaRPr lang="en-US" sz="1800" b="1" dirty="0">
              <a:latin typeface="Times New Roman" pitchFamily="18" charset="0"/>
              <a:cs typeface="Times New Roman" pitchFamily="18" charset="0"/>
            </a:endParaRPr>
          </a:p>
          <a:p>
            <a:pPr>
              <a:spcBef>
                <a:spcPts val="0"/>
              </a:spcBef>
            </a:pP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Common 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mindset among individuals</a:t>
            </a:r>
          </a:p>
          <a:p>
            <a:pPr>
              <a:spcBef>
                <a:spcPts val="0"/>
              </a:spcBef>
            </a:pP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Main 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reason: Lack of </a:t>
            </a: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funding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800" b="1" dirty="0" smtClean="0">
                <a:latin typeface="Times New Roman" pitchFamily="18" charset="0"/>
                <a:cs typeface="Times New Roman" pitchFamily="18" charset="0"/>
              </a:rPr>
              <a:t>Other </a:t>
            </a:r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reasons:</a:t>
            </a:r>
          </a:p>
          <a:p>
            <a:pPr>
              <a:spcBef>
                <a:spcPts val="0"/>
              </a:spcBef>
            </a:pP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Fear 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of failure</a:t>
            </a:r>
          </a:p>
          <a:p>
            <a:pPr>
              <a:spcBef>
                <a:spcPts val="0"/>
              </a:spcBef>
            </a:pP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Lack 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of support</a:t>
            </a:r>
          </a:p>
          <a:p>
            <a:pPr>
              <a:spcBef>
                <a:spcPts val="0"/>
              </a:spcBef>
            </a:pP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Risk avoidance</a:t>
            </a:r>
          </a:p>
          <a:p>
            <a:pPr>
              <a:spcBef>
                <a:spcPts val="0"/>
              </a:spcBef>
            </a:pPr>
            <a:endParaRPr lang="en-US" sz="1800" dirty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Important thought:</a:t>
            </a:r>
          </a:p>
          <a:p>
            <a:pPr>
              <a:spcBef>
                <a:spcPts val="0"/>
              </a:spcBef>
            </a:pP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Ideas 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are valuable, but execution matters </a:t>
            </a: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more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 </a:t>
            </a:r>
          </a:p>
          <a:p>
            <a:pPr marL="0" indent="0">
              <a:spcBef>
                <a:spcPts val="0"/>
              </a:spcBef>
              <a:buNone/>
            </a:pPr>
            <a:endParaRPr lang="en-US" sz="1800" b="1" dirty="0" smtClean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sz="1800" b="1" dirty="0" smtClean="0">
                <a:latin typeface="Times New Roman" pitchFamily="18" charset="0"/>
                <a:cs typeface="Times New Roman" pitchFamily="18" charset="0"/>
              </a:rPr>
              <a:t>Importance </a:t>
            </a:r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of a Great </a:t>
            </a:r>
            <a:r>
              <a:rPr lang="en-US" sz="1800" b="1" dirty="0" smtClean="0">
                <a:latin typeface="Times New Roman" pitchFamily="18" charset="0"/>
                <a:cs typeface="Times New Roman" pitchFamily="18" charset="0"/>
              </a:rPr>
              <a:t>Idea</a:t>
            </a:r>
            <a:endParaRPr lang="en-US" sz="1800" b="1" dirty="0">
              <a:latin typeface="Times New Roman" pitchFamily="18" charset="0"/>
              <a:cs typeface="Times New Roman" pitchFamily="18" charset="0"/>
            </a:endParaRPr>
          </a:p>
          <a:p>
            <a:pPr>
              <a:spcBef>
                <a:spcPts val="0"/>
              </a:spcBef>
            </a:pP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Every 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successful business starts with an idea</a:t>
            </a:r>
          </a:p>
          <a:p>
            <a:pPr>
              <a:spcBef>
                <a:spcPts val="0"/>
              </a:spcBef>
            </a:pP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Innovation 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drives success</a:t>
            </a:r>
          </a:p>
          <a:p>
            <a:pPr>
              <a:spcBef>
                <a:spcPts val="0"/>
              </a:spcBef>
            </a:pP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A 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simple idea can change the </a:t>
            </a: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world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800" b="1" dirty="0" smtClean="0">
                <a:latin typeface="Times New Roman" pitchFamily="18" charset="0"/>
                <a:cs typeface="Times New Roman" pitchFamily="18" charset="0"/>
              </a:rPr>
              <a:t>Example</a:t>
            </a:r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:</a:t>
            </a:r>
          </a:p>
          <a:p>
            <a:pPr>
              <a:spcBef>
                <a:spcPts val="0"/>
              </a:spcBef>
            </a:pP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Social 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media platforms</a:t>
            </a:r>
          </a:p>
          <a:p>
            <a:pPr>
              <a:spcBef>
                <a:spcPts val="0"/>
              </a:spcBef>
            </a:pP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Online businesses</a:t>
            </a:r>
            <a:endParaRPr lang="en-US" sz="18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0941716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1029" y="761999"/>
            <a:ext cx="7340149" cy="5488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10324888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0" y="457200"/>
            <a:ext cx="6965245" cy="609600"/>
          </a:xfrm>
        </p:spPr>
        <p:txBody>
          <a:bodyPr>
            <a:noAutofit/>
          </a:bodyPr>
          <a:lstStyle/>
          <a:p>
            <a:pPr marL="0" indent="0"/>
            <a:r>
              <a:rPr lang="en-US" sz="24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A great role in becoming an entrepreneur</a:t>
            </a:r>
            <a:endParaRPr lang="en-US" sz="2400" b="1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90600" y="914400"/>
            <a:ext cx="7315200" cy="5181600"/>
          </a:xfrm>
        </p:spPr>
        <p:txBody>
          <a:bodyPr>
            <a:no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en-US" sz="1800" b="1" dirty="0" smtClean="0">
                <a:latin typeface="Times New Roman" pitchFamily="18" charset="0"/>
                <a:cs typeface="Times New Roman" pitchFamily="18" charset="0"/>
              </a:rPr>
              <a:t>Inspiration </a:t>
            </a:r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– Newton Discovering </a:t>
            </a:r>
            <a:r>
              <a:rPr lang="en-US" sz="1800" b="1" dirty="0" smtClean="0">
                <a:latin typeface="Times New Roman" pitchFamily="18" charset="0"/>
                <a:cs typeface="Times New Roman" pitchFamily="18" charset="0"/>
              </a:rPr>
              <a:t>Gravity</a:t>
            </a:r>
            <a:endParaRPr lang="en-US" sz="1800" b="1" dirty="0">
              <a:latin typeface="Times New Roman" pitchFamily="18" charset="0"/>
              <a:cs typeface="Times New Roman" pitchFamily="18" charset="0"/>
            </a:endParaRPr>
          </a:p>
          <a:p>
            <a:pPr>
              <a:spcBef>
                <a:spcPts val="0"/>
              </a:spcBef>
            </a:pP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Isaac 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Newton observed a falling apple</a:t>
            </a:r>
          </a:p>
          <a:p>
            <a:pPr>
              <a:spcBef>
                <a:spcPts val="0"/>
              </a:spcBef>
            </a:pP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Simple 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observation → revolutionary idea</a:t>
            </a:r>
          </a:p>
          <a:p>
            <a:pPr marL="0" indent="0">
              <a:spcBef>
                <a:spcPts val="0"/>
              </a:spcBef>
              <a:buNone/>
            </a:pPr>
            <a:endParaRPr lang="en-US" sz="1800" b="1" dirty="0" smtClean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sz="1800" b="1" dirty="0" smtClean="0">
                <a:latin typeface="Times New Roman" pitchFamily="18" charset="0"/>
                <a:cs typeface="Times New Roman" pitchFamily="18" charset="0"/>
              </a:rPr>
              <a:t>Lesson</a:t>
            </a:r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:</a:t>
            </a:r>
          </a:p>
          <a:p>
            <a:pPr>
              <a:spcBef>
                <a:spcPts val="0"/>
              </a:spcBef>
            </a:pP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Great 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ideas come from curiosity</a:t>
            </a:r>
          </a:p>
          <a:p>
            <a:pPr>
              <a:spcBef>
                <a:spcPts val="0"/>
              </a:spcBef>
            </a:pP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Observe 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everyday </a:t>
            </a: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life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CEOs of Tech </a:t>
            </a:r>
            <a:r>
              <a:rPr lang="en-US" sz="1800" b="1" dirty="0" smtClean="0">
                <a:latin typeface="Times New Roman" pitchFamily="18" charset="0"/>
                <a:cs typeface="Times New Roman" pitchFamily="18" charset="0"/>
              </a:rPr>
              <a:t>Companies</a:t>
            </a:r>
            <a:endParaRPr lang="en-US" sz="1800" dirty="0">
              <a:latin typeface="Times New Roman" pitchFamily="18" charset="0"/>
              <a:cs typeface="Times New Roman" pitchFamily="18" charset="0"/>
            </a:endParaRPr>
          </a:p>
          <a:p>
            <a:pPr>
              <a:spcBef>
                <a:spcPts val="0"/>
              </a:spcBef>
            </a:pP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Visionary 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leaders turned ideas into global businesses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800" b="1" dirty="0" smtClean="0">
                <a:latin typeface="Times New Roman" pitchFamily="18" charset="0"/>
                <a:cs typeface="Times New Roman" pitchFamily="18" charset="0"/>
              </a:rPr>
              <a:t>Key traits</a:t>
            </a:r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:</a:t>
            </a:r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 </a:t>
            </a:r>
          </a:p>
          <a:p>
            <a:pPr>
              <a:spcBef>
                <a:spcPts val="0"/>
              </a:spcBef>
            </a:pP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Innovation</a:t>
            </a:r>
            <a:endParaRPr lang="en-US" sz="1800" dirty="0">
              <a:latin typeface="Times New Roman" pitchFamily="18" charset="0"/>
              <a:cs typeface="Times New Roman" pitchFamily="18" charset="0"/>
            </a:endParaRPr>
          </a:p>
          <a:p>
            <a:pPr>
              <a:spcBef>
                <a:spcPts val="0"/>
              </a:spcBef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Risk-taking</a:t>
            </a:r>
            <a:endParaRPr lang="en-US" sz="1800" dirty="0">
              <a:latin typeface="Times New Roman" pitchFamily="18" charset="0"/>
              <a:cs typeface="Times New Roman" pitchFamily="18" charset="0"/>
            </a:endParaRPr>
          </a:p>
          <a:p>
            <a:pPr>
              <a:spcBef>
                <a:spcPts val="0"/>
              </a:spcBef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Leadership</a:t>
            </a:r>
            <a:endParaRPr lang="en-US" sz="1800" dirty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sz="1800" b="1" dirty="0" smtClean="0">
                <a:latin typeface="Times New Roman" pitchFamily="18" charset="0"/>
                <a:cs typeface="Times New Roman" pitchFamily="18" charset="0"/>
              </a:rPr>
              <a:t>Examples:</a:t>
            </a:r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 </a:t>
            </a:r>
          </a:p>
          <a:p>
            <a:pPr>
              <a:spcBef>
                <a:spcPts val="0"/>
              </a:spcBef>
            </a:pP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Tech 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founders who started small and grew </a:t>
            </a: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big</a:t>
            </a:r>
            <a:endParaRPr lang="en-US" sz="1800" dirty="0">
              <a:latin typeface="Times New Roman" pitchFamily="18" charset="0"/>
              <a:cs typeface="Times New Roman" pitchFamily="18" charset="0"/>
            </a:endParaRPr>
          </a:p>
          <a:p>
            <a:pPr>
              <a:spcBef>
                <a:spcPts val="0"/>
              </a:spcBef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Role of Age in </a:t>
            </a: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Entrepreneurship</a:t>
            </a:r>
            <a:endParaRPr lang="en-US" sz="18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0058495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762000"/>
            <a:ext cx="7410734" cy="54204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10324888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0" y="457200"/>
            <a:ext cx="6965245" cy="609600"/>
          </a:xfrm>
        </p:spPr>
        <p:txBody>
          <a:bodyPr>
            <a:noAutofit/>
          </a:bodyPr>
          <a:lstStyle/>
          <a:p>
            <a:pPr marL="0" indent="0"/>
            <a:r>
              <a:rPr lang="en-US" sz="24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A great role in becoming an entrepreneur</a:t>
            </a:r>
            <a:endParaRPr lang="en-US" sz="2400" b="1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90600" y="914400"/>
            <a:ext cx="7315200" cy="5181600"/>
          </a:xfrm>
        </p:spPr>
        <p:txBody>
          <a:bodyPr>
            <a:no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en-US" sz="1800" b="1" dirty="0" smtClean="0">
                <a:latin typeface="Times New Roman" pitchFamily="18" charset="0"/>
                <a:cs typeface="Times New Roman" pitchFamily="18" charset="0"/>
              </a:rPr>
              <a:t>Responsibilities</a:t>
            </a:r>
            <a:endParaRPr lang="en-US" sz="1800" b="1" dirty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“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The </a:t>
            </a: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Younger 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individuals: </a:t>
            </a:r>
          </a:p>
          <a:p>
            <a:pPr>
              <a:spcBef>
                <a:spcPts val="0"/>
              </a:spcBef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More 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energy and creativity</a:t>
            </a:r>
          </a:p>
          <a:p>
            <a:pPr>
              <a:spcBef>
                <a:spcPts val="0"/>
              </a:spcBef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Willing 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to take risks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800" b="1" dirty="0" smtClean="0">
                <a:latin typeface="Times New Roman" pitchFamily="18" charset="0"/>
                <a:cs typeface="Times New Roman" pitchFamily="18" charset="0"/>
              </a:rPr>
              <a:t>Fewer </a:t>
            </a:r>
            <a:r>
              <a:rPr lang="en-US" sz="1800" b="1" dirty="0" err="1" smtClean="0">
                <a:latin typeface="Times New Roman" pitchFamily="18" charset="0"/>
                <a:cs typeface="Times New Roman" pitchFamily="18" charset="0"/>
              </a:rPr>
              <a:t>unger</a:t>
            </a:r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, the easier</a:t>
            </a:r>
            <a:r>
              <a:rPr lang="en-US" sz="1800" b="1" dirty="0" smtClean="0">
                <a:latin typeface="Times New Roman" pitchFamily="18" charset="0"/>
                <a:cs typeface="Times New Roman" pitchFamily="18" charset="0"/>
              </a:rPr>
              <a:t>”: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 </a:t>
            </a:r>
          </a:p>
          <a:p>
            <a:pPr>
              <a:spcBef>
                <a:spcPts val="0"/>
              </a:spcBef>
            </a:pP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Easier 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to recover from failure</a:t>
            </a:r>
          </a:p>
          <a:p>
            <a:pPr>
              <a:spcBef>
                <a:spcPts val="0"/>
              </a:spcBef>
            </a:pP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More 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time to grow and learn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800" b="1" dirty="0" smtClean="0">
                <a:latin typeface="Times New Roman" pitchFamily="18" charset="0"/>
                <a:cs typeface="Times New Roman" pitchFamily="18" charset="0"/>
              </a:rPr>
              <a:t>Why </a:t>
            </a:r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Many Ideas Fail:</a:t>
            </a:r>
          </a:p>
          <a:p>
            <a:pPr>
              <a:spcBef>
                <a:spcPts val="0"/>
              </a:spcBef>
            </a:pP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Lack 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of funding</a:t>
            </a:r>
          </a:p>
          <a:p>
            <a:pPr>
              <a:spcBef>
                <a:spcPts val="0"/>
              </a:spcBef>
            </a:pP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Poor 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planning</a:t>
            </a:r>
          </a:p>
          <a:p>
            <a:pPr>
              <a:spcBef>
                <a:spcPts val="0"/>
              </a:spcBef>
            </a:pP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No 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market research</a:t>
            </a:r>
          </a:p>
          <a:p>
            <a:pPr>
              <a:spcBef>
                <a:spcPts val="0"/>
              </a:spcBef>
            </a:pP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Fear 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of taking </a:t>
            </a: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action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800" b="1" dirty="0" smtClean="0">
                <a:latin typeface="Times New Roman" pitchFamily="18" charset="0"/>
                <a:cs typeface="Times New Roman" pitchFamily="18" charset="0"/>
              </a:rPr>
              <a:t>Overcoming </a:t>
            </a:r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Funding Challenges:</a:t>
            </a:r>
          </a:p>
          <a:p>
            <a:pPr>
              <a:spcBef>
                <a:spcPts val="0"/>
              </a:spcBef>
            </a:pP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Start 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small (bootstrapping)</a:t>
            </a:r>
          </a:p>
          <a:p>
            <a:pPr>
              <a:spcBef>
                <a:spcPts val="0"/>
              </a:spcBef>
            </a:pP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Seek 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investors</a:t>
            </a:r>
          </a:p>
          <a:p>
            <a:pPr>
              <a:spcBef>
                <a:spcPts val="0"/>
              </a:spcBef>
            </a:pPr>
            <a:r>
              <a:rPr lang="en-US" sz="1800" dirty="0" err="1" smtClean="0">
                <a:latin typeface="Times New Roman" pitchFamily="18" charset="0"/>
                <a:cs typeface="Times New Roman" pitchFamily="18" charset="0"/>
              </a:rPr>
              <a:t>Crowdfunding</a:t>
            </a:r>
            <a:endParaRPr lang="en-US" sz="1800" dirty="0">
              <a:latin typeface="Times New Roman" pitchFamily="18" charset="0"/>
              <a:cs typeface="Times New Roman" pitchFamily="18" charset="0"/>
            </a:endParaRPr>
          </a:p>
          <a:p>
            <a:pPr>
              <a:spcBef>
                <a:spcPts val="0"/>
              </a:spcBef>
            </a:pP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Partnerships</a:t>
            </a:r>
            <a:endParaRPr lang="en-US" sz="1800" dirty="0">
              <a:latin typeface="Times New Roman" pitchFamily="18" charset="0"/>
              <a:cs typeface="Times New Roman" pitchFamily="18" charset="0"/>
            </a:endParaRPr>
          </a:p>
          <a:p>
            <a:pPr>
              <a:spcBef>
                <a:spcPts val="0"/>
              </a:spcBef>
            </a:pP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Freelancing 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to fund your idea</a:t>
            </a:r>
          </a:p>
          <a:p>
            <a:pPr>
              <a:spcBef>
                <a:spcPts val="0"/>
              </a:spcBef>
            </a:pPr>
            <a:endParaRPr lang="en-US" sz="18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5624108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9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" y="838200"/>
            <a:ext cx="7258334" cy="51192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10324888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0" y="457200"/>
            <a:ext cx="6965245" cy="609600"/>
          </a:xfrm>
        </p:spPr>
        <p:txBody>
          <a:bodyPr>
            <a:noAutofit/>
          </a:bodyPr>
          <a:lstStyle/>
          <a:p>
            <a:pPr marL="0" indent="0"/>
            <a:r>
              <a:rPr lang="en-US" sz="24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A great role in becoming an entrepreneur</a:t>
            </a:r>
            <a:endParaRPr lang="en-US" sz="2400" b="1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90600" y="914400"/>
            <a:ext cx="7315200" cy="5181600"/>
          </a:xfrm>
        </p:spPr>
        <p:txBody>
          <a:bodyPr>
            <a:no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en-US" sz="1800" b="1" dirty="0" smtClean="0">
                <a:latin typeface="Times New Roman" pitchFamily="18" charset="0"/>
                <a:cs typeface="Times New Roman" pitchFamily="18" charset="0"/>
              </a:rPr>
              <a:t>Which </a:t>
            </a:r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Path to Choose</a:t>
            </a:r>
            <a:r>
              <a:rPr lang="en-US" sz="1800" b="1" dirty="0" smtClean="0">
                <a:latin typeface="Times New Roman" pitchFamily="18" charset="0"/>
                <a:cs typeface="Times New Roman" pitchFamily="18" charset="0"/>
              </a:rPr>
              <a:t>?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800" b="1" dirty="0" smtClean="0">
                <a:latin typeface="Times New Roman" pitchFamily="18" charset="0"/>
                <a:cs typeface="Times New Roman" pitchFamily="18" charset="0"/>
              </a:rPr>
              <a:t>Depends </a:t>
            </a:r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on:</a:t>
            </a:r>
          </a:p>
          <a:p>
            <a:pPr>
              <a:spcBef>
                <a:spcPts val="0"/>
              </a:spcBef>
            </a:pP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Personality</a:t>
            </a:r>
            <a:endParaRPr lang="en-US" sz="1800" dirty="0">
              <a:latin typeface="Times New Roman" pitchFamily="18" charset="0"/>
              <a:cs typeface="Times New Roman" pitchFamily="18" charset="0"/>
            </a:endParaRPr>
          </a:p>
          <a:p>
            <a:pPr>
              <a:spcBef>
                <a:spcPts val="0"/>
              </a:spcBef>
            </a:pP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Risk 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tolerance</a:t>
            </a:r>
          </a:p>
          <a:p>
            <a:pPr>
              <a:spcBef>
                <a:spcPts val="0"/>
              </a:spcBef>
            </a:pP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Goals</a:t>
            </a:r>
            <a:endParaRPr lang="en-US" sz="1800" dirty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sz="1800" b="1" dirty="0" smtClean="0">
                <a:latin typeface="Times New Roman" pitchFamily="18" charset="0"/>
                <a:cs typeface="Times New Roman" pitchFamily="18" charset="0"/>
              </a:rPr>
              <a:t>Many people:</a:t>
            </a:r>
            <a:endParaRPr lang="en-US" sz="1800" b="1" dirty="0">
              <a:latin typeface="Times New Roman" pitchFamily="18" charset="0"/>
              <a:cs typeface="Times New Roman" pitchFamily="18" charset="0"/>
            </a:endParaRPr>
          </a:p>
          <a:p>
            <a:pPr>
              <a:spcBef>
                <a:spcPts val="0"/>
              </a:spcBef>
            </a:pP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Start 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with a job</a:t>
            </a:r>
          </a:p>
          <a:p>
            <a:pPr>
              <a:spcBef>
                <a:spcPts val="0"/>
              </a:spcBef>
            </a:pP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Later 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move to entrepreneurship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 </a:t>
            </a:r>
            <a:r>
              <a:rPr lang="en-US" sz="1800" b="1" dirty="0" smtClean="0">
                <a:latin typeface="Times New Roman" pitchFamily="18" charset="0"/>
                <a:cs typeface="Times New Roman" pitchFamily="18" charset="0"/>
              </a:rPr>
              <a:t>Key </a:t>
            </a:r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Takeaways:</a:t>
            </a:r>
          </a:p>
          <a:p>
            <a:pPr>
              <a:spcBef>
                <a:spcPts val="0"/>
              </a:spcBef>
            </a:pP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Both 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paths are valuable</a:t>
            </a:r>
          </a:p>
          <a:p>
            <a:pPr>
              <a:spcBef>
                <a:spcPts val="0"/>
              </a:spcBef>
            </a:pP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Ideas 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are powerful but need execution</a:t>
            </a:r>
          </a:p>
          <a:p>
            <a:pPr>
              <a:spcBef>
                <a:spcPts val="0"/>
              </a:spcBef>
            </a:pP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Age 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plays an important role</a:t>
            </a:r>
          </a:p>
          <a:p>
            <a:pPr>
              <a:spcBef>
                <a:spcPts val="0"/>
              </a:spcBef>
            </a:pP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Risk 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is necessary for innovation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800" b="1" dirty="0" smtClean="0">
                <a:latin typeface="Times New Roman" pitchFamily="18" charset="0"/>
                <a:cs typeface="Times New Roman" pitchFamily="18" charset="0"/>
              </a:rPr>
              <a:t>Conclusion</a:t>
            </a:r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:</a:t>
            </a:r>
          </a:p>
          <a:p>
            <a:pPr>
              <a:spcBef>
                <a:spcPts val="0"/>
              </a:spcBef>
            </a:pP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Success 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depends on action, not just ideas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800" b="1" dirty="0" smtClean="0">
                <a:latin typeface="Times New Roman" pitchFamily="18" charset="0"/>
                <a:cs typeface="Times New Roman" pitchFamily="18" charset="0"/>
              </a:rPr>
              <a:t>Whether corporate or entrepreneur:</a:t>
            </a:r>
          </a:p>
          <a:p>
            <a:pPr>
              <a:spcBef>
                <a:spcPts val="0"/>
              </a:spcBef>
            </a:pP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Stay innovative</a:t>
            </a:r>
          </a:p>
          <a:p>
            <a:pPr>
              <a:spcBef>
                <a:spcPts val="0"/>
              </a:spcBef>
            </a:pP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Keep 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learning</a:t>
            </a:r>
          </a:p>
          <a:p>
            <a:pPr>
              <a:spcBef>
                <a:spcPts val="0"/>
              </a:spcBef>
            </a:pP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Take 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calculated </a:t>
            </a: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risks</a:t>
            </a:r>
            <a:endParaRPr lang="en-US" sz="18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4634021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Videos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  <a:hlinkClick r:id="rId2"/>
              </a:rPr>
              <a:t>https://youtu.be/vI8QTe7_8X8?si=_</a:t>
            </a:r>
            <a:r>
              <a:rPr lang="en-US" b="1" dirty="0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  <a:hlinkClick r:id="rId2"/>
              </a:rPr>
              <a:t>cYagIinvJBMX6AQ</a:t>
            </a:r>
            <a:endParaRPr lang="en-US" b="1" dirty="0" smtClean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r>
              <a:rPr lang="en-US" dirty="0"/>
              <a:t>https://youtu.be/Y8z3OM8iwSU</a:t>
            </a:r>
          </a:p>
        </p:txBody>
      </p:sp>
    </p:spTree>
    <p:extLst>
      <p:ext uri="{BB962C8B-B14F-4D97-AF65-F5344CB8AC3E}">
        <p14:creationId xmlns:p14="http://schemas.microsoft.com/office/powerpoint/2010/main" val="84473932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" y="838200"/>
            <a:ext cx="7045105" cy="5105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88474090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" y="762000"/>
            <a:ext cx="7136190" cy="5105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73165133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Pushpin">
  <a:themeElements>
    <a:clrScheme name="Pushpin">
      <a:dk1>
        <a:sysClr val="windowText" lastClr="000000"/>
      </a:dk1>
      <a:lt1>
        <a:sysClr val="window" lastClr="FFFFFF"/>
      </a:lt1>
      <a:dk2>
        <a:srgbClr val="465E9C"/>
      </a:dk2>
      <a:lt2>
        <a:srgbClr val="CCDDEA"/>
      </a:lt2>
      <a:accent1>
        <a:srgbClr val="FDA023"/>
      </a:accent1>
      <a:accent2>
        <a:srgbClr val="AA2B1E"/>
      </a:accent2>
      <a:accent3>
        <a:srgbClr val="71685C"/>
      </a:accent3>
      <a:accent4>
        <a:srgbClr val="64A73B"/>
      </a:accent4>
      <a:accent5>
        <a:srgbClr val="EB5605"/>
      </a:accent5>
      <a:accent6>
        <a:srgbClr val="B9CA1A"/>
      </a:accent6>
      <a:hlink>
        <a:srgbClr val="D83E2C"/>
      </a:hlink>
      <a:folHlink>
        <a:srgbClr val="ED7D27"/>
      </a:folHlink>
    </a:clrScheme>
    <a:fontScheme name="Pushpin">
      <a:majorFont>
        <a:latin typeface="Constantia"/>
        <a:ea typeface=""/>
        <a:cs typeface=""/>
        <a:font script="Jpan" typeface="HGS明朝E"/>
        <a:font script="Hang" typeface="HY신명조"/>
        <a:font script="Hans" typeface="宋体"/>
        <a:font script="Hant" typeface="新細明體"/>
        <a:font script="Arab" typeface="Majalla UI"/>
        <a:font script="Hebr" typeface="David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Franklin Gothic Book"/>
        <a:ea typeface=""/>
        <a:cs typeface=""/>
        <a:font script="Grek" typeface="Arial"/>
        <a:font script="Cyrl" typeface="Arial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ushpin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180000"/>
                <a:lumMod val="100000"/>
              </a:schemeClr>
            </a:gs>
            <a:gs pos="40000">
              <a:schemeClr val="phClr">
                <a:tint val="60000"/>
                <a:satMod val="130000"/>
                <a:lumMod val="100000"/>
              </a:schemeClr>
            </a:gs>
            <a:gs pos="100000">
              <a:schemeClr val="phClr">
                <a:tint val="96000"/>
                <a:lumMod val="108000"/>
              </a:schemeClr>
            </a:gs>
          </a:gsLst>
          <a:lin ang="5400000" scaled="0"/>
        </a:gradFill>
        <a:gradFill rotWithShape="1">
          <a:gsLst>
            <a:gs pos="0">
              <a:schemeClr val="phClr"/>
            </a:gs>
            <a:gs pos="100000">
              <a:schemeClr val="phClr">
                <a:shade val="76000"/>
                <a:lumMod val="9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>
              <a:shade val="80000"/>
              <a:lumMod val="9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38100" dir="4800000" sx="98000" sy="98000" rotWithShape="0">
              <a:srgbClr val="000000">
                <a:alpha val="32000"/>
              </a:srgbClr>
            </a:outerShdw>
          </a:effectLst>
        </a:effectStyle>
        <a:effectStyle>
          <a:effectLst>
            <a:outerShdw blurRad="38100" dist="38100" dir="4800000" sx="96000" sy="96000" rotWithShape="0">
              <a:srgbClr val="000000">
                <a:alpha val="4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3240000"/>
            </a:lightRig>
          </a:scene3d>
          <a:sp3d>
            <a:bevelT w="28575" h="28575"/>
          </a:sp3d>
        </a:effectStyle>
      </a:effectStyleLst>
      <a:bgFillStyleLst>
        <a:solidFill>
          <a:schemeClr val="phClr">
            <a:tint val="93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shade val="80000"/>
                <a:satMod val="140000"/>
                <a:lumMod val="50000"/>
              </a:schemeClr>
              <a:schemeClr val="phClr">
                <a:tint val="95000"/>
                <a:satMod val="180000"/>
                <a:lumMod val="160000"/>
              </a:schemeClr>
            </a:duotone>
          </a:blip>
          <a:stretch/>
        </a:blipFill>
        <a:blipFill rotWithShape="1">
          <a:blip xmlns:r="http://schemas.openxmlformats.org/officeDocument/2006/relationships" r:embed="rId2">
            <a:duotone>
              <a:schemeClr val="phClr">
                <a:tint val="98000"/>
                <a:shade val="90000"/>
                <a:satMod val="120000"/>
                <a:lumMod val="54000"/>
              </a:schemeClr>
              <a:schemeClr val="phClr">
                <a:tint val="80000"/>
                <a:satMod val="160000"/>
                <a:lumMod val="140000"/>
              </a:schemeClr>
            </a:duotone>
          </a:blip>
          <a:stretch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Pushpin</Template>
  <TotalTime>4720</TotalTime>
  <Words>434</Words>
  <Application>Microsoft Office PowerPoint</Application>
  <PresentationFormat>On-screen Show (4:3)</PresentationFormat>
  <Paragraphs>178</Paragraphs>
  <Slides>26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7" baseType="lpstr">
      <vt:lpstr>Pushpin</vt:lpstr>
      <vt:lpstr>PowerPoint Presentation</vt:lpstr>
      <vt:lpstr>PowerPoint Presentation</vt:lpstr>
      <vt:lpstr>Chap 10 : Entrepreneurship</vt:lpstr>
      <vt:lpstr>PowerPoint Presentation</vt:lpstr>
      <vt:lpstr>A great role in becoming an entrepreneur</vt:lpstr>
      <vt:lpstr>PowerPoint Presentation</vt:lpstr>
      <vt:lpstr>A great role in becoming an entrepreneur</vt:lpstr>
      <vt:lpstr>PowerPoint Presentation</vt:lpstr>
      <vt:lpstr>A great role in becoming an entrepreneur</vt:lpstr>
      <vt:lpstr>PowerPoint Presentation</vt:lpstr>
      <vt:lpstr>A great role in becoming an entrepreneur</vt:lpstr>
      <vt:lpstr>PowerPoint Presentation</vt:lpstr>
      <vt:lpstr>A great role in becoming an entrepreneur</vt:lpstr>
      <vt:lpstr>PowerPoint Presentation</vt:lpstr>
      <vt:lpstr>A great role in becoming an entrepreneur</vt:lpstr>
      <vt:lpstr>PowerPoint Presentation</vt:lpstr>
      <vt:lpstr>A great role in becoming an entrepreneur</vt:lpstr>
      <vt:lpstr>PowerPoint Presentation</vt:lpstr>
      <vt:lpstr>A great role in becoming an entrepreneur</vt:lpstr>
      <vt:lpstr>PowerPoint Presentation</vt:lpstr>
      <vt:lpstr>A great role in becoming an entrepreneur</vt:lpstr>
      <vt:lpstr>PowerPoint Presentation</vt:lpstr>
      <vt:lpstr>A great role in becoming an entrepreneur</vt:lpstr>
      <vt:lpstr>Videos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dell</dc:creator>
  <cp:lastModifiedBy>dell</cp:lastModifiedBy>
  <cp:revision>80</cp:revision>
  <dcterms:created xsi:type="dcterms:W3CDTF">2023-10-01T18:45:03Z</dcterms:created>
  <dcterms:modified xsi:type="dcterms:W3CDTF">2026-04-25T13:49:48Z</dcterms:modified>
</cp:coreProperties>
</file>