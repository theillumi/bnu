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65" r:id="rId3"/>
    <p:sldId id="259" r:id="rId4"/>
    <p:sldId id="317" r:id="rId5"/>
    <p:sldId id="341" r:id="rId6"/>
    <p:sldId id="331" r:id="rId7"/>
    <p:sldId id="342" r:id="rId8"/>
    <p:sldId id="332" r:id="rId9"/>
    <p:sldId id="343" r:id="rId10"/>
    <p:sldId id="333" r:id="rId11"/>
    <p:sldId id="344" r:id="rId12"/>
    <p:sldId id="334" r:id="rId13"/>
    <p:sldId id="345" r:id="rId14"/>
    <p:sldId id="335" r:id="rId15"/>
    <p:sldId id="346" r:id="rId16"/>
    <p:sldId id="336" r:id="rId17"/>
    <p:sldId id="347" r:id="rId18"/>
    <p:sldId id="337" r:id="rId19"/>
    <p:sldId id="350" r:id="rId20"/>
    <p:sldId id="338" r:id="rId21"/>
    <p:sldId id="352" r:id="rId22"/>
    <p:sldId id="339" r:id="rId23"/>
    <p:sldId id="351" r:id="rId24"/>
    <p:sldId id="340" r:id="rId25"/>
    <p:sldId id="262" r:id="rId26"/>
    <p:sldId id="263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1386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891821" y="5617774"/>
            <a:ext cx="7382935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89952" y="1016990"/>
            <a:ext cx="7179733" cy="4831643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90600" y="1009650"/>
            <a:ext cx="7179733" cy="4831643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769521" y="702069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7855433" y="749720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7201" y="1794935"/>
            <a:ext cx="5723468" cy="182809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27200" y="3736622"/>
            <a:ext cx="5712179" cy="1524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70676" y="5357592"/>
            <a:ext cx="1213821" cy="365125"/>
          </a:xfrm>
        </p:spPr>
        <p:txBody>
          <a:bodyPr/>
          <a:lstStyle/>
          <a:p>
            <a:fld id="{72D92F55-3793-4648-AF7A-D9CEEE88ECC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74044" y="5357592"/>
            <a:ext cx="503484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13930" y="5357592"/>
            <a:ext cx="554023" cy="365125"/>
          </a:xfrm>
        </p:spPr>
        <p:txBody>
          <a:bodyPr/>
          <a:lstStyle>
            <a:lvl1pPr algn="ctr">
              <a:defRPr/>
            </a:lvl1pPr>
          </a:lstStyle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979" y="2239430"/>
            <a:ext cx="6254044" cy="1362075"/>
          </a:xfrm>
        </p:spPr>
        <p:txBody>
          <a:bodyPr anchor="b"/>
          <a:lstStyle>
            <a:lvl1pPr algn="ctr">
              <a:defRPr sz="4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6267" y="3725334"/>
            <a:ext cx="6231467" cy="1309511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298448" y="2121407"/>
            <a:ext cx="3200400" cy="360273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63440" y="2119313"/>
            <a:ext cx="3200400" cy="36052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7869" y="2122312"/>
            <a:ext cx="2939521" cy="820208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669" y="2122311"/>
            <a:ext cx="2944368" cy="822960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1298448" y="2944368"/>
            <a:ext cx="3227832" cy="27797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45151" y="2944813"/>
            <a:ext cx="3227832" cy="27797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Freeform 1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 rot="60000">
            <a:off x="4471416" y="603504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 rot="21540000">
            <a:off x="749808" y="576072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9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8976" y="2020042"/>
            <a:ext cx="3064827" cy="1503037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rot="60000">
            <a:off x="4854291" y="1150993"/>
            <a:ext cx="3020792" cy="4625489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48125" y="3623748"/>
            <a:ext cx="3048891" cy="2100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1698" y="5885672"/>
            <a:ext cx="1213821" cy="365125"/>
          </a:xfrm>
        </p:spPr>
        <p:txBody>
          <a:bodyPr/>
          <a:lstStyle/>
          <a:p>
            <a:fld id="{72D92F55-3793-4648-AF7A-D9CEEE88ECC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54" y="5829261"/>
            <a:ext cx="352260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57313" y="5896961"/>
            <a:ext cx="554023" cy="365125"/>
          </a:xfrm>
        </p:spPr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Freeform 3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5058" y="575769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 rot="60000">
            <a:off x="4464768" y="603920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5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6424" y="2020824"/>
            <a:ext cx="3063240" cy="1499616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60000">
            <a:off x="4898615" y="1207272"/>
            <a:ext cx="2913863" cy="4539412"/>
          </a:xfrm>
          <a:ln w="101600" cap="rnd">
            <a:solidFill>
              <a:srgbClr val="FFFFFF"/>
            </a:solidFill>
          </a:ln>
          <a:effectLst>
            <a:outerShdw blurRad="889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52144" y="3621024"/>
            <a:ext cx="3044952" cy="210312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5936" y="5888737"/>
            <a:ext cx="1213821" cy="365125"/>
          </a:xfrm>
        </p:spPr>
        <p:txBody>
          <a:bodyPr/>
          <a:lstStyle/>
          <a:p>
            <a:fld id="{72D92F55-3793-4648-AF7A-D9CEEE88ECC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69" y="5831037"/>
            <a:ext cx="331904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62089" y="5900026"/>
            <a:ext cx="554023" cy="365125"/>
          </a:xfrm>
        </p:spPr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925690"/>
            <a:ext cx="1430867" cy="476391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8221" y="1106312"/>
            <a:ext cx="5178779" cy="440266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628650" y="6069330"/>
            <a:ext cx="792099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31520" y="575310"/>
            <a:ext cx="7696200" cy="5715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31520" y="576072"/>
            <a:ext cx="7696200" cy="5715000"/>
          </a:xfrm>
          <a:prstGeom prst="rect">
            <a:avLst/>
          </a:prstGeom>
          <a:blipFill dpi="0" rotWithShape="1">
            <a:blip r:embed="rId13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1435684">
            <a:off x="543741" y="273091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4096196">
            <a:off x="8115079" y="298163"/>
            <a:ext cx="566928" cy="566928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5023" y="817582"/>
            <a:ext cx="6965245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40" y="2119257"/>
            <a:ext cx="6196405" cy="36038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54588" y="5809152"/>
            <a:ext cx="12138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72D92F55-3793-4648-AF7A-D9CEEE88ECC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4401" y="5809152"/>
            <a:ext cx="5540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0202" y="5809152"/>
            <a:ext cx="5540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youtu.be/Vz3KVBu6lxM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3040" y="2119257"/>
            <a:ext cx="6766560" cy="3603812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Professional </a:t>
            </a:r>
            <a:r>
              <a:rPr lang="en-US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Practices (HUM-305)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endParaRPr lang="en-US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SPRING SEMESTER 2026</a:t>
            </a:r>
          </a:p>
          <a:p>
            <a:pPr marL="0" indent="0" algn="ctr"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By</a:t>
            </a:r>
          </a:p>
          <a:p>
            <a:pPr marL="0" indent="0" algn="ctr">
              <a:buNone/>
            </a:pP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Prof  </a:t>
            </a:r>
            <a:r>
              <a:rPr lang="en-US" sz="2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Engr</a:t>
            </a: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Muhammad </a:t>
            </a:r>
            <a:r>
              <a:rPr lang="en-US" sz="2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Raheel</a:t>
            </a: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Iqbal</a:t>
            </a: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Butt</a:t>
            </a:r>
          </a:p>
          <a:p>
            <a:pPr marL="0" indent="0" algn="ctr">
              <a:buNone/>
            </a:pP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Resource Person </a:t>
            </a:r>
          </a:p>
          <a:p>
            <a:pPr marL="0" indent="0" algn="ctr"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Contact: +92 321 7433568</a:t>
            </a:r>
          </a:p>
          <a:p>
            <a:pPr marL="0" indent="0" algn="ctr">
              <a:buNone/>
            </a:pPr>
            <a:endParaRPr lang="en-US" sz="2200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22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School of Computer &amp; Information Technology</a:t>
            </a:r>
            <a:endParaRPr lang="en-US" sz="22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3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Beaconhouse</a:t>
            </a:r>
            <a:r>
              <a:rPr lang="en-US" sz="3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National University, Lahore</a:t>
            </a:r>
            <a:endParaRPr lang="en-US" sz="3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sz="36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899614"/>
            <a:ext cx="1627496" cy="1964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50765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762000"/>
            <a:ext cx="7438030" cy="5434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93612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817583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Chap </a:t>
            </a:r>
            <a:r>
              <a:rPr lang="en-US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3: </a:t>
            </a:r>
            <a:r>
              <a:rPr lang="en-US" sz="2400" b="1" dirty="0">
                <a:solidFill>
                  <a:srgbClr val="C00000"/>
                </a:solidFill>
              </a:rPr>
              <a:t>FREEDOM OF </a:t>
            </a:r>
            <a:r>
              <a:rPr lang="en-US" sz="2400" b="1" dirty="0" smtClean="0">
                <a:solidFill>
                  <a:srgbClr val="C00000"/>
                </a:solidFill>
              </a:rPr>
              <a:t>SPEECH</a:t>
            </a: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828800"/>
            <a:ext cx="7010400" cy="4191000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Communications Paradigms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Regulating Communications Media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Free Speech Principles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Controlling Speech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Offensive Speech: What Is It? What Is Illegal? Censorship Laws and Alternatives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Child Pornography and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Sexting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Spam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Challenging Old Regulatory Structures and Special Interests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Posting, Selling, and Leaking Sensitive Material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Anonymity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5460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817583"/>
            <a:ext cx="6965245" cy="858818"/>
          </a:xfrm>
        </p:spPr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Video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3040" y="1676400"/>
            <a:ext cx="6196405" cy="4046669"/>
          </a:xfrm>
        </p:spPr>
        <p:txBody>
          <a:bodyPr/>
          <a:lstStyle/>
          <a:p>
            <a:r>
              <a:rPr lang="en-US" dirty="0">
                <a:hlinkClick r:id="rId2" tooltip="Share link"/>
              </a:rPr>
              <a:t>https://youtu.be/Vz3KVBu6lxM</a:t>
            </a:r>
            <a:endParaRPr 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209800"/>
            <a:ext cx="7467600" cy="396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83450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399" y="1000124"/>
            <a:ext cx="7305757" cy="51550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028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Communications </a:t>
            </a:r>
            <a:r>
              <a:rPr lang="en-US" sz="2400" b="1" dirty="0">
                <a:solidFill>
                  <a:srgbClr val="C00000"/>
                </a:solidFill>
              </a:rPr>
              <a:t>Paradigms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Communications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Paradigms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communications paradigm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refers to the model or structure through which information is created, transmitted, and received.</a:t>
            </a:r>
          </a:p>
          <a:p>
            <a:pPr marL="0" indent="0" algn="just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In CS &amp; IT:</a:t>
            </a:r>
          </a:p>
          <a:p>
            <a:pPr algn="just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One-to-Many Model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 Traditional media websites (e.g., news portals).</a:t>
            </a:r>
          </a:p>
          <a:p>
            <a:pPr algn="just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Many-to-Many Model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 Social media platforms, discussion forums,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GitHub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collaboration.</a:t>
            </a:r>
          </a:p>
          <a:p>
            <a:pPr algn="just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Client-Server Model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 Web applications where users request services from servers.</a:t>
            </a:r>
          </a:p>
          <a:p>
            <a:pPr algn="just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Peer-to-Peer (P2P)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 File-sharing networks like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BitTorrent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 cloud-based messaging app like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WhatsApp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uses a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client-server paradigm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, while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blockchain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networks use a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decentralized paradigm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31728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810" y="838200"/>
            <a:ext cx="7374828" cy="5330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60582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Regulating </a:t>
            </a:r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Communications Media</a:t>
            </a: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Regulating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Communications Media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Governments regulate digital communication to prevent misuse such as cybercrime, misinformation, or hate speech.</a:t>
            </a:r>
          </a:p>
          <a:p>
            <a:pPr marL="0" indent="0">
              <a:buNone/>
            </a:pPr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IT Context: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Internet governance laws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Data protection regulations (e.g., GDPR-like laws)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Telecom regulations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Platform moderation policies</a:t>
            </a:r>
          </a:p>
          <a:p>
            <a:pPr marL="0" indent="0">
              <a:buNone/>
            </a:pPr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Example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 government may require social media platforms to remove extremist content within 24 hours.</a:t>
            </a:r>
          </a:p>
        </p:txBody>
      </p:sp>
    </p:spTree>
    <p:extLst>
      <p:ext uri="{BB962C8B-B14F-4D97-AF65-F5344CB8AC3E}">
        <p14:creationId xmlns:p14="http://schemas.microsoft.com/office/powerpoint/2010/main" val="1488091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85800"/>
            <a:ext cx="7541525" cy="5455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61540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Free </a:t>
            </a:r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Speech Principles</a:t>
            </a: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Free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Speech Principles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Free speech allows individuals to express opinions without government interference, but it is not absolute.</a:t>
            </a:r>
          </a:p>
          <a:p>
            <a:pPr marL="0" indent="0">
              <a:buNone/>
            </a:pPr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CS &amp; IT: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Social media posts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Blogging platforms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Online forums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YouTube content creation</a:t>
            </a:r>
          </a:p>
          <a:p>
            <a:pPr marL="0" indent="0">
              <a:buNone/>
            </a:pPr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Example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 developer criticizing a software company on a tech blog is exercising free speech.</a:t>
            </a:r>
          </a:p>
        </p:txBody>
      </p:sp>
    </p:spTree>
    <p:extLst>
      <p:ext uri="{BB962C8B-B14F-4D97-AF65-F5344CB8AC3E}">
        <p14:creationId xmlns:p14="http://schemas.microsoft.com/office/powerpoint/2010/main" val="40722122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185" y="762000"/>
            <a:ext cx="7223006" cy="517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263055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Controlling </a:t>
            </a:r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Speech</a:t>
            </a: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Controlling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Speech</a:t>
            </a:r>
          </a:p>
          <a:p>
            <a:pPr algn="just"/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Speech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may be controlled when it: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Incites violence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Promotes terrorism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Spreads harmful misinformation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Violates privacy</a:t>
            </a:r>
          </a:p>
          <a:p>
            <a:pPr marL="0" indent="0" algn="just">
              <a:buNone/>
            </a:pPr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 platform using AI algorithms to remove hate speech or fake news.</a:t>
            </a:r>
          </a:p>
        </p:txBody>
      </p:sp>
    </p:spTree>
    <p:extLst>
      <p:ext uri="{BB962C8B-B14F-4D97-AF65-F5344CB8AC3E}">
        <p14:creationId xmlns:p14="http://schemas.microsoft.com/office/powerpoint/2010/main" val="16821769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762000"/>
            <a:ext cx="7325563" cy="52976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115371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1800" b="1" dirty="0" smtClean="0">
                <a:solidFill>
                  <a:srgbClr val="C00000"/>
                </a:solidFill>
              </a:rPr>
              <a:t>Offensive </a:t>
            </a:r>
            <a:r>
              <a:rPr lang="en-US" sz="1800" b="1" dirty="0">
                <a:solidFill>
                  <a:srgbClr val="C00000"/>
                </a:solidFill>
              </a:rPr>
              <a:t>Speech: What Is It? What Is Illegal? Censorship Laws and Alternatives</a:t>
            </a:r>
            <a:endParaRPr lang="en-US" sz="18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Offensive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Speech: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Speech that is insulting, abusive, or disturbing but not necessarily illegal.</a:t>
            </a:r>
          </a:p>
          <a:p>
            <a:pPr marL="0" indent="0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Illegal Speech: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Hate speech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Threats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Defamation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Incitement to violence</a:t>
            </a:r>
          </a:p>
          <a:p>
            <a:pPr marL="0" indent="0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IT Example: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Posting abusive comments on social media.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Spreading false allegations about a company (defamation).</a:t>
            </a:r>
          </a:p>
          <a:p>
            <a:pPr marL="0" indent="0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Alternatives to Censorship: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Content moderation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Community guidelines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User reporting systems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Warning labels</a:t>
            </a:r>
          </a:p>
        </p:txBody>
      </p:sp>
    </p:spTree>
    <p:extLst>
      <p:ext uri="{BB962C8B-B14F-4D97-AF65-F5344CB8AC3E}">
        <p14:creationId xmlns:p14="http://schemas.microsoft.com/office/powerpoint/2010/main" val="31572518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914400"/>
            <a:ext cx="7369834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377879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Child </a:t>
            </a:r>
            <a:r>
              <a:rPr lang="en-US" sz="2400" b="1" dirty="0">
                <a:solidFill>
                  <a:srgbClr val="C00000"/>
                </a:solidFill>
              </a:rPr>
              <a:t>Pornography and Sexting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Child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Pornography and Sexting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This is strictly illegal in most countries.</a:t>
            </a:r>
          </a:p>
          <a:p>
            <a:pPr marL="0" indent="0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In IT Context: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Sharing explicit images of minors via messaging apps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Cloud storage misuse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Dark web distribution</a:t>
            </a:r>
          </a:p>
          <a:p>
            <a:pPr marL="0" indent="0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CS Role: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AI detection tools to detect illegal content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Reporting mechanisms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Encryption challenges</a:t>
            </a:r>
          </a:p>
          <a:p>
            <a:pPr marL="0" indent="0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Social media platforms using machine learning to detect and remove illegal images.</a:t>
            </a:r>
          </a:p>
        </p:txBody>
      </p:sp>
    </p:spTree>
    <p:extLst>
      <p:ext uri="{BB962C8B-B14F-4D97-AF65-F5344CB8AC3E}">
        <p14:creationId xmlns:p14="http://schemas.microsoft.com/office/powerpoint/2010/main" val="29953493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886323"/>
            <a:ext cx="6934200" cy="51933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38096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Spam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Spam</a:t>
            </a: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Spam refers to unwanted or unsolicited digital messages.</a:t>
            </a:r>
          </a:p>
          <a:p>
            <a:pPr marL="0" indent="0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In IT: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Email spam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SMS spam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Bot-generated comments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Phishing emails</a:t>
            </a:r>
          </a:p>
          <a:p>
            <a:pPr marL="0" indent="0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Receiving fake job offers asking for personal data.</a:t>
            </a:r>
          </a:p>
          <a:p>
            <a:pPr marL="0" indent="0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IT Solution: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Spam filters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Machine learning classifiers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CAPTCHA systems</a:t>
            </a:r>
          </a:p>
        </p:txBody>
      </p:sp>
    </p:spTree>
    <p:extLst>
      <p:ext uri="{BB962C8B-B14F-4D97-AF65-F5344CB8AC3E}">
        <p14:creationId xmlns:p14="http://schemas.microsoft.com/office/powerpoint/2010/main" val="22257630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761999"/>
            <a:ext cx="7409098" cy="5338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534879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Challenging Old Regulatory Structures and Special Interests</a:t>
            </a:r>
            <a:endParaRPr lang="en-US" sz="20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Challenging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Old Regulatory Structures and Special Interests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Digital technology challenges traditional laws.</a:t>
            </a:r>
          </a:p>
          <a:p>
            <a:pPr marL="0" indent="0">
              <a:buNone/>
            </a:pPr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Example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Ride-sharing apps challenging taxi regulations.</a:t>
            </a:r>
          </a:p>
          <a:p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Cryptocurrency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challenging banking systems.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Online streaming challenging broadcast regulations.</a:t>
            </a:r>
          </a:p>
          <a:p>
            <a:pPr marL="0" indent="0">
              <a:buNone/>
            </a:pPr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Impact: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Governments struggle to update outdated laws for digital platforms.</a:t>
            </a:r>
          </a:p>
        </p:txBody>
      </p:sp>
    </p:spTree>
    <p:extLst>
      <p:ext uri="{BB962C8B-B14F-4D97-AF65-F5344CB8AC3E}">
        <p14:creationId xmlns:p14="http://schemas.microsoft.com/office/powerpoint/2010/main" val="8877563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838200"/>
            <a:ext cx="7394310" cy="5275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25814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Posting</a:t>
            </a:r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, Selling, and Leaking Sensitive Material</a:t>
            </a: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Posting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, Selling, and Leaking Sensitive Material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Sensitive material includes: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Personal data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Company trade secrets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Government classified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data</a:t>
            </a:r>
          </a:p>
          <a:p>
            <a:pPr marL="0" indent="0">
              <a:buNone/>
            </a:pP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Examples: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Data breaches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Hackers leaking databases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Insider selling customer data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Whistleblowers publishing confidential documents</a:t>
            </a:r>
          </a:p>
          <a:p>
            <a:pPr marL="0" indent="0">
              <a:buNone/>
            </a:pPr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Ethical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Issue: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Balance between public interest and privacy/security.</a:t>
            </a:r>
          </a:p>
        </p:txBody>
      </p:sp>
    </p:spTree>
    <p:extLst>
      <p:ext uri="{BB962C8B-B14F-4D97-AF65-F5344CB8AC3E}">
        <p14:creationId xmlns:p14="http://schemas.microsoft.com/office/powerpoint/2010/main" val="39177313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838200"/>
            <a:ext cx="7424390" cy="5316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915067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Anonymity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Anonymity</a:t>
            </a: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Anonymity allows users to hide their identity online.</a:t>
            </a:r>
          </a:p>
          <a:p>
            <a:pPr marL="0" indent="0">
              <a:buNone/>
            </a:pPr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Benefits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Protects whistleblowers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Encourages free expression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Protects political activists</a:t>
            </a:r>
          </a:p>
          <a:p>
            <a:pPr marL="0" indent="0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Risks:</a:t>
            </a:r>
          </a:p>
          <a:p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Cyberbullying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Online harassment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Dark web criminal activity</a:t>
            </a:r>
          </a:p>
          <a:p>
            <a:pPr marL="0" indent="0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IT Example: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Anonymous browsing via Tor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Fake social media accounts</a:t>
            </a:r>
          </a:p>
        </p:txBody>
      </p:sp>
    </p:spTree>
    <p:extLst>
      <p:ext uri="{BB962C8B-B14F-4D97-AF65-F5344CB8AC3E}">
        <p14:creationId xmlns:p14="http://schemas.microsoft.com/office/powerpoint/2010/main" val="1754496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838200"/>
            <a:ext cx="7045105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47409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762000"/>
            <a:ext cx="713619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316513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ushpin">
  <a:themeElements>
    <a:clrScheme name="Pushpin">
      <a:dk1>
        <a:sysClr val="windowText" lastClr="000000"/>
      </a:dk1>
      <a:lt1>
        <a:sysClr val="window" lastClr="FFFFFF"/>
      </a:lt1>
      <a:dk2>
        <a:srgbClr val="465E9C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64A73B"/>
      </a:accent4>
      <a:accent5>
        <a:srgbClr val="EB5605"/>
      </a:accent5>
      <a:accent6>
        <a:srgbClr val="B9CA1A"/>
      </a:accent6>
      <a:hlink>
        <a:srgbClr val="D83E2C"/>
      </a:hlink>
      <a:folHlink>
        <a:srgbClr val="ED7D27"/>
      </a:folHlink>
    </a:clrScheme>
    <a:fontScheme name="Pushpin">
      <a:majorFont>
        <a:latin typeface="Constantia"/>
        <a:ea typeface=""/>
        <a:cs typeface=""/>
        <a:font script="Jpan" typeface="HGS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Arial"/>
        <a:font script="Cyrl" typeface="Arial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ushpi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  <a:lumMod val="100000"/>
              </a:schemeClr>
            </a:gs>
            <a:gs pos="40000">
              <a:schemeClr val="phClr">
                <a:tint val="60000"/>
                <a:satMod val="130000"/>
                <a:lumMod val="100000"/>
              </a:schemeClr>
            </a:gs>
            <a:gs pos="100000">
              <a:schemeClr val="phClr">
                <a:tint val="96000"/>
                <a:lumMod val="108000"/>
              </a:schemeClr>
            </a:gs>
          </a:gsLst>
          <a:lin ang="5400000" scaled="0"/>
        </a:gradFill>
        <a:gradFill rotWithShape="1">
          <a:gsLst>
            <a:gs pos="0">
              <a:schemeClr val="phClr"/>
            </a:gs>
            <a:gs pos="100000">
              <a:schemeClr val="phClr">
                <a:shade val="76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80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38100" dir="4800000" sx="98000" sy="98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38100" dist="38100" dir="4800000" sx="96000" sy="96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3240000"/>
            </a:lightRig>
          </a:scene3d>
          <a:sp3d>
            <a:bevelT w="28575" h="28575"/>
          </a:sp3d>
        </a:effectStyle>
      </a:effectStyleLst>
      <a:bgFillStyleLst>
        <a:solidFill>
          <a:schemeClr val="phClr">
            <a:tint val="93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satMod val="140000"/>
                <a:lumMod val="50000"/>
              </a:schemeClr>
              <a:schemeClr val="phClr">
                <a:tint val="95000"/>
                <a:satMod val="180000"/>
                <a:lumMod val="160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  <a:shade val="90000"/>
                <a:satMod val="120000"/>
                <a:lumMod val="54000"/>
              </a:schemeClr>
              <a:schemeClr val="phClr">
                <a:tint val="80000"/>
                <a:satMod val="160000"/>
                <a:lumMod val="14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Pushpin</Template>
  <TotalTime>4199</TotalTime>
  <Words>636</Words>
  <Application>Microsoft Office PowerPoint</Application>
  <PresentationFormat>On-screen Show (4:3)</PresentationFormat>
  <Paragraphs>154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Pushpin</vt:lpstr>
      <vt:lpstr>PowerPoint Presentation</vt:lpstr>
      <vt:lpstr>PowerPoint Presentation</vt:lpstr>
      <vt:lpstr>Chap 3: FREEDOM OF SPEECH</vt:lpstr>
      <vt:lpstr>Video</vt:lpstr>
      <vt:lpstr>PowerPoint Presentation</vt:lpstr>
      <vt:lpstr>Communications Paradigms</vt:lpstr>
      <vt:lpstr>PowerPoint Presentation</vt:lpstr>
      <vt:lpstr>Regulating Communications Media</vt:lpstr>
      <vt:lpstr>PowerPoint Presentation</vt:lpstr>
      <vt:lpstr>Free Speech Principles</vt:lpstr>
      <vt:lpstr>PowerPoint Presentation</vt:lpstr>
      <vt:lpstr>Controlling Speech</vt:lpstr>
      <vt:lpstr>PowerPoint Presentation</vt:lpstr>
      <vt:lpstr>Offensive Speech: What Is It? What Is Illegal? Censorship Laws and Alternatives</vt:lpstr>
      <vt:lpstr>PowerPoint Presentation</vt:lpstr>
      <vt:lpstr>Child Pornography and Sexting</vt:lpstr>
      <vt:lpstr>PowerPoint Presentation</vt:lpstr>
      <vt:lpstr>Spam</vt:lpstr>
      <vt:lpstr>PowerPoint Presentation</vt:lpstr>
      <vt:lpstr>Challenging Old Regulatory Structures and Special Interests</vt:lpstr>
      <vt:lpstr>PowerPoint Presentation</vt:lpstr>
      <vt:lpstr>Posting, Selling, and Leaking Sensitive Material</vt:lpstr>
      <vt:lpstr>PowerPoint Presentation</vt:lpstr>
      <vt:lpstr>Anonymity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57</cp:revision>
  <dcterms:created xsi:type="dcterms:W3CDTF">2023-10-01T18:45:03Z</dcterms:created>
  <dcterms:modified xsi:type="dcterms:W3CDTF">2026-02-23T14:56:46Z</dcterms:modified>
</cp:coreProperties>
</file>