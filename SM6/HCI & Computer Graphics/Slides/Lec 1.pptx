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9" r:id="rId3"/>
    <p:sldId id="295" r:id="rId4"/>
    <p:sldId id="296" r:id="rId5"/>
    <p:sldId id="299" r:id="rId6"/>
    <p:sldId id="260" r:id="rId7"/>
    <p:sldId id="261" r:id="rId8"/>
    <p:sldId id="262" r:id="rId9"/>
    <p:sldId id="300" r:id="rId10"/>
    <p:sldId id="301" r:id="rId11"/>
    <p:sldId id="306" r:id="rId12"/>
    <p:sldId id="302" r:id="rId13"/>
    <p:sldId id="320" r:id="rId14"/>
    <p:sldId id="321" r:id="rId15"/>
    <p:sldId id="322" r:id="rId16"/>
    <p:sldId id="348" r:id="rId17"/>
    <p:sldId id="323" r:id="rId18"/>
    <p:sldId id="324" r:id="rId19"/>
    <p:sldId id="325" r:id="rId20"/>
    <p:sldId id="326" r:id="rId21"/>
    <p:sldId id="330" r:id="rId22"/>
    <p:sldId id="327" r:id="rId23"/>
    <p:sldId id="331" r:id="rId24"/>
    <p:sldId id="332" r:id="rId25"/>
    <p:sldId id="333" r:id="rId26"/>
    <p:sldId id="334" r:id="rId27"/>
    <p:sldId id="328" r:id="rId28"/>
    <p:sldId id="329" r:id="rId29"/>
    <p:sldId id="338" r:id="rId30"/>
    <p:sldId id="339" r:id="rId31"/>
    <p:sldId id="340" r:id="rId32"/>
    <p:sldId id="341" r:id="rId33"/>
    <p:sldId id="335" r:id="rId34"/>
    <p:sldId id="336" r:id="rId35"/>
    <p:sldId id="337" r:id="rId36"/>
    <p:sldId id="346" r:id="rId37"/>
    <p:sldId id="342" r:id="rId38"/>
    <p:sldId id="343" r:id="rId39"/>
    <p:sldId id="347" r:id="rId40"/>
    <p:sldId id="344" r:id="rId41"/>
    <p:sldId id="349" r:id="rId42"/>
    <p:sldId id="303" r:id="rId43"/>
    <p:sldId id="304" r:id="rId44"/>
    <p:sldId id="305" r:id="rId45"/>
    <p:sldId id="350" r:id="rId46"/>
    <p:sldId id="351" r:id="rId47"/>
    <p:sldId id="352" r:id="rId48"/>
    <p:sldId id="353" r:id="rId49"/>
    <p:sldId id="354" r:id="rId50"/>
    <p:sldId id="355" r:id="rId51"/>
    <p:sldId id="345" r:id="rId52"/>
    <p:sldId id="25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78222" autoAdjust="0"/>
  </p:normalViewPr>
  <p:slideViewPr>
    <p:cSldViewPr snapToGrid="0">
      <p:cViewPr varScale="1">
        <p:scale>
          <a:sx n="70" d="100"/>
          <a:sy n="70" d="100"/>
        </p:scale>
        <p:origin x="13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1F374-B25A-467F-8ABB-5FC7C73DD77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9236A-23C8-4A4A-932C-18D8BE34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2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Bad design: </a:t>
            </a:r>
            <a:r>
              <a:rPr lang="en-US" i="1" dirty="0"/>
              <a:t>Costs lives, money and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Good design: </a:t>
            </a:r>
            <a:r>
              <a:rPr lang="en-US" i="1" dirty="0"/>
              <a:t>Often, the interface in a good design will in a way become invisible to you, as in, you will not be thinking about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9236A-23C8-4A4A-932C-18D8BE3470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26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Computers were not interactive — they were calculation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9236A-23C8-4A4A-932C-18D8BE34706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75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Affordance:</a:t>
            </a:r>
          </a:p>
          <a:p>
            <a:r>
              <a:rPr lang="en-US" dirty="0"/>
              <a:t>When we moved from command typing → visual interaction, interfaces had to visually communicate available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9236A-23C8-4A4A-932C-18D8BE34706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4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architecture: how information and features are structured, organized, and labeled so users can find and understand them easily.</a:t>
            </a:r>
          </a:p>
          <a:p>
            <a:r>
              <a:rPr lang="en-US" dirty="0"/>
              <a:t>It has 4 main parts: organization, labelling, navigation,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9236A-23C8-4A4A-932C-18D8BE34706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28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Fitts’</a:t>
            </a:r>
            <a:r>
              <a:rPr lang="en-US" dirty="0"/>
              <a:t> Law: Closer + Bigger = Faster to hit |||  Farther + Smaller = Slower + more errors</a:t>
            </a:r>
          </a:p>
          <a:p>
            <a:r>
              <a:rPr lang="en-US" dirty="0"/>
              <a:t>Target size matters: Users should hit targets comfortably — not surgically.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9236A-23C8-4A4A-932C-18D8BE34706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2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4058-FC9E-DFB1-7DA6-DB4B3B76D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FD39F-7A2A-F652-7586-6C14D49F3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E7C0C-E654-458F-F804-90F8E6628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8A5B6-F08C-060E-4452-466A2B06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64242-1CE8-740A-F620-A6D85929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1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C3BF-44DC-55D7-6A8E-1585D4D2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99224-9845-2B9E-5BBA-7423077E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58E9-FE3B-3E12-3A80-A0907671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2B458-7E71-DA5B-E445-4E398201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D281F-4744-EFF1-90DF-DF3BDE63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3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20003-896C-D5BC-FA25-1E55F1E1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A8831-644D-0E3B-2686-E35678E9A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06CB5-FABF-06E5-5455-DDA9CBA7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67FF0-236A-78B2-0E97-1ABC3AC2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94B0A-ED1C-62C3-C1B5-EC990F54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3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5B2E-9CC3-7404-EE61-80D389F0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E6ED-AF73-6D7A-70B7-BB9BBF0AC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3E91C-2C74-A633-FFDB-F6F20F7EF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881FA-1354-410F-8A49-AA3F5B97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AC0D4-4AF3-EF3B-B0B8-26093516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B5813-A8D3-954A-A77E-6DD137C9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0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D2C6-B67D-9DB4-9363-77F4A33D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D8A64-4F1E-F111-47C0-FF71EA9FF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D3DE7-4271-FCBF-DEE5-1B1EBA6FE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C3E4D-FCB7-C3A2-9C75-DB0F32C66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923FE-7AB2-5A62-7908-850B4574C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295F1-C017-127E-33B0-D101FC57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A0161-3510-2285-AEAD-DA2743AA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62E88-7FCE-6B96-E0A0-8A243DB9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35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D269-B81D-6EF2-76D2-02DB619B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45D1F-CC83-97DA-4F0F-A49879E4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2E01F-FB38-6136-CFCE-50AFE29F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66CB-DE3E-679A-0602-5085E3A8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4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B55AE-1DF8-CE58-8CDC-DB96BD54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8B9BFF-B8FE-C58F-A76D-4C8B223F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B5658-AD6D-3517-DDCA-D5580F3C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1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F560-FDB1-9D8D-9AE1-007B6A29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9CC64-6AC4-1D64-8115-A33A5C12B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B267D-E162-1079-8699-6A95E3B3F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B703-3AD2-C293-4983-17E7CF07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B80A3-ECA8-D2E9-39A9-F08B42DF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0EE76-6D32-FC9D-94E9-4EAC224C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4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8C6C-F4C3-F8FF-CDEE-6AB5866CB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C9808-3259-257F-9025-5D13FE7A9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880F7-2B30-6687-44BE-A92E24248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464CA-1DDF-D1C6-D094-55C9C670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6D5E7-C4E2-40BA-984F-2F44D201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C4056-79EB-2572-155A-86BBCEB8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7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BD2D-D06A-6EEF-E429-5B2FEC54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F2F1C-A2DF-2EE1-6425-E16C00677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6D732-5D57-C83F-0B5F-69B7EEA9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02127-790C-6EEB-0477-8E49A4A6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DC8D6-032E-EEB5-BF75-06306ACE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78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0270E-FB16-6638-2C3B-92EAC69E5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79FD6-1FE6-4816-C205-18166C04A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B8637-923A-F57B-9183-5D1F207A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5FAE8-7FA0-0AC3-1CD7-F5A10301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A5E10-6CB3-A141-B6A9-B353600B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4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C0DC8-9AB6-02DD-7B44-EC96B1B7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26790-6057-6604-61DA-E47AA05A7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6C60-8098-FAB3-8126-2223F69BE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E21A9-7CBE-419E-B208-84EB782F07D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6DA2A-8AC0-4AF8-6953-355A8D332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56508-0E8F-5EB6-8C64-59175DB1B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02685-E88E-478E-B5AF-A839FA4E1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4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Ovj4hFxko7c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4CF6-EB95-2D90-4350-1D8B3CFB89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CSC-335</a:t>
            </a:r>
            <a:br>
              <a:rPr lang="en-US" b="1" dirty="0"/>
            </a:br>
            <a:r>
              <a:rPr lang="en-US" b="1" dirty="0"/>
              <a:t>HCI &amp; Computer Graphics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67A36-AB01-E9AE-41F9-153440079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262426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B0B4-57CD-3A4F-8CC2-5D9919F9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Computer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2D46B-FDEE-94A9-4DF2-8607F2DCF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HCI? </a:t>
            </a:r>
          </a:p>
        </p:txBody>
      </p:sp>
    </p:spTree>
    <p:extLst>
      <p:ext uri="{BB962C8B-B14F-4D97-AF65-F5344CB8AC3E}">
        <p14:creationId xmlns:p14="http://schemas.microsoft.com/office/powerpoint/2010/main" val="209463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DEAC-5D21-F2E3-6CC9-C21284DD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54A5-30E0-A579-F385-14B70E50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Computer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51E2-A3D9-D963-7FFE-2C123892C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HCI? </a:t>
            </a:r>
          </a:p>
          <a:p>
            <a:r>
              <a:rPr lang="en-US" dirty="0"/>
              <a:t>Working in quick iterations so we can figure out problems sooner rather than later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066" y="3075758"/>
            <a:ext cx="5528733" cy="3217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96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F97B-D4A9-708B-BA80-BA59F924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43B5-9EE0-A581-4E47-F6B8FF0A7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Computer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43796-FAAB-708B-96C4-E298581D3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HCI? </a:t>
            </a:r>
          </a:p>
          <a:p>
            <a:r>
              <a:rPr lang="en-US" dirty="0"/>
              <a:t>What makes a design a good design?</a:t>
            </a:r>
          </a:p>
          <a:p>
            <a:r>
              <a:rPr lang="en-US" dirty="0"/>
              <a:t>What makes it a bad one?</a:t>
            </a:r>
          </a:p>
          <a:p>
            <a:r>
              <a:rPr lang="en-US" dirty="0"/>
              <a:t>What is </a:t>
            </a:r>
            <a:r>
              <a:rPr lang="en-US" u="sng" dirty="0"/>
              <a:t>one factor </a:t>
            </a:r>
            <a:r>
              <a:rPr lang="en-US" dirty="0"/>
              <a:t>which is central to all interaction design?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169A9D4-83B5-09E3-4B87-41B83B701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389" y="4062264"/>
            <a:ext cx="4804611" cy="2795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9981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Centered Design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with people in mind; people’s tasks, goals, and values should drive your development</a:t>
            </a:r>
          </a:p>
          <a:p>
            <a:r>
              <a:rPr lang="en-US" dirty="0"/>
              <a:t>Work with users throughout the process</a:t>
            </a:r>
          </a:p>
          <a:p>
            <a:r>
              <a:rPr lang="en-US" dirty="0"/>
              <a:t>Assess decisions from the users’ point of view, their work and their environment</a:t>
            </a:r>
          </a:p>
          <a:p>
            <a:r>
              <a:rPr lang="en-US" dirty="0"/>
              <a:t>Pay attention to people’s abilities and situations</a:t>
            </a:r>
          </a:p>
        </p:txBody>
      </p:sp>
    </p:spTree>
    <p:extLst>
      <p:ext uri="{BB962C8B-B14F-4D97-AF65-F5344CB8AC3E}">
        <p14:creationId xmlns:p14="http://schemas.microsoft.com/office/powerpoint/2010/main" val="47710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4C039-124C-AB21-D615-34AE1C39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good User Experience?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EEE3A-3145-4E28-2B0D-F627E1E68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8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8C76F-8CA8-B8B9-293A-5DAB61F4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good User Experience?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1D59-C5EB-C940-DCF3-338D491C9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AC978-2802-F84D-4F36-DEFA3A8A5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60" y="1858320"/>
            <a:ext cx="9288880" cy="499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37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D324-2C72-CD6C-0A5F-39FE1F88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bad User Experience?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36088-1795-943B-E5F5-E468D8060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83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ECD7-2DB3-265F-FA55-1076788F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80D6-931D-FB39-88AD-51B363D6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bad User Experience?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E3C4C-2B05-9327-9A8C-67E876CE5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20BA4-F25C-4256-DA14-EB917BAE3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208" y="1825625"/>
            <a:ext cx="8439583" cy="455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CD82-831F-F7B9-F4FE-E12D3BDC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CC9C9-60CE-EA9D-15E2-4FC9861D7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93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7CC3-A95A-1DF5-24DB-9C0D7737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CC1B-0B2D-AA96-D49A-F1676B16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3BC65-516D-5F29-D41A-C2AE855DE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D06F5-6106-602E-489B-301E8E895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7" y="1784476"/>
            <a:ext cx="75914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8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102D-1CA7-59E3-D82A-ACB189042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UX as a whole?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766CD-42CF-7CB0-2CBA-72D57098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UX is the experience people have when they interact with your product </a:t>
            </a:r>
          </a:p>
          <a:p>
            <a:r>
              <a:rPr lang="en-US" dirty="0"/>
              <a:t>Using the product </a:t>
            </a:r>
          </a:p>
          <a:p>
            <a:r>
              <a:rPr lang="en-US" dirty="0"/>
              <a:t>Choosing it </a:t>
            </a:r>
          </a:p>
          <a:p>
            <a:r>
              <a:rPr lang="en-US" dirty="0"/>
              <a:t>Acquiring </a:t>
            </a:r>
          </a:p>
          <a:p>
            <a:r>
              <a:rPr lang="en-US" dirty="0"/>
              <a:t>Learning to use it </a:t>
            </a:r>
          </a:p>
          <a:p>
            <a:r>
              <a:rPr lang="en-US" dirty="0"/>
              <a:t>Fixing the product </a:t>
            </a:r>
          </a:p>
          <a:p>
            <a:r>
              <a:rPr lang="en-US" dirty="0"/>
              <a:t>Upgrading the product </a:t>
            </a:r>
          </a:p>
        </p:txBody>
      </p:sp>
    </p:spTree>
    <p:extLst>
      <p:ext uri="{BB962C8B-B14F-4D97-AF65-F5344CB8AC3E}">
        <p14:creationId xmlns:p14="http://schemas.microsoft.com/office/powerpoint/2010/main" val="2049149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D514-34D1-1975-947B-E9A6EC4D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4227-5C40-157B-4D0E-4A1738F85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Amazon.com</a:t>
            </a:r>
          </a:p>
          <a:p>
            <a:r>
              <a:rPr lang="en-US" dirty="0"/>
              <a:t>Buy Stuff</a:t>
            </a:r>
          </a:p>
          <a:p>
            <a:r>
              <a:rPr lang="en-US" dirty="0"/>
              <a:t>Enjoy Stuff</a:t>
            </a:r>
          </a:p>
          <a:p>
            <a:r>
              <a:rPr lang="en-US" dirty="0"/>
              <a:t>Come back again</a:t>
            </a:r>
          </a:p>
          <a:p>
            <a:r>
              <a:rPr lang="en-US" dirty="0"/>
              <a:t>Recommend to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304B1-644C-3865-19C1-1F1DCF0D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1616075"/>
            <a:ext cx="49053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54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52A2-A805-1939-6ACE-BA4B0F62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774F-7490-0132-33F2-90CE686FE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Bnu.edu.pk</a:t>
            </a:r>
          </a:p>
          <a:p>
            <a:r>
              <a:rPr lang="en-US" dirty="0"/>
              <a:t>Find information</a:t>
            </a:r>
          </a:p>
          <a:p>
            <a:r>
              <a:rPr lang="en-US" dirty="0"/>
              <a:t>Understand Programs</a:t>
            </a:r>
          </a:p>
          <a:p>
            <a:r>
              <a:rPr lang="en-US" dirty="0"/>
              <a:t>Streamline admission services</a:t>
            </a:r>
          </a:p>
          <a:p>
            <a:r>
              <a:rPr lang="en-US" dirty="0"/>
              <a:t>Recommend to Others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25AF8-B3E9-1F89-723A-D25DF9A26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326" y="1690688"/>
            <a:ext cx="6108888" cy="319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02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9F30-24DB-F8B1-8655-903896DE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39305-6C74-2476-7F69-CFCBB45CD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Glucometer</a:t>
            </a:r>
          </a:p>
          <a:p>
            <a:r>
              <a:rPr lang="en-US" dirty="0"/>
              <a:t>Improve health</a:t>
            </a:r>
          </a:p>
          <a:p>
            <a:r>
              <a:rPr lang="en-US" dirty="0"/>
              <a:t>Do no harm</a:t>
            </a:r>
          </a:p>
          <a:p>
            <a:r>
              <a:rPr lang="en-US" dirty="0"/>
              <a:t>Convince providers</a:t>
            </a:r>
          </a:p>
          <a:p>
            <a:r>
              <a:rPr lang="en-US" dirty="0"/>
              <a:t>Recommend to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17987-D50D-8B11-488D-60CACB45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699" y="1690688"/>
            <a:ext cx="3877455" cy="385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61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07C65F-22EA-247B-0AE4-7AEFBF44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609600"/>
            <a:ext cx="1003935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2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9395-E3C3-13F4-04C4-730E4E40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F26DB-2CF2-D390-CD33-C9D13E53D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What is Interaction Design?</a:t>
            </a:r>
          </a:p>
          <a:p>
            <a:pPr lvl="1"/>
            <a:r>
              <a:rPr lang="en-US" dirty="0"/>
              <a:t>Develop interactive products that are usable</a:t>
            </a:r>
          </a:p>
          <a:p>
            <a:pPr lvl="1"/>
            <a:r>
              <a:rPr lang="en-US" dirty="0"/>
              <a:t>Easy to learn</a:t>
            </a:r>
          </a:p>
          <a:p>
            <a:pPr lvl="1"/>
            <a:r>
              <a:rPr lang="en-US" dirty="0"/>
              <a:t>Effective to use</a:t>
            </a:r>
          </a:p>
          <a:p>
            <a:pPr lvl="1"/>
            <a:r>
              <a:rPr lang="en-US" dirty="0"/>
              <a:t>Enjoyable user experience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CC7BB2-3416-EC98-8B61-5EE3C7BE1FC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Goal of Interaction Design</a:t>
            </a:r>
          </a:p>
          <a:p>
            <a:pPr lvl="1"/>
            <a:r>
              <a:rPr lang="en-US" dirty="0"/>
              <a:t>Develop usable products </a:t>
            </a:r>
          </a:p>
          <a:p>
            <a:pPr lvl="2"/>
            <a:r>
              <a:rPr lang="en-US" dirty="0"/>
              <a:t>Usability means easy to learn, effective to use and provide an enjoyable experience</a:t>
            </a:r>
          </a:p>
          <a:p>
            <a:pPr lvl="1"/>
            <a:r>
              <a:rPr lang="en-US" dirty="0"/>
              <a:t>Involve users in the design process</a:t>
            </a:r>
          </a:p>
        </p:txBody>
      </p:sp>
    </p:spTree>
    <p:extLst>
      <p:ext uri="{BB962C8B-B14F-4D97-AF65-F5344CB8AC3E}">
        <p14:creationId xmlns:p14="http://schemas.microsoft.com/office/powerpoint/2010/main" val="1045985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1123-E507-4888-5274-84D27A71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Kind of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BD207-6F8D-DD7A-E979-77056EF2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other terms used emphasizing what is being designed, e.g.</a:t>
            </a:r>
          </a:p>
          <a:p>
            <a:pPr lvl="1"/>
            <a:r>
              <a:rPr lang="en-US" dirty="0"/>
              <a:t>user interface design, software design, user-centered design, product design, web design, experience design (UX)</a:t>
            </a:r>
          </a:p>
          <a:p>
            <a:r>
              <a:rPr lang="en-US" dirty="0"/>
              <a:t>Interaction design is the umbrella term covering all of these aspects</a:t>
            </a:r>
          </a:p>
          <a:p>
            <a:pPr lvl="1"/>
            <a:r>
              <a:rPr lang="en-US" dirty="0"/>
              <a:t>fundamental to all disciplines, fields, and approaches concerned with researching and designing computer-based systems for people</a:t>
            </a:r>
          </a:p>
        </p:txBody>
      </p:sp>
    </p:spTree>
    <p:extLst>
      <p:ext uri="{BB962C8B-B14F-4D97-AF65-F5344CB8AC3E}">
        <p14:creationId xmlns:p14="http://schemas.microsoft.com/office/powerpoint/2010/main" val="1143097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6E68-92DB-AA9B-37FD-58524535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HCI &amp; Interaction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7E46-2704-70E2-C9D2-9AF1CDE11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D7646-9E4A-8DF7-D865-74A22C91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615" y="1813593"/>
            <a:ext cx="68167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90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5293-4263-F76C-2D13-85611CBE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professionals do in the ID business?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9F62-DA64-EA86-F188-558BB3D99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interaction designers - people involved in the design of all the interactive aspects of a product</a:t>
            </a:r>
          </a:p>
          <a:p>
            <a:r>
              <a:rPr lang="en-US" dirty="0"/>
              <a:t>usability engineers - people who focus on evaluating products, using usability methods and principles</a:t>
            </a:r>
          </a:p>
          <a:p>
            <a:r>
              <a:rPr lang="en-US" dirty="0"/>
              <a:t>web designers - people who develop and create the visual design of websites, such as layouts</a:t>
            </a:r>
          </a:p>
          <a:p>
            <a:r>
              <a:rPr lang="en-US" dirty="0"/>
              <a:t>information architects - people who come up with ideas of how to plan and structure interactive products</a:t>
            </a:r>
          </a:p>
          <a:p>
            <a:r>
              <a:rPr lang="en-US" dirty="0"/>
              <a:t>user experience designers (UX) - people who do all the above but who may also carry out field studies to inform the design of products</a:t>
            </a:r>
          </a:p>
        </p:txBody>
      </p:sp>
    </p:spTree>
    <p:extLst>
      <p:ext uri="{BB962C8B-B14F-4D97-AF65-F5344CB8AC3E}">
        <p14:creationId xmlns:p14="http://schemas.microsoft.com/office/powerpoint/2010/main" val="3517249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1BE1A-3802-221F-8D38-F9EBDDCB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595312"/>
            <a:ext cx="1004887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4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ED9E-3BB1-AD05-1CDC-97E21FE1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B392D-ED66-3688-5D21-D438A27D7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 product behaves and is used by people in the real world </a:t>
            </a:r>
          </a:p>
          <a:p>
            <a:r>
              <a:rPr lang="en-US" dirty="0"/>
              <a:t>The way people feel about it and their pleasure and satisfaction when using it, looking at it, holding it, and opening or closing it</a:t>
            </a:r>
          </a:p>
        </p:txBody>
      </p:sp>
    </p:spTree>
    <p:extLst>
      <p:ext uri="{BB962C8B-B14F-4D97-AF65-F5344CB8AC3E}">
        <p14:creationId xmlns:p14="http://schemas.microsoft.com/office/powerpoint/2010/main" val="2582675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6E5F5-9E61-9ED6-BD4F-5DCB739E5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590550"/>
            <a:ext cx="100488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74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D834F2-F104-4161-479F-C3774A33E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95312"/>
            <a:ext cx="100584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18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B2F8D-1D18-17E3-3A1A-0FBAA16E1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600075"/>
            <a:ext cx="100488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12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4A271-5026-FEBF-9329-6923AFA84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600075"/>
            <a:ext cx="100488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77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CF97-32F6-B66C-DA76-30CD6289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Usability vs. User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B4235-C71A-22D5-56C2-D9327BC2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“Usability is the extent to which a product can be used by specified users to achieve specified goals with effectiveness, efficiency and satisfaction in a specified context of use.“ - Definition of Usability DIN EN ISO 9241-11</a:t>
            </a:r>
          </a:p>
        </p:txBody>
      </p:sp>
    </p:spTree>
    <p:extLst>
      <p:ext uri="{BB962C8B-B14F-4D97-AF65-F5344CB8AC3E}">
        <p14:creationId xmlns:p14="http://schemas.microsoft.com/office/powerpoint/2010/main" val="2836827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4AD8-3AB2-07CC-77B5-D5B2BE35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Usability enough?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AFBC4-4BF5-9C31-527C-A43B103E0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Fulfilling this definition leads to:</a:t>
            </a:r>
          </a:p>
          <a:p>
            <a:pPr lvl="1"/>
            <a:r>
              <a:rPr lang="en-US" dirty="0"/>
              <a:t>Products that do not prevent users from performing their tasks</a:t>
            </a:r>
          </a:p>
          <a:p>
            <a:pPr lvl="1"/>
            <a:r>
              <a:rPr lang="en-US" dirty="0"/>
              <a:t>Products that can be used effectively and efficiently</a:t>
            </a:r>
          </a:p>
          <a:p>
            <a:pPr lvl="1"/>
            <a:r>
              <a:rPr lang="en-US" dirty="0"/>
              <a:t>Products that do not annoy users</a:t>
            </a:r>
          </a:p>
          <a:p>
            <a:pPr lvl="1"/>
            <a:r>
              <a:rPr lang="en-US" dirty="0"/>
              <a:t>Is this really sufficient to build great products that users enjoy to use? </a:t>
            </a:r>
          </a:p>
        </p:txBody>
      </p:sp>
    </p:spTree>
    <p:extLst>
      <p:ext uri="{BB962C8B-B14F-4D97-AF65-F5344CB8AC3E}">
        <p14:creationId xmlns:p14="http://schemas.microsoft.com/office/powerpoint/2010/main" val="3119811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E7FB51-7985-F4F1-56E9-F6B2ECD7C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600075"/>
            <a:ext cx="70770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0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DD2362-4B45-E637-D29B-5E8FCE435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7" y="728662"/>
            <a:ext cx="70199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9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6A716-9B3D-95BF-7B4B-6B7F380E3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600075"/>
            <a:ext cx="78009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14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5EF62-604A-5421-F21E-9237C7B9C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866775"/>
            <a:ext cx="100203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47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8BFB-9BD7-73FA-C674-EE876C47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Experience is more than just Usability!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97D8-8341-6383-FFDC-40322C6B6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related User Experience Factors</a:t>
            </a:r>
          </a:p>
          <a:p>
            <a:r>
              <a:rPr lang="en-US" dirty="0"/>
              <a:t>User Experience is influenced by a lot of different factors</a:t>
            </a:r>
          </a:p>
          <a:p>
            <a:r>
              <a:rPr lang="en-US" dirty="0"/>
              <a:t>Some of them are actual product related factors like</a:t>
            </a:r>
          </a:p>
          <a:p>
            <a:pPr lvl="1"/>
            <a:r>
              <a:rPr lang="en-US" dirty="0"/>
              <a:t>features or quality attributes</a:t>
            </a:r>
          </a:p>
          <a:p>
            <a:pPr lvl="1"/>
            <a:r>
              <a:rPr lang="en-US" dirty="0"/>
              <a:t>Other factors concern: the brand, the image, the packaging, marketing</a:t>
            </a:r>
          </a:p>
          <a:p>
            <a:pPr lvl="1"/>
            <a:r>
              <a:rPr lang="en-US" dirty="0"/>
              <a:t>Can you think of any other factors?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54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51AD-42F7-65F3-8B3D-F015C7DB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Experience - Formally Defined!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E9A7-8D15-3879-D221-0903C3B87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“User experience includes all aspects of the user’s experience when interacting with the product, service, environment or facility. </a:t>
            </a:r>
          </a:p>
          <a:p>
            <a:r>
              <a:rPr lang="en-US" dirty="0"/>
              <a:t>It is a consequence of the presentation, functionality, system performance, interactive behavior, and assistive capabilities of the interactive system. </a:t>
            </a:r>
          </a:p>
          <a:p>
            <a:r>
              <a:rPr lang="en-US" dirty="0"/>
              <a:t>It includes all aspects of usability and desirability of a product, system or service from the user’s perspective.” </a:t>
            </a:r>
          </a:p>
        </p:txBody>
      </p:sp>
    </p:spTree>
    <p:extLst>
      <p:ext uri="{BB962C8B-B14F-4D97-AF65-F5344CB8AC3E}">
        <p14:creationId xmlns:p14="http://schemas.microsoft.com/office/powerpoint/2010/main" val="35255514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9516-46E0-E35B-7117-A80372EB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Centered Design -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D850D-56D8-18B3-2B3E-B76506815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E1E6A-3B8F-BF45-1011-F4D5B8E48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1865438"/>
            <a:ext cx="56769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06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7F46A-3CD8-7BCD-6724-E64A41ED7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609600"/>
            <a:ext cx="951547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01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8111-F102-6E73-9663-9D4431D3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Usability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66471-BE7C-7D72-EA84-FFE7E69C2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 to use</a:t>
            </a:r>
          </a:p>
          <a:p>
            <a:r>
              <a:rPr lang="en-US" dirty="0"/>
              <a:t>Efficient to use</a:t>
            </a:r>
          </a:p>
          <a:p>
            <a:r>
              <a:rPr lang="en-US" dirty="0"/>
              <a:t>Safe to use</a:t>
            </a:r>
          </a:p>
          <a:p>
            <a:r>
              <a:rPr lang="en-US" dirty="0"/>
              <a:t>Have good utility</a:t>
            </a:r>
          </a:p>
          <a:p>
            <a:r>
              <a:rPr lang="en-US" dirty="0"/>
              <a:t>Easy to learn</a:t>
            </a:r>
          </a:p>
          <a:p>
            <a:r>
              <a:rPr lang="en-US" dirty="0"/>
              <a:t>Easy to remember how to use</a:t>
            </a:r>
          </a:p>
        </p:txBody>
      </p:sp>
    </p:spTree>
    <p:extLst>
      <p:ext uri="{BB962C8B-B14F-4D97-AF65-F5344CB8AC3E}">
        <p14:creationId xmlns:p14="http://schemas.microsoft.com/office/powerpoint/2010/main" val="720131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D78B-E7FF-17B9-F126-45F63B84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experience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DB811-24C1-A404-CCD7-A9F71BB2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/>
              <a:t>Desirable Aspects 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15BCA0-354E-6716-A69E-6B4A70DAB67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Undesirable aspects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562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00360-5C52-D39C-466F-99645B16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21DA-53E8-7CFE-6DCD-BD685DE5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experience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81EC-CF9D-C9A9-A477-A62782B51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Desirable Aspects </a:t>
            </a:r>
          </a:p>
          <a:p>
            <a:r>
              <a:rPr lang="en-US" dirty="0"/>
              <a:t>satisfying helpful fun</a:t>
            </a:r>
          </a:p>
          <a:p>
            <a:r>
              <a:rPr lang="en-US" dirty="0"/>
              <a:t>enjoyable motivating provocative</a:t>
            </a:r>
          </a:p>
          <a:p>
            <a:r>
              <a:rPr lang="en-US" dirty="0"/>
              <a:t>engaging challenging surprising</a:t>
            </a:r>
          </a:p>
          <a:p>
            <a:r>
              <a:rPr lang="en-US" dirty="0"/>
              <a:t>pleasurable enhancing sociability rewarding</a:t>
            </a:r>
          </a:p>
          <a:p>
            <a:r>
              <a:rPr lang="en-US" dirty="0"/>
              <a:t>exciting supporting creativity emotionally fulfilling</a:t>
            </a:r>
          </a:p>
          <a:p>
            <a:r>
              <a:rPr lang="en-US" dirty="0"/>
              <a:t>entertaining cognitively stimulating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DDF534-CDCD-1BA8-36A4-B8328BEF865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Undesirable aspects</a:t>
            </a:r>
          </a:p>
          <a:p>
            <a:r>
              <a:rPr lang="en-US" dirty="0"/>
              <a:t>boring unpleasant</a:t>
            </a:r>
          </a:p>
          <a:p>
            <a:r>
              <a:rPr lang="en-US" dirty="0"/>
              <a:t>frustrating patronizing</a:t>
            </a:r>
          </a:p>
          <a:p>
            <a:r>
              <a:rPr lang="en-US" dirty="0"/>
              <a:t>making one feel guilty making one feel stupid</a:t>
            </a:r>
          </a:p>
          <a:p>
            <a:r>
              <a:rPr lang="en-US" dirty="0"/>
              <a:t>annoying cutesy</a:t>
            </a:r>
          </a:p>
          <a:p>
            <a:r>
              <a:rPr lang="en-US" dirty="0"/>
              <a:t>childish gimmicky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5817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1539-617B-E1EE-85AC-0CDBA1EE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Usability and user experience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801C-1F4D-EBC7-7A13-40BAF172C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Selecting terms to convey a person’s feelings, emotions, etc., can help designers understand the multifaceted nature of the user experience</a:t>
            </a:r>
          </a:p>
          <a:p>
            <a:r>
              <a:rPr lang="en-US" dirty="0"/>
              <a:t>How do usability goals differ from user experience goals?</a:t>
            </a:r>
          </a:p>
          <a:p>
            <a:r>
              <a:rPr lang="en-US" dirty="0"/>
              <a:t>Are there trade-offs between the two kinds of goals?</a:t>
            </a:r>
          </a:p>
          <a:p>
            <a:pPr lvl="1"/>
            <a:r>
              <a:rPr lang="en-US" dirty="0"/>
              <a:t>e.g. can a product be both fun and safe?</a:t>
            </a:r>
          </a:p>
          <a:p>
            <a:r>
              <a:rPr lang="en-US" dirty="0"/>
              <a:t>How easy is it to measure usability versus user experience goals?</a:t>
            </a:r>
          </a:p>
        </p:txBody>
      </p:sp>
    </p:spTree>
    <p:extLst>
      <p:ext uri="{BB962C8B-B14F-4D97-AF65-F5344CB8AC3E}">
        <p14:creationId xmlns:p14="http://schemas.microsoft.com/office/powerpoint/2010/main" val="2579789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5E6BF3-E7E2-9EC5-B941-8E00C73D03D3}"/>
              </a:ext>
            </a:extLst>
          </p:cNvPr>
          <p:cNvSpPr txBox="1"/>
          <p:nvPr/>
        </p:nvSpPr>
        <p:spPr>
          <a:xfrm>
            <a:off x="2122310" y="1351508"/>
            <a:ext cx="79473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How has the way humans interact with computers changed over time?</a:t>
            </a:r>
          </a:p>
          <a:p>
            <a:pPr algn="ctr"/>
            <a:r>
              <a:rPr lang="en-US" sz="4400" dirty="0"/>
              <a:t>&amp;</a:t>
            </a:r>
          </a:p>
          <a:p>
            <a:pPr algn="ctr"/>
            <a:r>
              <a:rPr lang="en-US" sz="4400" dirty="0"/>
              <a:t>why does that matter for UX/UXE today?</a:t>
            </a:r>
          </a:p>
        </p:txBody>
      </p:sp>
    </p:spTree>
    <p:extLst>
      <p:ext uri="{BB962C8B-B14F-4D97-AF65-F5344CB8AC3E}">
        <p14:creationId xmlns:p14="http://schemas.microsoft.com/office/powerpoint/2010/main" val="1164910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D7B0-D4DE-1430-94A6-0C656FD2F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9E6B1-49A9-EA24-5250-A98FD6839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832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Early Computing aka Batch Processing</a:t>
            </a:r>
          </a:p>
          <a:p>
            <a:pPr lvl="1"/>
            <a:r>
              <a:rPr lang="en-US" sz="2000" dirty="0"/>
              <a:t>No Interaction</a:t>
            </a:r>
          </a:p>
          <a:p>
            <a:r>
              <a:rPr lang="en-US" sz="2400" dirty="0"/>
              <a:t>Model: Submit -&gt; wait -&gt; get output</a:t>
            </a:r>
          </a:p>
          <a:p>
            <a:pPr lvl="1"/>
            <a:r>
              <a:rPr lang="en-US" sz="2000" dirty="0" err="1"/>
              <a:t>eg</a:t>
            </a:r>
            <a:r>
              <a:rPr lang="en-US" sz="2000" dirty="0"/>
              <a:t>: Punch cards &amp; Mainframes</a:t>
            </a:r>
          </a:p>
          <a:p>
            <a:r>
              <a:rPr lang="en-US" sz="2400" dirty="0"/>
              <a:t>UX Issue: </a:t>
            </a:r>
          </a:p>
          <a:p>
            <a:pPr lvl="1"/>
            <a:r>
              <a:rPr lang="en-US" sz="2000" dirty="0"/>
              <a:t>No real-time feedback</a:t>
            </a:r>
          </a:p>
          <a:p>
            <a:pPr lvl="1"/>
            <a:r>
              <a:rPr lang="en-US" sz="2000" dirty="0"/>
              <a:t>No usability concept yet</a:t>
            </a:r>
          </a:p>
          <a:p>
            <a:endParaRPr lang="en-US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FC2EA3-0333-C831-03B4-D0C2CEF4F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6528" y="1690688"/>
            <a:ext cx="6371227" cy="4076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52392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24B1-10F3-3176-307E-35DE4D4D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E8023-9AD8-FC40-163D-6405E799D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Command Line Interaction (CLI)</a:t>
            </a:r>
          </a:p>
          <a:p>
            <a:r>
              <a:rPr lang="en-US" sz="2400" dirty="0"/>
              <a:t>Model: Text commands</a:t>
            </a:r>
          </a:p>
          <a:p>
            <a:pPr lvl="1"/>
            <a:r>
              <a:rPr lang="en-US" sz="2000" dirty="0" err="1"/>
              <a:t>eg</a:t>
            </a:r>
            <a:r>
              <a:rPr lang="en-US" sz="2000" dirty="0"/>
              <a:t>: DOS, Linux terminal</a:t>
            </a:r>
          </a:p>
          <a:p>
            <a:r>
              <a:rPr lang="en-US" sz="2400" dirty="0"/>
              <a:t>UX issues:</a:t>
            </a:r>
          </a:p>
          <a:p>
            <a:pPr lvl="1"/>
            <a:r>
              <a:rPr lang="en-US" sz="2000" dirty="0"/>
              <a:t>Expert users only</a:t>
            </a:r>
          </a:p>
          <a:p>
            <a:pPr lvl="1"/>
            <a:r>
              <a:rPr lang="en-US" sz="2000" dirty="0"/>
              <a:t>Memorization required</a:t>
            </a:r>
          </a:p>
          <a:p>
            <a:pPr lvl="1"/>
            <a:r>
              <a:rPr lang="en-US" sz="2000" dirty="0"/>
              <a:t>Low discoverability</a:t>
            </a:r>
          </a:p>
          <a:p>
            <a:pPr lvl="1"/>
            <a:r>
              <a:rPr lang="en-US" sz="2000" dirty="0"/>
              <a:t>Cognitive load is high</a:t>
            </a:r>
          </a:p>
          <a:p>
            <a:pPr lvl="1"/>
            <a:r>
              <a:rPr lang="en-US" sz="2000" dirty="0"/>
              <a:t>Learnability is 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F1415-873A-4AEC-249A-39DF2EABC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911" y="1768784"/>
            <a:ext cx="6186487" cy="332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60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0454-063D-38F8-B559-0F57ABF7C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9A37-9A94-290C-5F71-849014DB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GUI/WIMP Paradigm</a:t>
            </a:r>
          </a:p>
          <a:p>
            <a:r>
              <a:rPr lang="en-US" dirty="0"/>
              <a:t>Model: GUI or Windows, Icons, Menus, Pointer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Windows, MacOS, Desktop apps</a:t>
            </a:r>
          </a:p>
          <a:p>
            <a:r>
              <a:rPr lang="en-US" dirty="0"/>
              <a:t>UX issues:</a:t>
            </a:r>
          </a:p>
          <a:p>
            <a:pPr lvl="1"/>
            <a:r>
              <a:rPr lang="en-US" dirty="0"/>
              <a:t>Visual interaction replaces memorization</a:t>
            </a:r>
          </a:p>
          <a:p>
            <a:pPr lvl="1"/>
            <a:r>
              <a:rPr lang="en-US" dirty="0"/>
              <a:t>Discoverability increases</a:t>
            </a:r>
          </a:p>
          <a:p>
            <a:pPr lvl="1"/>
            <a:r>
              <a:rPr lang="en-US" dirty="0"/>
              <a:t>Affordances matter</a:t>
            </a:r>
          </a:p>
          <a:p>
            <a:pPr lvl="1"/>
            <a:r>
              <a:rPr lang="en-US" dirty="0"/>
              <a:t>Direct manipulation begins</a:t>
            </a:r>
          </a:p>
          <a:p>
            <a:r>
              <a:rPr lang="en-US" dirty="0"/>
              <a:t>Heuristics &amp; usability principles emerge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2138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3FC5-7586-240A-FB3B-36257565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EF101-AEC3-6EF2-370A-94A5DF560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&amp; Hyperlink Paradigm</a:t>
            </a:r>
          </a:p>
          <a:p>
            <a:r>
              <a:rPr lang="en-US" dirty="0"/>
              <a:t>Model: Navigation-based interaction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websites &amp; browsers</a:t>
            </a:r>
          </a:p>
          <a:p>
            <a:r>
              <a:rPr lang="en-US" dirty="0"/>
              <a:t>UX impact:</a:t>
            </a:r>
          </a:p>
          <a:p>
            <a:pPr lvl="1"/>
            <a:r>
              <a:rPr lang="en-US" dirty="0"/>
              <a:t>Shift from applications to information spaces</a:t>
            </a:r>
          </a:p>
          <a:p>
            <a:pPr lvl="1"/>
            <a:r>
              <a:rPr lang="en-US" dirty="0"/>
              <a:t>Information architecture becomes critical</a:t>
            </a:r>
          </a:p>
          <a:p>
            <a:pPr lvl="1"/>
            <a:r>
              <a:rPr lang="en-US" dirty="0"/>
              <a:t>Navigation matters</a:t>
            </a:r>
          </a:p>
          <a:p>
            <a:pPr lvl="1"/>
            <a:r>
              <a:rPr lang="en-US" dirty="0"/>
              <a:t>Consistency becomes key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0199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C1CE-3072-358D-54BB-C20BD6DD8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5CA4D-1546-83B7-DF41-BF0E83F0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Touch &amp; Mobile Paradigm</a:t>
            </a:r>
          </a:p>
          <a:p>
            <a:r>
              <a:rPr lang="en-US" dirty="0"/>
              <a:t>Model: Direct touch manipulation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smartphones &amp; tablets</a:t>
            </a:r>
          </a:p>
          <a:p>
            <a:r>
              <a:rPr lang="en-US" dirty="0"/>
              <a:t>Shift:</a:t>
            </a:r>
          </a:p>
          <a:p>
            <a:r>
              <a:rPr lang="en-US" dirty="0"/>
              <a:t>UX consequences:</a:t>
            </a:r>
          </a:p>
          <a:p>
            <a:pPr lvl="1"/>
            <a:r>
              <a:rPr lang="en-US" dirty="0"/>
              <a:t>Pointer to finger</a:t>
            </a:r>
          </a:p>
          <a:p>
            <a:pPr lvl="1"/>
            <a:r>
              <a:rPr lang="en-US" dirty="0"/>
              <a:t>Target size matters</a:t>
            </a:r>
          </a:p>
          <a:p>
            <a:pPr lvl="1"/>
            <a:r>
              <a:rPr lang="en-US" dirty="0"/>
              <a:t>Gesture discoverability issues </a:t>
            </a:r>
            <a:r>
              <a:rPr lang="en-US" dirty="0" err="1"/>
              <a:t>eg</a:t>
            </a:r>
            <a:r>
              <a:rPr lang="en-US" dirty="0"/>
              <a:t>: swipe left to archive in Gmail</a:t>
            </a:r>
          </a:p>
          <a:p>
            <a:pPr lvl="1"/>
            <a:r>
              <a:rPr lang="en-US" dirty="0"/>
              <a:t>Context-aware UX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5FC828-2FFD-B376-1366-50959250EC2A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Context-aware:</a:t>
            </a:r>
          </a:p>
          <a:p>
            <a:pPr lvl="1"/>
            <a:r>
              <a:rPr lang="en-US" dirty="0"/>
              <a:t>Location: map </a:t>
            </a:r>
            <a:r>
              <a:rPr lang="en-US" dirty="0" err="1"/>
              <a:t>reccs</a:t>
            </a:r>
            <a:endParaRPr lang="en-US" dirty="0"/>
          </a:p>
          <a:p>
            <a:pPr lvl="1"/>
            <a:r>
              <a:rPr lang="en-US" dirty="0"/>
              <a:t>Time: apps show breakfast items in the morning</a:t>
            </a:r>
          </a:p>
          <a:p>
            <a:pPr lvl="1"/>
            <a:r>
              <a:rPr lang="en-US" dirty="0"/>
              <a:t>Behavior: most recently used apps shown first</a:t>
            </a:r>
          </a:p>
          <a:p>
            <a:pPr lvl="1"/>
            <a:r>
              <a:rPr lang="en-US" dirty="0"/>
              <a:t>Orientation: portrait vs landscape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742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407F-99EC-811E-213A-2BE3DA3E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8AA70-D556-1824-758F-245C57668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Voice &amp; Conversational Interfaces</a:t>
            </a:r>
          </a:p>
          <a:p>
            <a:r>
              <a:rPr lang="en-US" dirty="0"/>
              <a:t>Model: Natural language interaction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Alexa, Siri, Chatbots</a:t>
            </a:r>
          </a:p>
          <a:p>
            <a:r>
              <a:rPr lang="en-US" dirty="0"/>
              <a:t>UX challenges:</a:t>
            </a:r>
          </a:p>
          <a:p>
            <a:pPr lvl="1"/>
            <a:r>
              <a:rPr lang="en-US" dirty="0"/>
              <a:t>Interface disappears</a:t>
            </a:r>
          </a:p>
          <a:p>
            <a:pPr lvl="1"/>
            <a:r>
              <a:rPr lang="en-US" dirty="0"/>
              <a:t>No visual affordance: don’t know what actions are possible</a:t>
            </a:r>
          </a:p>
          <a:p>
            <a:pPr lvl="1"/>
            <a:r>
              <a:rPr lang="en-US" dirty="0"/>
              <a:t>Feedback is invisible: </a:t>
            </a:r>
            <a:r>
              <a:rPr lang="en-US" dirty="0" err="1"/>
              <a:t>eg</a:t>
            </a:r>
            <a:r>
              <a:rPr lang="en-US" dirty="0"/>
              <a:t>: Voice assistant pauses for 3 seconds.</a:t>
            </a:r>
          </a:p>
          <a:p>
            <a:pPr lvl="1"/>
            <a:r>
              <a:rPr lang="en-US" dirty="0"/>
              <a:t>Error recovery is harder, no way of going back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733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3098-D78C-E7DC-E92A-564D742D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F9A9B-025B-C99B-65BF-B9AB89650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timeline are we entering now?</a:t>
            </a:r>
          </a:p>
        </p:txBody>
      </p:sp>
    </p:spTree>
    <p:extLst>
      <p:ext uri="{BB962C8B-B14F-4D97-AF65-F5344CB8AC3E}">
        <p14:creationId xmlns:p14="http://schemas.microsoft.com/office/powerpoint/2010/main" val="34092310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639D1-C5FF-CBDC-00A7-7100B1E80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0D5D-984C-4CB6-578F-3082E73A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- 7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81F9-6384-CC29-294C-B9B191C09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AI &amp; Adaptive Interfaces (Current Shift)</a:t>
            </a:r>
          </a:p>
          <a:p>
            <a:r>
              <a:rPr lang="en-US" dirty="0"/>
              <a:t>Model: System adapts to user</a:t>
            </a:r>
          </a:p>
          <a:p>
            <a:r>
              <a:rPr lang="en-US" dirty="0" err="1"/>
              <a:t>eg</a:t>
            </a:r>
            <a:r>
              <a:rPr lang="en-US" dirty="0"/>
              <a:t>: ChatGPT, AI copilots, recommendation systems</a:t>
            </a:r>
          </a:p>
          <a:p>
            <a:r>
              <a:rPr lang="en-US" dirty="0"/>
              <a:t>UX implications:</a:t>
            </a:r>
          </a:p>
          <a:p>
            <a:pPr lvl="1"/>
            <a:r>
              <a:rPr lang="en-US" dirty="0"/>
              <a:t>User no longer fully controls flow</a:t>
            </a:r>
          </a:p>
          <a:p>
            <a:pPr lvl="1"/>
            <a:r>
              <a:rPr lang="en-US" dirty="0"/>
              <a:t>Trust becomes key</a:t>
            </a:r>
          </a:p>
          <a:p>
            <a:pPr lvl="1"/>
            <a:r>
              <a:rPr lang="en-US" dirty="0"/>
              <a:t>Transparency matters</a:t>
            </a:r>
          </a:p>
          <a:p>
            <a:pPr lvl="1"/>
            <a:r>
              <a:rPr lang="en-US" dirty="0"/>
              <a:t>Explainability needed</a:t>
            </a:r>
          </a:p>
          <a:p>
            <a:pPr lvl="1"/>
            <a:r>
              <a:rPr lang="en-US" dirty="0"/>
              <a:t>Ethical UX required</a:t>
            </a:r>
          </a:p>
        </p:txBody>
      </p:sp>
    </p:spTree>
    <p:extLst>
      <p:ext uri="{BB962C8B-B14F-4D97-AF65-F5344CB8AC3E}">
        <p14:creationId xmlns:p14="http://schemas.microsoft.com/office/powerpoint/2010/main" val="24157662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E1C0-229B-BF03-6576-0A0F22D4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1ED4-C0E9-C10D-182A-951401CAB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paradigm shift changed:</a:t>
            </a:r>
          </a:p>
          <a:p>
            <a:pPr lvl="1"/>
            <a:r>
              <a:rPr lang="en-US" dirty="0"/>
              <a:t>How users think</a:t>
            </a:r>
          </a:p>
          <a:p>
            <a:pPr lvl="1"/>
            <a:r>
              <a:rPr lang="en-US" dirty="0"/>
              <a:t>What designers must optimize</a:t>
            </a:r>
          </a:p>
          <a:p>
            <a:pPr lvl="1"/>
            <a:r>
              <a:rPr lang="en-US" dirty="0"/>
              <a:t>What engineers must implement</a:t>
            </a:r>
          </a:p>
          <a:p>
            <a:r>
              <a:rPr lang="en-US" b="1"/>
              <a:t>UX </a:t>
            </a:r>
            <a:r>
              <a:rPr lang="en-US" b="1" dirty="0"/>
              <a:t>rules are not static — they evolve with interaction paradigms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812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1814-9C6D-69AF-9648-A14B56F0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6CBE9-98DF-E3B4-9203-12D3FA3F2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https://www.youtube.com/watch?v=Ovj4hFxko7c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2F73E-C2BD-9C3B-9CD0-AE232CB70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387" y="2432050"/>
            <a:ext cx="75152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10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06A0-80CC-FC53-81B2-2E4978E0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81DF-D0D7-2988-E80D-DAC9BB266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043577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1426</Words>
  <Application>Microsoft Office PowerPoint</Application>
  <PresentationFormat>Widescreen</PresentationFormat>
  <Paragraphs>223</Paragraphs>
  <Slides>52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CSC-335 HCI &amp; Computer Graphics</vt:lpstr>
      <vt:lpstr>Human Computer Interaction</vt:lpstr>
      <vt:lpstr>Human Computer Interaction</vt:lpstr>
      <vt:lpstr>Human Computer Interaction</vt:lpstr>
      <vt:lpstr>User Centered Design</vt:lpstr>
      <vt:lpstr>What is a good User Experience?</vt:lpstr>
      <vt:lpstr>What is a good User Experience?</vt:lpstr>
      <vt:lpstr>What is a bad User Experience?</vt:lpstr>
      <vt:lpstr>What is a bad User Experience?</vt:lpstr>
      <vt:lpstr>Why does it matter?</vt:lpstr>
      <vt:lpstr>Why does it matter?</vt:lpstr>
      <vt:lpstr>The UX as a whole?</vt:lpstr>
      <vt:lpstr>Example - 1</vt:lpstr>
      <vt:lpstr>Example - 2</vt:lpstr>
      <vt:lpstr>Example - 3</vt:lpstr>
      <vt:lpstr>PowerPoint Presentation</vt:lpstr>
      <vt:lpstr>Interaction Design</vt:lpstr>
      <vt:lpstr>Which Kind of Design?</vt:lpstr>
      <vt:lpstr>HCI &amp; Interaction Design</vt:lpstr>
      <vt:lpstr>What do professionals do in the ID business?</vt:lpstr>
      <vt:lpstr>PowerPoint Presentation</vt:lpstr>
      <vt:lpstr>User Experience</vt:lpstr>
      <vt:lpstr>PowerPoint Presentation</vt:lpstr>
      <vt:lpstr>PowerPoint Presentation</vt:lpstr>
      <vt:lpstr>PowerPoint Presentation</vt:lpstr>
      <vt:lpstr>PowerPoint Presentation</vt:lpstr>
      <vt:lpstr>Usability vs. User Experience</vt:lpstr>
      <vt:lpstr>Is Usability enough?</vt:lpstr>
      <vt:lpstr>PowerPoint Presentation</vt:lpstr>
      <vt:lpstr>PowerPoint Presentation</vt:lpstr>
      <vt:lpstr>PowerPoint Presentation</vt:lpstr>
      <vt:lpstr>PowerPoint Presentation</vt:lpstr>
      <vt:lpstr>User Experience is more than just Usability!</vt:lpstr>
      <vt:lpstr>User Experience - Formally Defined!</vt:lpstr>
      <vt:lpstr>User Centered Design - Relationships</vt:lpstr>
      <vt:lpstr>PowerPoint Presentation</vt:lpstr>
      <vt:lpstr>Usability Goals</vt:lpstr>
      <vt:lpstr>User experience goals</vt:lpstr>
      <vt:lpstr>User experience goals</vt:lpstr>
      <vt:lpstr>Balancing Usability and user experience goals</vt:lpstr>
      <vt:lpstr>PowerPoint Presentation</vt:lpstr>
      <vt:lpstr>Timeline - 1</vt:lpstr>
      <vt:lpstr>Timeline - 2</vt:lpstr>
      <vt:lpstr>Timeline - 3</vt:lpstr>
      <vt:lpstr>Timeline - 4</vt:lpstr>
      <vt:lpstr>Timeline - 5</vt:lpstr>
      <vt:lpstr>Timeline - 6</vt:lpstr>
      <vt:lpstr>Timeline - 7</vt:lpstr>
      <vt:lpstr>Timeline - 7</vt:lpstr>
      <vt:lpstr>Timeline Summary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Zainab Hammad</dc:creator>
  <cp:lastModifiedBy>Zainab Hammad</cp:lastModifiedBy>
  <cp:revision>32</cp:revision>
  <dcterms:created xsi:type="dcterms:W3CDTF">2026-02-08T09:52:21Z</dcterms:created>
  <dcterms:modified xsi:type="dcterms:W3CDTF">2026-02-09T03:14:53Z</dcterms:modified>
</cp:coreProperties>
</file>