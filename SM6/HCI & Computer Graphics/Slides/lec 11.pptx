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60" r:id="rId5"/>
    <p:sldId id="259" r:id="rId6"/>
    <p:sldId id="262" r:id="rId7"/>
    <p:sldId id="264" r:id="rId8"/>
    <p:sldId id="266" r:id="rId9"/>
    <p:sldId id="271" r:id="rId10"/>
    <p:sldId id="268" r:id="rId11"/>
    <p:sldId id="269" r:id="rId12"/>
    <p:sldId id="270" r:id="rId13"/>
    <p:sldId id="273" r:id="rId14"/>
    <p:sldId id="274" r:id="rId15"/>
    <p:sldId id="275" r:id="rId16"/>
    <p:sldId id="276" r:id="rId17"/>
    <p:sldId id="277" r:id="rId18"/>
    <p:sldId id="280" r:id="rId19"/>
    <p:sldId id="278" r:id="rId20"/>
    <p:sldId id="279" r:id="rId21"/>
    <p:sldId id="281" r:id="rId22"/>
    <p:sldId id="282" r:id="rId23"/>
    <p:sldId id="283" r:id="rId24"/>
    <p:sldId id="287" r:id="rId25"/>
    <p:sldId id="284" r:id="rId26"/>
    <p:sldId id="288" r:id="rId27"/>
    <p:sldId id="289" r:id="rId28"/>
    <p:sldId id="290" r:id="rId29"/>
    <p:sldId id="291" r:id="rId30"/>
    <p:sldId id="285" r:id="rId31"/>
    <p:sldId id="286" r:id="rId32"/>
    <p:sldId id="292" r:id="rId33"/>
    <p:sldId id="293" r:id="rId34"/>
    <p:sldId id="294" r:id="rId35"/>
    <p:sldId id="295" r:id="rId36"/>
    <p:sldId id="296" r:id="rId37"/>
    <p:sldId id="303" r:id="rId38"/>
    <p:sldId id="297" r:id="rId39"/>
    <p:sldId id="304" r:id="rId40"/>
    <p:sldId id="306" r:id="rId41"/>
    <p:sldId id="299" r:id="rId42"/>
    <p:sldId id="305" r:id="rId43"/>
    <p:sldId id="307" r:id="rId44"/>
    <p:sldId id="30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31" autoAdjust="0"/>
    <p:restoredTop sz="94660"/>
  </p:normalViewPr>
  <p:slideViewPr>
    <p:cSldViewPr snapToGrid="0">
      <p:cViewPr varScale="1">
        <p:scale>
          <a:sx n="85" d="100"/>
          <a:sy n="85" d="100"/>
        </p:scale>
        <p:origin x="9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94AE3-A6E4-993D-4802-7E782214D3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FB602C-1AC5-7E5B-58EB-B51065B482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7D27F7-29D3-B6A8-D178-6EB2AE045E63}"/>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5" name="Footer Placeholder 4">
            <a:extLst>
              <a:ext uri="{FF2B5EF4-FFF2-40B4-BE49-F238E27FC236}">
                <a16:creationId xmlns:a16="http://schemas.microsoft.com/office/drawing/2014/main" id="{FA865816-C668-F0D1-EE74-128CD9C1D5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38D06-6450-4211-64AD-644BEF50D4E0}"/>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2658920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4357-0A9C-9B47-FAED-28ABF53AC9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5C6126-8B4C-EA2B-3749-F13E3CCEA1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B6F05-DF23-64EE-CA5D-C25D229AC06D}"/>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5" name="Footer Placeholder 4">
            <a:extLst>
              <a:ext uri="{FF2B5EF4-FFF2-40B4-BE49-F238E27FC236}">
                <a16:creationId xmlns:a16="http://schemas.microsoft.com/office/drawing/2014/main" id="{7E423615-2520-B14E-E44D-7B2BCD3916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B17850-3555-881B-4FC4-B703EA291A88}"/>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3196909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654A-05F9-1B80-49B9-208BF5D2E4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6DB956-0708-89E8-7723-A399A4D83F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E49189-274E-C3AC-B37B-DE373ACEDC43}"/>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5" name="Footer Placeholder 4">
            <a:extLst>
              <a:ext uri="{FF2B5EF4-FFF2-40B4-BE49-F238E27FC236}">
                <a16:creationId xmlns:a16="http://schemas.microsoft.com/office/drawing/2014/main" id="{808A1360-D143-085E-2B26-08459A010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2435C-2F6D-91E3-6F7D-10FA472A9287}"/>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1737321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2F43-DFD8-1BE8-3454-D5C532FAA3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D7669A-A069-3E7C-7607-F773557E09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4854FF-06E4-0B62-E24E-BACFC5F7B7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48A8CE-5D80-3546-AA59-F766C54588B4}"/>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6" name="Footer Placeholder 5">
            <a:extLst>
              <a:ext uri="{FF2B5EF4-FFF2-40B4-BE49-F238E27FC236}">
                <a16:creationId xmlns:a16="http://schemas.microsoft.com/office/drawing/2014/main" id="{4FE53004-994C-C93D-1B42-8843BDD88F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5B04B1-4E11-75F7-C7FB-2FAE153DA868}"/>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2948032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839D9-0FC8-6D0D-9F6B-FB8D4878A4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948693-1E0A-133D-2446-3E951B18D8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6BAF92-5E19-C4D4-4CD0-653C8509F2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475E68-9494-C31B-060D-51CD1DE6C1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D615B5-70EF-19FB-0A03-4410719B08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4DC49D-E7CE-25CF-AC1B-B00D499ED0A7}"/>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8" name="Footer Placeholder 7">
            <a:extLst>
              <a:ext uri="{FF2B5EF4-FFF2-40B4-BE49-F238E27FC236}">
                <a16:creationId xmlns:a16="http://schemas.microsoft.com/office/drawing/2014/main" id="{EE473506-C9B5-47C0-4211-8996162ABE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67E6B2-77CD-C7FD-2B24-CB6B2FA82D08}"/>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40217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033A-B57F-36E5-C27C-AC469136A1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FDFCDF-1E98-589F-75E5-7ADA6FAE2359}"/>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4" name="Footer Placeholder 3">
            <a:extLst>
              <a:ext uri="{FF2B5EF4-FFF2-40B4-BE49-F238E27FC236}">
                <a16:creationId xmlns:a16="http://schemas.microsoft.com/office/drawing/2014/main" id="{4B2A8E66-5CD7-B566-DDD3-F72FB5546F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13EBD8-C40F-F383-5446-A44E19D4B8B7}"/>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538769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48E457-D097-9AA4-651E-11DDFB6DADAD}"/>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3" name="Footer Placeholder 2">
            <a:extLst>
              <a:ext uri="{FF2B5EF4-FFF2-40B4-BE49-F238E27FC236}">
                <a16:creationId xmlns:a16="http://schemas.microsoft.com/office/drawing/2014/main" id="{A2910402-2ECA-206F-3B3F-66CCB566D0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D97AE1-9277-7CBA-6780-6E8395C9CC36}"/>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3535784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81C43-0DE9-46BE-F3F9-F80D2C3070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9B2041-7826-F2BC-5F90-0453019AA9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35C0F8-FB3C-2091-A6E7-7D968B9EF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56ECA5-BAAE-349F-C987-2ABF0253DC13}"/>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6" name="Footer Placeholder 5">
            <a:extLst>
              <a:ext uri="{FF2B5EF4-FFF2-40B4-BE49-F238E27FC236}">
                <a16:creationId xmlns:a16="http://schemas.microsoft.com/office/drawing/2014/main" id="{B710C4B6-AF75-CBB4-6B45-19C78DE6EB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45EE1E-7EDE-474B-5182-64FE5557F219}"/>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2899666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0FB75-CDD3-56B0-825E-F84DDC206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94824F-17A1-04F6-3721-DE1768A236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4CBB33-D017-37CF-7C03-05EC49B785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3A59A9-AF64-824F-D918-A2D27BC4064F}"/>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6" name="Footer Placeholder 5">
            <a:extLst>
              <a:ext uri="{FF2B5EF4-FFF2-40B4-BE49-F238E27FC236}">
                <a16:creationId xmlns:a16="http://schemas.microsoft.com/office/drawing/2014/main" id="{741B75F9-FD2B-EDAE-A31F-DA0328AC8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538275-7D2C-D81D-EE72-64F8D83CCDDF}"/>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3599762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0187-2603-66E9-924B-B2A7B47192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525DDB-C618-0633-6F31-C18A95E62B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71B2BE-8BA4-9F1E-77C5-321E94C6D92B}"/>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5" name="Footer Placeholder 4">
            <a:extLst>
              <a:ext uri="{FF2B5EF4-FFF2-40B4-BE49-F238E27FC236}">
                <a16:creationId xmlns:a16="http://schemas.microsoft.com/office/drawing/2014/main" id="{8E963D8B-D2A1-353A-F52C-3D6C7509A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53167-D729-7942-5123-8BD54F50B443}"/>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1390606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E3EE1C-ABAE-55FF-6ECF-B150A8AA58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D4E161-37BE-1554-C842-D78F3BF8FA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86B849-8C2F-FBC4-869C-B7E3FA17EE7C}"/>
              </a:ext>
            </a:extLst>
          </p:cNvPr>
          <p:cNvSpPr>
            <a:spLocks noGrp="1"/>
          </p:cNvSpPr>
          <p:nvPr>
            <p:ph type="dt" sz="half" idx="10"/>
          </p:nvPr>
        </p:nvSpPr>
        <p:spPr/>
        <p:txBody>
          <a:bodyPr/>
          <a:lstStyle/>
          <a:p>
            <a:fld id="{54AC8CD3-8068-4F11-B1F2-060A49C6E884}" type="datetimeFigureOut">
              <a:rPr lang="en-US" smtClean="0"/>
              <a:t>5/14/2026</a:t>
            </a:fld>
            <a:endParaRPr lang="en-US"/>
          </a:p>
        </p:txBody>
      </p:sp>
      <p:sp>
        <p:nvSpPr>
          <p:cNvPr id="5" name="Footer Placeholder 4">
            <a:extLst>
              <a:ext uri="{FF2B5EF4-FFF2-40B4-BE49-F238E27FC236}">
                <a16:creationId xmlns:a16="http://schemas.microsoft.com/office/drawing/2014/main" id="{506F3B95-5280-C81F-CF8C-33A8638BF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B9A7B-E6A2-9CE4-ABC8-39BE34CC4199}"/>
              </a:ext>
            </a:extLst>
          </p:cNvPr>
          <p:cNvSpPr>
            <a:spLocks noGrp="1"/>
          </p:cNvSpPr>
          <p:nvPr>
            <p:ph type="sldNum" sz="quarter" idx="12"/>
          </p:nvPr>
        </p:nvSpPr>
        <p:spPr/>
        <p:txBody>
          <a:bodyPr/>
          <a:lstStyle/>
          <a:p>
            <a:fld id="{5E3FEF85-77D6-4961-BC2E-FEF53B070229}" type="slidenum">
              <a:rPr lang="en-US" smtClean="0"/>
              <a:t>‹#›</a:t>
            </a:fld>
            <a:endParaRPr lang="en-US"/>
          </a:p>
        </p:txBody>
      </p:sp>
    </p:spTree>
    <p:extLst>
      <p:ext uri="{BB962C8B-B14F-4D97-AF65-F5344CB8AC3E}">
        <p14:creationId xmlns:p14="http://schemas.microsoft.com/office/powerpoint/2010/main" val="2501732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4396FD-E5D1-C16C-DCBA-17F415CDC5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17F616-8845-B0E3-4352-808E933C49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23DF79-FBD0-C971-9F07-DD2DFF3BBD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AC8CD3-8068-4F11-B1F2-060A49C6E884}" type="datetimeFigureOut">
              <a:rPr lang="en-US" smtClean="0"/>
              <a:t>5/14/2026</a:t>
            </a:fld>
            <a:endParaRPr lang="en-US"/>
          </a:p>
        </p:txBody>
      </p:sp>
      <p:sp>
        <p:nvSpPr>
          <p:cNvPr id="5" name="Footer Placeholder 4">
            <a:extLst>
              <a:ext uri="{FF2B5EF4-FFF2-40B4-BE49-F238E27FC236}">
                <a16:creationId xmlns:a16="http://schemas.microsoft.com/office/drawing/2014/main" id="{E531074A-6C71-666E-F0C2-7F7743B05C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0EB35A-235F-D338-D37D-04D38B35B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FEF85-77D6-4961-BC2E-FEF53B070229}" type="slidenum">
              <a:rPr lang="en-US" smtClean="0"/>
              <a:t>‹#›</a:t>
            </a:fld>
            <a:endParaRPr lang="en-US"/>
          </a:p>
        </p:txBody>
      </p:sp>
    </p:spTree>
    <p:extLst>
      <p:ext uri="{BB962C8B-B14F-4D97-AF65-F5344CB8AC3E}">
        <p14:creationId xmlns:p14="http://schemas.microsoft.com/office/powerpoint/2010/main" val="212274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7F9B-44B0-8D74-7A42-F938514FF216}"/>
              </a:ext>
            </a:extLst>
          </p:cNvPr>
          <p:cNvSpPr>
            <a:spLocks noGrp="1"/>
          </p:cNvSpPr>
          <p:nvPr>
            <p:ph type="ctrTitle"/>
          </p:nvPr>
        </p:nvSpPr>
        <p:spPr/>
        <p:txBody>
          <a:bodyPr/>
          <a:lstStyle/>
          <a:p>
            <a:r>
              <a:rPr lang="en-US" dirty="0"/>
              <a:t>HCI &amp; Computer Graphics</a:t>
            </a:r>
          </a:p>
        </p:txBody>
      </p:sp>
      <p:sp>
        <p:nvSpPr>
          <p:cNvPr id="3" name="Subtitle 2">
            <a:extLst>
              <a:ext uri="{FF2B5EF4-FFF2-40B4-BE49-F238E27FC236}">
                <a16:creationId xmlns:a16="http://schemas.microsoft.com/office/drawing/2014/main" id="{ABA45133-C886-365F-5D89-00C3A19957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35282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4784-7755-AEA4-1062-9061D49D7AEA}"/>
              </a:ext>
            </a:extLst>
          </p:cNvPr>
          <p:cNvSpPr>
            <a:spLocks noGrp="1"/>
          </p:cNvSpPr>
          <p:nvPr>
            <p:ph type="title"/>
          </p:nvPr>
        </p:nvSpPr>
        <p:spPr/>
        <p:txBody>
          <a:bodyPr/>
          <a:lstStyle/>
          <a:p>
            <a:r>
              <a:rPr lang="en-US" dirty="0"/>
              <a:t>Heuristics</a:t>
            </a:r>
          </a:p>
        </p:txBody>
      </p:sp>
      <p:sp>
        <p:nvSpPr>
          <p:cNvPr id="3" name="Text Placeholder 2">
            <a:extLst>
              <a:ext uri="{FF2B5EF4-FFF2-40B4-BE49-F238E27FC236}">
                <a16:creationId xmlns:a16="http://schemas.microsoft.com/office/drawing/2014/main" id="{1ED3C24C-6EC4-8EC2-424F-A347B3BA23F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2670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FBB9-78EA-2232-1FEA-47FE4EB3ACAB}"/>
              </a:ext>
            </a:extLst>
          </p:cNvPr>
          <p:cNvSpPr>
            <a:spLocks noGrp="1"/>
          </p:cNvSpPr>
          <p:nvPr>
            <p:ph type="title"/>
          </p:nvPr>
        </p:nvSpPr>
        <p:spPr/>
        <p:txBody>
          <a:bodyPr/>
          <a:lstStyle/>
          <a:p>
            <a:r>
              <a:rPr lang="en-US" dirty="0"/>
              <a:t>Nielsen's 10 usability heuristics (1)</a:t>
            </a:r>
          </a:p>
        </p:txBody>
      </p:sp>
      <p:sp>
        <p:nvSpPr>
          <p:cNvPr id="3" name="Content Placeholder 2">
            <a:extLst>
              <a:ext uri="{FF2B5EF4-FFF2-40B4-BE49-F238E27FC236}">
                <a16:creationId xmlns:a16="http://schemas.microsoft.com/office/drawing/2014/main" id="{F39849DA-1E6A-E57E-A839-3D31C0C766DD}"/>
              </a:ext>
            </a:extLst>
          </p:cNvPr>
          <p:cNvSpPr>
            <a:spLocks noGrp="1"/>
          </p:cNvSpPr>
          <p:nvPr>
            <p:ph idx="1"/>
          </p:nvPr>
        </p:nvSpPr>
        <p:spPr/>
        <p:txBody>
          <a:bodyPr/>
          <a:lstStyle/>
          <a:p>
            <a:r>
              <a:rPr lang="en-US" dirty="0"/>
              <a:t>Broad rules of thumb for evaluating UI designs, not strict guidelines but heuristics. </a:t>
            </a:r>
          </a:p>
          <a:p>
            <a:r>
              <a:rPr lang="en-US" dirty="0"/>
              <a:t>Most widely cited usability framework in HCI.</a:t>
            </a:r>
          </a:p>
        </p:txBody>
      </p:sp>
    </p:spTree>
    <p:extLst>
      <p:ext uri="{BB962C8B-B14F-4D97-AF65-F5344CB8AC3E}">
        <p14:creationId xmlns:p14="http://schemas.microsoft.com/office/powerpoint/2010/main" val="460923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32FBD-21FA-7BC8-F37B-151465ABF75F}"/>
              </a:ext>
            </a:extLst>
          </p:cNvPr>
          <p:cNvSpPr>
            <a:spLocks noGrp="1"/>
          </p:cNvSpPr>
          <p:nvPr>
            <p:ph type="title"/>
          </p:nvPr>
        </p:nvSpPr>
        <p:spPr/>
        <p:txBody>
          <a:bodyPr/>
          <a:lstStyle/>
          <a:p>
            <a:r>
              <a:rPr lang="en-US" dirty="0"/>
              <a:t>Nielsen's 10 usability heuristics (2)</a:t>
            </a:r>
          </a:p>
        </p:txBody>
      </p:sp>
      <p:sp>
        <p:nvSpPr>
          <p:cNvPr id="3" name="Content Placeholder 2">
            <a:extLst>
              <a:ext uri="{FF2B5EF4-FFF2-40B4-BE49-F238E27FC236}">
                <a16:creationId xmlns:a16="http://schemas.microsoft.com/office/drawing/2014/main" id="{0F19D972-F11D-9CA8-8099-31A3F58DE041}"/>
              </a:ext>
            </a:extLst>
          </p:cNvPr>
          <p:cNvSpPr>
            <a:spLocks noGrp="1"/>
          </p:cNvSpPr>
          <p:nvPr>
            <p:ph idx="1"/>
          </p:nvPr>
        </p:nvSpPr>
        <p:spPr/>
        <p:txBody>
          <a:bodyPr/>
          <a:lstStyle/>
          <a:p>
            <a:r>
              <a:rPr lang="en-US" dirty="0"/>
              <a:t>H1: Visibility of system status</a:t>
            </a:r>
          </a:p>
          <a:p>
            <a:pPr lvl="1"/>
            <a:r>
              <a:rPr lang="en-US" dirty="0"/>
              <a:t>Always keep users informed about what is going on through appropriate feedback within a reasonable time.</a:t>
            </a:r>
          </a:p>
          <a:p>
            <a:pPr lvl="1"/>
            <a:r>
              <a:rPr lang="en-US" dirty="0"/>
              <a:t>Example: A progress bar during file upload; "Step 3 of 5" in a wizard.</a:t>
            </a:r>
          </a:p>
          <a:p>
            <a:r>
              <a:rPr lang="en-US" dirty="0"/>
              <a:t>H2: Match between system and real world</a:t>
            </a:r>
          </a:p>
          <a:p>
            <a:pPr lvl="1"/>
            <a:r>
              <a:rPr lang="en-US" dirty="0"/>
              <a:t>Use words, phrases, and concepts familiar to the user. Follow real-world conventions and make information appear in a natural, logical order.</a:t>
            </a:r>
          </a:p>
          <a:p>
            <a:pPr lvl="1"/>
            <a:r>
              <a:rPr lang="en-US" dirty="0"/>
              <a:t>Example: A trash can icon for deletion; a shopping cart metaphor in e-commerce.</a:t>
            </a:r>
          </a:p>
          <a:p>
            <a:pPr lvl="1"/>
            <a:endParaRPr lang="en-US" dirty="0"/>
          </a:p>
        </p:txBody>
      </p:sp>
    </p:spTree>
    <p:extLst>
      <p:ext uri="{BB962C8B-B14F-4D97-AF65-F5344CB8AC3E}">
        <p14:creationId xmlns:p14="http://schemas.microsoft.com/office/powerpoint/2010/main" val="4285650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D32B1-73DC-8625-61AA-28F3A52013FD}"/>
              </a:ext>
            </a:extLst>
          </p:cNvPr>
          <p:cNvSpPr>
            <a:spLocks noGrp="1"/>
          </p:cNvSpPr>
          <p:nvPr>
            <p:ph type="title"/>
          </p:nvPr>
        </p:nvSpPr>
        <p:spPr/>
        <p:txBody>
          <a:bodyPr/>
          <a:lstStyle/>
          <a:p>
            <a:r>
              <a:rPr lang="en-US" dirty="0"/>
              <a:t>Nielsen's 10 usability heuristics (3)</a:t>
            </a:r>
          </a:p>
        </p:txBody>
      </p:sp>
      <p:sp>
        <p:nvSpPr>
          <p:cNvPr id="3" name="Content Placeholder 2">
            <a:extLst>
              <a:ext uri="{FF2B5EF4-FFF2-40B4-BE49-F238E27FC236}">
                <a16:creationId xmlns:a16="http://schemas.microsoft.com/office/drawing/2014/main" id="{54FF215D-FAF9-DBD9-198D-61C87E880301}"/>
              </a:ext>
            </a:extLst>
          </p:cNvPr>
          <p:cNvSpPr>
            <a:spLocks noGrp="1"/>
          </p:cNvSpPr>
          <p:nvPr>
            <p:ph idx="1"/>
          </p:nvPr>
        </p:nvSpPr>
        <p:spPr/>
        <p:txBody>
          <a:bodyPr>
            <a:normAutofit/>
          </a:bodyPr>
          <a:lstStyle/>
          <a:p>
            <a:r>
              <a:rPr lang="en-US" dirty="0"/>
              <a:t>H3: User control and freedom</a:t>
            </a:r>
          </a:p>
          <a:p>
            <a:pPr lvl="1"/>
            <a:r>
              <a:rPr lang="en-US" dirty="0"/>
              <a:t>Users often choose functions by mistake. Provide clearly marked "emergency exits“, undo and redo, so they can leave unwanted states without extended dialogue.</a:t>
            </a:r>
          </a:p>
          <a:p>
            <a:pPr lvl="1"/>
            <a:r>
              <a:rPr lang="en-US" dirty="0"/>
              <a:t>Example: Undo in Gmail after sending; a visible Cancel button in multi-step forms.</a:t>
            </a:r>
          </a:p>
          <a:p>
            <a:r>
              <a:rPr lang="en-US" dirty="0"/>
              <a:t>H4: Consistency and standards</a:t>
            </a:r>
          </a:p>
          <a:p>
            <a:pPr lvl="1"/>
            <a:r>
              <a:rPr lang="en-US" dirty="0"/>
              <a:t>Users should not have to wonder whether different words, situations, or actions mean the same thing. Follow platform and industry conventions.</a:t>
            </a:r>
          </a:p>
          <a:p>
            <a:pPr lvl="1"/>
            <a:r>
              <a:rPr lang="en-US" dirty="0"/>
              <a:t>Example: Blue underlined text signals a link; </a:t>
            </a:r>
            <a:r>
              <a:rPr lang="en-US" dirty="0" err="1"/>
              <a:t>Ctrl+Z</a:t>
            </a:r>
            <a:r>
              <a:rPr lang="en-US" dirty="0"/>
              <a:t> means undo across applications.</a:t>
            </a:r>
          </a:p>
          <a:p>
            <a:pPr lvl="1"/>
            <a:endParaRPr lang="en-US" dirty="0"/>
          </a:p>
          <a:p>
            <a:endParaRPr lang="en-US" dirty="0"/>
          </a:p>
        </p:txBody>
      </p:sp>
    </p:spTree>
    <p:extLst>
      <p:ext uri="{BB962C8B-B14F-4D97-AF65-F5344CB8AC3E}">
        <p14:creationId xmlns:p14="http://schemas.microsoft.com/office/powerpoint/2010/main" val="4116645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92E7A-60C5-A158-3FEC-5FB8F6015E4A}"/>
              </a:ext>
            </a:extLst>
          </p:cNvPr>
          <p:cNvSpPr>
            <a:spLocks noGrp="1"/>
          </p:cNvSpPr>
          <p:nvPr>
            <p:ph type="title"/>
          </p:nvPr>
        </p:nvSpPr>
        <p:spPr/>
        <p:txBody>
          <a:bodyPr/>
          <a:lstStyle/>
          <a:p>
            <a:r>
              <a:rPr lang="en-US" dirty="0"/>
              <a:t>Nielsen's 10 usability heuristics (4)</a:t>
            </a:r>
          </a:p>
        </p:txBody>
      </p:sp>
      <p:sp>
        <p:nvSpPr>
          <p:cNvPr id="3" name="Content Placeholder 2">
            <a:extLst>
              <a:ext uri="{FF2B5EF4-FFF2-40B4-BE49-F238E27FC236}">
                <a16:creationId xmlns:a16="http://schemas.microsoft.com/office/drawing/2014/main" id="{EDB76F4B-2569-0A43-F6A4-6F1F663EDC1A}"/>
              </a:ext>
            </a:extLst>
          </p:cNvPr>
          <p:cNvSpPr>
            <a:spLocks noGrp="1"/>
          </p:cNvSpPr>
          <p:nvPr>
            <p:ph idx="1"/>
          </p:nvPr>
        </p:nvSpPr>
        <p:spPr/>
        <p:txBody>
          <a:bodyPr/>
          <a:lstStyle/>
          <a:p>
            <a:r>
              <a:rPr lang="en-US" dirty="0"/>
              <a:t>H5: Error prevention</a:t>
            </a:r>
          </a:p>
          <a:p>
            <a:pPr lvl="1"/>
            <a:r>
              <a:rPr lang="en-US" dirty="0"/>
              <a:t>Better than good error messages is a careful design that prevents the problem from occurring. Eliminate error-prone conditions or present confirmation options.</a:t>
            </a:r>
          </a:p>
          <a:p>
            <a:pPr lvl="1"/>
            <a:r>
              <a:rPr lang="en-US" dirty="0"/>
              <a:t>Example: Graying out unavailable dates; "Are you sure?" before deleting.</a:t>
            </a:r>
          </a:p>
          <a:p>
            <a:r>
              <a:rPr lang="en-US" dirty="0"/>
              <a:t>H6: Recognition rather than recall</a:t>
            </a:r>
          </a:p>
          <a:p>
            <a:pPr lvl="1"/>
            <a:r>
              <a:rPr lang="en-US" dirty="0"/>
              <a:t>Minimize the user's memory load by making objects, actions, and options visible. Instructions should be visible or easily retrievable.</a:t>
            </a:r>
          </a:p>
          <a:p>
            <a:pPr lvl="1"/>
            <a:r>
              <a:rPr lang="en-US" dirty="0"/>
              <a:t>Example: Dropdown menus showing all options; recently visited files list.</a:t>
            </a:r>
          </a:p>
          <a:p>
            <a:pPr lvl="1"/>
            <a:endParaRPr lang="en-US" dirty="0"/>
          </a:p>
        </p:txBody>
      </p:sp>
    </p:spTree>
    <p:extLst>
      <p:ext uri="{BB962C8B-B14F-4D97-AF65-F5344CB8AC3E}">
        <p14:creationId xmlns:p14="http://schemas.microsoft.com/office/powerpoint/2010/main" val="1837337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92F3-ACDB-5935-12B7-DCD990B61781}"/>
              </a:ext>
            </a:extLst>
          </p:cNvPr>
          <p:cNvSpPr>
            <a:spLocks noGrp="1"/>
          </p:cNvSpPr>
          <p:nvPr>
            <p:ph type="title"/>
          </p:nvPr>
        </p:nvSpPr>
        <p:spPr/>
        <p:txBody>
          <a:bodyPr/>
          <a:lstStyle/>
          <a:p>
            <a:r>
              <a:rPr lang="en-US" dirty="0"/>
              <a:t>Nielsen's 10 usability heuristics (5)</a:t>
            </a:r>
          </a:p>
        </p:txBody>
      </p:sp>
      <p:sp>
        <p:nvSpPr>
          <p:cNvPr id="3" name="Content Placeholder 2">
            <a:extLst>
              <a:ext uri="{FF2B5EF4-FFF2-40B4-BE49-F238E27FC236}">
                <a16:creationId xmlns:a16="http://schemas.microsoft.com/office/drawing/2014/main" id="{BBA50E77-57F8-10D6-84F2-2736E54AAA53}"/>
              </a:ext>
            </a:extLst>
          </p:cNvPr>
          <p:cNvSpPr>
            <a:spLocks noGrp="1"/>
          </p:cNvSpPr>
          <p:nvPr>
            <p:ph idx="1"/>
          </p:nvPr>
        </p:nvSpPr>
        <p:spPr/>
        <p:txBody>
          <a:bodyPr/>
          <a:lstStyle/>
          <a:p>
            <a:r>
              <a:rPr lang="en-US" dirty="0"/>
              <a:t>H6: Flexibility and efficiency of use</a:t>
            </a:r>
          </a:p>
          <a:p>
            <a:pPr lvl="1"/>
            <a:r>
              <a:rPr lang="en-US" dirty="0"/>
              <a:t>Accelerators, unseen by novice users, may speed up interaction for experts. </a:t>
            </a:r>
          </a:p>
          <a:p>
            <a:pPr lvl="1"/>
            <a:r>
              <a:rPr lang="en-US" dirty="0"/>
              <a:t>Allow users to tailor frequent actions.</a:t>
            </a:r>
          </a:p>
          <a:p>
            <a:pPr lvl="1"/>
            <a:r>
              <a:rPr lang="en-US" dirty="0"/>
              <a:t>Example: Keyboard shortcuts; autocomplete; power-user modes.</a:t>
            </a:r>
          </a:p>
          <a:p>
            <a:r>
              <a:rPr lang="en-US" dirty="0"/>
              <a:t>H7: Aesthetic and minimalist design</a:t>
            </a:r>
          </a:p>
          <a:p>
            <a:pPr lvl="1"/>
            <a:r>
              <a:rPr lang="en-US" dirty="0"/>
              <a:t>Dialogues should not contain irrelevant or rarely needed information. </a:t>
            </a:r>
          </a:p>
          <a:p>
            <a:pPr lvl="1"/>
            <a:r>
              <a:rPr lang="en-US" dirty="0"/>
              <a:t>Every extra unit of information competes with relevant information and diminishes its relative visibility.</a:t>
            </a:r>
          </a:p>
          <a:p>
            <a:pPr lvl="1"/>
            <a:r>
              <a:rPr lang="en-US" dirty="0"/>
              <a:t>Example: Google's homepage; Apple's product pages.</a:t>
            </a:r>
          </a:p>
          <a:p>
            <a:pPr lvl="1"/>
            <a:endParaRPr lang="en-US" dirty="0"/>
          </a:p>
        </p:txBody>
      </p:sp>
    </p:spTree>
    <p:extLst>
      <p:ext uri="{BB962C8B-B14F-4D97-AF65-F5344CB8AC3E}">
        <p14:creationId xmlns:p14="http://schemas.microsoft.com/office/powerpoint/2010/main" val="468958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A8A3E-8B7F-233D-75E1-EECFC448AFFF}"/>
              </a:ext>
            </a:extLst>
          </p:cNvPr>
          <p:cNvSpPr>
            <a:spLocks noGrp="1"/>
          </p:cNvSpPr>
          <p:nvPr>
            <p:ph type="title"/>
          </p:nvPr>
        </p:nvSpPr>
        <p:spPr/>
        <p:txBody>
          <a:bodyPr>
            <a:normAutofit/>
          </a:bodyPr>
          <a:lstStyle/>
          <a:p>
            <a:r>
              <a:rPr lang="en-US" dirty="0"/>
              <a:t>Nielsen's 10 usability heuristics (6)</a:t>
            </a:r>
          </a:p>
        </p:txBody>
      </p:sp>
      <p:sp>
        <p:nvSpPr>
          <p:cNvPr id="3" name="Content Placeholder 2">
            <a:extLst>
              <a:ext uri="{FF2B5EF4-FFF2-40B4-BE49-F238E27FC236}">
                <a16:creationId xmlns:a16="http://schemas.microsoft.com/office/drawing/2014/main" id="{838218ED-A64F-EDD0-86ED-57760D32C68F}"/>
              </a:ext>
            </a:extLst>
          </p:cNvPr>
          <p:cNvSpPr>
            <a:spLocks noGrp="1"/>
          </p:cNvSpPr>
          <p:nvPr>
            <p:ph idx="1"/>
          </p:nvPr>
        </p:nvSpPr>
        <p:spPr/>
        <p:txBody>
          <a:bodyPr/>
          <a:lstStyle/>
          <a:p>
            <a:r>
              <a:rPr lang="en-US" dirty="0"/>
              <a:t>H9: Help users recognize, diagnose, and recover from errors</a:t>
            </a:r>
          </a:p>
          <a:p>
            <a:pPr lvl="1"/>
            <a:r>
              <a:rPr lang="en-US" dirty="0"/>
              <a:t>Error messages should be in plain language (no codes), precisely indicate the problem, and constructively suggest a solution.</a:t>
            </a:r>
          </a:p>
          <a:p>
            <a:pPr lvl="1"/>
            <a:r>
              <a:rPr lang="en-US" dirty="0"/>
              <a:t>Example: "Incorrect password. Try again or reset it." not "Error 403."</a:t>
            </a:r>
          </a:p>
          <a:p>
            <a:r>
              <a:rPr lang="en-US" dirty="0"/>
              <a:t>H10: Help and documentation</a:t>
            </a:r>
          </a:p>
          <a:p>
            <a:pPr lvl="1"/>
            <a:r>
              <a:rPr lang="en-US" dirty="0"/>
              <a:t>Even though it is better if the system can be used without documentation, help may still be necessary. It should be easy to search, focused on the user's task, and list concrete steps.</a:t>
            </a:r>
          </a:p>
          <a:p>
            <a:pPr lvl="1"/>
            <a:r>
              <a:rPr lang="en-US" dirty="0"/>
              <a:t>Example: Contextual tooltips, inline help text, searchable FAQs.</a:t>
            </a:r>
          </a:p>
          <a:p>
            <a:pPr lvl="1"/>
            <a:endParaRPr lang="en-US" dirty="0"/>
          </a:p>
        </p:txBody>
      </p:sp>
    </p:spTree>
    <p:extLst>
      <p:ext uri="{BB962C8B-B14F-4D97-AF65-F5344CB8AC3E}">
        <p14:creationId xmlns:p14="http://schemas.microsoft.com/office/powerpoint/2010/main" val="1718262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98A76-0FB8-32E2-D648-281C7D63229E}"/>
              </a:ext>
            </a:extLst>
          </p:cNvPr>
          <p:cNvSpPr>
            <a:spLocks noGrp="1"/>
          </p:cNvSpPr>
          <p:nvPr>
            <p:ph type="title"/>
          </p:nvPr>
        </p:nvSpPr>
        <p:spPr/>
        <p:txBody>
          <a:bodyPr/>
          <a:lstStyle/>
          <a:p>
            <a:r>
              <a:rPr lang="en-US" dirty="0" err="1"/>
              <a:t>Shneiderman's</a:t>
            </a:r>
            <a:r>
              <a:rPr lang="en-US" dirty="0"/>
              <a:t> 8 golden rules </a:t>
            </a:r>
          </a:p>
        </p:txBody>
      </p:sp>
      <p:sp>
        <p:nvSpPr>
          <p:cNvPr id="3" name="Text Placeholder 2">
            <a:extLst>
              <a:ext uri="{FF2B5EF4-FFF2-40B4-BE49-F238E27FC236}">
                <a16:creationId xmlns:a16="http://schemas.microsoft.com/office/drawing/2014/main" id="{DDE44F71-2BFD-D4FC-C34C-D46200BD5A9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14705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952C-2A8E-E978-4B7B-7796309993D6}"/>
              </a:ext>
            </a:extLst>
          </p:cNvPr>
          <p:cNvSpPr>
            <a:spLocks noGrp="1"/>
          </p:cNvSpPr>
          <p:nvPr>
            <p:ph type="title"/>
          </p:nvPr>
        </p:nvSpPr>
        <p:spPr/>
        <p:txBody>
          <a:bodyPr/>
          <a:lstStyle/>
          <a:p>
            <a:r>
              <a:rPr lang="en-US" dirty="0" err="1"/>
              <a:t>Shneiderman's</a:t>
            </a:r>
            <a:r>
              <a:rPr lang="en-US" dirty="0"/>
              <a:t> 8 golden rules (1) </a:t>
            </a:r>
          </a:p>
        </p:txBody>
      </p:sp>
      <p:sp>
        <p:nvSpPr>
          <p:cNvPr id="3" name="Content Placeholder 2">
            <a:extLst>
              <a:ext uri="{FF2B5EF4-FFF2-40B4-BE49-F238E27FC236}">
                <a16:creationId xmlns:a16="http://schemas.microsoft.com/office/drawing/2014/main" id="{D3814CA0-A042-F2CA-6364-12C27DF3F170}"/>
              </a:ext>
            </a:extLst>
          </p:cNvPr>
          <p:cNvSpPr>
            <a:spLocks noGrp="1"/>
          </p:cNvSpPr>
          <p:nvPr>
            <p:ph idx="1"/>
          </p:nvPr>
        </p:nvSpPr>
        <p:spPr/>
        <p:txBody>
          <a:bodyPr/>
          <a:lstStyle/>
          <a:p>
            <a:r>
              <a:rPr lang="en-US" dirty="0"/>
              <a:t>Published in: 1986 </a:t>
            </a:r>
          </a:p>
          <a:p>
            <a:r>
              <a:rPr lang="en-US" dirty="0"/>
              <a:t>These are actionable design rules rather than evaluation criteria. </a:t>
            </a:r>
          </a:p>
          <a:p>
            <a:r>
              <a:rPr lang="en-US" dirty="0"/>
              <a:t>Especially relevant for interactive system design.</a:t>
            </a:r>
          </a:p>
          <a:p>
            <a:endParaRPr lang="en-US" dirty="0"/>
          </a:p>
        </p:txBody>
      </p:sp>
    </p:spTree>
    <p:extLst>
      <p:ext uri="{BB962C8B-B14F-4D97-AF65-F5344CB8AC3E}">
        <p14:creationId xmlns:p14="http://schemas.microsoft.com/office/powerpoint/2010/main" val="1350755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E2818-66D9-301A-7E1F-ACC12BA0ED89}"/>
              </a:ext>
            </a:extLst>
          </p:cNvPr>
          <p:cNvSpPr>
            <a:spLocks noGrp="1"/>
          </p:cNvSpPr>
          <p:nvPr>
            <p:ph type="title"/>
          </p:nvPr>
        </p:nvSpPr>
        <p:spPr/>
        <p:txBody>
          <a:bodyPr/>
          <a:lstStyle/>
          <a:p>
            <a:r>
              <a:rPr lang="en-US" dirty="0" err="1"/>
              <a:t>Shneiderman's</a:t>
            </a:r>
            <a:r>
              <a:rPr lang="en-US" dirty="0"/>
              <a:t> 8 golden rules (2) </a:t>
            </a:r>
          </a:p>
        </p:txBody>
      </p:sp>
      <p:sp>
        <p:nvSpPr>
          <p:cNvPr id="3" name="Content Placeholder 2">
            <a:extLst>
              <a:ext uri="{FF2B5EF4-FFF2-40B4-BE49-F238E27FC236}">
                <a16:creationId xmlns:a16="http://schemas.microsoft.com/office/drawing/2014/main" id="{232DAB72-E95C-7F0D-BB52-7150D628E9FB}"/>
              </a:ext>
            </a:extLst>
          </p:cNvPr>
          <p:cNvSpPr>
            <a:spLocks noGrp="1"/>
          </p:cNvSpPr>
          <p:nvPr>
            <p:ph idx="1"/>
          </p:nvPr>
        </p:nvSpPr>
        <p:spPr/>
        <p:txBody>
          <a:bodyPr>
            <a:normAutofit/>
          </a:bodyPr>
          <a:lstStyle/>
          <a:p>
            <a:r>
              <a:rPr lang="en-US" dirty="0"/>
              <a:t>R1: Strive for consistency</a:t>
            </a:r>
          </a:p>
          <a:p>
            <a:pPr lvl="1"/>
            <a:r>
              <a:rPr lang="en-US" dirty="0"/>
              <a:t>Consistent sequences of actions in similar situations; identical terminology in menus, prompts, and help screens; consistent commands throughout.</a:t>
            </a:r>
          </a:p>
          <a:p>
            <a:pPr lvl="1"/>
            <a:r>
              <a:rPr lang="en-US" dirty="0"/>
              <a:t>Example: The same color for all primary action buttons across the entire application.</a:t>
            </a:r>
          </a:p>
          <a:p>
            <a:r>
              <a:rPr lang="en-US" dirty="0"/>
              <a:t>R2: Seek universal usability</a:t>
            </a:r>
          </a:p>
          <a:p>
            <a:pPr lvl="1"/>
            <a:r>
              <a:rPr lang="en-US" dirty="0"/>
              <a:t>Recognize the needs of diverse users, novices to experts, different ages and disabilities. Design for plasticity and provide a range of features for different user groups.</a:t>
            </a:r>
          </a:p>
          <a:p>
            <a:pPr lvl="1"/>
            <a:r>
              <a:rPr lang="en-US" dirty="0"/>
              <a:t>Example: Font size controls, keyboard navigation support, alt text for all images.</a:t>
            </a:r>
          </a:p>
          <a:p>
            <a:endParaRPr lang="en-US" dirty="0"/>
          </a:p>
        </p:txBody>
      </p:sp>
    </p:spTree>
    <p:extLst>
      <p:ext uri="{BB962C8B-B14F-4D97-AF65-F5344CB8AC3E}">
        <p14:creationId xmlns:p14="http://schemas.microsoft.com/office/powerpoint/2010/main" val="1027578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A755-62D4-0723-D724-E834E1F6AE18}"/>
              </a:ext>
            </a:extLst>
          </p:cNvPr>
          <p:cNvSpPr>
            <a:spLocks noGrp="1"/>
          </p:cNvSpPr>
          <p:nvPr>
            <p:ph type="title"/>
          </p:nvPr>
        </p:nvSpPr>
        <p:spPr/>
        <p:txBody>
          <a:bodyPr/>
          <a:lstStyle/>
          <a:p>
            <a:r>
              <a:rPr lang="en-US" dirty="0" err="1"/>
              <a:t>Shneiderman's</a:t>
            </a:r>
            <a:r>
              <a:rPr lang="en-US" dirty="0"/>
              <a:t> 8 golden rules (3)</a:t>
            </a:r>
          </a:p>
        </p:txBody>
      </p:sp>
      <p:sp>
        <p:nvSpPr>
          <p:cNvPr id="3" name="Content Placeholder 2">
            <a:extLst>
              <a:ext uri="{FF2B5EF4-FFF2-40B4-BE49-F238E27FC236}">
                <a16:creationId xmlns:a16="http://schemas.microsoft.com/office/drawing/2014/main" id="{7F36D07F-63CE-5280-A8BD-24ED526CFBC8}"/>
              </a:ext>
            </a:extLst>
          </p:cNvPr>
          <p:cNvSpPr>
            <a:spLocks noGrp="1"/>
          </p:cNvSpPr>
          <p:nvPr>
            <p:ph idx="1"/>
          </p:nvPr>
        </p:nvSpPr>
        <p:spPr/>
        <p:txBody>
          <a:bodyPr>
            <a:normAutofit/>
          </a:bodyPr>
          <a:lstStyle/>
          <a:p>
            <a:r>
              <a:rPr lang="en-US" dirty="0"/>
              <a:t>R3: Offer informative feedback</a:t>
            </a:r>
          </a:p>
          <a:p>
            <a:pPr lvl="1"/>
            <a:r>
              <a:rPr lang="en-US" dirty="0"/>
              <a:t>For every operator action, there should be system feedback. Frequent or minor actions may have modest feedback; infrequent or major actions warrant more substantial feedback.</a:t>
            </a:r>
          </a:p>
          <a:p>
            <a:pPr lvl="1"/>
            <a:r>
              <a:rPr lang="en-US" dirty="0"/>
              <a:t>Example: A "Saved!" toast notification after a form submission.</a:t>
            </a:r>
          </a:p>
          <a:p>
            <a:r>
              <a:rPr lang="en-US" dirty="0"/>
              <a:t>R4: Design dialogs to yield closure</a:t>
            </a:r>
          </a:p>
          <a:p>
            <a:pPr lvl="1"/>
            <a:r>
              <a:rPr lang="en-US" dirty="0"/>
              <a:t>Sequences of actions should be organized into groups with a beginning, middle, and end. Informative feedback at completion gives a sense of accomplishment and signals the next move.</a:t>
            </a:r>
          </a:p>
          <a:p>
            <a:pPr lvl="1"/>
            <a:r>
              <a:rPr lang="en-US" dirty="0"/>
              <a:t>Example: E-commerce checkout ending with an "Order confirmed!" confirmation page.</a:t>
            </a:r>
          </a:p>
          <a:p>
            <a:endParaRPr lang="en-US" dirty="0"/>
          </a:p>
        </p:txBody>
      </p:sp>
    </p:spTree>
    <p:extLst>
      <p:ext uri="{BB962C8B-B14F-4D97-AF65-F5344CB8AC3E}">
        <p14:creationId xmlns:p14="http://schemas.microsoft.com/office/powerpoint/2010/main" val="295993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BAFC5-0378-1BA6-0597-DFFBADF1F97E}"/>
              </a:ext>
            </a:extLst>
          </p:cNvPr>
          <p:cNvSpPr>
            <a:spLocks noGrp="1"/>
          </p:cNvSpPr>
          <p:nvPr>
            <p:ph type="title"/>
          </p:nvPr>
        </p:nvSpPr>
        <p:spPr/>
        <p:txBody>
          <a:bodyPr/>
          <a:lstStyle/>
          <a:p>
            <a:r>
              <a:rPr lang="en-US" dirty="0" err="1"/>
              <a:t>Shneiderman's</a:t>
            </a:r>
            <a:r>
              <a:rPr lang="en-US" dirty="0"/>
              <a:t> 8 golden rules (4) </a:t>
            </a:r>
          </a:p>
        </p:txBody>
      </p:sp>
      <p:sp>
        <p:nvSpPr>
          <p:cNvPr id="3" name="Content Placeholder 2">
            <a:extLst>
              <a:ext uri="{FF2B5EF4-FFF2-40B4-BE49-F238E27FC236}">
                <a16:creationId xmlns:a16="http://schemas.microsoft.com/office/drawing/2014/main" id="{2C2AC5A5-EB8E-F7BF-411C-DCE407FEE138}"/>
              </a:ext>
            </a:extLst>
          </p:cNvPr>
          <p:cNvSpPr>
            <a:spLocks noGrp="1"/>
          </p:cNvSpPr>
          <p:nvPr>
            <p:ph idx="1"/>
          </p:nvPr>
        </p:nvSpPr>
        <p:spPr/>
        <p:txBody>
          <a:bodyPr>
            <a:normAutofit/>
          </a:bodyPr>
          <a:lstStyle/>
          <a:p>
            <a:r>
              <a:rPr lang="en-US" dirty="0"/>
              <a:t>R5: Prevent errors</a:t>
            </a:r>
          </a:p>
          <a:p>
            <a:pPr lvl="1"/>
            <a:r>
              <a:rPr lang="en-US" dirty="0"/>
              <a:t>Design the system so users cannot make serious errors. If an error is made, the system should detect it and offer simple, constructive instructions for recovery.</a:t>
            </a:r>
          </a:p>
          <a:p>
            <a:pPr lvl="1"/>
            <a:r>
              <a:rPr lang="en-US" dirty="0"/>
              <a:t>Example: Disabling the Submit button until all required fields are filled.</a:t>
            </a:r>
          </a:p>
          <a:p>
            <a:r>
              <a:rPr lang="en-US" dirty="0"/>
              <a:t>R6: Permit easy reversal of actions</a:t>
            </a:r>
          </a:p>
          <a:p>
            <a:pPr lvl="1"/>
            <a:r>
              <a:rPr lang="en-US" dirty="0"/>
              <a:t>Actions should be reversible wherever possible. This relieves anxiety, users know they can reverse mistakes, and encourages exploration of unfamiliar options.</a:t>
            </a:r>
          </a:p>
          <a:p>
            <a:pPr lvl="1"/>
            <a:r>
              <a:rPr lang="en-US" dirty="0"/>
              <a:t>Example: Multi-level undo in Photoshop; "Undo send" (30-second window) in Gmail.</a:t>
            </a:r>
          </a:p>
          <a:p>
            <a:endParaRPr lang="en-US" dirty="0"/>
          </a:p>
        </p:txBody>
      </p:sp>
    </p:spTree>
    <p:extLst>
      <p:ext uri="{BB962C8B-B14F-4D97-AF65-F5344CB8AC3E}">
        <p14:creationId xmlns:p14="http://schemas.microsoft.com/office/powerpoint/2010/main" val="3234633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B03E-3F88-9C5D-8483-4A5BA94F8ECA}"/>
              </a:ext>
            </a:extLst>
          </p:cNvPr>
          <p:cNvSpPr>
            <a:spLocks noGrp="1"/>
          </p:cNvSpPr>
          <p:nvPr>
            <p:ph type="title"/>
          </p:nvPr>
        </p:nvSpPr>
        <p:spPr/>
        <p:txBody>
          <a:bodyPr/>
          <a:lstStyle/>
          <a:p>
            <a:r>
              <a:rPr lang="en-US" dirty="0" err="1"/>
              <a:t>Shneiderman's</a:t>
            </a:r>
            <a:r>
              <a:rPr lang="en-US" dirty="0"/>
              <a:t> 8 golden rules (5)</a:t>
            </a:r>
          </a:p>
        </p:txBody>
      </p:sp>
      <p:sp>
        <p:nvSpPr>
          <p:cNvPr id="3" name="Content Placeholder 2">
            <a:extLst>
              <a:ext uri="{FF2B5EF4-FFF2-40B4-BE49-F238E27FC236}">
                <a16:creationId xmlns:a16="http://schemas.microsoft.com/office/drawing/2014/main" id="{606B2E4E-859B-1A66-49F9-380121D7A0DF}"/>
              </a:ext>
            </a:extLst>
          </p:cNvPr>
          <p:cNvSpPr>
            <a:spLocks noGrp="1"/>
          </p:cNvSpPr>
          <p:nvPr>
            <p:ph idx="1"/>
          </p:nvPr>
        </p:nvSpPr>
        <p:spPr/>
        <p:txBody>
          <a:bodyPr>
            <a:normAutofit/>
          </a:bodyPr>
          <a:lstStyle/>
          <a:p>
            <a:r>
              <a:rPr lang="en-US" dirty="0"/>
              <a:t>R7: Keep users in control</a:t>
            </a:r>
          </a:p>
          <a:p>
            <a:pPr lvl="1"/>
            <a:r>
              <a:rPr lang="en-US" dirty="0"/>
              <a:t>Experienced users want to feel in charge of the interface and that it responds to their actions. Surprising or unclear behaviors cause discomfort and reluctance to continue.</a:t>
            </a:r>
          </a:p>
          <a:p>
            <a:pPr lvl="1"/>
            <a:r>
              <a:rPr lang="en-US" dirty="0"/>
              <a:t>Example: Letting users choose notification frequency; optional manual save.</a:t>
            </a:r>
          </a:p>
          <a:p>
            <a:r>
              <a:rPr lang="en-US" dirty="0"/>
              <a:t>R8: Reduce short-term memory load</a:t>
            </a:r>
          </a:p>
          <a:p>
            <a:pPr lvl="1"/>
            <a:r>
              <a:rPr lang="en-US" dirty="0"/>
              <a:t>The limitation of human short-term memory requires that displays be kept simple, multiple-page displays be consolidated, and sufficient training be provided for complex sequences.</a:t>
            </a:r>
          </a:p>
          <a:p>
            <a:pPr lvl="1"/>
            <a:r>
              <a:rPr lang="en-US" dirty="0"/>
              <a:t>Example: Showing previously entered data when users move forward in a multi-page form.</a:t>
            </a:r>
          </a:p>
          <a:p>
            <a:endParaRPr lang="en-US" dirty="0"/>
          </a:p>
        </p:txBody>
      </p:sp>
    </p:spTree>
    <p:extLst>
      <p:ext uri="{BB962C8B-B14F-4D97-AF65-F5344CB8AC3E}">
        <p14:creationId xmlns:p14="http://schemas.microsoft.com/office/powerpoint/2010/main" val="4226672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73E6C-E43B-36C2-2874-9D464435A631}"/>
              </a:ext>
            </a:extLst>
          </p:cNvPr>
          <p:cNvSpPr>
            <a:spLocks noGrp="1"/>
          </p:cNvSpPr>
          <p:nvPr>
            <p:ph type="title"/>
          </p:nvPr>
        </p:nvSpPr>
        <p:spPr/>
        <p:txBody>
          <a:bodyPr/>
          <a:lstStyle/>
          <a:p>
            <a:r>
              <a:rPr lang="en-US" dirty="0"/>
              <a:t>Comparison (1)</a:t>
            </a:r>
          </a:p>
        </p:txBody>
      </p:sp>
      <p:sp>
        <p:nvSpPr>
          <p:cNvPr id="3" name="Content Placeholder 2">
            <a:extLst>
              <a:ext uri="{FF2B5EF4-FFF2-40B4-BE49-F238E27FC236}">
                <a16:creationId xmlns:a16="http://schemas.microsoft.com/office/drawing/2014/main" id="{C67B3876-9BB2-F995-93E8-56611310B4BD}"/>
              </a:ext>
            </a:extLst>
          </p:cNvPr>
          <p:cNvSpPr>
            <a:spLocks noGrp="1"/>
          </p:cNvSpPr>
          <p:nvPr>
            <p:ph idx="1"/>
          </p:nvPr>
        </p:nvSpPr>
        <p:spPr/>
        <p:txBody>
          <a:bodyPr/>
          <a:lstStyle/>
          <a:p>
            <a:r>
              <a:rPr lang="en-US" dirty="0"/>
              <a:t>Rules R1, R3, R5, R6, and R8 map directly to Nielsen's H4, H1, H5, H3, and H6.</a:t>
            </a:r>
          </a:p>
          <a:p>
            <a:r>
              <a:rPr lang="en-US" dirty="0"/>
              <a:t>The two frameworks reinforce each other. In practice, use them together for a comprehensive design and evaluation approach.</a:t>
            </a:r>
          </a:p>
        </p:txBody>
      </p:sp>
    </p:spTree>
    <p:extLst>
      <p:ext uri="{BB962C8B-B14F-4D97-AF65-F5344CB8AC3E}">
        <p14:creationId xmlns:p14="http://schemas.microsoft.com/office/powerpoint/2010/main" val="2172213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AAF7F-EE44-BA06-9449-E01E426029CD}"/>
              </a:ext>
            </a:extLst>
          </p:cNvPr>
          <p:cNvSpPr>
            <a:spLocks noGrp="1"/>
          </p:cNvSpPr>
          <p:nvPr>
            <p:ph type="title"/>
          </p:nvPr>
        </p:nvSpPr>
        <p:spPr/>
        <p:txBody>
          <a:bodyPr/>
          <a:lstStyle/>
          <a:p>
            <a:r>
              <a:rPr lang="en-US" dirty="0"/>
              <a:t>Comparison (2)</a:t>
            </a:r>
          </a:p>
        </p:txBody>
      </p:sp>
      <p:graphicFrame>
        <p:nvGraphicFramePr>
          <p:cNvPr id="4" name="Content Placeholder 3">
            <a:extLst>
              <a:ext uri="{FF2B5EF4-FFF2-40B4-BE49-F238E27FC236}">
                <a16:creationId xmlns:a16="http://schemas.microsoft.com/office/drawing/2014/main" id="{CD50B803-74EA-56F0-9B9A-613CF3E8E4F4}"/>
              </a:ext>
            </a:extLst>
          </p:cNvPr>
          <p:cNvGraphicFramePr>
            <a:graphicFrameLocks noGrp="1"/>
          </p:cNvGraphicFramePr>
          <p:nvPr>
            <p:ph idx="1"/>
            <p:extLst>
              <p:ext uri="{D42A27DB-BD31-4B8C-83A1-F6EECF244321}">
                <p14:modId xmlns:p14="http://schemas.microsoft.com/office/powerpoint/2010/main" val="254774809"/>
              </p:ext>
            </p:extLst>
          </p:nvPr>
        </p:nvGraphicFramePr>
        <p:xfrm>
          <a:off x="1422400" y="2032000"/>
          <a:ext cx="9245600" cy="3005878"/>
        </p:xfrm>
        <a:graphic>
          <a:graphicData uri="http://schemas.openxmlformats.org/drawingml/2006/table">
            <a:tbl>
              <a:tblPr firstRow="1" firstCol="1" bandRow="1">
                <a:tableStyleId>{5C22544A-7EE6-4342-B048-85BDC9FD1C3A}</a:tableStyleId>
              </a:tblPr>
              <a:tblGrid>
                <a:gridCol w="4622800">
                  <a:extLst>
                    <a:ext uri="{9D8B030D-6E8A-4147-A177-3AD203B41FA5}">
                      <a16:colId xmlns:a16="http://schemas.microsoft.com/office/drawing/2014/main" val="543967209"/>
                    </a:ext>
                  </a:extLst>
                </a:gridCol>
                <a:gridCol w="4622800">
                  <a:extLst>
                    <a:ext uri="{9D8B030D-6E8A-4147-A177-3AD203B41FA5}">
                      <a16:colId xmlns:a16="http://schemas.microsoft.com/office/drawing/2014/main" val="2307129737"/>
                    </a:ext>
                  </a:extLst>
                </a:gridCol>
              </a:tblGrid>
              <a:tr h="441699">
                <a:tc>
                  <a:txBody>
                    <a:bodyPr/>
                    <a:lstStyle/>
                    <a:p>
                      <a:pPr marL="0" marR="0">
                        <a:buNone/>
                      </a:pPr>
                      <a:r>
                        <a:rPr lang="en-US" sz="2400" dirty="0">
                          <a:effectLst/>
                        </a:rPr>
                        <a:t>Nielsen's heuristics</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400">
                          <a:effectLst/>
                        </a:rPr>
                        <a:t>Shneiderman's golden rules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858745411"/>
                  </a:ext>
                </a:extLst>
              </a:tr>
              <a:tr h="418853">
                <a:tc>
                  <a:txBody>
                    <a:bodyPr/>
                    <a:lstStyle/>
                    <a:p>
                      <a:pPr marL="0" marR="0">
                        <a:buNone/>
                      </a:pPr>
                      <a:r>
                        <a:rPr lang="en-US" sz="1800">
                          <a:effectLst/>
                        </a:rPr>
                        <a:t>10 principles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8 rules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20257245"/>
                  </a:ext>
                </a:extLst>
              </a:tr>
              <a:tr h="418853">
                <a:tc>
                  <a:txBody>
                    <a:bodyPr/>
                    <a:lstStyle/>
                    <a:p>
                      <a:pPr marL="0" marR="0">
                        <a:buNone/>
                      </a:pPr>
                      <a:r>
                        <a:rPr lang="en-US" sz="1800" dirty="0">
                          <a:effectLst/>
                        </a:rPr>
                        <a:t>Primarily for evaluation (post-design)</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Primarily for design (pre-implementation)</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229309778"/>
                  </a:ext>
                </a:extLst>
              </a:tr>
              <a:tr h="418853">
                <a:tc>
                  <a:txBody>
                    <a:bodyPr/>
                    <a:lstStyle/>
                    <a:p>
                      <a:pPr marL="0" marR="0">
                        <a:buNone/>
                      </a:pPr>
                      <a:r>
                        <a:rPr lang="en-US" sz="1800">
                          <a:effectLst/>
                        </a:rPr>
                        <a:t>Broader and more abstract</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More prescriptive and specific</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579456702"/>
                  </a:ext>
                </a:extLst>
              </a:tr>
              <a:tr h="418853">
                <a:tc>
                  <a:txBody>
                    <a:bodyPr/>
                    <a:lstStyle/>
                    <a:p>
                      <a:pPr marL="0" marR="0">
                        <a:buNone/>
                      </a:pPr>
                      <a:r>
                        <a:rPr lang="en-US" sz="1800">
                          <a:effectLst/>
                        </a:rPr>
                        <a:t>Used in heuristic evaluation sessions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Used as design guidelines during development</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369547020"/>
                  </a:ext>
                </a:extLst>
              </a:tr>
              <a:tr h="418853">
                <a:tc>
                  <a:txBody>
                    <a:bodyPr/>
                    <a:lstStyle/>
                    <a:p>
                      <a:pPr marL="0" marR="0">
                        <a:buNone/>
                      </a:pPr>
                      <a:r>
                        <a:rPr lang="en-US" sz="1800">
                          <a:effectLst/>
                        </a:rPr>
                        <a:t>Emphasises user perception &amp; experience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Emphasises system behaviour &amp; responses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57866574"/>
                  </a:ext>
                </a:extLst>
              </a:tr>
              <a:tr h="418853">
                <a:tc>
                  <a:txBody>
                    <a:bodyPr/>
                    <a:lstStyle/>
                    <a:p>
                      <a:pPr marL="0" marR="0">
                        <a:buNone/>
                      </a:pPr>
                      <a:r>
                        <a:rPr lang="en-US" sz="1800">
                          <a:effectLst/>
                        </a:rPr>
                        <a:t>Published 1990, revised 1994</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Published 1986 (Designing the User Interface)</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741311691"/>
                  </a:ext>
                </a:extLst>
              </a:tr>
            </a:tbl>
          </a:graphicData>
        </a:graphic>
      </p:graphicFrame>
    </p:spTree>
    <p:extLst>
      <p:ext uri="{BB962C8B-B14F-4D97-AF65-F5344CB8AC3E}">
        <p14:creationId xmlns:p14="http://schemas.microsoft.com/office/powerpoint/2010/main" val="3374523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71536-7A94-B4C5-80D2-62B9987548C8}"/>
              </a:ext>
            </a:extLst>
          </p:cNvPr>
          <p:cNvSpPr>
            <a:spLocks noGrp="1"/>
          </p:cNvSpPr>
          <p:nvPr>
            <p:ph type="title"/>
          </p:nvPr>
        </p:nvSpPr>
        <p:spPr/>
        <p:txBody>
          <a:bodyPr/>
          <a:lstStyle/>
          <a:p>
            <a:r>
              <a:rPr lang="en-US" dirty="0"/>
              <a:t>Class activity</a:t>
            </a:r>
          </a:p>
        </p:txBody>
      </p:sp>
      <p:sp>
        <p:nvSpPr>
          <p:cNvPr id="3" name="Content Placeholder 2">
            <a:extLst>
              <a:ext uri="{FF2B5EF4-FFF2-40B4-BE49-F238E27FC236}">
                <a16:creationId xmlns:a16="http://schemas.microsoft.com/office/drawing/2014/main" id="{AF35B621-6B6A-D1B5-2A1F-46DC00D588D5}"/>
              </a:ext>
            </a:extLst>
          </p:cNvPr>
          <p:cNvSpPr>
            <a:spLocks noGrp="1"/>
          </p:cNvSpPr>
          <p:nvPr>
            <p:ph idx="1"/>
          </p:nvPr>
        </p:nvSpPr>
        <p:spPr/>
        <p:txBody>
          <a:bodyPr/>
          <a:lstStyle/>
          <a:p>
            <a:r>
              <a:rPr lang="en-US" dirty="0"/>
              <a:t>Evaluate your university's student portal using both frameworks simultaneously.</a:t>
            </a:r>
          </a:p>
          <a:p>
            <a:r>
              <a:rPr lang="en-US" dirty="0"/>
              <a:t>List 2 violations per framework. </a:t>
            </a:r>
          </a:p>
          <a:p>
            <a:r>
              <a:rPr lang="en-US" dirty="0"/>
              <a:t>Which framework was easier to apply?</a:t>
            </a:r>
          </a:p>
          <a:p>
            <a:r>
              <a:rPr lang="en-US" dirty="0"/>
              <a:t>Why?</a:t>
            </a:r>
          </a:p>
        </p:txBody>
      </p:sp>
    </p:spTree>
    <p:extLst>
      <p:ext uri="{BB962C8B-B14F-4D97-AF65-F5344CB8AC3E}">
        <p14:creationId xmlns:p14="http://schemas.microsoft.com/office/powerpoint/2010/main" val="4202308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120C-3084-FF12-DA8A-9C9EC60AD01A}"/>
              </a:ext>
            </a:extLst>
          </p:cNvPr>
          <p:cNvSpPr>
            <a:spLocks noGrp="1"/>
          </p:cNvSpPr>
          <p:nvPr>
            <p:ph type="title"/>
          </p:nvPr>
        </p:nvSpPr>
        <p:spPr/>
        <p:txBody>
          <a:bodyPr/>
          <a:lstStyle/>
          <a:p>
            <a:r>
              <a:rPr lang="en-US" dirty="0"/>
              <a:t>Error prevention strategies</a:t>
            </a:r>
          </a:p>
        </p:txBody>
      </p:sp>
      <p:sp>
        <p:nvSpPr>
          <p:cNvPr id="3" name="Text Placeholder 2">
            <a:extLst>
              <a:ext uri="{FF2B5EF4-FFF2-40B4-BE49-F238E27FC236}">
                <a16:creationId xmlns:a16="http://schemas.microsoft.com/office/drawing/2014/main" id="{B9B25193-8BC0-7B84-95E2-95CB2A728F5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6640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5D28-3460-768C-3E28-9AACE8A758E1}"/>
              </a:ext>
            </a:extLst>
          </p:cNvPr>
          <p:cNvSpPr>
            <a:spLocks noGrp="1"/>
          </p:cNvSpPr>
          <p:nvPr>
            <p:ph type="title"/>
          </p:nvPr>
        </p:nvSpPr>
        <p:spPr/>
        <p:txBody>
          <a:bodyPr/>
          <a:lstStyle/>
          <a:p>
            <a:r>
              <a:rPr lang="en-US" dirty="0"/>
              <a:t>Recap</a:t>
            </a:r>
          </a:p>
        </p:txBody>
      </p:sp>
      <p:graphicFrame>
        <p:nvGraphicFramePr>
          <p:cNvPr id="4" name="Content Placeholder 3">
            <a:extLst>
              <a:ext uri="{FF2B5EF4-FFF2-40B4-BE49-F238E27FC236}">
                <a16:creationId xmlns:a16="http://schemas.microsoft.com/office/drawing/2014/main" id="{72DD6F64-1F89-7AF9-6E6D-992F3CF01D43}"/>
              </a:ext>
            </a:extLst>
          </p:cNvPr>
          <p:cNvGraphicFramePr>
            <a:graphicFrameLocks noGrp="1"/>
          </p:cNvGraphicFramePr>
          <p:nvPr>
            <p:ph idx="1"/>
            <p:extLst>
              <p:ext uri="{D42A27DB-BD31-4B8C-83A1-F6EECF244321}">
                <p14:modId xmlns:p14="http://schemas.microsoft.com/office/powerpoint/2010/main" val="1525799528"/>
              </p:ext>
            </p:extLst>
          </p:nvPr>
        </p:nvGraphicFramePr>
        <p:xfrm>
          <a:off x="1478844" y="2472268"/>
          <a:ext cx="8322734" cy="3099746"/>
        </p:xfrm>
        <a:graphic>
          <a:graphicData uri="http://schemas.openxmlformats.org/drawingml/2006/table">
            <a:tbl>
              <a:tblPr firstRow="1" firstCol="1" bandRow="1">
                <a:tableStyleId>{5C22544A-7EE6-4342-B048-85BDC9FD1C3A}</a:tableStyleId>
              </a:tblPr>
              <a:tblGrid>
                <a:gridCol w="4161367">
                  <a:extLst>
                    <a:ext uri="{9D8B030D-6E8A-4147-A177-3AD203B41FA5}">
                      <a16:colId xmlns:a16="http://schemas.microsoft.com/office/drawing/2014/main" val="2617497326"/>
                    </a:ext>
                  </a:extLst>
                </a:gridCol>
                <a:gridCol w="4161367">
                  <a:extLst>
                    <a:ext uri="{9D8B030D-6E8A-4147-A177-3AD203B41FA5}">
                      <a16:colId xmlns:a16="http://schemas.microsoft.com/office/drawing/2014/main" val="3798752524"/>
                    </a:ext>
                  </a:extLst>
                </a:gridCol>
              </a:tblGrid>
              <a:tr h="454758">
                <a:tc>
                  <a:txBody>
                    <a:bodyPr/>
                    <a:lstStyle/>
                    <a:p>
                      <a:pPr marL="0" marR="0">
                        <a:buNone/>
                      </a:pPr>
                      <a:r>
                        <a:rPr lang="en-US" sz="1800" dirty="0">
                          <a:effectLst/>
                        </a:rPr>
                        <a:t>Slips (automatic </a:t>
                      </a:r>
                      <a:r>
                        <a:rPr lang="en-US" sz="1800" dirty="0" err="1">
                          <a:effectLst/>
                        </a:rPr>
                        <a:t>behaviour</a:t>
                      </a:r>
                      <a:r>
                        <a:rPr lang="en-US" sz="1800" dirty="0">
                          <a:effectLst/>
                        </a:rPr>
                        <a:t>)</a:t>
                      </a:r>
                      <a:endParaRPr lang="en-US" sz="1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Mistakes (conscious decisions)</a:t>
                      </a:r>
                      <a:endParaRPr lang="en-US" sz="1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979992280"/>
                  </a:ext>
                </a:extLst>
              </a:tr>
              <a:tr h="431236">
                <a:tc>
                  <a:txBody>
                    <a:bodyPr/>
                    <a:lstStyle/>
                    <a:p>
                      <a:pPr marL="0" marR="0">
                        <a:buNone/>
                      </a:pPr>
                      <a:r>
                        <a:rPr lang="en-US" sz="1800">
                          <a:effectLst/>
                        </a:rPr>
                        <a:t>Correct intention, wrong action</a:t>
                      </a:r>
                      <a:endParaRPr lang="en-US" sz="1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Wrong intention, consistently executed</a:t>
                      </a:r>
                      <a:endParaRPr lang="en-US" sz="1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449316829"/>
                  </a:ext>
                </a:extLst>
              </a:tr>
              <a:tr h="431236">
                <a:tc>
                  <a:txBody>
                    <a:bodyPr/>
                    <a:lstStyle/>
                    <a:p>
                      <a:pPr marL="0" marR="0">
                        <a:buNone/>
                      </a:pPr>
                      <a:r>
                        <a:rPr lang="en-US" sz="1800" dirty="0">
                          <a:effectLst/>
                        </a:rPr>
                        <a:t>Capture errors, habitual action takes over</a:t>
                      </a:r>
                      <a:endParaRPr lang="en-US" sz="1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Rule-based: wrong rule applied</a:t>
                      </a:r>
                      <a:endParaRPr lang="en-US" sz="1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006574071"/>
                  </a:ext>
                </a:extLst>
              </a:tr>
              <a:tr h="431236">
                <a:tc>
                  <a:txBody>
                    <a:bodyPr/>
                    <a:lstStyle/>
                    <a:p>
                      <a:pPr marL="0" marR="0">
                        <a:buNone/>
                      </a:pPr>
                      <a:r>
                        <a:rPr lang="en-US" sz="1800" dirty="0">
                          <a:effectLst/>
                        </a:rPr>
                        <a:t>Description errors, right action, wrong object</a:t>
                      </a:r>
                      <a:endParaRPr lang="en-US" sz="1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Knowledge-based: lack of understanding</a:t>
                      </a:r>
                      <a:endParaRPr lang="en-US" sz="1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564129087"/>
                  </a:ext>
                </a:extLst>
              </a:tr>
              <a:tr h="431236">
                <a:tc>
                  <a:txBody>
                    <a:bodyPr/>
                    <a:lstStyle/>
                    <a:p>
                      <a:pPr marL="0" marR="0">
                        <a:buNone/>
                      </a:pPr>
                      <a:r>
                        <a:rPr lang="en-US" sz="1800" dirty="0">
                          <a:effectLst/>
                        </a:rPr>
                        <a:t>Mode errors, right action in wrong mode</a:t>
                      </a:r>
                      <a:endParaRPr lang="en-US" sz="1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Much harder to detect and prevent</a:t>
                      </a:r>
                      <a:endParaRPr lang="en-US" sz="1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838514705"/>
                  </a:ext>
                </a:extLst>
              </a:tr>
              <a:tr h="666455">
                <a:tc>
                  <a:txBody>
                    <a:bodyPr/>
                    <a:lstStyle/>
                    <a:p>
                      <a:pPr marL="0" marR="0">
                        <a:buNone/>
                      </a:pPr>
                      <a:r>
                        <a:rPr lang="en-US" sz="1800">
                          <a:effectLst/>
                        </a:rPr>
                        <a:t>Example: typing old password after changing it</a:t>
                      </a:r>
                      <a:endParaRPr lang="en-US" sz="1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Example: choosing wrong date format (MM/DD vs DD/MM)</a:t>
                      </a:r>
                      <a:endParaRPr lang="en-US" sz="18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221107332"/>
                  </a:ext>
                </a:extLst>
              </a:tr>
            </a:tbl>
          </a:graphicData>
        </a:graphic>
      </p:graphicFrame>
    </p:spTree>
    <p:extLst>
      <p:ext uri="{BB962C8B-B14F-4D97-AF65-F5344CB8AC3E}">
        <p14:creationId xmlns:p14="http://schemas.microsoft.com/office/powerpoint/2010/main" val="513269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B8A6-6734-A0E9-ACFE-ABE34C0CC3B6}"/>
              </a:ext>
            </a:extLst>
          </p:cNvPr>
          <p:cNvSpPr>
            <a:spLocks noGrp="1"/>
          </p:cNvSpPr>
          <p:nvPr>
            <p:ph type="title"/>
          </p:nvPr>
        </p:nvSpPr>
        <p:spPr/>
        <p:txBody>
          <a:bodyPr/>
          <a:lstStyle/>
          <a:p>
            <a:r>
              <a:rPr lang="en-US" dirty="0"/>
              <a:t>Error prevention strategies (1) </a:t>
            </a:r>
          </a:p>
        </p:txBody>
      </p:sp>
      <p:sp>
        <p:nvSpPr>
          <p:cNvPr id="3" name="Content Placeholder 2">
            <a:extLst>
              <a:ext uri="{FF2B5EF4-FFF2-40B4-BE49-F238E27FC236}">
                <a16:creationId xmlns:a16="http://schemas.microsoft.com/office/drawing/2014/main" id="{D6D7BDAA-0B2E-4AA1-E79B-C7EFDDEB205F}"/>
              </a:ext>
            </a:extLst>
          </p:cNvPr>
          <p:cNvSpPr>
            <a:spLocks noGrp="1"/>
          </p:cNvSpPr>
          <p:nvPr>
            <p:ph idx="1"/>
          </p:nvPr>
        </p:nvSpPr>
        <p:spPr/>
        <p:txBody>
          <a:bodyPr/>
          <a:lstStyle/>
          <a:p>
            <a:r>
              <a:rPr lang="en-US" dirty="0"/>
              <a:t>Good design anticipates errors before they happen. </a:t>
            </a:r>
          </a:p>
          <a:p>
            <a:r>
              <a:rPr lang="en-US" dirty="0"/>
              <a:t>Nielsen's H5 and </a:t>
            </a:r>
            <a:r>
              <a:rPr lang="en-US" dirty="0" err="1"/>
              <a:t>Shneiderman's</a:t>
            </a:r>
            <a:r>
              <a:rPr lang="en-US" dirty="0"/>
              <a:t> R5 both prioritize prevention over recovery. </a:t>
            </a:r>
          </a:p>
        </p:txBody>
      </p:sp>
    </p:spTree>
    <p:extLst>
      <p:ext uri="{BB962C8B-B14F-4D97-AF65-F5344CB8AC3E}">
        <p14:creationId xmlns:p14="http://schemas.microsoft.com/office/powerpoint/2010/main" val="936114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1594F-3474-D267-A32C-75371D598316}"/>
              </a:ext>
            </a:extLst>
          </p:cNvPr>
          <p:cNvSpPr>
            <a:spLocks noGrp="1"/>
          </p:cNvSpPr>
          <p:nvPr>
            <p:ph type="title"/>
          </p:nvPr>
        </p:nvSpPr>
        <p:spPr/>
        <p:txBody>
          <a:bodyPr/>
          <a:lstStyle/>
          <a:p>
            <a:r>
              <a:rPr lang="en-US" dirty="0"/>
              <a:t>Error prevention strategies (2) </a:t>
            </a:r>
          </a:p>
        </p:txBody>
      </p:sp>
      <p:sp>
        <p:nvSpPr>
          <p:cNvPr id="3" name="Content Placeholder 2">
            <a:extLst>
              <a:ext uri="{FF2B5EF4-FFF2-40B4-BE49-F238E27FC236}">
                <a16:creationId xmlns:a16="http://schemas.microsoft.com/office/drawing/2014/main" id="{BD202016-1944-37C3-4D93-A58D37488B79}"/>
              </a:ext>
            </a:extLst>
          </p:cNvPr>
          <p:cNvSpPr>
            <a:spLocks noGrp="1"/>
          </p:cNvSpPr>
          <p:nvPr>
            <p:ph idx="1"/>
          </p:nvPr>
        </p:nvSpPr>
        <p:spPr/>
        <p:txBody>
          <a:bodyPr>
            <a:normAutofit/>
          </a:bodyPr>
          <a:lstStyle/>
          <a:p>
            <a:r>
              <a:rPr lang="en-US" dirty="0"/>
              <a:t>P1: Constrain inputs</a:t>
            </a:r>
          </a:p>
          <a:p>
            <a:pPr lvl="1"/>
            <a:r>
              <a:rPr lang="en-US" dirty="0"/>
              <a:t>Limit what the user can enter to only valid options. Use input masks, date pickers, and dropdowns instead of free-text fields where possible.</a:t>
            </a:r>
          </a:p>
          <a:p>
            <a:pPr lvl="1"/>
            <a:r>
              <a:rPr lang="en-US" dirty="0"/>
              <a:t>Example: Phone number field that accepts only digits; a calendar widget instead of a typed date.</a:t>
            </a:r>
          </a:p>
          <a:p>
            <a:r>
              <a:rPr lang="en-US" dirty="0"/>
              <a:t>P2: Inline validation</a:t>
            </a:r>
          </a:p>
          <a:p>
            <a:pPr lvl="1"/>
            <a:r>
              <a:rPr lang="en-US" dirty="0"/>
              <a:t>Check input correctness as the user types or immediately on focus loss — not after submission. Provide clear, positive guidance (not just "error").</a:t>
            </a:r>
          </a:p>
          <a:p>
            <a:pPr lvl="1"/>
            <a:r>
              <a:rPr lang="en-US" dirty="0"/>
              <a:t>Example: Password strength meter shown while typing; "Valid email" confirmation in green.</a:t>
            </a:r>
          </a:p>
          <a:p>
            <a:endParaRPr lang="en-US" dirty="0"/>
          </a:p>
        </p:txBody>
      </p:sp>
    </p:spTree>
    <p:extLst>
      <p:ext uri="{BB962C8B-B14F-4D97-AF65-F5344CB8AC3E}">
        <p14:creationId xmlns:p14="http://schemas.microsoft.com/office/powerpoint/2010/main" val="1278878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C5B1-4E44-7C80-8CC8-ED8C7D33AAF9}"/>
              </a:ext>
            </a:extLst>
          </p:cNvPr>
          <p:cNvSpPr>
            <a:spLocks noGrp="1"/>
          </p:cNvSpPr>
          <p:nvPr>
            <p:ph type="title"/>
          </p:nvPr>
        </p:nvSpPr>
        <p:spPr/>
        <p:txBody>
          <a:bodyPr/>
          <a:lstStyle/>
          <a:p>
            <a:r>
              <a:rPr lang="en-US" dirty="0"/>
              <a:t>Error prevention strategies (3) </a:t>
            </a:r>
          </a:p>
        </p:txBody>
      </p:sp>
      <p:sp>
        <p:nvSpPr>
          <p:cNvPr id="3" name="Content Placeholder 2">
            <a:extLst>
              <a:ext uri="{FF2B5EF4-FFF2-40B4-BE49-F238E27FC236}">
                <a16:creationId xmlns:a16="http://schemas.microsoft.com/office/drawing/2014/main" id="{BC5BA0C1-7CF4-6918-01F0-04DC51777983}"/>
              </a:ext>
            </a:extLst>
          </p:cNvPr>
          <p:cNvSpPr>
            <a:spLocks noGrp="1"/>
          </p:cNvSpPr>
          <p:nvPr>
            <p:ph idx="1"/>
          </p:nvPr>
        </p:nvSpPr>
        <p:spPr/>
        <p:txBody>
          <a:bodyPr>
            <a:normAutofit/>
          </a:bodyPr>
          <a:lstStyle/>
          <a:p>
            <a:r>
              <a:rPr lang="en-US" dirty="0"/>
              <a:t>P3: Confirmation for destructive actions</a:t>
            </a:r>
          </a:p>
          <a:p>
            <a:pPr lvl="1"/>
            <a:r>
              <a:rPr lang="en-US" dirty="0"/>
              <a:t>Before irreversible actions (delete, send, publish), ask for confirmation. Use friction proportional to consequence — a modal for "delete all" is appropriate; one for "change font" is not.</a:t>
            </a:r>
          </a:p>
          <a:p>
            <a:pPr lvl="1"/>
            <a:r>
              <a:rPr lang="en-US" dirty="0"/>
              <a:t>Example: "Are you sure you want to delete this file? This cannot be undone."</a:t>
            </a:r>
          </a:p>
          <a:p>
            <a:r>
              <a:rPr lang="en-US" dirty="0"/>
              <a:t>P4: Affordances and mapping</a:t>
            </a:r>
          </a:p>
          <a:p>
            <a:pPr lvl="1"/>
            <a:r>
              <a:rPr lang="en-US" dirty="0"/>
              <a:t>Design controls so their appearance suggests their function (affordances) and their position/grouping matches expected </a:t>
            </a:r>
            <a:r>
              <a:rPr lang="en-US" dirty="0" err="1"/>
              <a:t>behaviour</a:t>
            </a:r>
            <a:r>
              <a:rPr lang="en-US" dirty="0"/>
              <a:t> (mapping). Good mapping reduces mode errors.</a:t>
            </a:r>
          </a:p>
          <a:p>
            <a:pPr lvl="1"/>
            <a:r>
              <a:rPr lang="en-US" dirty="0"/>
              <a:t>Example: A horizontal slider for volume control; a toggle switch with clear on/off state.</a:t>
            </a:r>
          </a:p>
          <a:p>
            <a:endParaRPr lang="en-US" dirty="0"/>
          </a:p>
        </p:txBody>
      </p:sp>
    </p:spTree>
    <p:extLst>
      <p:ext uri="{BB962C8B-B14F-4D97-AF65-F5344CB8AC3E}">
        <p14:creationId xmlns:p14="http://schemas.microsoft.com/office/powerpoint/2010/main" val="1901912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642E0-6A07-A28B-8CC2-62FB09E33216}"/>
              </a:ext>
            </a:extLst>
          </p:cNvPr>
          <p:cNvSpPr>
            <a:spLocks noGrp="1"/>
          </p:cNvSpPr>
          <p:nvPr>
            <p:ph type="title"/>
          </p:nvPr>
        </p:nvSpPr>
        <p:spPr/>
        <p:txBody>
          <a:bodyPr/>
          <a:lstStyle/>
          <a:p>
            <a:r>
              <a:rPr lang="en-US" dirty="0"/>
              <a:t>Error prevention strategies (4) </a:t>
            </a:r>
          </a:p>
        </p:txBody>
      </p:sp>
      <p:sp>
        <p:nvSpPr>
          <p:cNvPr id="3" name="Content Placeholder 2">
            <a:extLst>
              <a:ext uri="{FF2B5EF4-FFF2-40B4-BE49-F238E27FC236}">
                <a16:creationId xmlns:a16="http://schemas.microsoft.com/office/drawing/2014/main" id="{3B4DC007-A9B1-E628-1F68-CA96AB93A538}"/>
              </a:ext>
            </a:extLst>
          </p:cNvPr>
          <p:cNvSpPr>
            <a:spLocks noGrp="1"/>
          </p:cNvSpPr>
          <p:nvPr>
            <p:ph idx="1"/>
          </p:nvPr>
        </p:nvSpPr>
        <p:spPr/>
        <p:txBody>
          <a:bodyPr>
            <a:normAutofit/>
          </a:bodyPr>
          <a:lstStyle/>
          <a:p>
            <a:r>
              <a:rPr lang="en-US" dirty="0"/>
              <a:t>P5: Make modes visible</a:t>
            </a:r>
          </a:p>
          <a:p>
            <a:pPr lvl="1"/>
            <a:r>
              <a:rPr lang="en-US" dirty="0"/>
              <a:t>Mode errors are dangerous. Always make the current mode explicit through visual indicators — not just tooltips or status bars the user may miss.</a:t>
            </a:r>
          </a:p>
          <a:p>
            <a:pPr lvl="1"/>
            <a:r>
              <a:rPr lang="en-US" dirty="0"/>
              <a:t>Example: Caps Lock indicator on a login form; "You are in Edit Mode" banner in a CMS.</a:t>
            </a:r>
          </a:p>
          <a:p>
            <a:r>
              <a:rPr lang="en-US" dirty="0"/>
              <a:t>P6: Undo and graceful recovery	</a:t>
            </a:r>
          </a:p>
          <a:p>
            <a:pPr lvl="1"/>
            <a:r>
              <a:rPr lang="en-US" dirty="0"/>
              <a:t>When errors cannot be fully prevented, make recovery easy. Support multi-level undo, provide clear error messages with corrective actions, and never silently lose user data.</a:t>
            </a:r>
          </a:p>
          <a:p>
            <a:pPr lvl="1"/>
            <a:r>
              <a:rPr lang="en-US" dirty="0"/>
              <a:t>Example: Gmail's "Undo send"; autosave + version history in Google Docs.</a:t>
            </a:r>
          </a:p>
          <a:p>
            <a:endParaRPr lang="en-US" dirty="0"/>
          </a:p>
        </p:txBody>
      </p:sp>
    </p:spTree>
    <p:extLst>
      <p:ext uri="{BB962C8B-B14F-4D97-AF65-F5344CB8AC3E}">
        <p14:creationId xmlns:p14="http://schemas.microsoft.com/office/powerpoint/2010/main" val="1948952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647FD-1D9A-C679-7F54-CEC7E979DA37}"/>
              </a:ext>
            </a:extLst>
          </p:cNvPr>
          <p:cNvSpPr>
            <a:spLocks noGrp="1"/>
          </p:cNvSpPr>
          <p:nvPr>
            <p:ph type="title"/>
          </p:nvPr>
        </p:nvSpPr>
        <p:spPr/>
        <p:txBody>
          <a:bodyPr/>
          <a:lstStyle/>
          <a:p>
            <a:r>
              <a:rPr lang="en-US" dirty="0"/>
              <a:t>Feedback mechanisms </a:t>
            </a:r>
          </a:p>
        </p:txBody>
      </p:sp>
      <p:sp>
        <p:nvSpPr>
          <p:cNvPr id="3" name="Text Placeholder 2">
            <a:extLst>
              <a:ext uri="{FF2B5EF4-FFF2-40B4-BE49-F238E27FC236}">
                <a16:creationId xmlns:a16="http://schemas.microsoft.com/office/drawing/2014/main" id="{2490667A-D645-45DE-36A1-8B3B3A76F3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25475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04D2-A60B-848F-7BDE-ABD59E480D03}"/>
              </a:ext>
            </a:extLst>
          </p:cNvPr>
          <p:cNvSpPr>
            <a:spLocks noGrp="1"/>
          </p:cNvSpPr>
          <p:nvPr>
            <p:ph type="title"/>
          </p:nvPr>
        </p:nvSpPr>
        <p:spPr/>
        <p:txBody>
          <a:bodyPr/>
          <a:lstStyle/>
          <a:p>
            <a:r>
              <a:rPr lang="en-US" dirty="0"/>
              <a:t>Feedback mechanisms (1) </a:t>
            </a:r>
          </a:p>
        </p:txBody>
      </p:sp>
      <p:sp>
        <p:nvSpPr>
          <p:cNvPr id="3" name="Content Placeholder 2">
            <a:extLst>
              <a:ext uri="{FF2B5EF4-FFF2-40B4-BE49-F238E27FC236}">
                <a16:creationId xmlns:a16="http://schemas.microsoft.com/office/drawing/2014/main" id="{2AD84E30-3011-B219-222C-1614954C887A}"/>
              </a:ext>
            </a:extLst>
          </p:cNvPr>
          <p:cNvSpPr>
            <a:spLocks noGrp="1"/>
          </p:cNvSpPr>
          <p:nvPr>
            <p:ph idx="1"/>
          </p:nvPr>
        </p:nvSpPr>
        <p:spPr/>
        <p:txBody>
          <a:bodyPr/>
          <a:lstStyle/>
          <a:p>
            <a:r>
              <a:rPr lang="en-US" dirty="0"/>
              <a:t>Feedback closes the loop between user action and system response. </a:t>
            </a:r>
          </a:p>
          <a:p>
            <a:r>
              <a:rPr lang="en-US" dirty="0"/>
              <a:t>Covered in Nielsen's H1 (visibility of system status) and </a:t>
            </a:r>
            <a:r>
              <a:rPr lang="en-US" dirty="0" err="1"/>
              <a:t>Shneiderman's</a:t>
            </a:r>
            <a:r>
              <a:rPr lang="en-US" dirty="0"/>
              <a:t> R3 (informative feedback). </a:t>
            </a:r>
          </a:p>
          <a:p>
            <a:r>
              <a:rPr lang="en-US" dirty="0"/>
              <a:t>Effective feedback is timely, relevant, and proportional.</a:t>
            </a:r>
          </a:p>
          <a:p>
            <a:endParaRPr lang="en-US" dirty="0"/>
          </a:p>
        </p:txBody>
      </p:sp>
    </p:spTree>
    <p:extLst>
      <p:ext uri="{BB962C8B-B14F-4D97-AF65-F5344CB8AC3E}">
        <p14:creationId xmlns:p14="http://schemas.microsoft.com/office/powerpoint/2010/main" val="1132681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C2C87-46BE-B45A-562C-3CCDDDFCB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86C66-BAB9-DA89-4089-65405A2EFE79}"/>
              </a:ext>
            </a:extLst>
          </p:cNvPr>
          <p:cNvSpPr>
            <a:spLocks noGrp="1"/>
          </p:cNvSpPr>
          <p:nvPr>
            <p:ph type="title"/>
          </p:nvPr>
        </p:nvSpPr>
        <p:spPr/>
        <p:txBody>
          <a:bodyPr/>
          <a:lstStyle/>
          <a:p>
            <a:r>
              <a:rPr lang="en-US" dirty="0"/>
              <a:t>Feedback mechanisms (2) </a:t>
            </a:r>
          </a:p>
        </p:txBody>
      </p:sp>
      <p:sp>
        <p:nvSpPr>
          <p:cNvPr id="3" name="Content Placeholder 2">
            <a:extLst>
              <a:ext uri="{FF2B5EF4-FFF2-40B4-BE49-F238E27FC236}">
                <a16:creationId xmlns:a16="http://schemas.microsoft.com/office/drawing/2014/main" id="{2DDBC3A4-1DEC-FD64-A99B-C9861BA49CEB}"/>
              </a:ext>
            </a:extLst>
          </p:cNvPr>
          <p:cNvSpPr>
            <a:spLocks noGrp="1"/>
          </p:cNvSpPr>
          <p:nvPr>
            <p:ph idx="1"/>
          </p:nvPr>
        </p:nvSpPr>
        <p:spPr/>
        <p:txBody>
          <a:bodyPr/>
          <a:lstStyle/>
          <a:p>
            <a:r>
              <a:rPr lang="en-US" dirty="0"/>
              <a:t>With respect to response time</a:t>
            </a:r>
          </a:p>
        </p:txBody>
      </p:sp>
      <p:graphicFrame>
        <p:nvGraphicFramePr>
          <p:cNvPr id="4" name="Table 3">
            <a:extLst>
              <a:ext uri="{FF2B5EF4-FFF2-40B4-BE49-F238E27FC236}">
                <a16:creationId xmlns:a16="http://schemas.microsoft.com/office/drawing/2014/main" id="{4A33FBDB-E628-A505-D160-441B3EAF6100}"/>
              </a:ext>
            </a:extLst>
          </p:cNvPr>
          <p:cNvGraphicFramePr>
            <a:graphicFrameLocks noGrp="1"/>
          </p:cNvGraphicFramePr>
          <p:nvPr>
            <p:extLst>
              <p:ext uri="{D42A27DB-BD31-4B8C-83A1-F6EECF244321}">
                <p14:modId xmlns:p14="http://schemas.microsoft.com/office/powerpoint/2010/main" val="1479920740"/>
              </p:ext>
            </p:extLst>
          </p:nvPr>
        </p:nvGraphicFramePr>
        <p:xfrm>
          <a:off x="993421" y="2630312"/>
          <a:ext cx="10024535" cy="3390345"/>
        </p:xfrm>
        <a:graphic>
          <a:graphicData uri="http://schemas.openxmlformats.org/drawingml/2006/table">
            <a:tbl>
              <a:tblPr firstRow="1" firstCol="1" bandRow="1">
                <a:tableStyleId>{5C22544A-7EE6-4342-B048-85BDC9FD1C3A}</a:tableStyleId>
              </a:tblPr>
              <a:tblGrid>
                <a:gridCol w="1927795">
                  <a:extLst>
                    <a:ext uri="{9D8B030D-6E8A-4147-A177-3AD203B41FA5}">
                      <a16:colId xmlns:a16="http://schemas.microsoft.com/office/drawing/2014/main" val="3296533291"/>
                    </a:ext>
                  </a:extLst>
                </a:gridCol>
                <a:gridCol w="1606496">
                  <a:extLst>
                    <a:ext uri="{9D8B030D-6E8A-4147-A177-3AD203B41FA5}">
                      <a16:colId xmlns:a16="http://schemas.microsoft.com/office/drawing/2014/main" val="2011027325"/>
                    </a:ext>
                  </a:extLst>
                </a:gridCol>
                <a:gridCol w="2784594">
                  <a:extLst>
                    <a:ext uri="{9D8B030D-6E8A-4147-A177-3AD203B41FA5}">
                      <a16:colId xmlns:a16="http://schemas.microsoft.com/office/drawing/2014/main" val="4102786784"/>
                    </a:ext>
                  </a:extLst>
                </a:gridCol>
                <a:gridCol w="3705650">
                  <a:extLst>
                    <a:ext uri="{9D8B030D-6E8A-4147-A177-3AD203B41FA5}">
                      <a16:colId xmlns:a16="http://schemas.microsoft.com/office/drawing/2014/main" val="3020484477"/>
                    </a:ext>
                  </a:extLst>
                </a:gridCol>
              </a:tblGrid>
              <a:tr h="746495">
                <a:tc>
                  <a:txBody>
                    <a:bodyPr/>
                    <a:lstStyle/>
                    <a:p>
                      <a:pPr marL="0" marR="0">
                        <a:buNone/>
                      </a:pPr>
                      <a:r>
                        <a:rPr lang="en-US" sz="2000" dirty="0">
                          <a:effectLst/>
                        </a:rPr>
                        <a:t>Feedback type</a:t>
                      </a:r>
                      <a:endParaRPr lang="en-US" sz="2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Response time</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Use case</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Example</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732435008"/>
                  </a:ext>
                </a:extLst>
              </a:tr>
              <a:tr h="646285">
                <a:tc>
                  <a:txBody>
                    <a:bodyPr/>
                    <a:lstStyle/>
                    <a:p>
                      <a:pPr marL="0" marR="0">
                        <a:buNone/>
                      </a:pPr>
                      <a:r>
                        <a:rPr lang="en-US" sz="1800" dirty="0">
                          <a:effectLst/>
                        </a:rPr>
                        <a:t>Immediate</a:t>
                      </a:r>
                      <a:endParaRPr lang="en-US" sz="2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0–100ms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Button clicks, key presses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Button press animation, cursor change</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82620898"/>
                  </a:ext>
                </a:extLst>
              </a:tr>
              <a:tr h="646285">
                <a:tc>
                  <a:txBody>
                    <a:bodyPr/>
                    <a:lstStyle/>
                    <a:p>
                      <a:pPr marL="0" marR="0">
                        <a:buNone/>
                      </a:pPr>
                      <a:r>
                        <a:rPr lang="en-US" sz="1800">
                          <a:effectLst/>
                        </a:rPr>
                        <a:t>Short-term</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100ms–1s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Search, simple queries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Results appearing, form validation</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355675016"/>
                  </a:ext>
                </a:extLst>
              </a:tr>
              <a:tr h="646285">
                <a:tc>
                  <a:txBody>
                    <a:bodyPr/>
                    <a:lstStyle/>
                    <a:p>
                      <a:pPr marL="0" marR="0">
                        <a:buNone/>
                      </a:pPr>
                      <a:r>
                        <a:rPr lang="en-US" sz="1800">
                          <a:effectLst/>
                        </a:rPr>
                        <a:t>Long-term</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1s–10s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File upload, API calls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Progress bar, percentage counter</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82709162"/>
                  </a:ext>
                </a:extLst>
              </a:tr>
              <a:tr h="646285">
                <a:tc>
                  <a:txBody>
                    <a:bodyPr/>
                    <a:lstStyle/>
                    <a:p>
                      <a:pPr marL="0" marR="0">
                        <a:buNone/>
                      </a:pPr>
                      <a:r>
                        <a:rPr lang="en-US" sz="1800">
                          <a:effectLst/>
                        </a:rPr>
                        <a:t>Background</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&gt;10s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Exports, large operations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Email notification, background task badge</a:t>
                      </a:r>
                      <a:endParaRPr lang="en-US" sz="28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548456376"/>
                  </a:ext>
                </a:extLst>
              </a:tr>
            </a:tbl>
          </a:graphicData>
        </a:graphic>
      </p:graphicFrame>
    </p:spTree>
    <p:extLst>
      <p:ext uri="{BB962C8B-B14F-4D97-AF65-F5344CB8AC3E}">
        <p14:creationId xmlns:p14="http://schemas.microsoft.com/office/powerpoint/2010/main" val="2994275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6BC5A-58DD-95BF-8267-DC843D489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7D6C9-786B-FAD5-0F81-42F2AD893A46}"/>
              </a:ext>
            </a:extLst>
          </p:cNvPr>
          <p:cNvSpPr>
            <a:spLocks noGrp="1"/>
          </p:cNvSpPr>
          <p:nvPr>
            <p:ph type="title"/>
          </p:nvPr>
        </p:nvSpPr>
        <p:spPr/>
        <p:txBody>
          <a:bodyPr/>
          <a:lstStyle/>
          <a:p>
            <a:r>
              <a:rPr lang="en-US" dirty="0"/>
              <a:t>Feedback mechanisms (3) </a:t>
            </a:r>
          </a:p>
        </p:txBody>
      </p:sp>
      <p:sp>
        <p:nvSpPr>
          <p:cNvPr id="3" name="Content Placeholder 2">
            <a:extLst>
              <a:ext uri="{FF2B5EF4-FFF2-40B4-BE49-F238E27FC236}">
                <a16:creationId xmlns:a16="http://schemas.microsoft.com/office/drawing/2014/main" id="{2BF664CE-8CE0-91CA-EE80-9F63A1E20EA0}"/>
              </a:ext>
            </a:extLst>
          </p:cNvPr>
          <p:cNvSpPr>
            <a:spLocks noGrp="1"/>
          </p:cNvSpPr>
          <p:nvPr>
            <p:ph idx="1"/>
          </p:nvPr>
        </p:nvSpPr>
        <p:spPr/>
        <p:txBody>
          <a:bodyPr/>
          <a:lstStyle/>
          <a:p>
            <a:r>
              <a:rPr lang="en-US" dirty="0"/>
              <a:t>Feedback modalities</a:t>
            </a:r>
          </a:p>
        </p:txBody>
      </p:sp>
      <p:graphicFrame>
        <p:nvGraphicFramePr>
          <p:cNvPr id="4" name="Table 3">
            <a:extLst>
              <a:ext uri="{FF2B5EF4-FFF2-40B4-BE49-F238E27FC236}">
                <a16:creationId xmlns:a16="http://schemas.microsoft.com/office/drawing/2014/main" id="{B4A8A5B3-3720-BFEF-1576-E1380AC8B4C8}"/>
              </a:ext>
            </a:extLst>
          </p:cNvPr>
          <p:cNvGraphicFramePr>
            <a:graphicFrameLocks noGrp="1"/>
          </p:cNvGraphicFramePr>
          <p:nvPr>
            <p:extLst>
              <p:ext uri="{D42A27DB-BD31-4B8C-83A1-F6EECF244321}">
                <p14:modId xmlns:p14="http://schemas.microsoft.com/office/powerpoint/2010/main" val="4251886155"/>
              </p:ext>
            </p:extLst>
          </p:nvPr>
        </p:nvGraphicFramePr>
        <p:xfrm>
          <a:off x="1049866" y="2804698"/>
          <a:ext cx="9166578" cy="2393191"/>
        </p:xfrm>
        <a:graphic>
          <a:graphicData uri="http://schemas.openxmlformats.org/drawingml/2006/table">
            <a:tbl>
              <a:tblPr firstRow="1" firstCol="1" bandRow="1">
                <a:tableStyleId>{5C22544A-7EE6-4342-B048-85BDC9FD1C3A}</a:tableStyleId>
              </a:tblPr>
              <a:tblGrid>
                <a:gridCol w="4635137">
                  <a:extLst>
                    <a:ext uri="{9D8B030D-6E8A-4147-A177-3AD203B41FA5}">
                      <a16:colId xmlns:a16="http://schemas.microsoft.com/office/drawing/2014/main" val="2833968916"/>
                    </a:ext>
                  </a:extLst>
                </a:gridCol>
                <a:gridCol w="4531441">
                  <a:extLst>
                    <a:ext uri="{9D8B030D-6E8A-4147-A177-3AD203B41FA5}">
                      <a16:colId xmlns:a16="http://schemas.microsoft.com/office/drawing/2014/main" val="2899142740"/>
                    </a:ext>
                  </a:extLst>
                </a:gridCol>
              </a:tblGrid>
              <a:tr h="499299">
                <a:tc>
                  <a:txBody>
                    <a:bodyPr/>
                    <a:lstStyle/>
                    <a:p>
                      <a:pPr marL="0" marR="0">
                        <a:buNone/>
                      </a:pPr>
                      <a:r>
                        <a:rPr lang="en-US" sz="2400">
                          <a:effectLst/>
                        </a:rPr>
                        <a:t>Visual feedback</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400">
                          <a:effectLst/>
                        </a:rPr>
                        <a:t>Non-visual feedback</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549010547"/>
                  </a:ext>
                </a:extLst>
              </a:tr>
              <a:tr h="473473">
                <a:tc>
                  <a:txBody>
                    <a:bodyPr/>
                    <a:lstStyle/>
                    <a:p>
                      <a:pPr marL="0" marR="0">
                        <a:buNone/>
                      </a:pPr>
                      <a:r>
                        <a:rPr lang="en-US" sz="1800" dirty="0">
                          <a:effectLst/>
                        </a:rPr>
                        <a:t>Color changes (red = error, green = success)</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Auditory: sounds for completion, errors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726288525"/>
                  </a:ext>
                </a:extLst>
              </a:tr>
              <a:tr h="473473">
                <a:tc>
                  <a:txBody>
                    <a:bodyPr/>
                    <a:lstStyle/>
                    <a:p>
                      <a:pPr marL="0" marR="0">
                        <a:buNone/>
                      </a:pPr>
                      <a:r>
                        <a:rPr lang="en-US" sz="1800">
                          <a:effectLst/>
                        </a:rPr>
                        <a:t>Animations and micro-interactions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Haptic: vibration on mobile devices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720783384"/>
                  </a:ext>
                </a:extLst>
              </a:tr>
              <a:tr h="473473">
                <a:tc>
                  <a:txBody>
                    <a:bodyPr/>
                    <a:lstStyle/>
                    <a:p>
                      <a:pPr marL="0" marR="0">
                        <a:buNone/>
                      </a:pPr>
                      <a:r>
                        <a:rPr lang="en-US" sz="1800">
                          <a:effectLst/>
                        </a:rPr>
                        <a:t>Progress indicators and loaders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Verbal: screen reader announcements</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81938075"/>
                  </a:ext>
                </a:extLst>
              </a:tr>
              <a:tr h="473473">
                <a:tc>
                  <a:txBody>
                    <a:bodyPr/>
                    <a:lstStyle/>
                    <a:p>
                      <a:pPr marL="0" marR="0">
                        <a:buNone/>
                      </a:pPr>
                      <a:r>
                        <a:rPr lang="en-US" sz="1800">
                          <a:effectLst/>
                        </a:rPr>
                        <a:t>Toast notifications and status badges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Systemic: email / push notifications</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440106935"/>
                  </a:ext>
                </a:extLst>
              </a:tr>
            </a:tbl>
          </a:graphicData>
        </a:graphic>
      </p:graphicFrame>
    </p:spTree>
    <p:extLst>
      <p:ext uri="{BB962C8B-B14F-4D97-AF65-F5344CB8AC3E}">
        <p14:creationId xmlns:p14="http://schemas.microsoft.com/office/powerpoint/2010/main" val="2469559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8D96-B0CD-E1F0-F23C-FF50E6671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205C0-58DA-F19E-063B-958E0D47B399}"/>
              </a:ext>
            </a:extLst>
          </p:cNvPr>
          <p:cNvSpPr>
            <a:spLocks noGrp="1"/>
          </p:cNvSpPr>
          <p:nvPr>
            <p:ph type="title"/>
          </p:nvPr>
        </p:nvSpPr>
        <p:spPr/>
        <p:txBody>
          <a:bodyPr/>
          <a:lstStyle/>
          <a:p>
            <a:r>
              <a:rPr lang="en-US" dirty="0"/>
              <a:t>Feedback mechanisms (4) </a:t>
            </a:r>
          </a:p>
        </p:txBody>
      </p:sp>
      <p:sp>
        <p:nvSpPr>
          <p:cNvPr id="3" name="Content Placeholder 2">
            <a:extLst>
              <a:ext uri="{FF2B5EF4-FFF2-40B4-BE49-F238E27FC236}">
                <a16:creationId xmlns:a16="http://schemas.microsoft.com/office/drawing/2014/main" id="{69EA2AEF-8585-B282-E27C-4867B98A5157}"/>
              </a:ext>
            </a:extLst>
          </p:cNvPr>
          <p:cNvSpPr>
            <a:spLocks noGrp="1"/>
          </p:cNvSpPr>
          <p:nvPr>
            <p:ph idx="1"/>
          </p:nvPr>
        </p:nvSpPr>
        <p:spPr/>
        <p:txBody>
          <a:bodyPr/>
          <a:lstStyle/>
          <a:p>
            <a:r>
              <a:rPr lang="en-US" dirty="0"/>
              <a:t>Feedback should be proportional to the importance of the action.</a:t>
            </a:r>
          </a:p>
          <a:p>
            <a:r>
              <a:rPr lang="en-US" dirty="0"/>
              <a:t>A subtle color change for minor updates; a modal or full-screen confirmation for major events.</a:t>
            </a:r>
          </a:p>
          <a:p>
            <a:r>
              <a:rPr lang="en-US" b="1" dirty="0"/>
              <a:t>Over-notifying</a:t>
            </a:r>
            <a:r>
              <a:rPr lang="en-US" dirty="0"/>
              <a:t> trains users to ignore alerts , the "cry wolf" anti-pattern.</a:t>
            </a:r>
          </a:p>
        </p:txBody>
      </p:sp>
    </p:spTree>
    <p:extLst>
      <p:ext uri="{BB962C8B-B14F-4D97-AF65-F5344CB8AC3E}">
        <p14:creationId xmlns:p14="http://schemas.microsoft.com/office/powerpoint/2010/main" val="3973382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C1A0-CA39-FFC7-9362-BF2913D6B64D}"/>
              </a:ext>
            </a:extLst>
          </p:cNvPr>
          <p:cNvSpPr>
            <a:spLocks noGrp="1"/>
          </p:cNvSpPr>
          <p:nvPr>
            <p:ph type="title"/>
          </p:nvPr>
        </p:nvSpPr>
        <p:spPr/>
        <p:txBody>
          <a:bodyPr/>
          <a:lstStyle/>
          <a:p>
            <a:r>
              <a:rPr lang="en-US" dirty="0"/>
              <a:t>Testing methods </a:t>
            </a:r>
          </a:p>
        </p:txBody>
      </p:sp>
      <p:sp>
        <p:nvSpPr>
          <p:cNvPr id="3" name="Text Placeholder 2">
            <a:extLst>
              <a:ext uri="{FF2B5EF4-FFF2-40B4-BE49-F238E27FC236}">
                <a16:creationId xmlns:a16="http://schemas.microsoft.com/office/drawing/2014/main" id="{0522D0A5-FCAE-191B-BBAB-D23D9F8938D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92185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C686-D6B8-F299-F0C8-8F02BB7A02D1}"/>
              </a:ext>
            </a:extLst>
          </p:cNvPr>
          <p:cNvSpPr>
            <a:spLocks noGrp="1"/>
          </p:cNvSpPr>
          <p:nvPr>
            <p:ph type="title"/>
          </p:nvPr>
        </p:nvSpPr>
        <p:spPr/>
        <p:txBody>
          <a:bodyPr/>
          <a:lstStyle/>
          <a:p>
            <a:r>
              <a:rPr lang="en-US" dirty="0"/>
              <a:t>Testing methods (1)</a:t>
            </a:r>
          </a:p>
        </p:txBody>
      </p:sp>
      <p:sp>
        <p:nvSpPr>
          <p:cNvPr id="3" name="Content Placeholder 2">
            <a:extLst>
              <a:ext uri="{FF2B5EF4-FFF2-40B4-BE49-F238E27FC236}">
                <a16:creationId xmlns:a16="http://schemas.microsoft.com/office/drawing/2014/main" id="{48054DCA-5015-33B6-03EF-F00D0D7F302E}"/>
              </a:ext>
            </a:extLst>
          </p:cNvPr>
          <p:cNvSpPr>
            <a:spLocks noGrp="1"/>
          </p:cNvSpPr>
          <p:nvPr>
            <p:ph idx="1"/>
          </p:nvPr>
        </p:nvSpPr>
        <p:spPr/>
        <p:txBody>
          <a:bodyPr/>
          <a:lstStyle/>
          <a:p>
            <a:r>
              <a:rPr lang="en-US" dirty="0"/>
              <a:t>Heuristic evaluation</a:t>
            </a:r>
          </a:p>
          <a:p>
            <a:r>
              <a:rPr lang="en-US" dirty="0"/>
              <a:t>A/B testing </a:t>
            </a:r>
          </a:p>
        </p:txBody>
      </p:sp>
    </p:spTree>
    <p:extLst>
      <p:ext uri="{BB962C8B-B14F-4D97-AF65-F5344CB8AC3E}">
        <p14:creationId xmlns:p14="http://schemas.microsoft.com/office/powerpoint/2010/main" val="4136654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5EB4-F70D-B0FB-C7C6-FE4FB373EBB3}"/>
              </a:ext>
            </a:extLst>
          </p:cNvPr>
          <p:cNvSpPr>
            <a:spLocks noGrp="1"/>
          </p:cNvSpPr>
          <p:nvPr>
            <p:ph type="title"/>
          </p:nvPr>
        </p:nvSpPr>
        <p:spPr/>
        <p:txBody>
          <a:bodyPr/>
          <a:lstStyle/>
          <a:p>
            <a:r>
              <a:rPr lang="en-US" dirty="0"/>
              <a:t>Testing methods (2)</a:t>
            </a:r>
          </a:p>
        </p:txBody>
      </p:sp>
      <p:sp>
        <p:nvSpPr>
          <p:cNvPr id="3" name="Content Placeholder 2">
            <a:extLst>
              <a:ext uri="{FF2B5EF4-FFF2-40B4-BE49-F238E27FC236}">
                <a16:creationId xmlns:a16="http://schemas.microsoft.com/office/drawing/2014/main" id="{B29AB92A-C792-9403-4FE7-04DAF0E7A1D8}"/>
              </a:ext>
            </a:extLst>
          </p:cNvPr>
          <p:cNvSpPr>
            <a:spLocks noGrp="1"/>
          </p:cNvSpPr>
          <p:nvPr>
            <p:ph idx="1"/>
          </p:nvPr>
        </p:nvSpPr>
        <p:spPr/>
        <p:txBody>
          <a:bodyPr>
            <a:normAutofit/>
          </a:bodyPr>
          <a:lstStyle/>
          <a:p>
            <a:r>
              <a:rPr lang="en-US" dirty="0"/>
              <a:t>Heuristic evaluation</a:t>
            </a:r>
          </a:p>
          <a:p>
            <a:pPr lvl="1"/>
            <a:r>
              <a:rPr lang="en-US" b="1" dirty="0"/>
              <a:t>Usability </a:t>
            </a:r>
            <a:r>
              <a:rPr lang="en-US" dirty="0"/>
              <a:t>inspection method where evaluators examine a UI and judge its compliance with recognized usability principles </a:t>
            </a:r>
          </a:p>
          <a:p>
            <a:pPr lvl="1"/>
            <a:r>
              <a:rPr lang="en-US" dirty="0"/>
              <a:t>Developed in 1990 </a:t>
            </a:r>
          </a:p>
          <a:p>
            <a:pPr lvl="1"/>
            <a:r>
              <a:rPr lang="en-US" dirty="0"/>
              <a:t>It is a discount usability method, cheap, fast, and expert-driven, not user-driven</a:t>
            </a:r>
          </a:p>
          <a:p>
            <a:endParaRPr lang="en-US" dirty="0"/>
          </a:p>
          <a:p>
            <a:endParaRPr lang="en-US" dirty="0"/>
          </a:p>
        </p:txBody>
      </p:sp>
    </p:spTree>
    <p:extLst>
      <p:ext uri="{BB962C8B-B14F-4D97-AF65-F5344CB8AC3E}">
        <p14:creationId xmlns:p14="http://schemas.microsoft.com/office/powerpoint/2010/main" val="1695455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82D8-794E-5284-EEC1-FFDD1713EDF1}"/>
              </a:ext>
            </a:extLst>
          </p:cNvPr>
          <p:cNvSpPr>
            <a:spLocks noGrp="1"/>
          </p:cNvSpPr>
          <p:nvPr>
            <p:ph type="title"/>
          </p:nvPr>
        </p:nvSpPr>
        <p:spPr/>
        <p:txBody>
          <a:bodyPr/>
          <a:lstStyle/>
          <a:p>
            <a:r>
              <a:rPr lang="en-US" dirty="0"/>
              <a:t>Testing methods (3)</a:t>
            </a:r>
          </a:p>
        </p:txBody>
      </p:sp>
      <p:sp>
        <p:nvSpPr>
          <p:cNvPr id="3" name="Content Placeholder 2">
            <a:extLst>
              <a:ext uri="{FF2B5EF4-FFF2-40B4-BE49-F238E27FC236}">
                <a16:creationId xmlns:a16="http://schemas.microsoft.com/office/drawing/2014/main" id="{89F89E95-492D-FC61-01DF-F6A0F4101468}"/>
              </a:ext>
            </a:extLst>
          </p:cNvPr>
          <p:cNvSpPr>
            <a:spLocks noGrp="1"/>
          </p:cNvSpPr>
          <p:nvPr>
            <p:ph idx="1"/>
          </p:nvPr>
        </p:nvSpPr>
        <p:spPr/>
        <p:txBody>
          <a:bodyPr/>
          <a:lstStyle/>
          <a:p>
            <a:pPr lvl="0"/>
            <a:r>
              <a:rPr lang="en-US" dirty="0"/>
              <a:t>Process:</a:t>
            </a:r>
          </a:p>
          <a:p>
            <a:pPr lvl="1"/>
            <a:r>
              <a:rPr lang="en-US" dirty="0"/>
              <a:t>Brief evaluators on the heuristics and the product's context (10–15 min).</a:t>
            </a:r>
          </a:p>
          <a:p>
            <a:pPr lvl="1"/>
            <a:r>
              <a:rPr lang="en-US" dirty="0"/>
              <a:t>Each evaluator independently inspects the interface alone (1–2 hours each).</a:t>
            </a:r>
          </a:p>
          <a:p>
            <a:pPr lvl="1"/>
            <a:r>
              <a:rPr lang="en-US" dirty="0"/>
              <a:t>Evaluators walk through the UI at least twice, first for overall flow, then for individual elements.</a:t>
            </a:r>
          </a:p>
          <a:p>
            <a:pPr lvl="1"/>
            <a:r>
              <a:rPr lang="en-US" dirty="0"/>
              <a:t>Each evaluator documents violations, citing the specific heuristic violated.</a:t>
            </a:r>
          </a:p>
          <a:p>
            <a:pPr lvl="1"/>
            <a:r>
              <a:rPr lang="en-US" dirty="0"/>
              <a:t>Evaluators aggregate results and rate severity (a facilitator may run a debrief session).</a:t>
            </a:r>
          </a:p>
          <a:p>
            <a:pPr lvl="1"/>
            <a:r>
              <a:rPr lang="en-US" dirty="0"/>
              <a:t>Prioritize fixes based on severity ratings and produce a written report.</a:t>
            </a:r>
          </a:p>
          <a:p>
            <a:endParaRPr lang="en-US" dirty="0"/>
          </a:p>
        </p:txBody>
      </p:sp>
    </p:spTree>
    <p:extLst>
      <p:ext uri="{BB962C8B-B14F-4D97-AF65-F5344CB8AC3E}">
        <p14:creationId xmlns:p14="http://schemas.microsoft.com/office/powerpoint/2010/main" val="2377988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006B6-56A7-D208-2D4E-F99DA2784938}"/>
              </a:ext>
            </a:extLst>
          </p:cNvPr>
          <p:cNvSpPr>
            <a:spLocks noGrp="1"/>
          </p:cNvSpPr>
          <p:nvPr>
            <p:ph type="title"/>
          </p:nvPr>
        </p:nvSpPr>
        <p:spPr/>
        <p:txBody>
          <a:bodyPr/>
          <a:lstStyle/>
          <a:p>
            <a:r>
              <a:rPr lang="en-US" dirty="0"/>
              <a:t>Testing methods (4)</a:t>
            </a:r>
          </a:p>
        </p:txBody>
      </p:sp>
      <p:sp>
        <p:nvSpPr>
          <p:cNvPr id="3" name="Content Placeholder 2">
            <a:extLst>
              <a:ext uri="{FF2B5EF4-FFF2-40B4-BE49-F238E27FC236}">
                <a16:creationId xmlns:a16="http://schemas.microsoft.com/office/drawing/2014/main" id="{2C4379B6-28E8-ADF1-FB75-ECB6BF82F59C}"/>
              </a:ext>
            </a:extLst>
          </p:cNvPr>
          <p:cNvSpPr>
            <a:spLocks noGrp="1"/>
          </p:cNvSpPr>
          <p:nvPr>
            <p:ph idx="1"/>
          </p:nvPr>
        </p:nvSpPr>
        <p:spPr>
          <a:xfrm>
            <a:off x="838200" y="1859492"/>
            <a:ext cx="10515600" cy="4351338"/>
          </a:xfrm>
        </p:spPr>
        <p:txBody>
          <a:bodyPr/>
          <a:lstStyle/>
          <a:p>
            <a:r>
              <a:rPr lang="en-US" dirty="0"/>
              <a:t>Measurement:</a:t>
            </a:r>
          </a:p>
          <a:p>
            <a:r>
              <a:rPr lang="en-US" dirty="0"/>
              <a:t>Nielsen's severity rating scale, 3 to 5 evaluators are sufficient</a:t>
            </a:r>
          </a:p>
        </p:txBody>
      </p:sp>
      <p:graphicFrame>
        <p:nvGraphicFramePr>
          <p:cNvPr id="5" name="Table 4">
            <a:extLst>
              <a:ext uri="{FF2B5EF4-FFF2-40B4-BE49-F238E27FC236}">
                <a16:creationId xmlns:a16="http://schemas.microsoft.com/office/drawing/2014/main" id="{FA9F66A0-74A3-DC8B-22A3-7840F3458F04}"/>
              </a:ext>
            </a:extLst>
          </p:cNvPr>
          <p:cNvGraphicFramePr>
            <a:graphicFrameLocks noGrp="1"/>
          </p:cNvGraphicFramePr>
          <p:nvPr>
            <p:extLst>
              <p:ext uri="{D42A27DB-BD31-4B8C-83A1-F6EECF244321}">
                <p14:modId xmlns:p14="http://schemas.microsoft.com/office/powerpoint/2010/main" val="89677871"/>
              </p:ext>
            </p:extLst>
          </p:nvPr>
        </p:nvGraphicFramePr>
        <p:xfrm>
          <a:off x="1210733" y="3151541"/>
          <a:ext cx="8229601" cy="2743200"/>
        </p:xfrm>
        <a:graphic>
          <a:graphicData uri="http://schemas.openxmlformats.org/drawingml/2006/table">
            <a:tbl>
              <a:tblPr firstRow="1" firstCol="1" bandRow="1">
                <a:tableStyleId>{5C22544A-7EE6-4342-B048-85BDC9FD1C3A}</a:tableStyleId>
              </a:tblPr>
              <a:tblGrid>
                <a:gridCol w="791308">
                  <a:extLst>
                    <a:ext uri="{9D8B030D-6E8A-4147-A177-3AD203B41FA5}">
                      <a16:colId xmlns:a16="http://schemas.microsoft.com/office/drawing/2014/main" val="1942630337"/>
                    </a:ext>
                  </a:extLst>
                </a:gridCol>
                <a:gridCol w="3405336">
                  <a:extLst>
                    <a:ext uri="{9D8B030D-6E8A-4147-A177-3AD203B41FA5}">
                      <a16:colId xmlns:a16="http://schemas.microsoft.com/office/drawing/2014/main" val="1209799357"/>
                    </a:ext>
                  </a:extLst>
                </a:gridCol>
                <a:gridCol w="4032957">
                  <a:extLst>
                    <a:ext uri="{9D8B030D-6E8A-4147-A177-3AD203B41FA5}">
                      <a16:colId xmlns:a16="http://schemas.microsoft.com/office/drawing/2014/main" val="874228402"/>
                    </a:ext>
                  </a:extLst>
                </a:gridCol>
              </a:tblGrid>
              <a:tr h="399281">
                <a:tc>
                  <a:txBody>
                    <a:bodyPr/>
                    <a:lstStyle/>
                    <a:p>
                      <a:pPr marL="0" marR="0">
                        <a:buNone/>
                      </a:pPr>
                      <a:r>
                        <a:rPr lang="en-US" sz="2000">
                          <a:effectLst/>
                        </a:rPr>
                        <a:t>Rating</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Interpretation</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Action</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871736736"/>
                  </a:ext>
                </a:extLst>
              </a:tr>
              <a:tr h="377503">
                <a:tc>
                  <a:txBody>
                    <a:bodyPr/>
                    <a:lstStyle/>
                    <a:p>
                      <a:pPr marL="0" marR="0">
                        <a:buNone/>
                      </a:pPr>
                      <a:r>
                        <a:rPr lang="en-US" sz="1800">
                          <a:effectLst/>
                        </a:rPr>
                        <a:t>0</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Not a usability problem at all</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No action needed</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943902908"/>
                  </a:ext>
                </a:extLst>
              </a:tr>
              <a:tr h="377503">
                <a:tc>
                  <a:txBody>
                    <a:bodyPr/>
                    <a:lstStyle/>
                    <a:p>
                      <a:pPr marL="0" marR="0">
                        <a:buNone/>
                      </a:pPr>
                      <a:r>
                        <a:rPr lang="en-US" sz="1800">
                          <a:effectLst/>
                        </a:rPr>
                        <a:t>1</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Cosmetic problem only</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Fix if extra time permits</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796810344"/>
                  </a:ext>
                </a:extLst>
              </a:tr>
              <a:tr h="377503">
                <a:tc>
                  <a:txBody>
                    <a:bodyPr/>
                    <a:lstStyle/>
                    <a:p>
                      <a:pPr marL="0" marR="0">
                        <a:buNone/>
                      </a:pPr>
                      <a:r>
                        <a:rPr lang="en-US" sz="1800">
                          <a:effectLst/>
                        </a:rPr>
                        <a:t>2</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Minor usability problem</a:t>
                      </a:r>
                      <a:endParaRPr lang="en-US" sz="2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Low priority — plan for next iteration</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6002036"/>
                  </a:ext>
                </a:extLst>
              </a:tr>
              <a:tr h="377503">
                <a:tc>
                  <a:txBody>
                    <a:bodyPr/>
                    <a:lstStyle/>
                    <a:p>
                      <a:pPr marL="0" marR="0">
                        <a:buNone/>
                      </a:pPr>
                      <a:r>
                        <a:rPr lang="en-US" sz="1800">
                          <a:effectLst/>
                        </a:rPr>
                        <a:t>3</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Major usability problem</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Important — high priority fix</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988846297"/>
                  </a:ext>
                </a:extLst>
              </a:tr>
              <a:tr h="377503">
                <a:tc>
                  <a:txBody>
                    <a:bodyPr/>
                    <a:lstStyle/>
                    <a:p>
                      <a:pPr marL="0" marR="0">
                        <a:buNone/>
                      </a:pPr>
                      <a:r>
                        <a:rPr lang="en-US" sz="1800">
                          <a:effectLst/>
                        </a:rPr>
                        <a:t>4</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Usability catastrophe</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Must fix before product release</a:t>
                      </a:r>
                      <a:endParaRPr lang="en-US" sz="28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190926892"/>
                  </a:ext>
                </a:extLst>
              </a:tr>
            </a:tbl>
          </a:graphicData>
        </a:graphic>
      </p:graphicFrame>
    </p:spTree>
    <p:extLst>
      <p:ext uri="{BB962C8B-B14F-4D97-AF65-F5344CB8AC3E}">
        <p14:creationId xmlns:p14="http://schemas.microsoft.com/office/powerpoint/2010/main" val="1653490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56D5-8D46-EA4F-B318-1D348BF368DC}"/>
              </a:ext>
            </a:extLst>
          </p:cNvPr>
          <p:cNvSpPr>
            <a:spLocks noGrp="1"/>
          </p:cNvSpPr>
          <p:nvPr>
            <p:ph type="title"/>
          </p:nvPr>
        </p:nvSpPr>
        <p:spPr/>
        <p:txBody>
          <a:bodyPr/>
          <a:lstStyle/>
          <a:p>
            <a:r>
              <a:rPr lang="en-US" dirty="0"/>
              <a:t>Testing methods (5)</a:t>
            </a:r>
          </a:p>
        </p:txBody>
      </p:sp>
      <p:graphicFrame>
        <p:nvGraphicFramePr>
          <p:cNvPr id="4" name="Content Placeholder 3">
            <a:extLst>
              <a:ext uri="{FF2B5EF4-FFF2-40B4-BE49-F238E27FC236}">
                <a16:creationId xmlns:a16="http://schemas.microsoft.com/office/drawing/2014/main" id="{53378089-2E56-90AD-A1A0-7A42CC62978F}"/>
              </a:ext>
            </a:extLst>
          </p:cNvPr>
          <p:cNvGraphicFramePr>
            <a:graphicFrameLocks noGrp="1"/>
          </p:cNvGraphicFramePr>
          <p:nvPr>
            <p:ph idx="1"/>
            <p:extLst>
              <p:ext uri="{D42A27DB-BD31-4B8C-83A1-F6EECF244321}">
                <p14:modId xmlns:p14="http://schemas.microsoft.com/office/powerpoint/2010/main" val="2531064955"/>
              </p:ext>
            </p:extLst>
          </p:nvPr>
        </p:nvGraphicFramePr>
        <p:xfrm>
          <a:off x="1298221" y="2099733"/>
          <a:ext cx="9358490" cy="2706290"/>
        </p:xfrm>
        <a:graphic>
          <a:graphicData uri="http://schemas.openxmlformats.org/drawingml/2006/table">
            <a:tbl>
              <a:tblPr firstRow="1" firstCol="1" bandRow="1">
                <a:tableStyleId>{5C22544A-7EE6-4342-B048-85BDC9FD1C3A}</a:tableStyleId>
              </a:tblPr>
              <a:tblGrid>
                <a:gridCol w="4679245">
                  <a:extLst>
                    <a:ext uri="{9D8B030D-6E8A-4147-A177-3AD203B41FA5}">
                      <a16:colId xmlns:a16="http://schemas.microsoft.com/office/drawing/2014/main" val="4118696783"/>
                    </a:ext>
                  </a:extLst>
                </a:gridCol>
                <a:gridCol w="4679245">
                  <a:extLst>
                    <a:ext uri="{9D8B030D-6E8A-4147-A177-3AD203B41FA5}">
                      <a16:colId xmlns:a16="http://schemas.microsoft.com/office/drawing/2014/main" val="3138495247"/>
                    </a:ext>
                  </a:extLst>
                </a:gridCol>
              </a:tblGrid>
              <a:tr h="528151">
                <a:tc>
                  <a:txBody>
                    <a:bodyPr/>
                    <a:lstStyle/>
                    <a:p>
                      <a:pPr marL="0" marR="0">
                        <a:buNone/>
                      </a:pPr>
                      <a:r>
                        <a:rPr lang="en-US" sz="2400">
                          <a:effectLst/>
                        </a:rPr>
                        <a:t>Advantages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400">
                          <a:effectLst/>
                        </a:rPr>
                        <a:t>Limitations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104433065"/>
                  </a:ext>
                </a:extLst>
              </a:tr>
              <a:tr h="500833">
                <a:tc>
                  <a:txBody>
                    <a:bodyPr/>
                    <a:lstStyle/>
                    <a:p>
                      <a:pPr marL="0" marR="0">
                        <a:buNone/>
                      </a:pPr>
                      <a:r>
                        <a:rPr lang="en-US" sz="1800">
                          <a:effectLst/>
                        </a:rPr>
                        <a:t>Fast and inexpensive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Expert bias — evaluators may miss real user issues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455385963"/>
                  </a:ext>
                </a:extLst>
              </a:tr>
              <a:tr h="500833">
                <a:tc>
                  <a:txBody>
                    <a:bodyPr/>
                    <a:lstStyle/>
                    <a:p>
                      <a:pPr marL="0" marR="0">
                        <a:buNone/>
                      </a:pPr>
                      <a:r>
                        <a:rPr lang="en-US" sz="1800" dirty="0">
                          <a:effectLst/>
                        </a:rPr>
                        <a:t>No users needed (useful early in design)</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False positives (reported non-problems)</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421191876"/>
                  </a:ext>
                </a:extLst>
              </a:tr>
              <a:tr h="500833">
                <a:tc>
                  <a:txBody>
                    <a:bodyPr/>
                    <a:lstStyle/>
                    <a:p>
                      <a:pPr marL="0" marR="0">
                        <a:buNone/>
                      </a:pPr>
                      <a:r>
                        <a:rPr lang="en-US" sz="1800">
                          <a:effectLst/>
                        </a:rPr>
                        <a:t>Can be done iteratively at any stage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Does not reveal unknown unknowns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600823069"/>
                  </a:ext>
                </a:extLst>
              </a:tr>
              <a:tr h="500833">
                <a:tc>
                  <a:txBody>
                    <a:bodyPr/>
                    <a:lstStyle/>
                    <a:p>
                      <a:pPr marL="0" marR="0">
                        <a:buNone/>
                      </a:pPr>
                      <a:r>
                        <a:rPr lang="en-US" sz="1800">
                          <a:effectLst/>
                        </a:rPr>
                        <a:t>Experts give structured, actionable feedback</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Quality depends heavily on evaluator expertise</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039757561"/>
                  </a:ext>
                </a:extLst>
              </a:tr>
            </a:tbl>
          </a:graphicData>
        </a:graphic>
      </p:graphicFrame>
    </p:spTree>
    <p:extLst>
      <p:ext uri="{BB962C8B-B14F-4D97-AF65-F5344CB8AC3E}">
        <p14:creationId xmlns:p14="http://schemas.microsoft.com/office/powerpoint/2010/main" val="616316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95B5-09E1-5D9F-8C26-F102ECDE5019}"/>
              </a:ext>
            </a:extLst>
          </p:cNvPr>
          <p:cNvSpPr>
            <a:spLocks noGrp="1"/>
          </p:cNvSpPr>
          <p:nvPr>
            <p:ph type="title"/>
          </p:nvPr>
        </p:nvSpPr>
        <p:spPr/>
        <p:txBody>
          <a:bodyPr/>
          <a:lstStyle/>
          <a:p>
            <a:r>
              <a:rPr lang="en-US" dirty="0"/>
              <a:t>Testing methods (6)</a:t>
            </a:r>
          </a:p>
        </p:txBody>
      </p:sp>
      <p:sp>
        <p:nvSpPr>
          <p:cNvPr id="3" name="Content Placeholder 2">
            <a:extLst>
              <a:ext uri="{FF2B5EF4-FFF2-40B4-BE49-F238E27FC236}">
                <a16:creationId xmlns:a16="http://schemas.microsoft.com/office/drawing/2014/main" id="{0DEE420C-0DA8-97CB-611D-EFCB4EC82CF1}"/>
              </a:ext>
            </a:extLst>
          </p:cNvPr>
          <p:cNvSpPr>
            <a:spLocks noGrp="1"/>
          </p:cNvSpPr>
          <p:nvPr>
            <p:ph idx="1"/>
          </p:nvPr>
        </p:nvSpPr>
        <p:spPr/>
        <p:txBody>
          <a:bodyPr/>
          <a:lstStyle/>
          <a:p>
            <a:r>
              <a:rPr lang="en-US" dirty="0"/>
              <a:t>A/B testing is a quantitative method where two versions of a design</a:t>
            </a:r>
          </a:p>
          <a:p>
            <a:pPr lvl="1"/>
            <a:r>
              <a:rPr lang="en-US" dirty="0"/>
              <a:t>A (control) and B (variant) are shown to different groups of real users simultaneously. </a:t>
            </a:r>
          </a:p>
          <a:p>
            <a:pPr lvl="1"/>
            <a:r>
              <a:rPr lang="en-US" dirty="0"/>
              <a:t>Statistical analysis determines which achieves the target metric better.</a:t>
            </a:r>
          </a:p>
          <a:p>
            <a:endParaRPr lang="en-US" dirty="0"/>
          </a:p>
        </p:txBody>
      </p:sp>
    </p:spTree>
    <p:extLst>
      <p:ext uri="{BB962C8B-B14F-4D97-AF65-F5344CB8AC3E}">
        <p14:creationId xmlns:p14="http://schemas.microsoft.com/office/powerpoint/2010/main" val="657664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C131-0B3D-C12A-1D11-DD8490FD7F91}"/>
              </a:ext>
            </a:extLst>
          </p:cNvPr>
          <p:cNvSpPr>
            <a:spLocks noGrp="1"/>
          </p:cNvSpPr>
          <p:nvPr>
            <p:ph type="title"/>
          </p:nvPr>
        </p:nvSpPr>
        <p:spPr/>
        <p:txBody>
          <a:bodyPr/>
          <a:lstStyle/>
          <a:p>
            <a:r>
              <a:rPr lang="en-US" dirty="0"/>
              <a:t>Testing methods (7)</a:t>
            </a:r>
          </a:p>
        </p:txBody>
      </p:sp>
      <p:sp>
        <p:nvSpPr>
          <p:cNvPr id="3" name="Content Placeholder 2">
            <a:extLst>
              <a:ext uri="{FF2B5EF4-FFF2-40B4-BE49-F238E27FC236}">
                <a16:creationId xmlns:a16="http://schemas.microsoft.com/office/drawing/2014/main" id="{C7F75122-8E54-AA2B-44BB-B524B954498F}"/>
              </a:ext>
            </a:extLst>
          </p:cNvPr>
          <p:cNvSpPr>
            <a:spLocks noGrp="1"/>
          </p:cNvSpPr>
          <p:nvPr>
            <p:ph idx="1"/>
          </p:nvPr>
        </p:nvSpPr>
        <p:spPr/>
        <p:txBody>
          <a:bodyPr>
            <a:normAutofit/>
          </a:bodyPr>
          <a:lstStyle/>
          <a:p>
            <a:r>
              <a:rPr lang="en-US" dirty="0"/>
              <a:t>The A/B testing process</a:t>
            </a:r>
          </a:p>
          <a:p>
            <a:pPr lvl="1"/>
            <a:r>
              <a:rPr lang="en-US" dirty="0"/>
              <a:t>Define the hypothesis: "Changing the CTA button from blue to orange will increase click-through rate by 10%."</a:t>
            </a:r>
          </a:p>
          <a:p>
            <a:pPr lvl="1"/>
            <a:r>
              <a:rPr lang="en-US" dirty="0"/>
              <a:t>Identify the metric: Click-through rate, conversion rate, session duration, bounce rate, etc.</a:t>
            </a:r>
          </a:p>
          <a:p>
            <a:pPr lvl="1"/>
            <a:r>
              <a:rPr lang="en-US" dirty="0"/>
              <a:t>Calculate sample size: Use a power analysis to ensure statistical validity (typically 80% power, α = 0.05).</a:t>
            </a:r>
          </a:p>
          <a:p>
            <a:endParaRPr lang="en-US" dirty="0"/>
          </a:p>
        </p:txBody>
      </p:sp>
    </p:spTree>
    <p:extLst>
      <p:ext uri="{BB962C8B-B14F-4D97-AF65-F5344CB8AC3E}">
        <p14:creationId xmlns:p14="http://schemas.microsoft.com/office/powerpoint/2010/main" val="1449963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2F74-22EC-D915-5014-D65596E71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39F46-8425-3CF8-75A5-6E815DE3C322}"/>
              </a:ext>
            </a:extLst>
          </p:cNvPr>
          <p:cNvSpPr>
            <a:spLocks noGrp="1"/>
          </p:cNvSpPr>
          <p:nvPr>
            <p:ph type="title"/>
          </p:nvPr>
        </p:nvSpPr>
        <p:spPr/>
        <p:txBody>
          <a:bodyPr/>
          <a:lstStyle/>
          <a:p>
            <a:r>
              <a:rPr lang="en-US" dirty="0"/>
              <a:t>Testing methods (8)</a:t>
            </a:r>
          </a:p>
        </p:txBody>
      </p:sp>
      <p:sp>
        <p:nvSpPr>
          <p:cNvPr id="3" name="Content Placeholder 2">
            <a:extLst>
              <a:ext uri="{FF2B5EF4-FFF2-40B4-BE49-F238E27FC236}">
                <a16:creationId xmlns:a16="http://schemas.microsoft.com/office/drawing/2014/main" id="{5408F6C7-B4EF-8F77-D404-4648C580DB6B}"/>
              </a:ext>
            </a:extLst>
          </p:cNvPr>
          <p:cNvSpPr>
            <a:spLocks noGrp="1"/>
          </p:cNvSpPr>
          <p:nvPr>
            <p:ph idx="1"/>
          </p:nvPr>
        </p:nvSpPr>
        <p:spPr/>
        <p:txBody>
          <a:bodyPr>
            <a:normAutofit/>
          </a:bodyPr>
          <a:lstStyle/>
          <a:p>
            <a:r>
              <a:rPr lang="en-US" dirty="0"/>
              <a:t>The A/B testing process</a:t>
            </a:r>
          </a:p>
          <a:p>
            <a:pPr lvl="1"/>
            <a:r>
              <a:rPr lang="en-US" dirty="0"/>
              <a:t>Randomly split users: 50% see version A, 50% see version B. Random assignment is critical.</a:t>
            </a:r>
          </a:p>
          <a:p>
            <a:pPr lvl="1"/>
            <a:r>
              <a:rPr lang="en-US" dirty="0"/>
              <a:t>Run the test simultaneously: Never run A then B sequentially. Run until you reach the required sample size (typically 1–4 weeks).</a:t>
            </a:r>
          </a:p>
          <a:p>
            <a:pPr lvl="1"/>
            <a:r>
              <a:rPr lang="en-US" dirty="0"/>
              <a:t>Analyze results: discussion for another subject.</a:t>
            </a:r>
          </a:p>
          <a:p>
            <a:pPr lvl="1"/>
            <a:r>
              <a:rPr lang="en-US" dirty="0"/>
              <a:t>Ship or iterate: If B wins significantly, ship it. If not significant, keep A or design a new variant.</a:t>
            </a:r>
          </a:p>
          <a:p>
            <a:endParaRPr lang="en-US" dirty="0"/>
          </a:p>
        </p:txBody>
      </p:sp>
    </p:spTree>
    <p:extLst>
      <p:ext uri="{BB962C8B-B14F-4D97-AF65-F5344CB8AC3E}">
        <p14:creationId xmlns:p14="http://schemas.microsoft.com/office/powerpoint/2010/main" val="3940080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B676-EDD9-CC57-AFD4-80C0DC88AC75}"/>
              </a:ext>
            </a:extLst>
          </p:cNvPr>
          <p:cNvSpPr>
            <a:spLocks noGrp="1"/>
          </p:cNvSpPr>
          <p:nvPr>
            <p:ph type="title"/>
          </p:nvPr>
        </p:nvSpPr>
        <p:spPr/>
        <p:txBody>
          <a:bodyPr/>
          <a:lstStyle/>
          <a:p>
            <a:r>
              <a:rPr lang="en-US" dirty="0"/>
              <a:t>Testing methods (9)</a:t>
            </a:r>
          </a:p>
        </p:txBody>
      </p:sp>
      <p:graphicFrame>
        <p:nvGraphicFramePr>
          <p:cNvPr id="4" name="Content Placeholder 3">
            <a:extLst>
              <a:ext uri="{FF2B5EF4-FFF2-40B4-BE49-F238E27FC236}">
                <a16:creationId xmlns:a16="http://schemas.microsoft.com/office/drawing/2014/main" id="{1C62DEE8-DE04-6F88-C735-4EC0F75E14B0}"/>
              </a:ext>
            </a:extLst>
          </p:cNvPr>
          <p:cNvGraphicFramePr>
            <a:graphicFrameLocks noGrp="1"/>
          </p:cNvGraphicFramePr>
          <p:nvPr>
            <p:ph idx="1"/>
            <p:extLst>
              <p:ext uri="{D42A27DB-BD31-4B8C-83A1-F6EECF244321}">
                <p14:modId xmlns:p14="http://schemas.microsoft.com/office/powerpoint/2010/main" val="2702429530"/>
              </p:ext>
            </p:extLst>
          </p:nvPr>
        </p:nvGraphicFramePr>
        <p:xfrm>
          <a:off x="838199" y="1975555"/>
          <a:ext cx="10631312" cy="2935111"/>
        </p:xfrm>
        <a:graphic>
          <a:graphicData uri="http://schemas.openxmlformats.org/drawingml/2006/table">
            <a:tbl>
              <a:tblPr firstRow="1" firstCol="1" bandRow="1">
                <a:tableStyleId>{5C22544A-7EE6-4342-B048-85BDC9FD1C3A}</a:tableStyleId>
              </a:tblPr>
              <a:tblGrid>
                <a:gridCol w="5315656">
                  <a:extLst>
                    <a:ext uri="{9D8B030D-6E8A-4147-A177-3AD203B41FA5}">
                      <a16:colId xmlns:a16="http://schemas.microsoft.com/office/drawing/2014/main" val="2522022166"/>
                    </a:ext>
                  </a:extLst>
                </a:gridCol>
                <a:gridCol w="5315656">
                  <a:extLst>
                    <a:ext uri="{9D8B030D-6E8A-4147-A177-3AD203B41FA5}">
                      <a16:colId xmlns:a16="http://schemas.microsoft.com/office/drawing/2014/main" val="1373026304"/>
                    </a:ext>
                  </a:extLst>
                </a:gridCol>
              </a:tblGrid>
              <a:tr h="542787">
                <a:tc>
                  <a:txBody>
                    <a:bodyPr/>
                    <a:lstStyle/>
                    <a:p>
                      <a:pPr marL="0" marR="0">
                        <a:buNone/>
                      </a:pPr>
                      <a:r>
                        <a:rPr lang="en-US" sz="2400">
                          <a:effectLst/>
                        </a:rPr>
                        <a:t>When to use A/B testing</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400">
                          <a:effectLst/>
                        </a:rPr>
                        <a:t>When NOT to use A/B testing</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05282921"/>
                  </a:ext>
                </a:extLst>
              </a:tr>
              <a:tr h="514712">
                <a:tc>
                  <a:txBody>
                    <a:bodyPr/>
                    <a:lstStyle/>
                    <a:p>
                      <a:pPr marL="0" marR="0">
                        <a:buNone/>
                      </a:pPr>
                      <a:r>
                        <a:rPr lang="en-US" sz="1800" dirty="0">
                          <a:effectLst/>
                        </a:rPr>
                        <a:t>High-traffic product with enough users</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Low traffic (insufficient sample size)</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380144435"/>
                  </a:ext>
                </a:extLst>
              </a:tr>
              <a:tr h="514712">
                <a:tc>
                  <a:txBody>
                    <a:bodyPr/>
                    <a:lstStyle/>
                    <a:p>
                      <a:pPr marL="0" marR="0">
                        <a:buNone/>
                      </a:pPr>
                      <a:r>
                        <a:rPr lang="en-US" sz="1800">
                          <a:effectLst/>
                        </a:rPr>
                        <a:t>Testing incremental, specific changes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Major redesigns with too many variables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277220048"/>
                  </a:ext>
                </a:extLst>
              </a:tr>
              <a:tr h="681450">
                <a:tc>
                  <a:txBody>
                    <a:bodyPr/>
                    <a:lstStyle/>
                    <a:p>
                      <a:pPr marL="0" marR="0">
                        <a:buNone/>
                      </a:pPr>
                      <a:r>
                        <a:rPr lang="en-US" sz="1800">
                          <a:effectLst/>
                        </a:rPr>
                        <a:t>Measuring behavioural outcomes (clicks, sign-ups)</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a:effectLst/>
                        </a:rPr>
                        <a:t>Qualitative questions ("why?", not "which?")</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910096174"/>
                  </a:ext>
                </a:extLst>
              </a:tr>
              <a:tr h="681450">
                <a:tc>
                  <a:txBody>
                    <a:bodyPr/>
                    <a:lstStyle/>
                    <a:p>
                      <a:pPr marL="0" marR="0">
                        <a:buNone/>
                      </a:pPr>
                      <a:r>
                        <a:rPr lang="en-US" sz="1800">
                          <a:effectLst/>
                        </a:rPr>
                        <a:t>Data-driven team culture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Ethical concerns with exposing users to worse UX</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920037734"/>
                  </a:ext>
                </a:extLst>
              </a:tr>
            </a:tbl>
          </a:graphicData>
        </a:graphic>
      </p:graphicFrame>
    </p:spTree>
    <p:extLst>
      <p:ext uri="{BB962C8B-B14F-4D97-AF65-F5344CB8AC3E}">
        <p14:creationId xmlns:p14="http://schemas.microsoft.com/office/powerpoint/2010/main" val="1355366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4B5-992E-3E3A-8261-0BE1F5212AAA}"/>
              </a:ext>
            </a:extLst>
          </p:cNvPr>
          <p:cNvSpPr>
            <a:spLocks noGrp="1"/>
          </p:cNvSpPr>
          <p:nvPr>
            <p:ph type="title"/>
          </p:nvPr>
        </p:nvSpPr>
        <p:spPr/>
        <p:txBody>
          <a:bodyPr/>
          <a:lstStyle/>
          <a:p>
            <a:r>
              <a:rPr lang="en-US" dirty="0"/>
              <a:t>Formative vs summative evaluation </a:t>
            </a:r>
          </a:p>
        </p:txBody>
      </p:sp>
      <p:sp>
        <p:nvSpPr>
          <p:cNvPr id="3" name="Text Placeholder 2">
            <a:extLst>
              <a:ext uri="{FF2B5EF4-FFF2-40B4-BE49-F238E27FC236}">
                <a16:creationId xmlns:a16="http://schemas.microsoft.com/office/drawing/2014/main" id="{5CBF7ECD-C987-A70C-7547-2124FDF818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47796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39E56-8721-5B02-8ED6-BD69A15C0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ADD66-EC2F-643E-5E84-961ACED9F283}"/>
              </a:ext>
            </a:extLst>
          </p:cNvPr>
          <p:cNvSpPr>
            <a:spLocks noGrp="1"/>
          </p:cNvSpPr>
          <p:nvPr>
            <p:ph type="title"/>
          </p:nvPr>
        </p:nvSpPr>
        <p:spPr/>
        <p:txBody>
          <a:bodyPr/>
          <a:lstStyle/>
          <a:p>
            <a:r>
              <a:rPr lang="en-US" dirty="0"/>
              <a:t>Formative vs summative evaluation (1)</a:t>
            </a:r>
          </a:p>
        </p:txBody>
      </p:sp>
      <p:sp>
        <p:nvSpPr>
          <p:cNvPr id="3" name="Content Placeholder 2">
            <a:extLst>
              <a:ext uri="{FF2B5EF4-FFF2-40B4-BE49-F238E27FC236}">
                <a16:creationId xmlns:a16="http://schemas.microsoft.com/office/drawing/2014/main" id="{C22C347D-5A95-6DAC-C942-4E89583FC709}"/>
              </a:ext>
            </a:extLst>
          </p:cNvPr>
          <p:cNvSpPr>
            <a:spLocks noGrp="1"/>
          </p:cNvSpPr>
          <p:nvPr>
            <p:ph idx="1"/>
          </p:nvPr>
        </p:nvSpPr>
        <p:spPr/>
        <p:txBody>
          <a:bodyPr/>
          <a:lstStyle/>
          <a:p>
            <a:r>
              <a:rPr lang="en-US" dirty="0"/>
              <a:t>Michael Scriven (1967)</a:t>
            </a:r>
          </a:p>
          <a:p>
            <a:pPr lvl="1"/>
            <a:r>
              <a:rPr lang="en-US" dirty="0"/>
              <a:t>"When the cook tastes the soup, that's formative; when the guests taste the soup, that's summative."</a:t>
            </a:r>
          </a:p>
          <a:p>
            <a:r>
              <a:rPr lang="en-US" dirty="0"/>
              <a:t>Formative helps you improve. Summative helps you prove.</a:t>
            </a:r>
          </a:p>
        </p:txBody>
      </p:sp>
    </p:spTree>
    <p:extLst>
      <p:ext uri="{BB962C8B-B14F-4D97-AF65-F5344CB8AC3E}">
        <p14:creationId xmlns:p14="http://schemas.microsoft.com/office/powerpoint/2010/main" val="3725600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5A23-4894-AA13-9255-126CD7AC65B7}"/>
              </a:ext>
            </a:extLst>
          </p:cNvPr>
          <p:cNvSpPr>
            <a:spLocks noGrp="1"/>
          </p:cNvSpPr>
          <p:nvPr>
            <p:ph type="title"/>
          </p:nvPr>
        </p:nvSpPr>
        <p:spPr/>
        <p:txBody>
          <a:bodyPr/>
          <a:lstStyle/>
          <a:p>
            <a:r>
              <a:rPr lang="en-US" dirty="0"/>
              <a:t>Formative vs summative evaluation (2)</a:t>
            </a:r>
          </a:p>
        </p:txBody>
      </p:sp>
      <p:graphicFrame>
        <p:nvGraphicFramePr>
          <p:cNvPr id="4" name="Content Placeholder 3">
            <a:extLst>
              <a:ext uri="{FF2B5EF4-FFF2-40B4-BE49-F238E27FC236}">
                <a16:creationId xmlns:a16="http://schemas.microsoft.com/office/drawing/2014/main" id="{E2AE7ADA-B48B-417C-A7D0-37A12A5A6D62}"/>
              </a:ext>
            </a:extLst>
          </p:cNvPr>
          <p:cNvGraphicFramePr>
            <a:graphicFrameLocks noGrp="1"/>
          </p:cNvGraphicFramePr>
          <p:nvPr>
            <p:ph idx="1"/>
            <p:extLst>
              <p:ext uri="{D42A27DB-BD31-4B8C-83A1-F6EECF244321}">
                <p14:modId xmlns:p14="http://schemas.microsoft.com/office/powerpoint/2010/main" val="2089507298"/>
              </p:ext>
            </p:extLst>
          </p:nvPr>
        </p:nvGraphicFramePr>
        <p:xfrm>
          <a:off x="1038578" y="1591732"/>
          <a:ext cx="9505244" cy="4752624"/>
        </p:xfrm>
        <a:graphic>
          <a:graphicData uri="http://schemas.openxmlformats.org/drawingml/2006/table">
            <a:tbl>
              <a:tblPr firstRow="1" firstCol="1" bandRow="1">
                <a:tableStyleId>{5C22544A-7EE6-4342-B048-85BDC9FD1C3A}</a:tableStyleId>
              </a:tblPr>
              <a:tblGrid>
                <a:gridCol w="4752622">
                  <a:extLst>
                    <a:ext uri="{9D8B030D-6E8A-4147-A177-3AD203B41FA5}">
                      <a16:colId xmlns:a16="http://schemas.microsoft.com/office/drawing/2014/main" val="2702292121"/>
                    </a:ext>
                  </a:extLst>
                </a:gridCol>
                <a:gridCol w="4752622">
                  <a:extLst>
                    <a:ext uri="{9D8B030D-6E8A-4147-A177-3AD203B41FA5}">
                      <a16:colId xmlns:a16="http://schemas.microsoft.com/office/drawing/2014/main" val="2090431194"/>
                    </a:ext>
                  </a:extLst>
                </a:gridCol>
              </a:tblGrid>
              <a:tr h="582773">
                <a:tc>
                  <a:txBody>
                    <a:bodyPr/>
                    <a:lstStyle/>
                    <a:p>
                      <a:pPr marL="0" marR="0">
                        <a:buNone/>
                      </a:pPr>
                      <a:r>
                        <a:rPr lang="en-US" sz="2800">
                          <a:effectLst/>
                        </a:rPr>
                        <a:t>Formative evaluation</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800">
                          <a:effectLst/>
                        </a:rPr>
                        <a:t>Summative evaluation</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23878876"/>
                  </a:ext>
                </a:extLst>
              </a:tr>
              <a:tr h="552631">
                <a:tc>
                  <a:txBody>
                    <a:bodyPr/>
                    <a:lstStyle/>
                    <a:p>
                      <a:pPr marL="0" marR="0">
                        <a:buNone/>
                      </a:pPr>
                      <a:r>
                        <a:rPr lang="en-US" sz="2000">
                          <a:effectLst/>
                        </a:rPr>
                        <a:t>"Improve while you build"</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"Judge the final product"</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624204895"/>
                  </a:ext>
                </a:extLst>
              </a:tr>
              <a:tr h="552631">
                <a:tc>
                  <a:txBody>
                    <a:bodyPr/>
                    <a:lstStyle/>
                    <a:p>
                      <a:pPr marL="0" marR="0">
                        <a:buNone/>
                      </a:pPr>
                      <a:r>
                        <a:rPr lang="en-US" sz="2000">
                          <a:effectLst/>
                        </a:rPr>
                        <a:t>During design &amp; development</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After design is complete</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87846844"/>
                  </a:ext>
                </a:extLst>
              </a:tr>
              <a:tr h="552631">
                <a:tc>
                  <a:txBody>
                    <a:bodyPr/>
                    <a:lstStyle/>
                    <a:p>
                      <a:pPr marL="0" marR="0">
                        <a:buNone/>
                      </a:pPr>
                      <a:r>
                        <a:rPr lang="en-US" sz="2000">
                          <a:effectLst/>
                        </a:rPr>
                        <a:t>Goal: identify and fix problems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Goal: measure performance vs benchmark</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835916406"/>
                  </a:ext>
                </a:extLst>
              </a:tr>
              <a:tr h="552631">
                <a:tc>
                  <a:txBody>
                    <a:bodyPr/>
                    <a:lstStyle/>
                    <a:p>
                      <a:pPr marL="0" marR="0">
                        <a:buNone/>
                      </a:pPr>
                      <a:r>
                        <a:rPr lang="en-US" sz="2000">
                          <a:effectLst/>
                        </a:rPr>
                        <a:t>Small, iterative, qualitative focus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Larger, controlled, quantitative focus</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4114820710"/>
                  </a:ext>
                </a:extLst>
              </a:tr>
              <a:tr h="552631">
                <a:tc>
                  <a:txBody>
                    <a:bodyPr/>
                    <a:lstStyle/>
                    <a:p>
                      <a:pPr marL="0" marR="0">
                        <a:buNone/>
                      </a:pPr>
                      <a:r>
                        <a:rPr lang="en-US" sz="2000" dirty="0">
                          <a:effectLst/>
                        </a:rPr>
                        <a:t>5–8 participants typical</a:t>
                      </a:r>
                      <a:endParaRPr lang="en-US" sz="28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30–100+ participants typical</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457651828"/>
                  </a:ext>
                </a:extLst>
              </a:tr>
              <a:tr h="854065">
                <a:tc>
                  <a:txBody>
                    <a:bodyPr/>
                    <a:lstStyle/>
                    <a:p>
                      <a:pPr marL="0" marR="0">
                        <a:buNone/>
                      </a:pPr>
                      <a:r>
                        <a:rPr lang="en-US" sz="2000">
                          <a:effectLst/>
                        </a:rPr>
                        <a:t>Methods: think-aloud, heuristic eval, cognitive walkthrough, paper prototyping</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a:effectLst/>
                        </a:rPr>
                        <a:t>Methods: usability benchmark, A/B test, SUS survey, analytics review</a:t>
                      </a:r>
                      <a:endParaRPr lang="en-US" sz="28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763484111"/>
                  </a:ext>
                </a:extLst>
              </a:tr>
              <a:tr h="552631">
                <a:tc>
                  <a:txBody>
                    <a:bodyPr/>
                    <a:lstStyle/>
                    <a:p>
                      <a:pPr marL="0" marR="0">
                        <a:buNone/>
                      </a:pPr>
                      <a:r>
                        <a:rPr lang="en-US" sz="2000">
                          <a:effectLst/>
                        </a:rPr>
                        <a:t>Output: insights + design changes</a:t>
                      </a:r>
                      <a:endParaRPr lang="en-US" sz="28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2000" dirty="0">
                          <a:effectLst/>
                        </a:rPr>
                        <a:t>Output: metrics + go/no-go decisions</a:t>
                      </a:r>
                      <a:endParaRPr lang="en-US" sz="28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236788084"/>
                  </a:ext>
                </a:extLst>
              </a:tr>
            </a:tbl>
          </a:graphicData>
        </a:graphic>
      </p:graphicFrame>
    </p:spTree>
    <p:extLst>
      <p:ext uri="{BB962C8B-B14F-4D97-AF65-F5344CB8AC3E}">
        <p14:creationId xmlns:p14="http://schemas.microsoft.com/office/powerpoint/2010/main" val="3536660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39B6-299E-58FF-CEB8-841519C18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ED5CA-E7BB-8E00-DE08-8F9136BD3936}"/>
              </a:ext>
            </a:extLst>
          </p:cNvPr>
          <p:cNvSpPr>
            <a:spLocks noGrp="1"/>
          </p:cNvSpPr>
          <p:nvPr>
            <p:ph type="title"/>
          </p:nvPr>
        </p:nvSpPr>
        <p:spPr/>
        <p:txBody>
          <a:bodyPr/>
          <a:lstStyle/>
          <a:p>
            <a:r>
              <a:rPr lang="en-US" dirty="0"/>
              <a:t>Formative vs summative evaluation (3)</a:t>
            </a:r>
          </a:p>
        </p:txBody>
      </p:sp>
      <p:sp>
        <p:nvSpPr>
          <p:cNvPr id="3" name="Content Placeholder 2">
            <a:extLst>
              <a:ext uri="{FF2B5EF4-FFF2-40B4-BE49-F238E27FC236}">
                <a16:creationId xmlns:a16="http://schemas.microsoft.com/office/drawing/2014/main" id="{9EA614D7-D6F7-080C-9B2D-7CBDC1116E62}"/>
              </a:ext>
            </a:extLst>
          </p:cNvPr>
          <p:cNvSpPr>
            <a:spLocks noGrp="1"/>
          </p:cNvSpPr>
          <p:nvPr>
            <p:ph idx="1"/>
          </p:nvPr>
        </p:nvSpPr>
        <p:spPr/>
        <p:txBody>
          <a:bodyPr/>
          <a:lstStyle/>
          <a:p>
            <a:r>
              <a:rPr lang="en-US" dirty="0"/>
              <a:t>The design-evaluation lifecycle</a:t>
            </a:r>
          </a:p>
          <a:p>
            <a:r>
              <a:rPr lang="en-US" dirty="0"/>
              <a:t>Concept  →  </a:t>
            </a:r>
            <a:r>
              <a:rPr lang="en-US" b="1" dirty="0"/>
              <a:t>Formative</a:t>
            </a:r>
            <a:r>
              <a:rPr lang="en-US" dirty="0"/>
              <a:t> (paper prototype)  →  Refine  →  </a:t>
            </a:r>
            <a:r>
              <a:rPr lang="en-US" b="1" dirty="0"/>
              <a:t>Formative</a:t>
            </a:r>
            <a:r>
              <a:rPr lang="en-US" dirty="0"/>
              <a:t> (wireframe)  →  Develop  →  </a:t>
            </a:r>
            <a:r>
              <a:rPr lang="en-US" b="1" dirty="0"/>
              <a:t>Formative</a:t>
            </a:r>
            <a:r>
              <a:rPr lang="en-US" dirty="0"/>
              <a:t> (alpha)  →  Launch  →  </a:t>
            </a:r>
            <a:r>
              <a:rPr lang="en-US" b="1" dirty="0"/>
              <a:t>Summative</a:t>
            </a:r>
            <a:r>
              <a:rPr lang="en-US" dirty="0"/>
              <a:t> (benchmark)  →  Iterate</a:t>
            </a:r>
          </a:p>
        </p:txBody>
      </p:sp>
    </p:spTree>
    <p:extLst>
      <p:ext uri="{BB962C8B-B14F-4D97-AF65-F5344CB8AC3E}">
        <p14:creationId xmlns:p14="http://schemas.microsoft.com/office/powerpoint/2010/main" val="8975415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8128-34FB-E00F-C9DB-F747309D0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B5283-A3E2-5AD3-E317-0C4F79065C09}"/>
              </a:ext>
            </a:extLst>
          </p:cNvPr>
          <p:cNvSpPr>
            <a:spLocks noGrp="1"/>
          </p:cNvSpPr>
          <p:nvPr>
            <p:ph type="title"/>
          </p:nvPr>
        </p:nvSpPr>
        <p:spPr/>
        <p:txBody>
          <a:bodyPr/>
          <a:lstStyle/>
          <a:p>
            <a:r>
              <a:rPr lang="en-US" dirty="0"/>
              <a:t>Formative vs summative evaluation (4)</a:t>
            </a:r>
          </a:p>
        </p:txBody>
      </p:sp>
      <p:graphicFrame>
        <p:nvGraphicFramePr>
          <p:cNvPr id="4" name="Content Placeholder 3">
            <a:extLst>
              <a:ext uri="{FF2B5EF4-FFF2-40B4-BE49-F238E27FC236}">
                <a16:creationId xmlns:a16="http://schemas.microsoft.com/office/drawing/2014/main" id="{B12DA8B1-B494-528B-8216-6A9CCA561ED4}"/>
              </a:ext>
            </a:extLst>
          </p:cNvPr>
          <p:cNvGraphicFramePr>
            <a:graphicFrameLocks noGrp="1"/>
          </p:cNvGraphicFramePr>
          <p:nvPr>
            <p:ph idx="1"/>
            <p:extLst>
              <p:ext uri="{D42A27DB-BD31-4B8C-83A1-F6EECF244321}">
                <p14:modId xmlns:p14="http://schemas.microsoft.com/office/powerpoint/2010/main" val="484363144"/>
              </p:ext>
            </p:extLst>
          </p:nvPr>
        </p:nvGraphicFramePr>
        <p:xfrm>
          <a:off x="1004710" y="1412491"/>
          <a:ext cx="9843911" cy="5195858"/>
        </p:xfrm>
        <a:graphic>
          <a:graphicData uri="http://schemas.openxmlformats.org/drawingml/2006/table">
            <a:tbl>
              <a:tblPr firstRow="1" firstCol="1" bandRow="1">
                <a:tableStyleId>{5C22544A-7EE6-4342-B048-85BDC9FD1C3A}</a:tableStyleId>
              </a:tblPr>
              <a:tblGrid>
                <a:gridCol w="2438401">
                  <a:extLst>
                    <a:ext uri="{9D8B030D-6E8A-4147-A177-3AD203B41FA5}">
                      <a16:colId xmlns:a16="http://schemas.microsoft.com/office/drawing/2014/main" val="690382350"/>
                    </a:ext>
                  </a:extLst>
                </a:gridCol>
                <a:gridCol w="1309511">
                  <a:extLst>
                    <a:ext uri="{9D8B030D-6E8A-4147-A177-3AD203B41FA5}">
                      <a16:colId xmlns:a16="http://schemas.microsoft.com/office/drawing/2014/main" val="4214350520"/>
                    </a:ext>
                  </a:extLst>
                </a:gridCol>
                <a:gridCol w="3088137">
                  <a:extLst>
                    <a:ext uri="{9D8B030D-6E8A-4147-A177-3AD203B41FA5}">
                      <a16:colId xmlns:a16="http://schemas.microsoft.com/office/drawing/2014/main" val="3721707301"/>
                    </a:ext>
                  </a:extLst>
                </a:gridCol>
                <a:gridCol w="3007862">
                  <a:extLst>
                    <a:ext uri="{9D8B030D-6E8A-4147-A177-3AD203B41FA5}">
                      <a16:colId xmlns:a16="http://schemas.microsoft.com/office/drawing/2014/main" val="3059486608"/>
                    </a:ext>
                  </a:extLst>
                </a:gridCol>
              </a:tblGrid>
              <a:tr h="546577">
                <a:tc>
                  <a:txBody>
                    <a:bodyPr/>
                    <a:lstStyle/>
                    <a:p>
                      <a:pPr marL="0" marR="0">
                        <a:buNone/>
                      </a:pPr>
                      <a:r>
                        <a:rPr lang="en-US" sz="1800" dirty="0">
                          <a:effectLst/>
                        </a:rPr>
                        <a:t>Method</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i="0" dirty="0"/>
                        <a:t>Purpose</a:t>
                      </a:r>
                      <a:r>
                        <a:rPr lang="en-US" dirty="0"/>
                        <a:t> of the method</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800" dirty="0">
                          <a:effectLst/>
                        </a:rPr>
                        <a:t>When in the project you'd use it</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dirty="0"/>
                        <a:t>What you get out of it</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527908840"/>
                  </a:ext>
                </a:extLst>
              </a:tr>
              <a:tr h="785083">
                <a:tc>
                  <a:txBody>
                    <a:bodyPr/>
                    <a:lstStyle/>
                    <a:p>
                      <a:pPr marL="0" marR="0">
                        <a:buNone/>
                      </a:pPr>
                      <a:r>
                        <a:rPr lang="en-US" sz="1600">
                          <a:effectLst/>
                        </a:rPr>
                        <a:t>Heuristic evaluation</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Formative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Early/mid design</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List of violations with severity ratings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1717238818"/>
                  </a:ext>
                </a:extLst>
              </a:tr>
              <a:tr h="516763">
                <a:tc>
                  <a:txBody>
                    <a:bodyPr/>
                    <a:lstStyle/>
                    <a:p>
                      <a:pPr marL="0" marR="0">
                        <a:buNone/>
                      </a:pPr>
                      <a:r>
                        <a:rPr lang="en-US" sz="1600">
                          <a:effectLst/>
                        </a:rPr>
                        <a:t>Cognitive walkthrough</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Formative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Prototype stage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Task-by-task failure analysis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268452968"/>
                  </a:ext>
                </a:extLst>
              </a:tr>
              <a:tr h="785083">
                <a:tc>
                  <a:txBody>
                    <a:bodyPr/>
                    <a:lstStyle/>
                    <a:p>
                      <a:pPr marL="0" marR="0">
                        <a:buNone/>
                      </a:pPr>
                      <a:r>
                        <a:rPr lang="en-US" sz="1600" dirty="0">
                          <a:effectLst/>
                        </a:rPr>
                        <a:t>Think-aloud testing</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Formative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Any prototype stage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Qualitative insights and pain points</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581289240"/>
                  </a:ext>
                </a:extLst>
              </a:tr>
              <a:tr h="516763">
                <a:tc>
                  <a:txBody>
                    <a:bodyPr/>
                    <a:lstStyle/>
                    <a:p>
                      <a:pPr marL="0" marR="0">
                        <a:buNone/>
                      </a:pPr>
                      <a:r>
                        <a:rPr lang="en-US" sz="1600" dirty="0">
                          <a:effectLst/>
                        </a:rPr>
                        <a:t>A/B testing</a:t>
                      </a:r>
                      <a:endParaRPr lang="en-US" sz="2400" dirty="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Summative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Live product</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Statistical outcome per variant</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721911459"/>
                  </a:ext>
                </a:extLst>
              </a:tr>
              <a:tr h="516763">
                <a:tc>
                  <a:txBody>
                    <a:bodyPr/>
                    <a:lstStyle/>
                    <a:p>
                      <a:pPr marL="0" marR="0">
                        <a:buNone/>
                      </a:pPr>
                      <a:r>
                        <a:rPr lang="en-US" sz="1600">
                          <a:effectLst/>
                        </a:rPr>
                        <a:t>SUS (System Usability Scale)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Summative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Post-launch</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Usability score (0–100)</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443500580"/>
                  </a:ext>
                </a:extLst>
              </a:tr>
              <a:tr h="785083">
                <a:tc>
                  <a:txBody>
                    <a:bodyPr/>
                    <a:lstStyle/>
                    <a:p>
                      <a:pPr marL="0" marR="0">
                        <a:buNone/>
                      </a:pPr>
                      <a:r>
                        <a:rPr lang="en-US" sz="1600">
                          <a:effectLst/>
                        </a:rPr>
                        <a:t>Benchmark usability test</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Summative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Post-launch / comparative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Task completion rate, time, error count</a:t>
                      </a:r>
                      <a:endParaRPr lang="en-US" sz="240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2195526872"/>
                  </a:ext>
                </a:extLst>
              </a:tr>
              <a:tr h="516763">
                <a:tc>
                  <a:txBody>
                    <a:bodyPr/>
                    <a:lstStyle/>
                    <a:p>
                      <a:pPr marL="0" marR="0">
                        <a:buNone/>
                      </a:pPr>
                      <a:r>
                        <a:rPr lang="en-US" sz="1600">
                          <a:effectLst/>
                        </a:rPr>
                        <a:t>Analytics review</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Summative</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a:effectLst/>
                        </a:rPr>
                        <a:t>Live product, ongoing</a:t>
                      </a:r>
                      <a:endParaRPr lang="en-US" sz="2400">
                        <a:effectLst/>
                        <a:latin typeface="Arial" panose="020B0604020202020204" pitchFamily="34" charset="0"/>
                        <a:ea typeface="Arial" panose="020B0604020202020204" pitchFamily="34" charset="0"/>
                      </a:endParaRPr>
                    </a:p>
                  </a:txBody>
                  <a:tcPr marL="95250" marR="95250" marT="63500" marB="63500"/>
                </a:tc>
                <a:tc>
                  <a:txBody>
                    <a:bodyPr/>
                    <a:lstStyle/>
                    <a:p>
                      <a:pPr marL="0" marR="0">
                        <a:buNone/>
                      </a:pPr>
                      <a:r>
                        <a:rPr lang="en-US" sz="1600" dirty="0">
                          <a:effectLst/>
                        </a:rPr>
                        <a:t>Drop-off rates, funnels, heatmaps</a:t>
                      </a:r>
                      <a:endParaRPr lang="en-US" sz="2400" dirty="0">
                        <a:effectLst/>
                        <a:latin typeface="Arial" panose="020B0604020202020204" pitchFamily="34" charset="0"/>
                        <a:ea typeface="Arial" panose="020B0604020202020204" pitchFamily="34" charset="0"/>
                      </a:endParaRPr>
                    </a:p>
                  </a:txBody>
                  <a:tcPr marL="95250" marR="95250" marT="63500" marB="63500"/>
                </a:tc>
                <a:extLst>
                  <a:ext uri="{0D108BD9-81ED-4DB2-BD59-A6C34878D82A}">
                    <a16:rowId xmlns:a16="http://schemas.microsoft.com/office/drawing/2014/main" val="3912030369"/>
                  </a:ext>
                </a:extLst>
              </a:tr>
            </a:tbl>
          </a:graphicData>
        </a:graphic>
      </p:graphicFrame>
    </p:spTree>
    <p:extLst>
      <p:ext uri="{BB962C8B-B14F-4D97-AF65-F5344CB8AC3E}">
        <p14:creationId xmlns:p14="http://schemas.microsoft.com/office/powerpoint/2010/main" val="3250233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47C6E-BEDE-7B27-7FC9-F71E2C35F00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DDC2111-E7C2-EFFB-47CA-65A40ED47206}"/>
              </a:ext>
            </a:extLst>
          </p:cNvPr>
          <p:cNvSpPr>
            <a:spLocks noGrp="1"/>
          </p:cNvSpPr>
          <p:nvPr>
            <p:ph idx="1"/>
          </p:nvPr>
        </p:nvSpPr>
        <p:spPr/>
        <p:txBody>
          <a:bodyPr/>
          <a:lstStyle/>
          <a:p>
            <a:r>
              <a:rPr lang="en-US" dirty="0"/>
              <a:t>Any Questions?</a:t>
            </a:r>
          </a:p>
        </p:txBody>
      </p:sp>
    </p:spTree>
    <p:extLst>
      <p:ext uri="{BB962C8B-B14F-4D97-AF65-F5344CB8AC3E}">
        <p14:creationId xmlns:p14="http://schemas.microsoft.com/office/powerpoint/2010/main" val="2544165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2638</Words>
  <Application>Microsoft Office PowerPoint</Application>
  <PresentationFormat>Widescreen</PresentationFormat>
  <Paragraphs>313</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HCI &amp; Computer Graphics</vt:lpstr>
      <vt:lpstr>Heuristics</vt:lpstr>
      <vt:lpstr>Nielsen's 10 usability heuristics (1)</vt:lpstr>
      <vt:lpstr>Nielsen's 10 usability heuristics (2)</vt:lpstr>
      <vt:lpstr>Nielsen's 10 usability heuristics (3)</vt:lpstr>
      <vt:lpstr>Nielsen's 10 usability heuristics (4)</vt:lpstr>
      <vt:lpstr>Nielsen's 10 usability heuristics (5)</vt:lpstr>
      <vt:lpstr>Nielsen's 10 usability heuristics (6)</vt:lpstr>
      <vt:lpstr>Shneiderman's 8 golden rules </vt:lpstr>
      <vt:lpstr>Shneiderman's 8 golden rules (1) </vt:lpstr>
      <vt:lpstr>Shneiderman's 8 golden rules (2) </vt:lpstr>
      <vt:lpstr>Shneiderman's 8 golden rules (3)</vt:lpstr>
      <vt:lpstr>Shneiderman's 8 golden rules (4) </vt:lpstr>
      <vt:lpstr>Shneiderman's 8 golden rules (5)</vt:lpstr>
      <vt:lpstr>Comparison (1)</vt:lpstr>
      <vt:lpstr>Comparison (2)</vt:lpstr>
      <vt:lpstr>Class activity</vt:lpstr>
      <vt:lpstr>Error prevention strategies</vt:lpstr>
      <vt:lpstr>Recap</vt:lpstr>
      <vt:lpstr>Error prevention strategies (1) </vt:lpstr>
      <vt:lpstr>Error prevention strategies (2) </vt:lpstr>
      <vt:lpstr>Error prevention strategies (3) </vt:lpstr>
      <vt:lpstr>Error prevention strategies (4) </vt:lpstr>
      <vt:lpstr>Feedback mechanisms </vt:lpstr>
      <vt:lpstr>Feedback mechanisms (1) </vt:lpstr>
      <vt:lpstr>Feedback mechanisms (2) </vt:lpstr>
      <vt:lpstr>Feedback mechanisms (3) </vt:lpstr>
      <vt:lpstr>Feedback mechanisms (4) </vt:lpstr>
      <vt:lpstr>Testing methods </vt:lpstr>
      <vt:lpstr>Testing methods (1)</vt:lpstr>
      <vt:lpstr>Testing methods (2)</vt:lpstr>
      <vt:lpstr>Testing methods (3)</vt:lpstr>
      <vt:lpstr>Testing methods (4)</vt:lpstr>
      <vt:lpstr>Testing methods (5)</vt:lpstr>
      <vt:lpstr>Testing methods (6)</vt:lpstr>
      <vt:lpstr>Testing methods (7)</vt:lpstr>
      <vt:lpstr>Testing methods (8)</vt:lpstr>
      <vt:lpstr>Testing methods (9)</vt:lpstr>
      <vt:lpstr>Formative vs summative evaluation </vt:lpstr>
      <vt:lpstr>Formative vs summative evaluation (1)</vt:lpstr>
      <vt:lpstr>Formative vs summative evaluation (2)</vt:lpstr>
      <vt:lpstr>Formative vs summative evaluation (3)</vt:lpstr>
      <vt:lpstr>Formative vs summative evaluation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Zainab Hammad</dc:creator>
  <cp:lastModifiedBy>Zainab Hammad</cp:lastModifiedBy>
  <cp:revision>45</cp:revision>
  <dcterms:created xsi:type="dcterms:W3CDTF">2026-05-14T10:47:46Z</dcterms:created>
  <dcterms:modified xsi:type="dcterms:W3CDTF">2026-05-14T12:17:26Z</dcterms:modified>
</cp:coreProperties>
</file>