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50381DE-722D-4640-96AE-B7EA46698B4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614EB4-951E-4B9D-957D-63D30ABF43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1E0B78-E020-4F6F-88B9-951D7C18A7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7BE914-FCB9-4DA6-B698-71F64BDA8C6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705197-12CD-4DA0-A67D-A0F62E36CDC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F20BFE-8D11-4748-B86E-E66C74216D3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A37725-81D8-456F-85F6-C1B190AF3B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A504E3-14B3-4B8B-8EF9-03E9131024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B4B783-10E8-449D-9992-1F00170F5D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460504-10D2-4962-A71C-48039FB79BF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533ADD-BF58-405B-9A7B-F323284D0C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5C222F-D98E-4B9A-8F25-1D452FE69A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DB4B37-07A8-4C08-A002-BF5B2487946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EF0ED7-EC67-4F5E-BEDD-43D627C3A4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21F1C3-45CD-4E9E-8B9E-889E800BDB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C56DB1-2E74-4CB0-92D3-3151A591FF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548640"/>
            <a:ext cx="2925360" cy="2925360"/>
          </a:xfrm>
          <a:prstGeom prst="ellipse">
            <a:avLst/>
          </a:prstGeom>
          <a:solidFill>
            <a:srgbClr val="005f73">
              <a:alpha val="30000"/>
            </a:srgbClr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772400" y="2926080"/>
            <a:ext cx="1828080" cy="182808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5"/>
          <p:cNvSpPr/>
          <p:nvPr/>
        </p:nvSpPr>
        <p:spPr>
          <a:xfrm>
            <a:off x="411480" y="1051560"/>
            <a:ext cx="7771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94" strike="noStrike">
                <a:solidFill>
                  <a:srgbClr val="ffffff"/>
                </a:solidFill>
                <a:latin typeface="Calibri"/>
                <a:ea typeface="Calibri"/>
              </a:rPr>
              <a:t>Usability Testing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411480" y="2377440"/>
            <a:ext cx="6857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94d2bd"/>
                </a:solidFill>
                <a:latin typeface="Calibri"/>
                <a:ea typeface="Calibri"/>
              </a:rPr>
              <a:t>How to Know if Your Design Actually Works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11480" y="3017520"/>
            <a:ext cx="4571280" cy="36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8"/>
          <p:cNvSpPr/>
          <p:nvPr/>
        </p:nvSpPr>
        <p:spPr>
          <a:xfrm>
            <a:off x="411480" y="324612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d2bd"/>
                </a:solidFill>
                <a:latin typeface="Calibri"/>
                <a:ea typeface="Calibri"/>
              </a:rPr>
              <a:t>Evaluating User Experience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11480" y="3749040"/>
            <a:ext cx="7131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c757d"/>
                </a:solidFill>
                <a:latin typeface="Calibri"/>
                <a:ea typeface="Calibri"/>
              </a:rPr>
              <a:t>"The best designs are discovered through watching real users — not imagined in isolation."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What is Usability Testing?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274320" y="1097280"/>
            <a:ext cx="8594640" cy="913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Text 3"/>
          <p:cNvSpPr/>
          <p:nvPr/>
        </p:nvSpPr>
        <p:spPr>
          <a:xfrm>
            <a:off x="274320" y="1097280"/>
            <a:ext cx="85946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"Usability testing is a technique to evaluate a product by testing it with representative users."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274320" y="2148840"/>
            <a:ext cx="420552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Text 5"/>
          <p:cNvSpPr/>
          <p:nvPr/>
        </p:nvSpPr>
        <p:spPr>
          <a:xfrm>
            <a:off x="365760" y="224028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👥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1024200" y="222192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Real Users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1024200" y="2569320"/>
            <a:ext cx="3291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Actual target users — not designers, not developers, not friends.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4800600" y="2148840"/>
            <a:ext cx="420552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Text 9"/>
          <p:cNvSpPr/>
          <p:nvPr/>
        </p:nvSpPr>
        <p:spPr>
          <a:xfrm>
            <a:off x="4892040" y="224028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📋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550480" y="222192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Real Tasks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550480" y="2569320"/>
            <a:ext cx="3291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Users perform realistic tasks with the actual product or prototype.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274320" y="3383280"/>
            <a:ext cx="420552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Text 13"/>
          <p:cNvSpPr/>
          <p:nvPr/>
        </p:nvSpPr>
        <p:spPr>
          <a:xfrm>
            <a:off x="365760" y="347472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👁️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1024200" y="345636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Observation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1024200" y="3803760"/>
            <a:ext cx="3291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Researchers observe behavior, measure performance, and identify problems.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4800600" y="3383280"/>
            <a:ext cx="420552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Text 17"/>
          <p:cNvSpPr/>
          <p:nvPr/>
        </p:nvSpPr>
        <p:spPr>
          <a:xfrm>
            <a:off x="4892040" y="347472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🔁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5550480" y="345636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Iterative Process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5550480" y="3803760"/>
            <a:ext cx="3291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Testing happens early and often — findings drive redesign.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Why Does Usability Testing Matter?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274320" y="1097280"/>
            <a:ext cx="2742480" cy="1325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" name="Text 3"/>
          <p:cNvSpPr/>
          <p:nvPr/>
        </p:nvSpPr>
        <p:spPr>
          <a:xfrm>
            <a:off x="274320" y="1143000"/>
            <a:ext cx="2742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85%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274320" y="182880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of usability problems found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with just 5 users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3200400" y="1097280"/>
            <a:ext cx="2742480" cy="13251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Text 6"/>
          <p:cNvSpPr/>
          <p:nvPr/>
        </p:nvSpPr>
        <p:spPr>
          <a:xfrm>
            <a:off x="3200400" y="1143000"/>
            <a:ext cx="2742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$1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3200400" y="182880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spent on UX returns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$100 in value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6126480" y="1097280"/>
            <a:ext cx="2742480" cy="1325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9"/>
          <p:cNvSpPr/>
          <p:nvPr/>
        </p:nvSpPr>
        <p:spPr>
          <a:xfrm>
            <a:off x="6126480" y="1143000"/>
            <a:ext cx="2742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70%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6126480" y="182880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of online businesses fail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due to poor usability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274320" y="26060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DejaVu Sans"/>
              </a:rPr>
              <a:t>Key Benefits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274320" y="2971800"/>
            <a:ext cx="41140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Reveals real problems users face — not assumed ones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Validates design decisions with evidence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Saves money by catching issues before development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Increases user satisfaction and product adoption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Provides data to prioritize design improvements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4846320" y="2606040"/>
            <a:ext cx="4022640" cy="2193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Text 14"/>
          <p:cNvSpPr/>
          <p:nvPr/>
        </p:nvSpPr>
        <p:spPr>
          <a:xfrm>
            <a:off x="4937760" y="269748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Jakob Nielsen's Rule: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4937760" y="3063240"/>
            <a:ext cx="37483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"Testing with 5 users will reveal approximately 85% of usability problems. You don't need more participants — you need more test rounds."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4937760" y="448056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— </a:t>
            </a: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Jakob Nielsen, Nielsen Norman Group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Types of Usability Testing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274320" y="1051560"/>
            <a:ext cx="420552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Shape 3"/>
          <p:cNvSpPr/>
          <p:nvPr/>
        </p:nvSpPr>
        <p:spPr>
          <a:xfrm>
            <a:off x="274320" y="1051560"/>
            <a:ext cx="4205520" cy="685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4"/>
          <p:cNvSpPr/>
          <p:nvPr/>
        </p:nvSpPr>
        <p:spPr>
          <a:xfrm>
            <a:off x="365760" y="1051560"/>
            <a:ext cx="4022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🔍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Formative Testing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365760" y="181044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0a9396"/>
                </a:solidFill>
                <a:latin typeface="Calibri"/>
                <a:ea typeface="DejaVu Sans"/>
              </a:rPr>
              <a:t>Done DURING design — to find and fix problems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411480" y="2286000"/>
            <a:ext cx="383976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Small groups (3–5 users)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Qualitative insights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Iterative &amp; frequent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Low-fi or hi-fi prototypes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Goal: Improve the design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4709160" y="1051560"/>
            <a:ext cx="420552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Shape 8"/>
          <p:cNvSpPr/>
          <p:nvPr/>
        </p:nvSpPr>
        <p:spPr>
          <a:xfrm>
            <a:off x="4709160" y="1051560"/>
            <a:ext cx="4205520" cy="6850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9"/>
          <p:cNvSpPr/>
          <p:nvPr/>
        </p:nvSpPr>
        <p:spPr>
          <a:xfrm>
            <a:off x="4800600" y="1051560"/>
            <a:ext cx="4022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📊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Summative Testing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4800600" y="181044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ee9b00"/>
                </a:solidFill>
                <a:latin typeface="Calibri"/>
                <a:ea typeface="DejaVu Sans"/>
              </a:rPr>
              <a:t>Done AFTER design — to measure performance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846320" y="2286000"/>
            <a:ext cx="383976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Larger groups (20+ users)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Quantitative metrics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Done at key milestones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Working product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Goal: Benchmark the design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274320" y="4773240"/>
            <a:ext cx="8594640" cy="2736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3"/>
          <p:cNvSpPr/>
          <p:nvPr/>
        </p:nvSpPr>
        <p:spPr>
          <a:xfrm>
            <a:off x="274320" y="4773240"/>
            <a:ext cx="8594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Also categorized by: Moderated vs Unmoderated  |  In-person vs Remote  |  Explorative vs Assessment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Moderated vs Unmoderated Testing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274320" y="1051560"/>
            <a:ext cx="8594640" cy="383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"/>
          <p:cNvSpPr/>
          <p:nvPr/>
        </p:nvSpPr>
        <p:spPr>
          <a:xfrm>
            <a:off x="320040" y="105156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Aspect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3063240" y="1051560"/>
            <a:ext cx="2833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✅  </a:t>
            </a: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Moderated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897880" y="1051560"/>
            <a:ext cx="2833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e9b00"/>
                </a:solidFill>
                <a:latin typeface="Calibri"/>
                <a:ea typeface="DejaVu Sans"/>
              </a:rPr>
              <a:t>🔄  </a:t>
            </a:r>
            <a:r>
              <a:rPr b="1" lang="en-US" sz="1200" spc="-1" strike="noStrike">
                <a:solidFill>
                  <a:srgbClr val="ee9b00"/>
                </a:solidFill>
                <a:latin typeface="Calibri"/>
                <a:ea typeface="DejaVu Sans"/>
              </a:rPr>
              <a:t>Unmoderated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274320" y="1435680"/>
            <a:ext cx="8594640" cy="46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7"/>
          <p:cNvSpPr/>
          <p:nvPr/>
        </p:nvSpPr>
        <p:spPr>
          <a:xfrm>
            <a:off x="365760" y="143568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Facilitator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3063240" y="143568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Present and active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5897880" y="143568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No facilitator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274320" y="1920240"/>
            <a:ext cx="8594640" cy="465480"/>
          </a:xfrm>
          <a:prstGeom prst="rect">
            <a:avLst/>
          </a:prstGeom>
          <a:solidFill>
            <a:srgbClr val="edf6f9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1"/>
          <p:cNvSpPr/>
          <p:nvPr/>
        </p:nvSpPr>
        <p:spPr>
          <a:xfrm>
            <a:off x="365760" y="192024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Location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3063240" y="192024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Lab or shared space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5897880" y="192024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User's own environment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274320" y="2404800"/>
            <a:ext cx="8594640" cy="46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5"/>
          <p:cNvSpPr/>
          <p:nvPr/>
        </p:nvSpPr>
        <p:spPr>
          <a:xfrm>
            <a:off x="365760" y="240480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Probing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3063240" y="240480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Can ask follow-up questions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5897880" y="240480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No real-time clarification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1" name="Shape 18"/>
          <p:cNvSpPr/>
          <p:nvPr/>
        </p:nvSpPr>
        <p:spPr>
          <a:xfrm>
            <a:off x="274320" y="2889360"/>
            <a:ext cx="8594640" cy="465480"/>
          </a:xfrm>
          <a:prstGeom prst="rect">
            <a:avLst/>
          </a:prstGeom>
          <a:solidFill>
            <a:srgbClr val="edf6f9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9"/>
          <p:cNvSpPr/>
          <p:nvPr/>
        </p:nvSpPr>
        <p:spPr>
          <a:xfrm>
            <a:off x="365760" y="288936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Cost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3063240" y="288936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Higher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5897880" y="288936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Lower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274320" y="3374280"/>
            <a:ext cx="8594640" cy="46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3"/>
          <p:cNvSpPr/>
          <p:nvPr/>
        </p:nvSpPr>
        <p:spPr>
          <a:xfrm>
            <a:off x="365760" y="337428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Sample Size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3063240" y="337428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Small (5–10)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5897880" y="337428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Large (50–100+)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9" name="Shape 26"/>
          <p:cNvSpPr/>
          <p:nvPr/>
        </p:nvSpPr>
        <p:spPr>
          <a:xfrm>
            <a:off x="274320" y="3858840"/>
            <a:ext cx="8594640" cy="465480"/>
          </a:xfrm>
          <a:prstGeom prst="rect">
            <a:avLst/>
          </a:prstGeom>
          <a:solidFill>
            <a:srgbClr val="edf6f9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7"/>
          <p:cNvSpPr/>
          <p:nvPr/>
        </p:nvSpPr>
        <p:spPr>
          <a:xfrm>
            <a:off x="365760" y="385884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Data Type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3063240" y="385884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Rich qualitative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5897880" y="385884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Behavioral/quantitative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274320" y="4343400"/>
            <a:ext cx="8594640" cy="46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1"/>
          <p:cNvSpPr/>
          <p:nvPr/>
        </p:nvSpPr>
        <p:spPr>
          <a:xfrm>
            <a:off x="365760" y="4343400"/>
            <a:ext cx="26510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Best For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5" name="Text 32"/>
          <p:cNvSpPr/>
          <p:nvPr/>
        </p:nvSpPr>
        <p:spPr>
          <a:xfrm>
            <a:off x="3063240" y="4343400"/>
            <a:ext cx="27424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5f73"/>
                </a:solidFill>
                <a:latin typeface="Calibri"/>
                <a:ea typeface="DejaVu Sans"/>
              </a:rPr>
              <a:t>Complex tasks, early stages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6" name="Text 33"/>
          <p:cNvSpPr/>
          <p:nvPr/>
        </p:nvSpPr>
        <p:spPr>
          <a:xfrm>
            <a:off x="5897880" y="4343400"/>
            <a:ext cx="2833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Confirmatory testing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Planning a Usability Test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274320" y="109728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3"/>
          <p:cNvSpPr/>
          <p:nvPr/>
        </p:nvSpPr>
        <p:spPr>
          <a:xfrm>
            <a:off x="365760" y="1353240"/>
            <a:ext cx="547920" cy="547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4"/>
          <p:cNvSpPr/>
          <p:nvPr/>
        </p:nvSpPr>
        <p:spPr>
          <a:xfrm>
            <a:off x="365760" y="13532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1024200" y="117036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Define Goals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1024200" y="1517760"/>
            <a:ext cx="3336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What questions must the test answer?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Ex: Can users complete checkout in &lt;2 min?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4709160" y="109728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Shape 8"/>
          <p:cNvSpPr/>
          <p:nvPr/>
        </p:nvSpPr>
        <p:spPr>
          <a:xfrm>
            <a:off x="4800600" y="1353240"/>
            <a:ext cx="547920" cy="547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9"/>
          <p:cNvSpPr/>
          <p:nvPr/>
        </p:nvSpPr>
        <p:spPr>
          <a:xfrm>
            <a:off x="4800600" y="13532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5459040" y="117036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Recruit Participants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5459040" y="1517760"/>
            <a:ext cx="3336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5–8 representative users from target audience.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Match your persona characteristics.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274320" y="242316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Shape 13"/>
          <p:cNvSpPr/>
          <p:nvPr/>
        </p:nvSpPr>
        <p:spPr>
          <a:xfrm>
            <a:off x="365760" y="2679120"/>
            <a:ext cx="547920" cy="547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4"/>
          <p:cNvSpPr/>
          <p:nvPr/>
        </p:nvSpPr>
        <p:spPr>
          <a:xfrm>
            <a:off x="365760" y="26791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1024200" y="249624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Create Task Scenarios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1024200" y="2843640"/>
            <a:ext cx="3336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Realistic tasks — not instructions.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Ex: Find a blue shirt under $50 — not: Click Shop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4709160" y="242316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5" name="Shape 18"/>
          <p:cNvSpPr/>
          <p:nvPr/>
        </p:nvSpPr>
        <p:spPr>
          <a:xfrm>
            <a:off x="4800600" y="2679120"/>
            <a:ext cx="547920" cy="547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9"/>
          <p:cNvSpPr/>
          <p:nvPr/>
        </p:nvSpPr>
        <p:spPr>
          <a:xfrm>
            <a:off x="4800600" y="26791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5459040" y="249624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Choose Method &amp; Tools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459040" y="2843640"/>
            <a:ext cx="3336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Moderated/unmoderated, in-person/remote.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Tools: Maze, UserTesting, Lookback, paper.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9" name="Shape 22"/>
          <p:cNvSpPr/>
          <p:nvPr/>
        </p:nvSpPr>
        <p:spPr>
          <a:xfrm>
            <a:off x="274320" y="374904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Shape 23"/>
          <p:cNvSpPr/>
          <p:nvPr/>
        </p:nvSpPr>
        <p:spPr>
          <a:xfrm>
            <a:off x="365760" y="4005000"/>
            <a:ext cx="547920" cy="547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4"/>
          <p:cNvSpPr/>
          <p:nvPr/>
        </p:nvSpPr>
        <p:spPr>
          <a:xfrm>
            <a:off x="365760" y="400500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1024200" y="382212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Prepare the Protocol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1024200" y="4169520"/>
            <a:ext cx="3336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Script, consent forms, equipment checks,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pilot test with one person first.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4" name="Shape 27"/>
          <p:cNvSpPr/>
          <p:nvPr/>
        </p:nvSpPr>
        <p:spPr>
          <a:xfrm>
            <a:off x="4709160" y="374904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Shape 28"/>
          <p:cNvSpPr/>
          <p:nvPr/>
        </p:nvSpPr>
        <p:spPr>
          <a:xfrm>
            <a:off x="4800600" y="4005000"/>
            <a:ext cx="547920" cy="547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9"/>
          <p:cNvSpPr/>
          <p:nvPr/>
        </p:nvSpPr>
        <p:spPr>
          <a:xfrm>
            <a:off x="4800600" y="400500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5459040" y="382212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Run &amp; Observe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5459040" y="4169520"/>
            <a:ext cx="3336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Stay neutral — observe, don't help.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Record everything: time, errors, expressions.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Writing Good Task Scenarios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274320" y="1051560"/>
            <a:ext cx="411408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Shape 3"/>
          <p:cNvSpPr/>
          <p:nvPr/>
        </p:nvSpPr>
        <p:spPr>
          <a:xfrm>
            <a:off x="274320" y="1051560"/>
            <a:ext cx="4114080" cy="4564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4"/>
          <p:cNvSpPr/>
          <p:nvPr/>
        </p:nvSpPr>
        <p:spPr>
          <a:xfrm>
            <a:off x="365760" y="105156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✏️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Rules for Writing Tasks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411480" y="1600200"/>
            <a:ext cx="383976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Use realistic scenarios, not instructions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Don't give away the answer in the task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Avoid technical jargon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Include a clear end condition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Make it specific enough to be actionable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Test the tasks yourself first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4617720" y="1051560"/>
            <a:ext cx="420552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Shape 7"/>
          <p:cNvSpPr/>
          <p:nvPr/>
        </p:nvSpPr>
        <p:spPr>
          <a:xfrm>
            <a:off x="4617720" y="1051560"/>
            <a:ext cx="4205520" cy="456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8"/>
          <p:cNvSpPr/>
          <p:nvPr/>
        </p:nvSpPr>
        <p:spPr>
          <a:xfrm>
            <a:off x="4709160" y="1051560"/>
            <a:ext cx="4022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❌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Bad  vs  ✅ Good Examples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4663440" y="1600200"/>
            <a:ext cx="4068360" cy="10051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0"/>
          <p:cNvSpPr/>
          <p:nvPr/>
        </p:nvSpPr>
        <p:spPr>
          <a:xfrm>
            <a:off x="4754880" y="164592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❌ </a:t>
            </a: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Click on the Shop button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4754880" y="2039040"/>
            <a:ext cx="3839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You want to buy a birthday gift for your sister. Find something under Rs. 2000.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4663440" y="2697480"/>
            <a:ext cx="4068360" cy="10051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3"/>
          <p:cNvSpPr/>
          <p:nvPr/>
        </p:nvSpPr>
        <p:spPr>
          <a:xfrm>
            <a:off x="4754880" y="27432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❌ </a:t>
            </a: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Go to your profile settings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4754880" y="3136320"/>
            <a:ext cx="3839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You moved to a new city. Update your delivery address.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4" name="Shape 15"/>
          <p:cNvSpPr/>
          <p:nvPr/>
        </p:nvSpPr>
        <p:spPr>
          <a:xfrm>
            <a:off x="4663440" y="3794760"/>
            <a:ext cx="4068360" cy="10051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16"/>
          <p:cNvSpPr/>
          <p:nvPr/>
        </p:nvSpPr>
        <p:spPr>
          <a:xfrm>
            <a:off x="4754880" y="38404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❌ </a:t>
            </a: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Use the search function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4754880" y="4233600"/>
            <a:ext cx="3839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You're looking for a laptop with 16GB RAM. Try to find one.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Running the Test — Roles &amp; Protocol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274320" y="1097280"/>
            <a:ext cx="420552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Shape 3"/>
          <p:cNvSpPr/>
          <p:nvPr/>
        </p:nvSpPr>
        <p:spPr>
          <a:xfrm>
            <a:off x="274320" y="1097280"/>
            <a:ext cx="4205520" cy="474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4"/>
          <p:cNvSpPr/>
          <p:nvPr/>
        </p:nvSpPr>
        <p:spPr>
          <a:xfrm>
            <a:off x="365760" y="1097280"/>
            <a:ext cx="4022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🎤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Facilitator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411480" y="1627560"/>
            <a:ext cx="39312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Guides the session. Gives tasks, stays neutral, does NOT help. Asks 'What are you thinking?' — never 'Click here.'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4754880" y="1097280"/>
            <a:ext cx="420552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Shape 7"/>
          <p:cNvSpPr/>
          <p:nvPr/>
        </p:nvSpPr>
        <p:spPr>
          <a:xfrm>
            <a:off x="4754880" y="1097280"/>
            <a:ext cx="4205520" cy="474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8"/>
          <p:cNvSpPr/>
          <p:nvPr/>
        </p:nvSpPr>
        <p:spPr>
          <a:xfrm>
            <a:off x="4846320" y="1097280"/>
            <a:ext cx="4022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📝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Note-taker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4892040" y="1627560"/>
            <a:ext cx="39312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Documents observations — where users hesitate, errors made, expressions, verbal comments. Separate from facilitator.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274320" y="3063240"/>
            <a:ext cx="420552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Shape 11"/>
          <p:cNvSpPr/>
          <p:nvPr/>
        </p:nvSpPr>
        <p:spPr>
          <a:xfrm>
            <a:off x="274320" y="3063240"/>
            <a:ext cx="4205520" cy="4748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2"/>
          <p:cNvSpPr/>
          <p:nvPr/>
        </p:nvSpPr>
        <p:spPr>
          <a:xfrm>
            <a:off x="365760" y="3063240"/>
            <a:ext cx="4022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👤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Participant (User)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411480" y="3593520"/>
            <a:ext cx="39312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The real user. Performs tasks, thinks aloud. They are NOT being tested — the DESIGN is being tested.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4754880" y="3063240"/>
            <a:ext cx="420552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5"/>
          <p:cNvSpPr/>
          <p:nvPr/>
        </p:nvSpPr>
        <p:spPr>
          <a:xfrm>
            <a:off x="4754880" y="3063240"/>
            <a:ext cx="4205520" cy="47484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4846320" y="3063240"/>
            <a:ext cx="4022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👀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Observers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4892040" y="3593520"/>
            <a:ext cx="39312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Team members watch silently (separate room or via video). Must not interrupt. Can note questions for post-session debrief.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0" y="4773240"/>
            <a:ext cx="9143280" cy="365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9"/>
          <p:cNvSpPr/>
          <p:nvPr/>
        </p:nvSpPr>
        <p:spPr>
          <a:xfrm>
            <a:off x="0" y="477324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Golden Rule: The user is never wrong. The design is wrong.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The Think-Aloud Protocol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274320" y="1051560"/>
            <a:ext cx="8594640" cy="685080"/>
          </a:xfrm>
          <a:prstGeom prst="rect">
            <a:avLst/>
          </a:prstGeom>
          <a:solidFill>
            <a:srgbClr val="0a9396">
              <a:alpha val="90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3"/>
          <p:cNvSpPr/>
          <p:nvPr/>
        </p:nvSpPr>
        <p:spPr>
          <a:xfrm>
            <a:off x="457200" y="105156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Users verbalize their thoughts, feelings, and decisions AS they perform tasks. This is the most widely used method in usability testing.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274320" y="1874520"/>
            <a:ext cx="411408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Shape 5"/>
          <p:cNvSpPr/>
          <p:nvPr/>
        </p:nvSpPr>
        <p:spPr>
          <a:xfrm>
            <a:off x="274320" y="1874520"/>
            <a:ext cx="4114080" cy="410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6"/>
          <p:cNvSpPr/>
          <p:nvPr/>
        </p:nvSpPr>
        <p:spPr>
          <a:xfrm>
            <a:off x="365760" y="187452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🗣️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How to Conduct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365760" y="2340720"/>
            <a:ext cx="383976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Introduce: Please think out loud as you work — say whatever comes to mind.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Do not interpret silence — prompt gently: What are you thinking right now?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Never answer questions about the interface during the task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Let users struggle — note where and how long they struggle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After task: ask retrospective questions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4709160" y="1874520"/>
            <a:ext cx="411408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Shape 9"/>
          <p:cNvSpPr/>
          <p:nvPr/>
        </p:nvSpPr>
        <p:spPr>
          <a:xfrm>
            <a:off x="4709160" y="1874520"/>
            <a:ext cx="4114080" cy="410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0"/>
          <p:cNvSpPr/>
          <p:nvPr/>
        </p:nvSpPr>
        <p:spPr>
          <a:xfrm>
            <a:off x="4800600" y="187452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💡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What You Discover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4800600" y="2340720"/>
            <a:ext cx="383976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Where users feel confused or lost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What mental model users have of the system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What labels or words users use vs what the UI uses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Emotional reactions (frustration, delight, surprise)</a:t>
            </a:r>
            <a:endParaRPr b="0" lang="en-US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Why users make errors — not just that they made them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Measuring Usability — Key Metrics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274320" y="1051560"/>
            <a:ext cx="8594640" cy="383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3"/>
          <p:cNvSpPr/>
          <p:nvPr/>
        </p:nvSpPr>
        <p:spPr>
          <a:xfrm>
            <a:off x="274320" y="1051560"/>
            <a:ext cx="8594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The PULSE Framework — Core Usability Metrics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274320" y="1554480"/>
            <a:ext cx="502200" cy="566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5"/>
          <p:cNvSpPr/>
          <p:nvPr/>
        </p:nvSpPr>
        <p:spPr>
          <a:xfrm>
            <a:off x="274320" y="1554480"/>
            <a:ext cx="502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777240" y="1554480"/>
            <a:ext cx="82288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7"/>
          <p:cNvSpPr/>
          <p:nvPr/>
        </p:nvSpPr>
        <p:spPr>
          <a:xfrm>
            <a:off x="914400" y="155448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9396"/>
                </a:solidFill>
                <a:latin typeface="Calibri"/>
                <a:ea typeface="DejaVu Sans"/>
              </a:rPr>
              <a:t>Performance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3200400" y="1554480"/>
            <a:ext cx="5668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Task completion rate, time-on-task, error rate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274320" y="2212920"/>
            <a:ext cx="502200" cy="5662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0"/>
          <p:cNvSpPr/>
          <p:nvPr/>
        </p:nvSpPr>
        <p:spPr>
          <a:xfrm>
            <a:off x="274320" y="2212920"/>
            <a:ext cx="502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U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777240" y="2212920"/>
            <a:ext cx="8228880" cy="566280"/>
          </a:xfrm>
          <a:prstGeom prst="rect">
            <a:avLst/>
          </a:prstGeom>
          <a:solidFill>
            <a:srgbClr val="f0f8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2"/>
          <p:cNvSpPr/>
          <p:nvPr/>
        </p:nvSpPr>
        <p:spPr>
          <a:xfrm>
            <a:off x="914400" y="221292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e9b00"/>
                </a:solidFill>
                <a:latin typeface="Calibri"/>
                <a:ea typeface="DejaVu Sans"/>
              </a:rPr>
              <a:t>Usage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3200400" y="2212920"/>
            <a:ext cx="5668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How often, how long, which features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274320" y="2871360"/>
            <a:ext cx="502200" cy="5662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5"/>
          <p:cNvSpPr/>
          <p:nvPr/>
        </p:nvSpPr>
        <p:spPr>
          <a:xfrm>
            <a:off x="274320" y="2871360"/>
            <a:ext cx="502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777240" y="2871360"/>
            <a:ext cx="82288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7"/>
          <p:cNvSpPr/>
          <p:nvPr/>
        </p:nvSpPr>
        <p:spPr>
          <a:xfrm>
            <a:off x="914400" y="287136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Learnability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3200400" y="2871360"/>
            <a:ext cx="5668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Time to first success, help-seeking behavior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274320" y="3529440"/>
            <a:ext cx="502200" cy="566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0"/>
          <p:cNvSpPr/>
          <p:nvPr/>
        </p:nvSpPr>
        <p:spPr>
          <a:xfrm>
            <a:off x="274320" y="3529440"/>
            <a:ext cx="502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777240" y="3529440"/>
            <a:ext cx="8228880" cy="566280"/>
          </a:xfrm>
          <a:prstGeom prst="rect">
            <a:avLst/>
          </a:prstGeom>
          <a:solidFill>
            <a:srgbClr val="f0f8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2"/>
          <p:cNvSpPr/>
          <p:nvPr/>
        </p:nvSpPr>
        <p:spPr>
          <a:xfrm>
            <a:off x="914400" y="352944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Satisfaction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3200400" y="3529440"/>
            <a:ext cx="5668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SUS score, NPS, post-test questionnaire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274320" y="4187880"/>
            <a:ext cx="502200" cy="566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5"/>
          <p:cNvSpPr/>
          <p:nvPr/>
        </p:nvSpPr>
        <p:spPr>
          <a:xfrm>
            <a:off x="274320" y="4187880"/>
            <a:ext cx="502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777240" y="4187880"/>
            <a:ext cx="82288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27"/>
          <p:cNvSpPr/>
          <p:nvPr/>
        </p:nvSpPr>
        <p:spPr>
          <a:xfrm>
            <a:off x="914400" y="418788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3946"/>
                </a:solidFill>
                <a:latin typeface="Calibri"/>
                <a:ea typeface="DejaVu Sans"/>
              </a:rPr>
              <a:t>Errors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7" name="Text 28"/>
          <p:cNvSpPr/>
          <p:nvPr/>
        </p:nvSpPr>
        <p:spPr>
          <a:xfrm>
            <a:off x="3200400" y="4187880"/>
            <a:ext cx="5668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Error frequency, severity, recovery time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8" name="Shape 29"/>
          <p:cNvSpPr/>
          <p:nvPr/>
        </p:nvSpPr>
        <p:spPr>
          <a:xfrm>
            <a:off x="274320" y="4800600"/>
            <a:ext cx="8594640" cy="2552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30"/>
          <p:cNvSpPr/>
          <p:nvPr/>
        </p:nvSpPr>
        <p:spPr>
          <a:xfrm>
            <a:off x="274320" y="4800600"/>
            <a:ext cx="8594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SUS (System Usability Scale): 10-question questionnaire → score 0–100. Above 68 = above average usability.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Analyzing &amp; Reporting Results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274320" y="1051560"/>
            <a:ext cx="8594640" cy="3834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3"/>
          <p:cNvSpPr/>
          <p:nvPr/>
        </p:nvSpPr>
        <p:spPr>
          <a:xfrm>
            <a:off x="274320" y="1051560"/>
            <a:ext cx="8594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Nielsen's Severity Rating Scale for Usability Problems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274320" y="1536120"/>
            <a:ext cx="456480" cy="49320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5"/>
          <p:cNvSpPr/>
          <p:nvPr/>
        </p:nvSpPr>
        <p:spPr>
          <a:xfrm>
            <a:off x="274320" y="153612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0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731520" y="1536120"/>
            <a:ext cx="8228880" cy="49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7"/>
          <p:cNvSpPr/>
          <p:nvPr/>
        </p:nvSpPr>
        <p:spPr>
          <a:xfrm>
            <a:off x="868680" y="1536120"/>
            <a:ext cx="31996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c757d"/>
                </a:solidFill>
                <a:latin typeface="Calibri"/>
                <a:ea typeface="DejaVu Sans"/>
              </a:rPr>
              <a:t>Not a usability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4114800" y="1536120"/>
            <a:ext cx="47541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Cosmetic only — fix if time allows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274320" y="2103120"/>
            <a:ext cx="456480" cy="4932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10"/>
          <p:cNvSpPr/>
          <p:nvPr/>
        </p:nvSpPr>
        <p:spPr>
          <a:xfrm>
            <a:off x="274320" y="210312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731520" y="2103120"/>
            <a:ext cx="8228880" cy="49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2"/>
          <p:cNvSpPr/>
          <p:nvPr/>
        </p:nvSpPr>
        <p:spPr>
          <a:xfrm>
            <a:off x="868680" y="2103120"/>
            <a:ext cx="31996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8a745"/>
                </a:solidFill>
                <a:latin typeface="Calibri"/>
                <a:ea typeface="DejaVu Sans"/>
              </a:rPr>
              <a:t>Cosmetic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4114800" y="2103120"/>
            <a:ext cx="47541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Minor, can be fixed with low priority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4" name="Shape 14"/>
          <p:cNvSpPr/>
          <p:nvPr/>
        </p:nvSpPr>
        <p:spPr>
          <a:xfrm>
            <a:off x="274320" y="2670120"/>
            <a:ext cx="456480" cy="493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5"/>
          <p:cNvSpPr/>
          <p:nvPr/>
        </p:nvSpPr>
        <p:spPr>
          <a:xfrm>
            <a:off x="274320" y="267012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731520" y="2670120"/>
            <a:ext cx="8228880" cy="49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7"/>
          <p:cNvSpPr/>
          <p:nvPr/>
        </p:nvSpPr>
        <p:spPr>
          <a:xfrm>
            <a:off x="868680" y="2670120"/>
            <a:ext cx="31996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c107"/>
                </a:solidFill>
                <a:latin typeface="Calibri"/>
                <a:ea typeface="DejaVu Sans"/>
              </a:rPr>
              <a:t>Minor Usability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8" name="Text 18"/>
          <p:cNvSpPr/>
          <p:nvPr/>
        </p:nvSpPr>
        <p:spPr>
          <a:xfrm>
            <a:off x="4114800" y="2670120"/>
            <a:ext cx="47541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Low priority but should be fixed in next release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274320" y="3237120"/>
            <a:ext cx="456480" cy="49320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0"/>
          <p:cNvSpPr/>
          <p:nvPr/>
        </p:nvSpPr>
        <p:spPr>
          <a:xfrm>
            <a:off x="274320" y="323712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1" name="Shape 21"/>
          <p:cNvSpPr/>
          <p:nvPr/>
        </p:nvSpPr>
        <p:spPr>
          <a:xfrm>
            <a:off x="731520" y="3237120"/>
            <a:ext cx="8228880" cy="49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22"/>
          <p:cNvSpPr/>
          <p:nvPr/>
        </p:nvSpPr>
        <p:spPr>
          <a:xfrm>
            <a:off x="868680" y="3237120"/>
            <a:ext cx="31996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d7e14"/>
                </a:solidFill>
                <a:latin typeface="Calibri"/>
                <a:ea typeface="DejaVu Sans"/>
              </a:rPr>
              <a:t>Major Usability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3" name="Text 23"/>
          <p:cNvSpPr/>
          <p:nvPr/>
        </p:nvSpPr>
        <p:spPr>
          <a:xfrm>
            <a:off x="4114800" y="3237120"/>
            <a:ext cx="47541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Important — high priority to fix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4" name="Shape 24"/>
          <p:cNvSpPr/>
          <p:nvPr/>
        </p:nvSpPr>
        <p:spPr>
          <a:xfrm>
            <a:off x="274320" y="3803760"/>
            <a:ext cx="456480" cy="49320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25"/>
          <p:cNvSpPr/>
          <p:nvPr/>
        </p:nvSpPr>
        <p:spPr>
          <a:xfrm>
            <a:off x="274320" y="380376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6" name="Shape 26"/>
          <p:cNvSpPr/>
          <p:nvPr/>
        </p:nvSpPr>
        <p:spPr>
          <a:xfrm>
            <a:off x="731520" y="3803760"/>
            <a:ext cx="8228880" cy="49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27"/>
          <p:cNvSpPr/>
          <p:nvPr/>
        </p:nvSpPr>
        <p:spPr>
          <a:xfrm>
            <a:off x="868680" y="3803760"/>
            <a:ext cx="31996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dc3545"/>
                </a:solidFill>
                <a:latin typeface="Calibri"/>
                <a:ea typeface="DejaVu Sans"/>
              </a:rPr>
              <a:t>Usability Catastrophe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Text 28"/>
          <p:cNvSpPr/>
          <p:nvPr/>
        </p:nvSpPr>
        <p:spPr>
          <a:xfrm>
            <a:off x="4114800" y="3803760"/>
            <a:ext cx="47541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c757d"/>
                </a:solidFill>
                <a:latin typeface="Calibri"/>
                <a:ea typeface="DejaVu Sans"/>
              </a:rPr>
              <a:t>Imperative to fix BEFORE product launch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9" name="Shape 29"/>
          <p:cNvSpPr/>
          <p:nvPr/>
        </p:nvSpPr>
        <p:spPr>
          <a:xfrm>
            <a:off x="274320" y="4434840"/>
            <a:ext cx="8594640" cy="639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Text 30"/>
          <p:cNvSpPr/>
          <p:nvPr/>
        </p:nvSpPr>
        <p:spPr>
          <a:xfrm>
            <a:off x="365760" y="4434840"/>
            <a:ext cx="8411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d2bd"/>
                </a:solidFill>
                <a:latin typeface="Calibri"/>
                <a:ea typeface="DejaVu Sans"/>
              </a:rPr>
              <a:t>Analysis Steps: 1) Compile all observations  →  2) Identify recurring issues  →  3) Rate severity  →  4) Prioritize fixes  →  5) Write recommendations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Real-World Usability Test Examples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274320" y="1097280"/>
            <a:ext cx="85946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Shape 3"/>
          <p:cNvSpPr/>
          <p:nvPr/>
        </p:nvSpPr>
        <p:spPr>
          <a:xfrm>
            <a:off x="274320" y="1097280"/>
            <a:ext cx="1370880" cy="11880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4"/>
          <p:cNvSpPr/>
          <p:nvPr/>
        </p:nvSpPr>
        <p:spPr>
          <a:xfrm>
            <a:off x="274320" y="1097280"/>
            <a:ext cx="1370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Amazon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1783080" y="115200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❌ </a:t>
            </a: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Problem: Users abandoned the checkout when forced to create an account.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1783080" y="151776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🔍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Finding: 72% of users chose 'Create Account' by default, leading to frustration.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1783080" y="188352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c65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2dc653"/>
                </a:solidFill>
                <a:latin typeface="Calibri"/>
                <a:ea typeface="DejaVu Sans"/>
              </a:rPr>
              <a:t>Fix: Added 'Guest Checkout' option. Result: +$300 million revenue in first year.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9" name="Shape 8"/>
          <p:cNvSpPr/>
          <p:nvPr/>
        </p:nvSpPr>
        <p:spPr>
          <a:xfrm>
            <a:off x="274320" y="2395800"/>
            <a:ext cx="85946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9"/>
          <p:cNvSpPr/>
          <p:nvPr/>
        </p:nvSpPr>
        <p:spPr>
          <a:xfrm>
            <a:off x="274320" y="2395800"/>
            <a:ext cx="1370880" cy="1188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0"/>
          <p:cNvSpPr/>
          <p:nvPr/>
        </p:nvSpPr>
        <p:spPr>
          <a:xfrm>
            <a:off x="274320" y="2395800"/>
            <a:ext cx="1370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Airbnb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1783080" y="245052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❌ </a:t>
            </a: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Problem: Users were not booking despite landing on listing pages.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1783080" y="281628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🔍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Finding: Think-aloud revealed users didn't trust low-quality listing photos.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1783080" y="318204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c65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2dc653"/>
                </a:solidFill>
                <a:latin typeface="Calibri"/>
                <a:ea typeface="DejaVu Sans"/>
              </a:rPr>
              <a:t>Fix: Hired professional photographers for all listings. Bookings increased by 2x.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274320" y="3694320"/>
            <a:ext cx="859464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Shape 15"/>
          <p:cNvSpPr/>
          <p:nvPr/>
        </p:nvSpPr>
        <p:spPr>
          <a:xfrm>
            <a:off x="274320" y="3694320"/>
            <a:ext cx="1370880" cy="11880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6"/>
          <p:cNvSpPr/>
          <p:nvPr/>
        </p:nvSpPr>
        <p:spPr>
          <a:xfrm>
            <a:off x="274320" y="3694320"/>
            <a:ext cx="1370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NHS UK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1783080" y="374904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❌ </a:t>
            </a:r>
            <a:r>
              <a:rPr b="0" lang="en-US" sz="1000" spc="-1" strike="noStrike">
                <a:solidFill>
                  <a:srgbClr val="e63946"/>
                </a:solidFill>
                <a:latin typeface="Calibri"/>
                <a:ea typeface="DejaVu Sans"/>
              </a:rPr>
              <a:t>Problem: Patients couldn't find how to book GP appointments online.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1783080" y="411480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🔍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Finding: Users looked for 'Book Appointment' but button was labeled 'Contact Us'.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1783080" y="448056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c65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2dc653"/>
                </a:solidFill>
                <a:latin typeface="Calibri"/>
                <a:ea typeface="DejaVu Sans"/>
              </a:rPr>
              <a:t>Fix: Renamed the button. Task success rate jumped from 32% to 89%.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  <a:ea typeface="DejaVu Sans"/>
              </a:rPr>
              <a:t>⚠️  </a:t>
            </a:r>
            <a:r>
              <a:rPr b="1" lang="en-US" sz="2500" spc="-1" strike="noStrike">
                <a:solidFill>
                  <a:srgbClr val="ffffff"/>
                </a:solidFill>
                <a:latin typeface="Calibri"/>
                <a:ea typeface="DejaVu Sans"/>
              </a:rPr>
              <a:t>Common Mistakes in Usability Testing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274320" y="107892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Shape 3"/>
          <p:cNvSpPr/>
          <p:nvPr/>
        </p:nvSpPr>
        <p:spPr>
          <a:xfrm>
            <a:off x="274320" y="1078920"/>
            <a:ext cx="4205520" cy="3834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4"/>
          <p:cNvSpPr/>
          <p:nvPr/>
        </p:nvSpPr>
        <p:spPr>
          <a:xfrm>
            <a:off x="365760" y="107892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🙅 </a:t>
            </a: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Testing the User, Not the Design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411480" y="1517760"/>
            <a:ext cx="3931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Always remind participants: 'We are testing the design, not you. There are no wrong answers.'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4709160" y="107892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Shape 7"/>
          <p:cNvSpPr/>
          <p:nvPr/>
        </p:nvSpPr>
        <p:spPr>
          <a:xfrm>
            <a:off x="4709160" y="1078920"/>
            <a:ext cx="4205520" cy="3834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8"/>
          <p:cNvSpPr/>
          <p:nvPr/>
        </p:nvSpPr>
        <p:spPr>
          <a:xfrm>
            <a:off x="4800600" y="107892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🤫 </a:t>
            </a: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Helping the User During Tasks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4846320" y="1517760"/>
            <a:ext cx="3931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Stay silent when users struggle. Silence is data. Helping invalidates results.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274320" y="237744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Shape 11"/>
          <p:cNvSpPr/>
          <p:nvPr/>
        </p:nvSpPr>
        <p:spPr>
          <a:xfrm>
            <a:off x="274320" y="2377440"/>
            <a:ext cx="4205520" cy="3834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12"/>
          <p:cNvSpPr/>
          <p:nvPr/>
        </p:nvSpPr>
        <p:spPr>
          <a:xfrm>
            <a:off x="365760" y="237744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👨‍💻 </a:t>
            </a: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Testing with Team Members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411480" y="2816280"/>
            <a:ext cx="3931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Use real target users. Designers and developers know the system too well — they find it easy.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4709160" y="237744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6" name="Shape 15"/>
          <p:cNvSpPr/>
          <p:nvPr/>
        </p:nvSpPr>
        <p:spPr>
          <a:xfrm>
            <a:off x="4709160" y="2377440"/>
            <a:ext cx="4205520" cy="3834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16"/>
          <p:cNvSpPr/>
          <p:nvPr/>
        </p:nvSpPr>
        <p:spPr>
          <a:xfrm>
            <a:off x="4800600" y="237744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📋 </a:t>
            </a: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Too Many Tasks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4846320" y="2816280"/>
            <a:ext cx="3931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Keep sessions to 60–90 min max. 5–8 tasks. Quality &gt; quantity.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274320" y="367596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0" name="Shape 19"/>
          <p:cNvSpPr/>
          <p:nvPr/>
        </p:nvSpPr>
        <p:spPr>
          <a:xfrm>
            <a:off x="274320" y="3675960"/>
            <a:ext cx="4205520" cy="3834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20"/>
          <p:cNvSpPr/>
          <p:nvPr/>
        </p:nvSpPr>
        <p:spPr>
          <a:xfrm>
            <a:off x="365760" y="367596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🎯 </a:t>
            </a: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No Clear Goals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411480" y="4114800"/>
            <a:ext cx="3931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Know exactly what questions you need answered before recruiting any participants.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4709160" y="3675960"/>
            <a:ext cx="420552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Shape 23"/>
          <p:cNvSpPr/>
          <p:nvPr/>
        </p:nvSpPr>
        <p:spPr>
          <a:xfrm>
            <a:off x="4709160" y="3675960"/>
            <a:ext cx="4205520" cy="3834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24"/>
          <p:cNvSpPr/>
          <p:nvPr/>
        </p:nvSpPr>
        <p:spPr>
          <a:xfrm>
            <a:off x="4800600" y="367596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🗃️ </a:t>
            </a:r>
            <a:r>
              <a:rPr b="1" lang="en-US" sz="1100" spc="-1" strike="noStrike">
                <a:solidFill>
                  <a:srgbClr val="e63946"/>
                </a:solidFill>
                <a:latin typeface="Calibri"/>
                <a:ea typeface="DejaVu Sans"/>
              </a:rPr>
              <a:t>Not Documenting Properly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6" name="Text 25"/>
          <p:cNvSpPr/>
          <p:nvPr/>
        </p:nvSpPr>
        <p:spPr>
          <a:xfrm>
            <a:off x="4846320" y="4114800"/>
            <a:ext cx="3931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✅ </a:t>
            </a:r>
            <a:r>
              <a:rPr b="0" lang="en-US" sz="1000" spc="-1" strike="noStrike">
                <a:solidFill>
                  <a:srgbClr val="005f73"/>
                </a:solidFill>
                <a:latin typeface="Calibri"/>
                <a:ea typeface="DejaVu Sans"/>
              </a:rPr>
              <a:t>Record sessions with consent. Take detailed notes. You'll miss 50% of insights from memory alone.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"/>
          <p:cNvSpPr/>
          <p:nvPr/>
        </p:nvSpPr>
        <p:spPr>
          <a:xfrm>
            <a:off x="365760" y="0"/>
            <a:ext cx="8228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Tools for Usability Testing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274320" y="1078920"/>
            <a:ext cx="4205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Shape 3"/>
          <p:cNvSpPr/>
          <p:nvPr/>
        </p:nvSpPr>
        <p:spPr>
          <a:xfrm>
            <a:off x="3200400" y="1170360"/>
            <a:ext cx="1188000" cy="273600"/>
          </a:xfrm>
          <a:prstGeom prst="roundRect">
            <a:avLst>
              <a:gd name="adj" fmla="val 13333"/>
            </a:avLst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4"/>
          <p:cNvSpPr/>
          <p:nvPr/>
        </p:nvSpPr>
        <p:spPr>
          <a:xfrm>
            <a:off x="3200400" y="117036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Paid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411480" y="113400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UserTesting.com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411480" y="149976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e9b00"/>
                </a:solidFill>
                <a:latin typeface="Calibri"/>
                <a:ea typeface="DejaVu Sans"/>
              </a:rPr>
              <a:t>Remote Unmoderated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411480" y="179208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Get video recordings of users performing tasks on your design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4709160" y="1078920"/>
            <a:ext cx="4205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Shape 9"/>
          <p:cNvSpPr/>
          <p:nvPr/>
        </p:nvSpPr>
        <p:spPr>
          <a:xfrm>
            <a:off x="7635240" y="1170360"/>
            <a:ext cx="1188000" cy="273600"/>
          </a:xfrm>
          <a:prstGeom prst="roundRect">
            <a:avLst>
              <a:gd name="adj" fmla="val 13333"/>
            </a:avLst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0"/>
          <p:cNvSpPr/>
          <p:nvPr/>
        </p:nvSpPr>
        <p:spPr>
          <a:xfrm>
            <a:off x="7635240" y="117036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Free/Paid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8" name="Text 11"/>
          <p:cNvSpPr/>
          <p:nvPr/>
        </p:nvSpPr>
        <p:spPr>
          <a:xfrm>
            <a:off x="4846320" y="113400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Maze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9" name="Text 12"/>
          <p:cNvSpPr/>
          <p:nvPr/>
        </p:nvSpPr>
        <p:spPr>
          <a:xfrm>
            <a:off x="4846320" y="149976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e9b00"/>
                </a:solidFill>
                <a:latin typeface="Calibri"/>
                <a:ea typeface="DejaVu Sans"/>
              </a:rPr>
              <a:t>Remote Unmoderated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4846320" y="179208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Test prototypes with click-maps and task analytics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1" name="Shape 14"/>
          <p:cNvSpPr/>
          <p:nvPr/>
        </p:nvSpPr>
        <p:spPr>
          <a:xfrm>
            <a:off x="274320" y="2377440"/>
            <a:ext cx="4205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Shape 15"/>
          <p:cNvSpPr/>
          <p:nvPr/>
        </p:nvSpPr>
        <p:spPr>
          <a:xfrm>
            <a:off x="3200400" y="2468880"/>
            <a:ext cx="1188000" cy="273600"/>
          </a:xfrm>
          <a:prstGeom prst="roundRect">
            <a:avLst>
              <a:gd name="adj" fmla="val 13333"/>
            </a:avLst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6"/>
          <p:cNvSpPr/>
          <p:nvPr/>
        </p:nvSpPr>
        <p:spPr>
          <a:xfrm>
            <a:off x="3200400" y="246888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Paid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4" name="Text 17"/>
          <p:cNvSpPr/>
          <p:nvPr/>
        </p:nvSpPr>
        <p:spPr>
          <a:xfrm>
            <a:off x="411480" y="243216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Lookback.io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5" name="Text 18"/>
          <p:cNvSpPr/>
          <p:nvPr/>
        </p:nvSpPr>
        <p:spPr>
          <a:xfrm>
            <a:off x="411480" y="279792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e9b00"/>
                </a:solidFill>
                <a:latin typeface="Calibri"/>
                <a:ea typeface="DejaVu Sans"/>
              </a:rPr>
              <a:t>Remote Moderated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6" name="Text 19"/>
          <p:cNvSpPr/>
          <p:nvPr/>
        </p:nvSpPr>
        <p:spPr>
          <a:xfrm>
            <a:off x="411480" y="309060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Live moderated sessions with screen + face recording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7" name="Shape 20"/>
          <p:cNvSpPr/>
          <p:nvPr/>
        </p:nvSpPr>
        <p:spPr>
          <a:xfrm>
            <a:off x="4709160" y="2377440"/>
            <a:ext cx="4205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8" name="Shape 21"/>
          <p:cNvSpPr/>
          <p:nvPr/>
        </p:nvSpPr>
        <p:spPr>
          <a:xfrm>
            <a:off x="7635240" y="2468880"/>
            <a:ext cx="1188000" cy="273600"/>
          </a:xfrm>
          <a:prstGeom prst="roundRect">
            <a:avLst>
              <a:gd name="adj" fmla="val 13333"/>
            </a:avLst>
          </a:prstGeom>
          <a:solidFill>
            <a:srgbClr val="ee9b00"/>
          </a:solidFill>
          <a:ln w="12700">
            <a:solidFill>
              <a:srgbClr val="ee9b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2"/>
          <p:cNvSpPr/>
          <p:nvPr/>
        </p:nvSpPr>
        <p:spPr>
          <a:xfrm>
            <a:off x="7635240" y="246888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Paid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50" name="Text 23"/>
          <p:cNvSpPr/>
          <p:nvPr/>
        </p:nvSpPr>
        <p:spPr>
          <a:xfrm>
            <a:off x="4846320" y="243216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Optimal Workshop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51" name="Text 24"/>
          <p:cNvSpPr/>
          <p:nvPr/>
        </p:nvSpPr>
        <p:spPr>
          <a:xfrm>
            <a:off x="4846320" y="279792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e9b00"/>
                </a:solidFill>
                <a:latin typeface="Calibri"/>
                <a:ea typeface="DejaVu Sans"/>
              </a:rPr>
              <a:t>Multiple Methods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2" name="Text 25"/>
          <p:cNvSpPr/>
          <p:nvPr/>
        </p:nvSpPr>
        <p:spPr>
          <a:xfrm>
            <a:off x="4846320" y="309060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Card sorting, tree testing, first-click testing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3" name="Shape 26"/>
          <p:cNvSpPr/>
          <p:nvPr/>
        </p:nvSpPr>
        <p:spPr>
          <a:xfrm>
            <a:off x="274320" y="3675960"/>
            <a:ext cx="4205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Shape 27"/>
          <p:cNvSpPr/>
          <p:nvPr/>
        </p:nvSpPr>
        <p:spPr>
          <a:xfrm>
            <a:off x="3200400" y="3767400"/>
            <a:ext cx="1188000" cy="273600"/>
          </a:xfrm>
          <a:prstGeom prst="roundRect">
            <a:avLst>
              <a:gd name="adj" fmla="val 13333"/>
            </a:avLst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28"/>
          <p:cNvSpPr/>
          <p:nvPr/>
        </p:nvSpPr>
        <p:spPr>
          <a:xfrm>
            <a:off x="3200400" y="376740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Free/Paid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56" name="Text 29"/>
          <p:cNvSpPr/>
          <p:nvPr/>
        </p:nvSpPr>
        <p:spPr>
          <a:xfrm>
            <a:off x="411480" y="373068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Hotjar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57" name="Text 30"/>
          <p:cNvSpPr/>
          <p:nvPr/>
        </p:nvSpPr>
        <p:spPr>
          <a:xfrm>
            <a:off x="411480" y="409644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e9b00"/>
                </a:solidFill>
                <a:latin typeface="Calibri"/>
                <a:ea typeface="DejaVu Sans"/>
              </a:rPr>
              <a:t>Analytics &amp; Surveys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8" name="Text 31"/>
          <p:cNvSpPr/>
          <p:nvPr/>
        </p:nvSpPr>
        <p:spPr>
          <a:xfrm>
            <a:off x="411480" y="438912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Heatmaps, session recordings, in-product surveys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9" name="Shape 32"/>
          <p:cNvSpPr/>
          <p:nvPr/>
        </p:nvSpPr>
        <p:spPr>
          <a:xfrm>
            <a:off x="4709160" y="3675960"/>
            <a:ext cx="4205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0" name="Shape 33"/>
          <p:cNvSpPr/>
          <p:nvPr/>
        </p:nvSpPr>
        <p:spPr>
          <a:xfrm>
            <a:off x="7635240" y="3767400"/>
            <a:ext cx="1188000" cy="273600"/>
          </a:xfrm>
          <a:prstGeom prst="roundRect">
            <a:avLst>
              <a:gd name="adj" fmla="val 13333"/>
            </a:avLst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34"/>
          <p:cNvSpPr/>
          <p:nvPr/>
        </p:nvSpPr>
        <p:spPr>
          <a:xfrm>
            <a:off x="7635240" y="376740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Free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62" name="Text 35"/>
          <p:cNvSpPr/>
          <p:nvPr/>
        </p:nvSpPr>
        <p:spPr>
          <a:xfrm>
            <a:off x="4846320" y="373068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5f73"/>
                </a:solidFill>
                <a:latin typeface="Calibri"/>
                <a:ea typeface="DejaVu Sans"/>
              </a:rPr>
              <a:t>Paper + Pencil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3" name="Text 36"/>
          <p:cNvSpPr/>
          <p:nvPr/>
        </p:nvSpPr>
        <p:spPr>
          <a:xfrm>
            <a:off x="4846320" y="409644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e9b00"/>
                </a:solidFill>
                <a:latin typeface="Calibri"/>
                <a:ea typeface="DejaVu Sans"/>
              </a:rPr>
              <a:t>In-Person Lo-Fi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64" name="Text 37"/>
          <p:cNvSpPr/>
          <p:nvPr/>
        </p:nvSpPr>
        <p:spPr>
          <a:xfrm>
            <a:off x="4846320" y="438912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Literally paper prototypes. Extremely effective for early stages.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-914400" y="-914400"/>
            <a:ext cx="4571280" cy="4571280"/>
          </a:xfrm>
          <a:prstGeom prst="ellipse">
            <a:avLst/>
          </a:prstGeom>
          <a:solidFill>
            <a:srgbClr val="005f73">
              <a:alpha val="25000"/>
            </a:srgbClr>
          </a:solidFill>
          <a:ln w="12700">
            <a:solidFill>
              <a:srgbClr val="005f7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1"/>
          <p:cNvSpPr/>
          <p:nvPr/>
        </p:nvSpPr>
        <p:spPr>
          <a:xfrm>
            <a:off x="6400800" y="2743200"/>
            <a:ext cx="3656880" cy="365688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2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94" strike="noStrike">
                <a:solidFill>
                  <a:srgbClr val="ffffff"/>
                </a:solidFill>
                <a:latin typeface="Calibri"/>
                <a:ea typeface="DejaVu Sans"/>
              </a:rPr>
              <a:t>Key Takeaways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457200" y="822960"/>
            <a:ext cx="3656880" cy="45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Shape 4"/>
          <p:cNvSpPr/>
          <p:nvPr/>
        </p:nvSpPr>
        <p:spPr>
          <a:xfrm>
            <a:off x="365760" y="1051560"/>
            <a:ext cx="4114080" cy="1096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5"/>
          <p:cNvSpPr/>
          <p:nvPr/>
        </p:nvSpPr>
        <p:spPr>
          <a:xfrm>
            <a:off x="457200" y="1307520"/>
            <a:ext cx="511200" cy="511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6"/>
          <p:cNvSpPr/>
          <p:nvPr/>
        </p:nvSpPr>
        <p:spPr>
          <a:xfrm>
            <a:off x="457200" y="13075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1078920" y="112464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Test Early, Test Often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1078920" y="150876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9fa"/>
                </a:solidFill>
                <a:latin typeface="Calibri"/>
                <a:ea typeface="DejaVu Sans"/>
              </a:rPr>
              <a:t>Usability testing at every stage saves time and money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4" name="Shape 9"/>
          <p:cNvSpPr/>
          <p:nvPr/>
        </p:nvSpPr>
        <p:spPr>
          <a:xfrm>
            <a:off x="4754880" y="1051560"/>
            <a:ext cx="4114080" cy="1096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10"/>
          <p:cNvSpPr/>
          <p:nvPr/>
        </p:nvSpPr>
        <p:spPr>
          <a:xfrm>
            <a:off x="4846320" y="1307520"/>
            <a:ext cx="511200" cy="511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1"/>
          <p:cNvSpPr/>
          <p:nvPr/>
        </p:nvSpPr>
        <p:spPr>
          <a:xfrm>
            <a:off x="4846320" y="13075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77" name="Text 12"/>
          <p:cNvSpPr/>
          <p:nvPr/>
        </p:nvSpPr>
        <p:spPr>
          <a:xfrm>
            <a:off x="5468040" y="112464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5 Users Reveal 85%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5468040" y="150876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9fa"/>
                </a:solidFill>
                <a:latin typeface="Calibri"/>
                <a:ea typeface="DejaVu Sans"/>
              </a:rPr>
              <a:t>Small tests are powerful — quantity does not equal quality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>
            <a:off x="365760" y="2313360"/>
            <a:ext cx="4114080" cy="1096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Shape 15"/>
          <p:cNvSpPr/>
          <p:nvPr/>
        </p:nvSpPr>
        <p:spPr>
          <a:xfrm>
            <a:off x="457200" y="2569320"/>
            <a:ext cx="511200" cy="511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16"/>
          <p:cNvSpPr/>
          <p:nvPr/>
        </p:nvSpPr>
        <p:spPr>
          <a:xfrm>
            <a:off x="457200" y="25693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2" name="Text 17"/>
          <p:cNvSpPr/>
          <p:nvPr/>
        </p:nvSpPr>
        <p:spPr>
          <a:xfrm>
            <a:off x="1078920" y="238644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The User is Never Wrong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3" name="Text 18"/>
          <p:cNvSpPr/>
          <p:nvPr/>
        </p:nvSpPr>
        <p:spPr>
          <a:xfrm>
            <a:off x="1078920" y="277056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9fa"/>
                </a:solidFill>
                <a:latin typeface="Calibri"/>
                <a:ea typeface="DejaVu Sans"/>
              </a:rPr>
              <a:t>If users fail, the design failed. Not the user.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4" name="Shape 19"/>
          <p:cNvSpPr/>
          <p:nvPr/>
        </p:nvSpPr>
        <p:spPr>
          <a:xfrm>
            <a:off x="4754880" y="2313360"/>
            <a:ext cx="4114080" cy="1096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20"/>
          <p:cNvSpPr/>
          <p:nvPr/>
        </p:nvSpPr>
        <p:spPr>
          <a:xfrm>
            <a:off x="4846320" y="2569320"/>
            <a:ext cx="511200" cy="511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1"/>
          <p:cNvSpPr/>
          <p:nvPr/>
        </p:nvSpPr>
        <p:spPr>
          <a:xfrm>
            <a:off x="4846320" y="25693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7" name="Text 22"/>
          <p:cNvSpPr/>
          <p:nvPr/>
        </p:nvSpPr>
        <p:spPr>
          <a:xfrm>
            <a:off x="5468040" y="238644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Think Aloud = Gold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8" name="Text 23"/>
          <p:cNvSpPr/>
          <p:nvPr/>
        </p:nvSpPr>
        <p:spPr>
          <a:xfrm>
            <a:off x="5468040" y="277056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9fa"/>
                </a:solidFill>
                <a:latin typeface="Calibri"/>
                <a:ea typeface="DejaVu Sans"/>
              </a:rPr>
              <a:t>Verbal narration reveals the WHY behind behavior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365760" y="3575160"/>
            <a:ext cx="4114080" cy="1096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Shape 25"/>
          <p:cNvSpPr/>
          <p:nvPr/>
        </p:nvSpPr>
        <p:spPr>
          <a:xfrm>
            <a:off x="457200" y="3831480"/>
            <a:ext cx="511200" cy="511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26"/>
          <p:cNvSpPr/>
          <p:nvPr/>
        </p:nvSpPr>
        <p:spPr>
          <a:xfrm>
            <a:off x="457200" y="383148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2" name="Text 27"/>
          <p:cNvSpPr/>
          <p:nvPr/>
        </p:nvSpPr>
        <p:spPr>
          <a:xfrm>
            <a:off x="1078920" y="36486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Prioritize with Severity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3" name="Text 28"/>
          <p:cNvSpPr/>
          <p:nvPr/>
        </p:nvSpPr>
        <p:spPr>
          <a:xfrm>
            <a:off x="1078920" y="403236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9fa"/>
                </a:solidFill>
                <a:latin typeface="Calibri"/>
                <a:ea typeface="DejaVu Sans"/>
              </a:rPr>
              <a:t>Not all problems are equal — fix catastrophes first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4" name="Shape 29"/>
          <p:cNvSpPr/>
          <p:nvPr/>
        </p:nvSpPr>
        <p:spPr>
          <a:xfrm>
            <a:off x="4754880" y="3575160"/>
            <a:ext cx="4114080" cy="1096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30"/>
          <p:cNvSpPr/>
          <p:nvPr/>
        </p:nvSpPr>
        <p:spPr>
          <a:xfrm>
            <a:off x="4846320" y="3831480"/>
            <a:ext cx="511200" cy="511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31"/>
          <p:cNvSpPr/>
          <p:nvPr/>
        </p:nvSpPr>
        <p:spPr>
          <a:xfrm>
            <a:off x="4846320" y="383148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7" name="Text 32"/>
          <p:cNvSpPr/>
          <p:nvPr/>
        </p:nvSpPr>
        <p:spPr>
          <a:xfrm>
            <a:off x="5468040" y="36486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4d2bd"/>
                </a:solidFill>
                <a:latin typeface="Calibri"/>
                <a:ea typeface="DejaVu Sans"/>
              </a:rPr>
              <a:t>Document Everything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8" name="Text 33"/>
          <p:cNvSpPr/>
          <p:nvPr/>
        </p:nvSpPr>
        <p:spPr>
          <a:xfrm>
            <a:off x="5468040" y="403236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9fa"/>
                </a:solidFill>
                <a:latin typeface="Calibri"/>
                <a:ea typeface="DejaVu Sans"/>
              </a:rPr>
              <a:t>If you didn't write it down, it didn't happen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 txBox="1"/>
          <p:nvPr/>
        </p:nvSpPr>
        <p:spPr>
          <a:xfrm>
            <a:off x="87480" y="747360"/>
            <a:ext cx="9056520" cy="336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 startup building a food delivery app for Lahore has a limited budget of Rs. 50,000 for usability testing. Their prototype is a Figma clickable mockup. Their lead designer says: 'We should just test with our own team — we all use food delivery apps regularly.' Their product manager disagrees and wants to hire a usability testing agency.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(a) Is the designer's suggestion acceptable? Give a specific reason why or why not. (2 marks)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(b) Given the Rs. 50,000 budget constraint, propose a realistic, effective testing approach. Be specific about participant count, method, and what tools or materials are needed. (3 marks)</a:t>
            </a:r>
            <a:endParaRPr b="0" lang="en-US" sz="18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 txBox="1"/>
          <p:nvPr/>
        </p:nvSpPr>
        <p:spPr>
          <a:xfrm>
            <a:off x="81360" y="679320"/>
            <a:ext cx="9291240" cy="39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 team tested a hospital appointment booking system with 10 users. The following data was collected: Task 1 (Book an appointment) — 7/10 users completed successfully. Average time: 4 min 20 sec. Industry benchmark: 2 min. Task 2 (Cancel an appointment) — 9/10 users completed. Average time: 1 min 10 sec. Task 3 (Find doctor specialization) — 4/10 users completed successfully. 6 users either gave up or found incorrect information.</a:t>
            </a:r>
            <a:endParaRPr b="0" lang="en-US" sz="1800" spc="-1" strike="noStrike">
              <a:latin typeface="Arial"/>
            </a:endParaRPr>
          </a:p>
          <a:p>
            <a:br>
              <a:rPr sz="1800"/>
            </a:br>
            <a:r>
              <a:rPr b="0" lang="en-US" sz="1800" spc="-1" strike="noStrike">
                <a:latin typeface="Arial"/>
              </a:rPr>
              <a:t>(a) Calculate the task completion rate for each task and identify which task has the most critical usability problem. Justify your answer. (3 marks)</a:t>
            </a:r>
            <a:endParaRPr b="0" lang="en-US" sz="1800" spc="-1" strike="noStrike">
              <a:latin typeface="Arial"/>
            </a:endParaRPr>
          </a:p>
          <a:p>
            <a:br>
              <a:rPr sz="1800"/>
            </a:br>
            <a:r>
              <a:rPr b="0" lang="en-US" sz="1800" spc="-1" strike="noStrike">
                <a:latin typeface="Arial"/>
              </a:rPr>
              <a:t>(b) Task 1 has a 70% completion rate but its average time is more than double the industry benchmark (4:20 vs 2:00). What does this combination of metrics tell you about the design? (2 marks)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2026-04-24T00:14:18Z</dcterms:created>
  <dc:creator>PptxGenJS</dc:creator>
  <dc:description/>
  <dc:language>en-US</dc:language>
  <cp:lastModifiedBy/>
  <dcterms:modified xsi:type="dcterms:W3CDTF">2026-04-24T05:43:29Z</dcterms:modified>
  <cp:revision>3</cp:revision>
  <dc:subject>PptxGenJS Presentation</dc:subject>
  <dc:title>Usability Testing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