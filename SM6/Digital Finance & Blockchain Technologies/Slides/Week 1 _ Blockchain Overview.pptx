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58" r:id="rId6"/>
    <p:sldId id="259" r:id="rId7"/>
    <p:sldId id="260" r:id="rId8"/>
    <p:sldId id="271" r:id="rId9"/>
    <p:sldId id="272" r:id="rId10"/>
    <p:sldId id="261" r:id="rId11"/>
    <p:sldId id="262" r:id="rId12"/>
    <p:sldId id="273" r:id="rId13"/>
    <p:sldId id="264" r:id="rId14"/>
    <p:sldId id="274" r:id="rId15"/>
    <p:sldId id="278" r:id="rId16"/>
    <p:sldId id="275" r:id="rId17"/>
    <p:sldId id="276" r:id="rId18"/>
    <p:sldId id="277" r:id="rId19"/>
    <p:sldId id="281" r:id="rId20"/>
    <p:sldId id="279" r:id="rId21"/>
    <p:sldId id="282" r:id="rId22"/>
    <p:sldId id="263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65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F8A144-89D4-4991-A3DB-9537D860F8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D10FBC-6DB6-48E6-8E29-DD1C6211C67B}">
      <dgm:prSet/>
      <dgm:spPr/>
      <dgm:t>
        <a:bodyPr/>
        <a:lstStyle/>
        <a:p>
          <a:r>
            <a:rPr lang="en-US"/>
            <a:t>Lack of trust in centralized systems</a:t>
          </a:r>
        </a:p>
      </dgm:t>
    </dgm:pt>
    <dgm:pt modelId="{F13F8DC8-A064-448B-8B1C-1EC6F68180E7}" type="parTrans" cxnId="{118C72AE-AD71-480C-BA1A-8D4B113BDD8F}">
      <dgm:prSet/>
      <dgm:spPr/>
      <dgm:t>
        <a:bodyPr/>
        <a:lstStyle/>
        <a:p>
          <a:endParaRPr lang="en-US"/>
        </a:p>
      </dgm:t>
    </dgm:pt>
    <dgm:pt modelId="{A65B56DE-26A3-4A51-AB1F-C4BAFEAB6312}" type="sibTrans" cxnId="{118C72AE-AD71-480C-BA1A-8D4B113BDD8F}">
      <dgm:prSet/>
      <dgm:spPr/>
      <dgm:t>
        <a:bodyPr/>
        <a:lstStyle/>
        <a:p>
          <a:endParaRPr lang="en-US"/>
        </a:p>
      </dgm:t>
    </dgm:pt>
    <dgm:pt modelId="{461FD400-83B3-42A3-B5E8-BB9359445472}">
      <dgm:prSet/>
      <dgm:spPr/>
      <dgm:t>
        <a:bodyPr/>
        <a:lstStyle/>
        <a:p>
          <a:r>
            <a:rPr lang="en-US"/>
            <a:t>Need for transparency and immutability</a:t>
          </a:r>
        </a:p>
      </dgm:t>
    </dgm:pt>
    <dgm:pt modelId="{327CF258-D2AF-4BD9-85F1-6334C96B115C}" type="parTrans" cxnId="{C0258617-B184-4C2D-B987-150782871EB8}">
      <dgm:prSet/>
      <dgm:spPr/>
      <dgm:t>
        <a:bodyPr/>
        <a:lstStyle/>
        <a:p>
          <a:endParaRPr lang="en-US"/>
        </a:p>
      </dgm:t>
    </dgm:pt>
    <dgm:pt modelId="{7BDBF112-89F6-4A99-9A24-194ABA610957}" type="sibTrans" cxnId="{C0258617-B184-4C2D-B987-150782871EB8}">
      <dgm:prSet/>
      <dgm:spPr/>
      <dgm:t>
        <a:bodyPr/>
        <a:lstStyle/>
        <a:p>
          <a:endParaRPr lang="en-US"/>
        </a:p>
      </dgm:t>
    </dgm:pt>
    <dgm:pt modelId="{6C2FC73A-65B4-4F71-BBAF-31E63D7D24F7}">
      <dgm:prSet/>
      <dgm:spPr/>
      <dgm:t>
        <a:bodyPr/>
        <a:lstStyle/>
        <a:p>
          <a:r>
            <a:rPr lang="en-US"/>
            <a:t>Reducing intermediaries in transactions</a:t>
          </a:r>
        </a:p>
      </dgm:t>
    </dgm:pt>
    <dgm:pt modelId="{F1EBBA60-2262-4356-9BE7-5BD7CF8C276D}" type="parTrans" cxnId="{D49629C6-8281-4A07-A7CF-401F89EE917B}">
      <dgm:prSet/>
      <dgm:spPr/>
      <dgm:t>
        <a:bodyPr/>
        <a:lstStyle/>
        <a:p>
          <a:endParaRPr lang="en-US"/>
        </a:p>
      </dgm:t>
    </dgm:pt>
    <dgm:pt modelId="{94D16C12-C6BA-4F2C-8352-80FBFCC660D9}" type="sibTrans" cxnId="{D49629C6-8281-4A07-A7CF-401F89EE917B}">
      <dgm:prSet/>
      <dgm:spPr/>
      <dgm:t>
        <a:bodyPr/>
        <a:lstStyle/>
        <a:p>
          <a:endParaRPr lang="en-US"/>
        </a:p>
      </dgm:t>
    </dgm:pt>
    <dgm:pt modelId="{B1EF3A81-F957-4109-B816-66C64C1C8C30}">
      <dgm:prSet/>
      <dgm:spPr/>
      <dgm:t>
        <a:bodyPr/>
        <a:lstStyle/>
        <a:p>
          <a:r>
            <a:rPr lang="en-US"/>
            <a:t>Secure peer-to-peer value transfer</a:t>
          </a:r>
        </a:p>
      </dgm:t>
    </dgm:pt>
    <dgm:pt modelId="{D9C049C4-2FA5-4400-A233-5E8744F4595F}" type="parTrans" cxnId="{86725A1F-EF4A-43F9-81F3-F44BE49BE080}">
      <dgm:prSet/>
      <dgm:spPr/>
      <dgm:t>
        <a:bodyPr/>
        <a:lstStyle/>
        <a:p>
          <a:endParaRPr lang="en-US"/>
        </a:p>
      </dgm:t>
    </dgm:pt>
    <dgm:pt modelId="{122AB4E6-3EB8-4D1C-A77A-B2FC139EFC63}" type="sibTrans" cxnId="{86725A1F-EF4A-43F9-81F3-F44BE49BE080}">
      <dgm:prSet/>
      <dgm:spPr/>
      <dgm:t>
        <a:bodyPr/>
        <a:lstStyle/>
        <a:p>
          <a:endParaRPr lang="en-US"/>
        </a:p>
      </dgm:t>
    </dgm:pt>
    <dgm:pt modelId="{634166BF-6934-491D-BB03-0885AD5825CF}">
      <dgm:prSet/>
      <dgm:spPr/>
      <dgm:t>
        <a:bodyPr/>
        <a:lstStyle/>
        <a:p>
          <a:r>
            <a:rPr lang="en-US"/>
            <a:t>Resistance to fraud and data tampering</a:t>
          </a:r>
        </a:p>
      </dgm:t>
    </dgm:pt>
    <dgm:pt modelId="{AFD4C014-C662-42E8-A54D-129CE39A0C4E}" type="parTrans" cxnId="{75087CEA-8F62-4728-B870-00AED8683CA8}">
      <dgm:prSet/>
      <dgm:spPr/>
      <dgm:t>
        <a:bodyPr/>
        <a:lstStyle/>
        <a:p>
          <a:endParaRPr lang="en-US"/>
        </a:p>
      </dgm:t>
    </dgm:pt>
    <dgm:pt modelId="{4F76DC3E-6832-4145-9F6E-1E364C94A998}" type="sibTrans" cxnId="{75087CEA-8F62-4728-B870-00AED8683CA8}">
      <dgm:prSet/>
      <dgm:spPr/>
      <dgm:t>
        <a:bodyPr/>
        <a:lstStyle/>
        <a:p>
          <a:endParaRPr lang="en-US"/>
        </a:p>
      </dgm:t>
    </dgm:pt>
    <dgm:pt modelId="{EA812274-209E-4581-AD49-3B9984897F76}" type="pres">
      <dgm:prSet presAssocID="{1AF8A144-89D4-4991-A3DB-9537D860F842}" presName="root" presStyleCnt="0">
        <dgm:presLayoutVars>
          <dgm:dir/>
          <dgm:resizeHandles val="exact"/>
        </dgm:presLayoutVars>
      </dgm:prSet>
      <dgm:spPr/>
    </dgm:pt>
    <dgm:pt modelId="{67372770-E8B8-444C-BF52-1F2A609E14B3}" type="pres">
      <dgm:prSet presAssocID="{BCD10FBC-6DB6-48E6-8E29-DD1C6211C67B}" presName="compNode" presStyleCnt="0"/>
      <dgm:spPr/>
    </dgm:pt>
    <dgm:pt modelId="{F4D0A56E-1C60-46EA-8798-B94696298A43}" type="pres">
      <dgm:prSet presAssocID="{BCD10FBC-6DB6-48E6-8E29-DD1C6211C67B}" presName="bgRect" presStyleLbl="bgShp" presStyleIdx="0" presStyleCnt="5"/>
      <dgm:spPr/>
    </dgm:pt>
    <dgm:pt modelId="{CE7E3C28-D577-4F35-9506-E3954C506B0F}" type="pres">
      <dgm:prSet presAssocID="{BCD10FBC-6DB6-48E6-8E29-DD1C6211C67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34700C7-36E8-4DA5-9389-8125DC729A02}" type="pres">
      <dgm:prSet presAssocID="{BCD10FBC-6DB6-48E6-8E29-DD1C6211C67B}" presName="spaceRect" presStyleCnt="0"/>
      <dgm:spPr/>
    </dgm:pt>
    <dgm:pt modelId="{EC205F43-BD48-4596-A579-3E957C7D9C2D}" type="pres">
      <dgm:prSet presAssocID="{BCD10FBC-6DB6-48E6-8E29-DD1C6211C67B}" presName="parTx" presStyleLbl="revTx" presStyleIdx="0" presStyleCnt="5">
        <dgm:presLayoutVars>
          <dgm:chMax val="0"/>
          <dgm:chPref val="0"/>
        </dgm:presLayoutVars>
      </dgm:prSet>
      <dgm:spPr/>
    </dgm:pt>
    <dgm:pt modelId="{CB2D17C5-FE2D-4037-A891-CAAECF3B2453}" type="pres">
      <dgm:prSet presAssocID="{A65B56DE-26A3-4A51-AB1F-C4BAFEAB6312}" presName="sibTrans" presStyleCnt="0"/>
      <dgm:spPr/>
    </dgm:pt>
    <dgm:pt modelId="{1B71FC76-20E2-455C-92E7-1D99D32DD7E6}" type="pres">
      <dgm:prSet presAssocID="{461FD400-83B3-42A3-B5E8-BB9359445472}" presName="compNode" presStyleCnt="0"/>
      <dgm:spPr/>
    </dgm:pt>
    <dgm:pt modelId="{97F0A0D4-6BD9-43D2-8E71-AB2E1D2531F0}" type="pres">
      <dgm:prSet presAssocID="{461FD400-83B3-42A3-B5E8-BB9359445472}" presName="bgRect" presStyleLbl="bgShp" presStyleIdx="1" presStyleCnt="5"/>
      <dgm:spPr/>
    </dgm:pt>
    <dgm:pt modelId="{8F45FBFD-4ED0-4AA2-B036-837F5C48BFAA}" type="pres">
      <dgm:prSet presAssocID="{461FD400-83B3-42A3-B5E8-BB935944547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F095764-3741-43D1-BE93-1FAF9777D1E3}" type="pres">
      <dgm:prSet presAssocID="{461FD400-83B3-42A3-B5E8-BB9359445472}" presName="spaceRect" presStyleCnt="0"/>
      <dgm:spPr/>
    </dgm:pt>
    <dgm:pt modelId="{6CC6BC34-5689-4430-B258-EA30996FB5CD}" type="pres">
      <dgm:prSet presAssocID="{461FD400-83B3-42A3-B5E8-BB9359445472}" presName="parTx" presStyleLbl="revTx" presStyleIdx="1" presStyleCnt="5">
        <dgm:presLayoutVars>
          <dgm:chMax val="0"/>
          <dgm:chPref val="0"/>
        </dgm:presLayoutVars>
      </dgm:prSet>
      <dgm:spPr/>
    </dgm:pt>
    <dgm:pt modelId="{CBF22EE5-D2EA-4439-9223-82B8E5E4608B}" type="pres">
      <dgm:prSet presAssocID="{7BDBF112-89F6-4A99-9A24-194ABA610957}" presName="sibTrans" presStyleCnt="0"/>
      <dgm:spPr/>
    </dgm:pt>
    <dgm:pt modelId="{737787E6-93B7-4330-8A02-9D8BA7FB282C}" type="pres">
      <dgm:prSet presAssocID="{6C2FC73A-65B4-4F71-BBAF-31E63D7D24F7}" presName="compNode" presStyleCnt="0"/>
      <dgm:spPr/>
    </dgm:pt>
    <dgm:pt modelId="{62891D5D-A36C-4D3C-A71F-FEC17F3D6254}" type="pres">
      <dgm:prSet presAssocID="{6C2FC73A-65B4-4F71-BBAF-31E63D7D24F7}" presName="bgRect" presStyleLbl="bgShp" presStyleIdx="2" presStyleCnt="5"/>
      <dgm:spPr/>
    </dgm:pt>
    <dgm:pt modelId="{545F05BD-39A9-4F07-8280-DCEC17642734}" type="pres">
      <dgm:prSet presAssocID="{6C2FC73A-65B4-4F71-BBAF-31E63D7D24F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EC22923-1E73-49A6-B461-AF869D1AA01B}" type="pres">
      <dgm:prSet presAssocID="{6C2FC73A-65B4-4F71-BBAF-31E63D7D24F7}" presName="spaceRect" presStyleCnt="0"/>
      <dgm:spPr/>
    </dgm:pt>
    <dgm:pt modelId="{ADAE65C9-4A35-4C78-A976-CD48FA2CDAA5}" type="pres">
      <dgm:prSet presAssocID="{6C2FC73A-65B4-4F71-BBAF-31E63D7D24F7}" presName="parTx" presStyleLbl="revTx" presStyleIdx="2" presStyleCnt="5">
        <dgm:presLayoutVars>
          <dgm:chMax val="0"/>
          <dgm:chPref val="0"/>
        </dgm:presLayoutVars>
      </dgm:prSet>
      <dgm:spPr/>
    </dgm:pt>
    <dgm:pt modelId="{F949883D-B6B4-4BE7-9111-E56137E8C7AB}" type="pres">
      <dgm:prSet presAssocID="{94D16C12-C6BA-4F2C-8352-80FBFCC660D9}" presName="sibTrans" presStyleCnt="0"/>
      <dgm:spPr/>
    </dgm:pt>
    <dgm:pt modelId="{77D84E96-4EBE-4F23-B326-6DC3112CE0C4}" type="pres">
      <dgm:prSet presAssocID="{B1EF3A81-F957-4109-B816-66C64C1C8C30}" presName="compNode" presStyleCnt="0"/>
      <dgm:spPr/>
    </dgm:pt>
    <dgm:pt modelId="{7B0BF2E0-6859-4F93-8CF2-5B0F77864693}" type="pres">
      <dgm:prSet presAssocID="{B1EF3A81-F957-4109-B816-66C64C1C8C30}" presName="bgRect" presStyleLbl="bgShp" presStyleIdx="3" presStyleCnt="5"/>
      <dgm:spPr/>
    </dgm:pt>
    <dgm:pt modelId="{E077CE58-2DC3-4036-98AD-9803EA0F06CE}" type="pres">
      <dgm:prSet presAssocID="{B1EF3A81-F957-4109-B816-66C64C1C8C3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BCE2E6AD-0886-4CCF-A032-EBF32D7552BB}" type="pres">
      <dgm:prSet presAssocID="{B1EF3A81-F957-4109-B816-66C64C1C8C30}" presName="spaceRect" presStyleCnt="0"/>
      <dgm:spPr/>
    </dgm:pt>
    <dgm:pt modelId="{35E6C68A-A2E0-40E9-8150-F2510D5D446F}" type="pres">
      <dgm:prSet presAssocID="{B1EF3A81-F957-4109-B816-66C64C1C8C30}" presName="parTx" presStyleLbl="revTx" presStyleIdx="3" presStyleCnt="5">
        <dgm:presLayoutVars>
          <dgm:chMax val="0"/>
          <dgm:chPref val="0"/>
        </dgm:presLayoutVars>
      </dgm:prSet>
      <dgm:spPr/>
    </dgm:pt>
    <dgm:pt modelId="{F21531CF-AFBD-4630-A2D9-F43ADD0B6DA5}" type="pres">
      <dgm:prSet presAssocID="{122AB4E6-3EB8-4D1C-A77A-B2FC139EFC63}" presName="sibTrans" presStyleCnt="0"/>
      <dgm:spPr/>
    </dgm:pt>
    <dgm:pt modelId="{9B110A55-3C5C-4E85-A830-403813D1310D}" type="pres">
      <dgm:prSet presAssocID="{634166BF-6934-491D-BB03-0885AD5825CF}" presName="compNode" presStyleCnt="0"/>
      <dgm:spPr/>
    </dgm:pt>
    <dgm:pt modelId="{DD234313-351E-4B31-9F52-4F7C4966C954}" type="pres">
      <dgm:prSet presAssocID="{634166BF-6934-491D-BB03-0885AD5825CF}" presName="bgRect" presStyleLbl="bgShp" presStyleIdx="4" presStyleCnt="5"/>
      <dgm:spPr/>
    </dgm:pt>
    <dgm:pt modelId="{D5E5A746-9E35-4048-B7C4-5D10C5151F3A}" type="pres">
      <dgm:prSet presAssocID="{634166BF-6934-491D-BB03-0885AD5825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7C0EF66-7B99-45F9-AF58-45159CD4BDA4}" type="pres">
      <dgm:prSet presAssocID="{634166BF-6934-491D-BB03-0885AD5825CF}" presName="spaceRect" presStyleCnt="0"/>
      <dgm:spPr/>
    </dgm:pt>
    <dgm:pt modelId="{FC6EF4F7-A723-4885-A3F6-950FE883AD2D}" type="pres">
      <dgm:prSet presAssocID="{634166BF-6934-491D-BB03-0885AD5825C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45B4709-BA47-4ED2-B71C-7BB55C6C04E7}" type="presOf" srcId="{BCD10FBC-6DB6-48E6-8E29-DD1C6211C67B}" destId="{EC205F43-BD48-4596-A579-3E957C7D9C2D}" srcOrd="0" destOrd="0" presId="urn:microsoft.com/office/officeart/2018/2/layout/IconVerticalSolidList"/>
    <dgm:cxn modelId="{49B50D0A-8E09-43FE-B530-24D6A138A930}" type="presOf" srcId="{B1EF3A81-F957-4109-B816-66C64C1C8C30}" destId="{35E6C68A-A2E0-40E9-8150-F2510D5D446F}" srcOrd="0" destOrd="0" presId="urn:microsoft.com/office/officeart/2018/2/layout/IconVerticalSolidList"/>
    <dgm:cxn modelId="{C0258617-B184-4C2D-B987-150782871EB8}" srcId="{1AF8A144-89D4-4991-A3DB-9537D860F842}" destId="{461FD400-83B3-42A3-B5E8-BB9359445472}" srcOrd="1" destOrd="0" parTransId="{327CF258-D2AF-4BD9-85F1-6334C96B115C}" sibTransId="{7BDBF112-89F6-4A99-9A24-194ABA610957}"/>
    <dgm:cxn modelId="{86725A1F-EF4A-43F9-81F3-F44BE49BE080}" srcId="{1AF8A144-89D4-4991-A3DB-9537D860F842}" destId="{B1EF3A81-F957-4109-B816-66C64C1C8C30}" srcOrd="3" destOrd="0" parTransId="{D9C049C4-2FA5-4400-A233-5E8744F4595F}" sibTransId="{122AB4E6-3EB8-4D1C-A77A-B2FC139EFC63}"/>
    <dgm:cxn modelId="{630FDA2B-BFA3-498A-B3E7-EECBBBB7AC40}" type="presOf" srcId="{634166BF-6934-491D-BB03-0885AD5825CF}" destId="{FC6EF4F7-A723-4885-A3F6-950FE883AD2D}" srcOrd="0" destOrd="0" presId="urn:microsoft.com/office/officeart/2018/2/layout/IconVerticalSolidList"/>
    <dgm:cxn modelId="{FB4109AB-2AB6-40D1-914C-8BDEF52C203D}" type="presOf" srcId="{1AF8A144-89D4-4991-A3DB-9537D860F842}" destId="{EA812274-209E-4581-AD49-3B9984897F76}" srcOrd="0" destOrd="0" presId="urn:microsoft.com/office/officeart/2018/2/layout/IconVerticalSolidList"/>
    <dgm:cxn modelId="{118C72AE-AD71-480C-BA1A-8D4B113BDD8F}" srcId="{1AF8A144-89D4-4991-A3DB-9537D860F842}" destId="{BCD10FBC-6DB6-48E6-8E29-DD1C6211C67B}" srcOrd="0" destOrd="0" parTransId="{F13F8DC8-A064-448B-8B1C-1EC6F68180E7}" sibTransId="{A65B56DE-26A3-4A51-AB1F-C4BAFEAB6312}"/>
    <dgm:cxn modelId="{D49629C6-8281-4A07-A7CF-401F89EE917B}" srcId="{1AF8A144-89D4-4991-A3DB-9537D860F842}" destId="{6C2FC73A-65B4-4F71-BBAF-31E63D7D24F7}" srcOrd="2" destOrd="0" parTransId="{F1EBBA60-2262-4356-9BE7-5BD7CF8C276D}" sibTransId="{94D16C12-C6BA-4F2C-8352-80FBFCC660D9}"/>
    <dgm:cxn modelId="{FD1F15D3-7436-401D-87EB-71B2CB2EBB4E}" type="presOf" srcId="{461FD400-83B3-42A3-B5E8-BB9359445472}" destId="{6CC6BC34-5689-4430-B258-EA30996FB5CD}" srcOrd="0" destOrd="0" presId="urn:microsoft.com/office/officeart/2018/2/layout/IconVerticalSolidList"/>
    <dgm:cxn modelId="{75087CEA-8F62-4728-B870-00AED8683CA8}" srcId="{1AF8A144-89D4-4991-A3DB-9537D860F842}" destId="{634166BF-6934-491D-BB03-0885AD5825CF}" srcOrd="4" destOrd="0" parTransId="{AFD4C014-C662-42E8-A54D-129CE39A0C4E}" sibTransId="{4F76DC3E-6832-4145-9F6E-1E364C94A998}"/>
    <dgm:cxn modelId="{59D3FDF1-0E34-414B-AF0C-409604B26D8F}" type="presOf" srcId="{6C2FC73A-65B4-4F71-BBAF-31E63D7D24F7}" destId="{ADAE65C9-4A35-4C78-A976-CD48FA2CDAA5}" srcOrd="0" destOrd="0" presId="urn:microsoft.com/office/officeart/2018/2/layout/IconVerticalSolidList"/>
    <dgm:cxn modelId="{92995571-73F4-46E2-8D69-C700AE527B25}" type="presParOf" srcId="{EA812274-209E-4581-AD49-3B9984897F76}" destId="{67372770-E8B8-444C-BF52-1F2A609E14B3}" srcOrd="0" destOrd="0" presId="urn:microsoft.com/office/officeart/2018/2/layout/IconVerticalSolidList"/>
    <dgm:cxn modelId="{414CD5A4-FA6D-44A8-919F-AD09BD5C4E65}" type="presParOf" srcId="{67372770-E8B8-444C-BF52-1F2A609E14B3}" destId="{F4D0A56E-1C60-46EA-8798-B94696298A43}" srcOrd="0" destOrd="0" presId="urn:microsoft.com/office/officeart/2018/2/layout/IconVerticalSolidList"/>
    <dgm:cxn modelId="{CBE65D6E-1472-41FC-A00E-5EA7214C7B80}" type="presParOf" srcId="{67372770-E8B8-444C-BF52-1F2A609E14B3}" destId="{CE7E3C28-D577-4F35-9506-E3954C506B0F}" srcOrd="1" destOrd="0" presId="urn:microsoft.com/office/officeart/2018/2/layout/IconVerticalSolidList"/>
    <dgm:cxn modelId="{0C833F65-F939-45BC-99EF-B83A576BF4A6}" type="presParOf" srcId="{67372770-E8B8-444C-BF52-1F2A609E14B3}" destId="{234700C7-36E8-4DA5-9389-8125DC729A02}" srcOrd="2" destOrd="0" presId="urn:microsoft.com/office/officeart/2018/2/layout/IconVerticalSolidList"/>
    <dgm:cxn modelId="{97EB7E16-4ED4-46CE-94F8-A53BD65C1889}" type="presParOf" srcId="{67372770-E8B8-444C-BF52-1F2A609E14B3}" destId="{EC205F43-BD48-4596-A579-3E957C7D9C2D}" srcOrd="3" destOrd="0" presId="urn:microsoft.com/office/officeart/2018/2/layout/IconVerticalSolidList"/>
    <dgm:cxn modelId="{EC10C6FA-0918-4DA2-AB94-1FB09139D0C5}" type="presParOf" srcId="{EA812274-209E-4581-AD49-3B9984897F76}" destId="{CB2D17C5-FE2D-4037-A891-CAAECF3B2453}" srcOrd="1" destOrd="0" presId="urn:microsoft.com/office/officeart/2018/2/layout/IconVerticalSolidList"/>
    <dgm:cxn modelId="{579732B3-E49B-49B6-85D0-DBC29B6C0F29}" type="presParOf" srcId="{EA812274-209E-4581-AD49-3B9984897F76}" destId="{1B71FC76-20E2-455C-92E7-1D99D32DD7E6}" srcOrd="2" destOrd="0" presId="urn:microsoft.com/office/officeart/2018/2/layout/IconVerticalSolidList"/>
    <dgm:cxn modelId="{ADF2E29A-F8C5-482C-B91D-BFBC2BABD701}" type="presParOf" srcId="{1B71FC76-20E2-455C-92E7-1D99D32DD7E6}" destId="{97F0A0D4-6BD9-43D2-8E71-AB2E1D2531F0}" srcOrd="0" destOrd="0" presId="urn:microsoft.com/office/officeart/2018/2/layout/IconVerticalSolidList"/>
    <dgm:cxn modelId="{1E6E6503-2E10-40F0-A2C1-88A3B0F2F1AB}" type="presParOf" srcId="{1B71FC76-20E2-455C-92E7-1D99D32DD7E6}" destId="{8F45FBFD-4ED0-4AA2-B036-837F5C48BFAA}" srcOrd="1" destOrd="0" presId="urn:microsoft.com/office/officeart/2018/2/layout/IconVerticalSolidList"/>
    <dgm:cxn modelId="{2E4C3C0E-A998-4385-ABC6-84281148FFC7}" type="presParOf" srcId="{1B71FC76-20E2-455C-92E7-1D99D32DD7E6}" destId="{DF095764-3741-43D1-BE93-1FAF9777D1E3}" srcOrd="2" destOrd="0" presId="urn:microsoft.com/office/officeart/2018/2/layout/IconVerticalSolidList"/>
    <dgm:cxn modelId="{0C0DADE0-7733-4055-88BB-9ECFFDEC6447}" type="presParOf" srcId="{1B71FC76-20E2-455C-92E7-1D99D32DD7E6}" destId="{6CC6BC34-5689-4430-B258-EA30996FB5CD}" srcOrd="3" destOrd="0" presId="urn:microsoft.com/office/officeart/2018/2/layout/IconVerticalSolidList"/>
    <dgm:cxn modelId="{D2E6FE19-056F-497A-AB09-9D94BA9C8044}" type="presParOf" srcId="{EA812274-209E-4581-AD49-3B9984897F76}" destId="{CBF22EE5-D2EA-4439-9223-82B8E5E4608B}" srcOrd="3" destOrd="0" presId="urn:microsoft.com/office/officeart/2018/2/layout/IconVerticalSolidList"/>
    <dgm:cxn modelId="{B012442F-FD14-46B1-AC58-C58E7747D3B2}" type="presParOf" srcId="{EA812274-209E-4581-AD49-3B9984897F76}" destId="{737787E6-93B7-4330-8A02-9D8BA7FB282C}" srcOrd="4" destOrd="0" presId="urn:microsoft.com/office/officeart/2018/2/layout/IconVerticalSolidList"/>
    <dgm:cxn modelId="{88B275E6-E705-4497-8462-AFAC91BAC40E}" type="presParOf" srcId="{737787E6-93B7-4330-8A02-9D8BA7FB282C}" destId="{62891D5D-A36C-4D3C-A71F-FEC17F3D6254}" srcOrd="0" destOrd="0" presId="urn:microsoft.com/office/officeart/2018/2/layout/IconVerticalSolidList"/>
    <dgm:cxn modelId="{15C8A4F9-29E9-4AAD-8A7C-16582CF252C7}" type="presParOf" srcId="{737787E6-93B7-4330-8A02-9D8BA7FB282C}" destId="{545F05BD-39A9-4F07-8280-DCEC17642734}" srcOrd="1" destOrd="0" presId="urn:microsoft.com/office/officeart/2018/2/layout/IconVerticalSolidList"/>
    <dgm:cxn modelId="{9BB63036-8AF0-4569-AE01-F8D6B120B06D}" type="presParOf" srcId="{737787E6-93B7-4330-8A02-9D8BA7FB282C}" destId="{3EC22923-1E73-49A6-B461-AF869D1AA01B}" srcOrd="2" destOrd="0" presId="urn:microsoft.com/office/officeart/2018/2/layout/IconVerticalSolidList"/>
    <dgm:cxn modelId="{07309DE2-2FF5-401D-A412-6DC09B33976A}" type="presParOf" srcId="{737787E6-93B7-4330-8A02-9D8BA7FB282C}" destId="{ADAE65C9-4A35-4C78-A976-CD48FA2CDAA5}" srcOrd="3" destOrd="0" presId="urn:microsoft.com/office/officeart/2018/2/layout/IconVerticalSolidList"/>
    <dgm:cxn modelId="{BF84A164-0FF7-4C8E-9C73-F30A789CD280}" type="presParOf" srcId="{EA812274-209E-4581-AD49-3B9984897F76}" destId="{F949883D-B6B4-4BE7-9111-E56137E8C7AB}" srcOrd="5" destOrd="0" presId="urn:microsoft.com/office/officeart/2018/2/layout/IconVerticalSolidList"/>
    <dgm:cxn modelId="{A0412494-4996-40F4-961F-2DA58588285B}" type="presParOf" srcId="{EA812274-209E-4581-AD49-3B9984897F76}" destId="{77D84E96-4EBE-4F23-B326-6DC3112CE0C4}" srcOrd="6" destOrd="0" presId="urn:microsoft.com/office/officeart/2018/2/layout/IconVerticalSolidList"/>
    <dgm:cxn modelId="{836A9FBA-36A1-4924-AB42-E796F45EA2C9}" type="presParOf" srcId="{77D84E96-4EBE-4F23-B326-6DC3112CE0C4}" destId="{7B0BF2E0-6859-4F93-8CF2-5B0F77864693}" srcOrd="0" destOrd="0" presId="urn:microsoft.com/office/officeart/2018/2/layout/IconVerticalSolidList"/>
    <dgm:cxn modelId="{AA4D0994-A7C3-413B-8BA4-D43E3CD37C3A}" type="presParOf" srcId="{77D84E96-4EBE-4F23-B326-6DC3112CE0C4}" destId="{E077CE58-2DC3-4036-98AD-9803EA0F06CE}" srcOrd="1" destOrd="0" presId="urn:microsoft.com/office/officeart/2018/2/layout/IconVerticalSolidList"/>
    <dgm:cxn modelId="{D3FAE4CA-3CCB-431C-BB7D-702D3C1D8879}" type="presParOf" srcId="{77D84E96-4EBE-4F23-B326-6DC3112CE0C4}" destId="{BCE2E6AD-0886-4CCF-A032-EBF32D7552BB}" srcOrd="2" destOrd="0" presId="urn:microsoft.com/office/officeart/2018/2/layout/IconVerticalSolidList"/>
    <dgm:cxn modelId="{BEA7B1AD-5E5D-44D7-86C4-7887AF3148C4}" type="presParOf" srcId="{77D84E96-4EBE-4F23-B326-6DC3112CE0C4}" destId="{35E6C68A-A2E0-40E9-8150-F2510D5D446F}" srcOrd="3" destOrd="0" presId="urn:microsoft.com/office/officeart/2018/2/layout/IconVerticalSolidList"/>
    <dgm:cxn modelId="{C9612CFD-8285-4BE1-A485-105DA8AFA68C}" type="presParOf" srcId="{EA812274-209E-4581-AD49-3B9984897F76}" destId="{F21531CF-AFBD-4630-A2D9-F43ADD0B6DA5}" srcOrd="7" destOrd="0" presId="urn:microsoft.com/office/officeart/2018/2/layout/IconVerticalSolidList"/>
    <dgm:cxn modelId="{2AEA8B11-C3BC-42EC-9E1B-FB3171C3037B}" type="presParOf" srcId="{EA812274-209E-4581-AD49-3B9984897F76}" destId="{9B110A55-3C5C-4E85-A830-403813D1310D}" srcOrd="8" destOrd="0" presId="urn:microsoft.com/office/officeart/2018/2/layout/IconVerticalSolidList"/>
    <dgm:cxn modelId="{2920F56C-286C-488A-87A6-482B04DEBDB3}" type="presParOf" srcId="{9B110A55-3C5C-4E85-A830-403813D1310D}" destId="{DD234313-351E-4B31-9F52-4F7C4966C954}" srcOrd="0" destOrd="0" presId="urn:microsoft.com/office/officeart/2018/2/layout/IconVerticalSolidList"/>
    <dgm:cxn modelId="{92C133AB-B0BA-4056-B64C-1558562BEFCB}" type="presParOf" srcId="{9B110A55-3C5C-4E85-A830-403813D1310D}" destId="{D5E5A746-9E35-4048-B7C4-5D10C5151F3A}" srcOrd="1" destOrd="0" presId="urn:microsoft.com/office/officeart/2018/2/layout/IconVerticalSolidList"/>
    <dgm:cxn modelId="{41C0A5DD-3B3E-4C37-9CC7-6E8041B993C3}" type="presParOf" srcId="{9B110A55-3C5C-4E85-A830-403813D1310D}" destId="{C7C0EF66-7B99-45F9-AF58-45159CD4BDA4}" srcOrd="2" destOrd="0" presId="urn:microsoft.com/office/officeart/2018/2/layout/IconVerticalSolidList"/>
    <dgm:cxn modelId="{A5FA42FE-6EAE-4B4B-9069-86423748DDC8}" type="presParOf" srcId="{9B110A55-3C5C-4E85-A830-403813D1310D}" destId="{FC6EF4F7-A723-4885-A3F6-950FE883AD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0A56E-1C60-46EA-8798-B94696298A43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E3C28-D577-4F35-9506-E3954C506B0F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05F43-BD48-4596-A579-3E957C7D9C2D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Lack of trust in centralized systems</a:t>
          </a:r>
        </a:p>
      </dsp:txBody>
      <dsp:txXfrm>
        <a:off x="1059754" y="4307"/>
        <a:ext cx="3713413" cy="917536"/>
      </dsp:txXfrm>
    </dsp:sp>
    <dsp:sp modelId="{97F0A0D4-6BD9-43D2-8E71-AB2E1D2531F0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5FBFD-4ED0-4AA2-B036-837F5C48BFAA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6BC34-5689-4430-B258-EA30996FB5CD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Need for transparency and immutability</a:t>
          </a:r>
        </a:p>
      </dsp:txBody>
      <dsp:txXfrm>
        <a:off x="1059754" y="1151227"/>
        <a:ext cx="3713413" cy="917536"/>
      </dsp:txXfrm>
    </dsp:sp>
    <dsp:sp modelId="{62891D5D-A36C-4D3C-A71F-FEC17F3D6254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F05BD-39A9-4F07-8280-DCEC17642734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E65C9-4A35-4C78-A976-CD48FA2CDAA5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Reducing intermediaries in transactions</a:t>
          </a:r>
        </a:p>
      </dsp:txBody>
      <dsp:txXfrm>
        <a:off x="1059754" y="2298147"/>
        <a:ext cx="3713413" cy="917536"/>
      </dsp:txXfrm>
    </dsp:sp>
    <dsp:sp modelId="{7B0BF2E0-6859-4F93-8CF2-5B0F77864693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7CE58-2DC3-4036-98AD-9803EA0F06CE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6C68A-A2E0-40E9-8150-F2510D5D446F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Secure peer-to-peer value transfer</a:t>
          </a:r>
        </a:p>
      </dsp:txBody>
      <dsp:txXfrm>
        <a:off x="1059754" y="3445068"/>
        <a:ext cx="3713413" cy="917536"/>
      </dsp:txXfrm>
    </dsp:sp>
    <dsp:sp modelId="{DD234313-351E-4B31-9F52-4F7C4966C954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5A746-9E35-4048-B7C4-5D10C5151F3A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EF4F7-A723-4885-A3F6-950FE883AD2D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Resistance to fraud and data tampering</a:t>
          </a:r>
        </a:p>
      </dsp:txBody>
      <dsp:txXfrm>
        <a:off x="1059754" y="4591988"/>
        <a:ext cx="3713413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668" y="637763"/>
            <a:ext cx="7417348" cy="287447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500">
                <a:solidFill>
                  <a:schemeClr val="bg1"/>
                </a:solidFill>
              </a:rPr>
              <a:t>Digital finance &amp; Blockchain Technology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668" y="4307684"/>
            <a:ext cx="7158115" cy="1906846"/>
          </a:xfrm>
        </p:spPr>
        <p:txBody>
          <a:bodyPr anchor="t">
            <a:normAutofit/>
          </a:bodyPr>
          <a:lstStyle/>
          <a:p>
            <a:pPr algn="l"/>
            <a:r>
              <a:rPr lang="en-US" sz="2800"/>
              <a:t>Motivation, Components, and Core Concepts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C022E-FA5A-BF1E-9447-E255D49A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0325D-3185-26E7-D58F-39A912D6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Motivation Behind Blockchain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6C9153-8B8B-710C-D85D-9C71B8417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113884"/>
            <a:ext cx="8178799" cy="351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7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26371-1BBF-5B36-51F8-5B994A6C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2F02A-32DE-AB4F-DAD7-3290A001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Motivation Behind Blockchain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11624B-0755-229B-BEAD-42DF5A233D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49292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548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5AFD0-B1CA-BE83-1DF5-7602160B3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931E2-93F8-4559-692C-2FCFD283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Overview of Blockchain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2926AB-68DF-CD73-478A-56164C693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960533"/>
            <a:ext cx="8178799" cy="38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1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Overview of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Distributed and decentralized digital ledger</a:t>
            </a:r>
          </a:p>
          <a:p>
            <a:r>
              <a:rPr dirty="0"/>
              <a:t>Records transactions in blocks</a:t>
            </a:r>
          </a:p>
          <a:p>
            <a:r>
              <a:rPr dirty="0"/>
              <a:t>Blocks are linked using cryptography</a:t>
            </a:r>
          </a:p>
          <a:p>
            <a:r>
              <a:rPr dirty="0"/>
              <a:t>Maintained by a network of nodes</a:t>
            </a:r>
          </a:p>
          <a:p>
            <a:r>
              <a:rPr dirty="0"/>
              <a:t>Data once added cannot be easily altered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Components of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Digital Signatures</a:t>
            </a:r>
          </a:p>
          <a:p>
            <a:r>
              <a:rPr dirty="0"/>
              <a:t>Hashing</a:t>
            </a:r>
          </a:p>
          <a:p>
            <a:r>
              <a:rPr dirty="0"/>
              <a:t>Consensus Mechanism</a:t>
            </a:r>
          </a:p>
          <a:p>
            <a:r>
              <a:rPr dirty="0"/>
              <a:t>Distributed Ledger</a:t>
            </a:r>
          </a:p>
          <a:p>
            <a:r>
              <a:rPr dirty="0"/>
              <a:t>Network Nodes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Digital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public key cryptography</a:t>
            </a:r>
            <a:endParaRPr lang="en-US" dirty="0"/>
          </a:p>
          <a:p>
            <a:r>
              <a:rPr lang="en-US" dirty="0"/>
              <a:t>Utilizes both private and public key</a:t>
            </a:r>
            <a:endParaRPr dirty="0"/>
          </a:p>
          <a:p>
            <a:r>
              <a:rPr dirty="0"/>
              <a:t>Ensure authentication and non-repudiation</a:t>
            </a:r>
          </a:p>
          <a:p>
            <a:r>
              <a:rPr dirty="0"/>
              <a:t>Verify the sender of a transaction</a:t>
            </a:r>
          </a:p>
          <a:p>
            <a:r>
              <a:rPr dirty="0"/>
              <a:t>Commonly implemented using RSA or ECDSA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7154-429D-76AF-DB69-3CE8596B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97097-9CD7-B7CA-0983-42CCBD41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Digital Signatures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0258B-377E-142F-3365-D0890A3C1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87615-195D-4EAC-9039-98BE35D00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9806"/>
            <a:ext cx="8288138" cy="3700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E6590D-15F2-7D87-6BCE-6F9484FC0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078" y="4277032"/>
            <a:ext cx="1633413" cy="84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2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42FE-BA3B-38E4-8218-3765AB2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2BAF-88A6-300B-E49E-7DFE1186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57DF-8377-FCF4-5CA5-B3C112B9D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Converts input data into fixed-size output</a:t>
            </a:r>
          </a:p>
          <a:p>
            <a:r>
              <a:rPr lang="en-US" dirty="0"/>
              <a:t>One-way and collision-resistant</a:t>
            </a:r>
          </a:p>
          <a:p>
            <a:r>
              <a:rPr lang="en-US" dirty="0"/>
              <a:t>Links blocks securely</a:t>
            </a:r>
          </a:p>
          <a:p>
            <a:r>
              <a:rPr lang="en-US" dirty="0"/>
              <a:t>Common hash function: SHA-256</a:t>
            </a:r>
          </a:p>
        </p:txBody>
      </p:sp>
    </p:spTree>
    <p:extLst>
      <p:ext uri="{BB962C8B-B14F-4D97-AF65-F5344CB8AC3E}">
        <p14:creationId xmlns:p14="http://schemas.microsoft.com/office/powerpoint/2010/main" val="2685099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0762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6DE29-551F-40BE-C013-B17942271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06" y="1694013"/>
            <a:ext cx="2093976" cy="4258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C15CA0-6846-268A-F028-02DBA132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97" y="1604940"/>
            <a:ext cx="3444538" cy="20575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D5A987-E59C-1DC7-6BB4-C10444D36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597" y="3579104"/>
            <a:ext cx="4473328" cy="1082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F5692F-8D26-ED2E-BF16-400F745EC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719" y="4672280"/>
            <a:ext cx="3787468" cy="617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6A9549-5B8C-554F-F686-207AB5305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719" y="5289553"/>
            <a:ext cx="2057578" cy="6629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Consensus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Process by which nodes agree on ledger state</a:t>
            </a:r>
          </a:p>
          <a:p>
            <a:r>
              <a:rPr dirty="0"/>
              <a:t>Prevents double spending</a:t>
            </a:r>
          </a:p>
          <a:p>
            <a:r>
              <a:rPr dirty="0"/>
              <a:t>Maintains network security</a:t>
            </a:r>
          </a:p>
          <a:p>
            <a:r>
              <a:rPr dirty="0"/>
              <a:t>Examples: Proof of Work, Proof of Stake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5F4A3-CB94-435C-D89A-90CAC1C6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B7827-0E88-0444-0407-18FA4B822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Consensus Mechanism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60F77C-E46D-F5C6-1DF5-349942FAA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479" y="1622073"/>
            <a:ext cx="7515041" cy="45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00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Cryptocurrency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Digital or virtual currency</a:t>
            </a:r>
          </a:p>
          <a:p>
            <a:r>
              <a:rPr dirty="0"/>
              <a:t>Uses cryptography for security</a:t>
            </a:r>
          </a:p>
          <a:p>
            <a:r>
              <a:rPr dirty="0"/>
              <a:t>Operates without central authority</a:t>
            </a:r>
          </a:p>
          <a:p>
            <a:r>
              <a:rPr dirty="0"/>
              <a:t>Examples: Bitcoin, Ethereum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2572B-4E04-2FF4-02A3-80FD9DE1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4334862"/>
            <a:ext cx="8229601" cy="17888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13762-35ED-AACC-4CAA-DF8D2145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6A74-E5FC-DA07-D5A6-E660DC05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Cryptocurrency (Overview)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C1BABE-D70B-8F6E-B5CF-F80E3353E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988780"/>
            <a:ext cx="8382000" cy="435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43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EA1AE-F1C9-6F9A-5DB3-24DA6BC1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6467-954F-2B86-CE62-8CA2A587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Cryptocurrency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FAA5-01A5-0A01-D5A4-40CA697ED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1600200"/>
            <a:ext cx="8868697" cy="5066071"/>
          </a:xfrm>
        </p:spPr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E0138-9B3C-C6F9-B78F-6CE44C1B4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7" y="1750142"/>
            <a:ext cx="8890739" cy="483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09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B5D8-7730-9BAA-FC73-F6758039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4BA7-E9AC-44B7-1882-E63596D1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Cryptocurrency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192B3-1381-F544-9FD5-E7D195C71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33694-EEA9-1CC4-62E9-E533AA989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9" y="1782762"/>
            <a:ext cx="8803642" cy="453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09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8F0D1-BE2A-97AD-7F55-54632B01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1499-97E3-5634-9188-DB7B743DD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Cryptocurrency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99506-045E-8900-54B7-E224B3568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1600200"/>
            <a:ext cx="8868697" cy="5066071"/>
          </a:xfrm>
        </p:spPr>
        <p:txBody>
          <a:bodyPr/>
          <a:lstStyle/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53E05-07C6-8521-3412-136B65FD8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0" y="2192593"/>
            <a:ext cx="8917481" cy="360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41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15AFF-5731-0328-1427-5F93AED6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128E-5874-9AB0-4DE0-6E4DF80B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Cryptocurrency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F625-8CDD-EA1C-8C87-15EBD9CB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1D749E-94A0-A97D-9268-F21BFBEC6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8" y="1775919"/>
            <a:ext cx="6902244" cy="494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10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83342-EF9B-FFE7-EB3D-9A745881E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74077"/>
            <a:ext cx="8178799" cy="410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13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760A-3034-03E4-698B-C483E854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0133-7435-D414-A5AC-C897D1A9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Cryptocurrency (Overview)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6D6480-2033-3192-7D90-9978B5BB0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123" y="1658633"/>
            <a:ext cx="8416926" cy="500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65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8A0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C8DF5-9E39-E430-9085-727F67E7B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22959"/>
            <a:ext cx="8178799" cy="421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2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1362228"/>
            <a:ext cx="3448311" cy="995366"/>
          </a:xfrm>
          <a:solidFill>
            <a:schemeClr val="tx1"/>
          </a:solidFill>
        </p:spPr>
        <p:txBody>
          <a:bodyPr anchor="b"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r>
              <a:rPr lang="en-US" sz="1700" dirty="0"/>
              <a:t>Self-executing contracts with coded rules</a:t>
            </a:r>
          </a:p>
          <a:p>
            <a:r>
              <a:rPr lang="en-US" sz="1700" dirty="0"/>
              <a:t>Automatically enforce agreements</a:t>
            </a:r>
          </a:p>
          <a:p>
            <a:r>
              <a:rPr lang="en-US" sz="1700" dirty="0"/>
              <a:t>Run on blockchain platforms like Ethereum</a:t>
            </a:r>
          </a:p>
          <a:p>
            <a:r>
              <a:rPr lang="en-US" sz="1700" dirty="0"/>
              <a:t>Reduce need for intermediaries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6A7A5-398A-0C46-B3B8-469BF468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95485"/>
            <a:ext cx="3989297" cy="479194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A034-8225-EF70-8A71-2748036E9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B514-E3E2-569A-6CDB-4E749EA3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C5AB18A-42BB-7F93-C0E2-644AC31D3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75" y="1674204"/>
            <a:ext cx="8589249" cy="45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71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EB7D3-B735-09C7-4AF7-86EC456E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C63B-C0FE-BB60-1A5F-F3A374C3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E3721-47DA-BEEC-6CED-746C56C61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2CF18-8D10-43F6-3EDE-E18CCE61F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0" y="1627344"/>
            <a:ext cx="8052619" cy="48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5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E7C5-A04C-7E0D-9F77-47699365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6AB8-CFF1-8B77-B745-DF4CF519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6E160-8A3A-AA2A-B8E5-87B0C3846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583CD6-42EE-75E6-89E5-ADE215682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40" y="1521510"/>
            <a:ext cx="7875320" cy="52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03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0E793-0C7B-1159-DE1F-B632BD7F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771B-6A9A-0929-82D6-4C3C3FB6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C575C-F86D-35E5-2EE7-788EB045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DA655-8E63-63D3-D356-9F8AA59C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3" y="1794378"/>
            <a:ext cx="8160774" cy="433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31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6775-4BDD-AA1C-A1B9-3BFC7BF2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DE4FC-A0C8-4681-73E0-7D95DE26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30F51-DAF7-C7D4-52B4-86D948E39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748536-98D4-90FB-EF20-20CDBF521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40" y="1521510"/>
            <a:ext cx="7875320" cy="52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65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90EE-8845-58B8-73E9-BE63D79C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87B7-7982-C1B0-8047-3D4B9C38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9C641-0CAF-DEEE-AA09-9409DBCA9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020AD-190F-90CC-358B-3C2AD7B33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09" y="1600200"/>
            <a:ext cx="8406581" cy="462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01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E425-FEDA-8368-9BCC-79BC2002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9AD3-E6AA-1F18-0DD7-602B5993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8D44E-EA46-3153-028E-CC18AA7C3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81ACAF-8308-6DEB-D48A-F540DF56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40" y="1521510"/>
            <a:ext cx="7875320" cy="52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92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55C2-10DE-FFD8-7188-D8A74C15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CA3C-6714-5935-0FBC-B4C5A3C8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01980-9E21-025E-F4DC-E2A7C233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41C05-0222-E08B-F468-1FE3A97E9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13" y="1604941"/>
            <a:ext cx="8313174" cy="497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30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8E220-C5C4-316B-AF90-906F18B95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82563-54F8-3526-28BB-5C00BD0C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Smart Contracts (Overview)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BC1F2-482C-9A05-7F08-88876DE8F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AC20B-EFFE-C4EB-1052-A173E090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0090"/>
            <a:ext cx="9144000" cy="457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84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sz="3200" dirty="0">
                <a:solidFill>
                  <a:schemeClr val="bg1"/>
                </a:solidFill>
              </a:rPr>
              <a:t>Non-Fungible Tokens (NFTs)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21329" cy="5062664"/>
          </a:xfrm>
        </p:spPr>
        <p:txBody>
          <a:bodyPr>
            <a:normAutofit/>
          </a:bodyPr>
          <a:lstStyle/>
          <a:p>
            <a:r>
              <a:rPr sz="2400" dirty="0"/>
              <a:t>Unique digital assets on blockchain</a:t>
            </a:r>
          </a:p>
          <a:p>
            <a:r>
              <a:rPr sz="2400" dirty="0"/>
              <a:t>Represent ownership of digital or physical items</a:t>
            </a:r>
          </a:p>
          <a:p>
            <a:r>
              <a:rPr sz="2400" dirty="0"/>
              <a:t>Not interchangeable like cryptocurrencies</a:t>
            </a:r>
          </a:p>
          <a:p>
            <a:r>
              <a:rPr sz="2400" dirty="0"/>
              <a:t>Used in art, gaming, music, and collectibles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78E10-0212-1D41-97E4-C60EA18D5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7" y="3429000"/>
            <a:ext cx="7334865" cy="3233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308</Words>
  <Application>Microsoft Office PowerPoint</Application>
  <PresentationFormat>On-screen Show (4:3)</PresentationFormat>
  <Paragraphs>71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Digital finance &amp; Blockchain Technology</vt:lpstr>
      <vt:lpstr>Motivation Behind Blockchain</vt:lpstr>
      <vt:lpstr>Motivation Behind Blockchain</vt:lpstr>
      <vt:lpstr>Overview of Blockchain</vt:lpstr>
      <vt:lpstr>Overview of Blockchain</vt:lpstr>
      <vt:lpstr>Components of Blockchain</vt:lpstr>
      <vt:lpstr>Digital Signatures</vt:lpstr>
      <vt:lpstr>Digital Signatures</vt:lpstr>
      <vt:lpstr>Hashing</vt:lpstr>
      <vt:lpstr>Hashing</vt:lpstr>
      <vt:lpstr>Consensus Mechanism</vt:lpstr>
      <vt:lpstr>Consensus Mechanism</vt:lpstr>
      <vt:lpstr>Cryptocurrency (Overview)</vt:lpstr>
      <vt:lpstr>Cryptocurrency (Overview)</vt:lpstr>
      <vt:lpstr>Cryptocurrency (Overview)</vt:lpstr>
      <vt:lpstr>Cryptocurrency (Overview)</vt:lpstr>
      <vt:lpstr>Cryptocurrency (Overview)</vt:lpstr>
      <vt:lpstr>Cryptocurrency (Overview)</vt:lpstr>
      <vt:lpstr>PowerPoint Presentation</vt:lpstr>
      <vt:lpstr>Cryptocurrency (Overview)</vt:lpstr>
      <vt:lpstr>PowerPoint Presentation</vt:lpstr>
      <vt:lpstr>Smart Contracts (Overview)</vt:lpstr>
      <vt:lpstr>Smart Contracts (Overview)</vt:lpstr>
      <vt:lpstr>Smart Contracts (Overview)</vt:lpstr>
      <vt:lpstr>Smart Contracts (Overview)</vt:lpstr>
      <vt:lpstr>Smart Contracts (Overview)</vt:lpstr>
      <vt:lpstr>Smart Contracts (Overview)</vt:lpstr>
      <vt:lpstr>Smart Contracts (Overview)</vt:lpstr>
      <vt:lpstr>Smart Contracts (Overview)</vt:lpstr>
      <vt:lpstr>Smart Contracts (Overview)</vt:lpstr>
      <vt:lpstr>Smart Contracts (Overview)</vt:lpstr>
      <vt:lpstr>Non-Fungible Tokens (NFTs)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Shamweel Qamar</cp:lastModifiedBy>
  <cp:revision>22</cp:revision>
  <dcterms:created xsi:type="dcterms:W3CDTF">2013-01-27T09:14:16Z</dcterms:created>
  <dcterms:modified xsi:type="dcterms:W3CDTF">2026-02-10T10:53:00Z</dcterms:modified>
  <cp:category/>
</cp:coreProperties>
</file>