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324" r:id="rId2"/>
    <p:sldId id="256" r:id="rId3"/>
    <p:sldId id="491" r:id="rId4"/>
    <p:sldId id="450" r:id="rId5"/>
    <p:sldId id="451" r:id="rId6"/>
    <p:sldId id="452" r:id="rId7"/>
    <p:sldId id="454" r:id="rId8"/>
    <p:sldId id="449" r:id="rId9"/>
    <p:sldId id="351" r:id="rId10"/>
    <p:sldId id="360" r:id="rId11"/>
    <p:sldId id="361" r:id="rId12"/>
    <p:sldId id="362" r:id="rId13"/>
    <p:sldId id="494" r:id="rId14"/>
    <p:sldId id="492" r:id="rId15"/>
    <p:sldId id="493" r:id="rId16"/>
    <p:sldId id="435" r:id="rId17"/>
    <p:sldId id="436" r:id="rId18"/>
    <p:sldId id="530" r:id="rId19"/>
    <p:sldId id="531" r:id="rId20"/>
    <p:sldId id="532" r:id="rId21"/>
    <p:sldId id="533" r:id="rId22"/>
    <p:sldId id="526" r:id="rId23"/>
    <p:sldId id="527" r:id="rId24"/>
    <p:sldId id="512" r:id="rId25"/>
    <p:sldId id="534" r:id="rId26"/>
    <p:sldId id="513" r:id="rId27"/>
    <p:sldId id="535" r:id="rId28"/>
    <p:sldId id="514" r:id="rId29"/>
    <p:sldId id="528" r:id="rId30"/>
    <p:sldId id="536" r:id="rId31"/>
    <p:sldId id="529" r:id="rId32"/>
    <p:sldId id="537" r:id="rId33"/>
    <p:sldId id="325" r:id="rId34"/>
    <p:sldId id="442" r:id="rId35"/>
    <p:sldId id="443" r:id="rId36"/>
    <p:sldId id="517" r:id="rId37"/>
    <p:sldId id="519" r:id="rId38"/>
    <p:sldId id="39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3-14T09:18:23.452" idx="3">
    <p:pos x="6383" y="116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3-14T09:18:23.452" idx="4">
    <p:pos x="6383" y="116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C0189-043F-739B-4594-9E888DAE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079E7-36C6-6095-7DE3-420D8DDD9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4A9EB-DE57-1DB8-2D98-0E547015E49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RE..... FA....TG   ------</a:t>
            </a:r>
          </a:p>
          <a:p>
            <a:r>
              <a:rPr lang="en-US"/>
              <a:t>    .......FA.... DFA------  Moore and Mealay Machines</a:t>
            </a:r>
          </a:p>
          <a:p>
            <a:r>
              <a:rPr lang="en-US"/>
              <a:t>    .......FA.....NFA -----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5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05-03-2024 at 10.3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3970" y="172085"/>
            <a:ext cx="6391911" cy="6313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B241-6FD2-1C26-8B86-D6ACA17F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4D46-CC7E-479B-BD7A-EAF6CAFF990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40322" name="Rectangle 2050">
            <a:extLst>
              <a:ext uri="{FF2B5EF4-FFF2-40B4-BE49-F238E27FC236}">
                <a16:creationId xmlns:a16="http://schemas.microsoft.com/office/drawing/2014/main" id="{BBF9AAAD-EBEA-8BA6-5B61-D68CE756E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TASK </a:t>
            </a:r>
          </a:p>
        </p:txBody>
      </p:sp>
      <p:sp>
        <p:nvSpPr>
          <p:cNvPr id="440323" name="Rectangle 2051">
            <a:extLst>
              <a:ext uri="{FF2B5EF4-FFF2-40B4-BE49-F238E27FC236}">
                <a16:creationId xmlns:a16="http://schemas.microsoft.com/office/drawing/2014/main" id="{97DA646F-861A-98BD-0DDA-BF8826306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/>
              <a:t>	Build an FA for the language L of strings, defined over </a:t>
            </a:r>
            <a:r>
              <a:rPr lang="el-GR" altLang="en-US" sz="3200"/>
              <a:t>Σ</a:t>
            </a:r>
            <a:r>
              <a:rPr lang="en-US" altLang="en-US" sz="3200"/>
              <a:t>={a, b}, </a:t>
            </a:r>
            <a:r>
              <a:rPr lang="en-US" altLang="en-US" sz="3200" b="1"/>
              <a:t>of </a:t>
            </a:r>
            <a:r>
              <a:rPr lang="en-US" altLang="en-US" b="1"/>
              <a:t>odd length.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600" b="1"/>
              <a:t>Solution:</a:t>
            </a:r>
            <a:r>
              <a:rPr lang="en-US" altLang="en-US" sz="3600"/>
              <a:t>The language L may be expressed by RE </a:t>
            </a:r>
            <a:r>
              <a:rPr lang="en-US" altLang="en-US" sz="3200"/>
              <a:t>			 (a+b)((a+b)(a+b))</a:t>
            </a:r>
            <a:r>
              <a:rPr lang="en-US" altLang="en-US" sz="3200" baseline="40000"/>
              <a:t>* </a:t>
            </a:r>
            <a:r>
              <a:rPr lang="en-US" altLang="en-US" sz="3200"/>
              <a:t> or 			 ((a+b)(a+b))</a:t>
            </a:r>
            <a:r>
              <a:rPr lang="en-US" altLang="en-US" sz="3200" baseline="40000"/>
              <a:t>*</a:t>
            </a:r>
            <a:r>
              <a:rPr lang="en-US" altLang="en-US" sz="3200"/>
              <a:t>(a+b)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/>
              <a:t>	This language may be accepted by the following FA</a:t>
            </a:r>
            <a:endParaRPr lang="el-GR" alt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FA973-BE4D-972C-C777-3D2101F2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1A044-F114-4B1F-AE39-73CBF4A5641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41346" name="Rectangle 1026">
            <a:extLst>
              <a:ext uri="{FF2B5EF4-FFF2-40B4-BE49-F238E27FC236}">
                <a16:creationId xmlns:a16="http://schemas.microsoft.com/office/drawing/2014/main" id="{D9C289FD-9C6E-1526-D367-684570230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Solution continued …</a:t>
            </a:r>
          </a:p>
        </p:txBody>
      </p:sp>
      <p:sp>
        <p:nvSpPr>
          <p:cNvPr id="441347" name="Rectangle 1027">
            <a:extLst>
              <a:ext uri="{FF2B5EF4-FFF2-40B4-BE49-F238E27FC236}">
                <a16:creationId xmlns:a16="http://schemas.microsoft.com/office/drawing/2014/main" id="{15B5D283-6E3D-4EBE-0707-C05868D28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/>
          </a:p>
        </p:txBody>
      </p:sp>
      <p:grpSp>
        <p:nvGrpSpPr>
          <p:cNvPr id="441348" name="Group 1028">
            <a:extLst>
              <a:ext uri="{FF2B5EF4-FFF2-40B4-BE49-F238E27FC236}">
                <a16:creationId xmlns:a16="http://schemas.microsoft.com/office/drawing/2014/main" id="{48078A39-4056-8F21-21F4-F9376297FD0B}"/>
              </a:ext>
            </a:extLst>
          </p:cNvPr>
          <p:cNvGrpSpPr>
            <a:grpSpLocks/>
          </p:cNvGrpSpPr>
          <p:nvPr/>
        </p:nvGrpSpPr>
        <p:grpSpPr bwMode="auto">
          <a:xfrm>
            <a:off x="3101976" y="2819401"/>
            <a:ext cx="4708525" cy="1962151"/>
            <a:chOff x="994" y="2052"/>
            <a:chExt cx="2966" cy="1236"/>
          </a:xfrm>
        </p:grpSpPr>
        <p:sp>
          <p:nvSpPr>
            <p:cNvPr id="441349" name="Oval 1029">
              <a:extLst>
                <a:ext uri="{FF2B5EF4-FFF2-40B4-BE49-F238E27FC236}">
                  <a16:creationId xmlns:a16="http://schemas.microsoft.com/office/drawing/2014/main" id="{E996AD2F-D015-14AF-2D0A-3E1FC63F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2487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50" name="Text Box 1030">
              <a:extLst>
                <a:ext uri="{FF2B5EF4-FFF2-40B4-BE49-F238E27FC236}">
                  <a16:creationId xmlns:a16="http://schemas.microsoft.com/office/drawing/2014/main" id="{0D1C9E62-6F94-F24D-A99C-7959B0544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4" y="2433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</a:t>
              </a:r>
              <a:r>
                <a:rPr lang="en-US" altLang="en-US" sz="1700">
                  <a:solidFill>
                    <a:srgbClr val="000000"/>
                  </a:solidFill>
                </a:rPr>
                <a:t>2</a:t>
              </a:r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  <a:r>
                <a:rPr lang="en-US" altLang="en-US" sz="2100">
                  <a:solidFill>
                    <a:srgbClr val="000000"/>
                  </a:solidFill>
                </a:rPr>
                <a:t>+</a:t>
              </a:r>
              <a:endParaRPr lang="en-US" altLang="en-US" sz="4400"/>
            </a:p>
          </p:txBody>
        </p:sp>
        <p:sp>
          <p:nvSpPr>
            <p:cNvPr id="441351" name="Text Box 1031">
              <a:extLst>
                <a:ext uri="{FF2B5EF4-FFF2-40B4-BE49-F238E27FC236}">
                  <a16:creationId xmlns:a16="http://schemas.microsoft.com/office/drawing/2014/main" id="{A595B519-166C-DD46-D6CE-584F3590A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3024"/>
              <a:ext cx="318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  <p:sp>
          <p:nvSpPr>
            <p:cNvPr id="441352" name="Oval 1032">
              <a:extLst>
                <a:ext uri="{FF2B5EF4-FFF2-40B4-BE49-F238E27FC236}">
                  <a16:creationId xmlns:a16="http://schemas.microsoft.com/office/drawing/2014/main" id="{8B76C8EE-2F75-D345-D866-EF36B0891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6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41353" name="Text Box 1033">
              <a:extLst>
                <a:ext uri="{FF2B5EF4-FFF2-40B4-BE49-F238E27FC236}">
                  <a16:creationId xmlns:a16="http://schemas.microsoft.com/office/drawing/2014/main" id="{DC2E1EB0-C11D-AF2E-EF04-9BDD86EC0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" y="242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pPr algn="l"/>
              <a:r>
                <a:rPr lang="en-US" altLang="en-US" sz="1300">
                  <a:solidFill>
                    <a:srgbClr val="000000"/>
                  </a:solidFill>
                </a:rPr>
                <a:t>    1 </a:t>
              </a:r>
              <a:r>
                <a:rPr lang="en-US" altLang="en-US" sz="2100">
                  <a:solidFill>
                    <a:srgbClr val="000000"/>
                  </a:solidFill>
                  <a:cs typeface="Times New Roman" panose="02020603050405020304" pitchFamily="18" charset="0"/>
                </a:rPr>
                <a:t>–</a:t>
              </a:r>
              <a:r>
                <a:rPr lang="en-US" altLang="en-US" sz="2100">
                  <a:solidFill>
                    <a:srgbClr val="000000"/>
                  </a:solidFill>
                </a:rPr>
                <a:t> </a:t>
              </a:r>
              <a:r>
                <a:rPr lang="en-US" altLang="en-US" sz="1100">
                  <a:solidFill>
                    <a:srgbClr val="000000"/>
                  </a:solidFill>
                </a:rPr>
                <a:t>	</a:t>
              </a:r>
            </a:p>
          </p:txBody>
        </p:sp>
        <p:sp>
          <p:nvSpPr>
            <p:cNvPr id="441354" name="Freeform 1034">
              <a:extLst>
                <a:ext uri="{FF2B5EF4-FFF2-40B4-BE49-F238E27FC236}">
                  <a16:creationId xmlns:a16="http://schemas.microsoft.com/office/drawing/2014/main" id="{7D755782-0B98-39DA-09BC-6BC5F9455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2184"/>
              <a:ext cx="2176" cy="336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55" name="Freeform 1035">
              <a:extLst>
                <a:ext uri="{FF2B5EF4-FFF2-40B4-BE49-F238E27FC236}">
                  <a16:creationId xmlns:a16="http://schemas.microsoft.com/office/drawing/2014/main" id="{D7A3BAEA-EF0C-D71C-226A-ED782DF7F06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344" y="2826"/>
              <a:ext cx="2176" cy="336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56" name="Text Box 1036">
              <a:extLst>
                <a:ext uri="{FF2B5EF4-FFF2-40B4-BE49-F238E27FC236}">
                  <a16:creationId xmlns:a16="http://schemas.microsoft.com/office/drawing/2014/main" id="{6440616F-92F8-3734-5284-A60BB0F3E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2052"/>
              <a:ext cx="318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D31F5-3B30-89DF-D166-72234365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A243-4A21-4091-9681-1F2FFF3E48A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42370" name="Rectangle 1026">
            <a:extLst>
              <a:ext uri="{FF2B5EF4-FFF2-40B4-BE49-F238E27FC236}">
                <a16:creationId xmlns:a16="http://schemas.microsoft.com/office/drawing/2014/main" id="{9A7C85F7-F7E9-48D3-1B08-C5C06E91C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b="1"/>
              <a:t>Task </a:t>
            </a:r>
          </a:p>
        </p:txBody>
      </p:sp>
      <p:sp>
        <p:nvSpPr>
          <p:cNvPr id="442371" name="Rectangle 1027">
            <a:extLst>
              <a:ext uri="{FF2B5EF4-FFF2-40B4-BE49-F238E27FC236}">
                <a16:creationId xmlns:a16="http://schemas.microsoft.com/office/drawing/2014/main" id="{6121169E-9045-06B3-9081-5344A6456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0"/>
            <a:ext cx="8178800" cy="3829051"/>
          </a:xfrm>
        </p:spPr>
        <p:txBody>
          <a:bodyPr/>
          <a:lstStyle/>
          <a:p>
            <a:r>
              <a:rPr lang="en-US" altLang="en-US"/>
              <a:t>Build an FA accepting the Language L of Strings, defined over </a:t>
            </a:r>
            <a:r>
              <a:rPr lang="el-GR" altLang="en-US"/>
              <a:t>Σ</a:t>
            </a:r>
            <a:r>
              <a:rPr lang="en-US" altLang="en-US"/>
              <a:t> = {a, b}, </a:t>
            </a:r>
            <a:r>
              <a:rPr lang="en-US" altLang="en-US" b="1"/>
              <a:t>beginning with and ending in same letters.</a:t>
            </a:r>
          </a:p>
          <a:p>
            <a:pPr>
              <a:buFont typeface="Monotype Sorts" pitchFamily="2" charset="2"/>
              <a:buNone/>
            </a:pPr>
            <a:r>
              <a:rPr lang="en-US" altLang="en-US" b="1"/>
              <a:t>	Solution:</a:t>
            </a:r>
            <a:r>
              <a:rPr lang="en-US" altLang="en-US"/>
              <a:t>The language L may be expressed by the following regular expression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		(a+b)+a(a + b)</a:t>
            </a:r>
            <a:r>
              <a:rPr lang="en-US" altLang="en-US" baseline="40000"/>
              <a:t>*</a:t>
            </a:r>
            <a:r>
              <a:rPr lang="en-US" altLang="en-US"/>
              <a:t>a + b(a + b)</a:t>
            </a:r>
            <a:r>
              <a:rPr lang="en-US" altLang="en-US" baseline="40000"/>
              <a:t>*</a:t>
            </a:r>
            <a:r>
              <a:rPr lang="en-US" altLang="en-US"/>
              <a:t>b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This language L may be accepted by the following FA</a:t>
            </a:r>
            <a:endParaRPr lang="en-US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4B3B8-6FAD-F154-8374-9E8F4BD1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6A45-0AF2-4766-B99C-2094A0AF37A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4F9AF491-102D-4073-B33A-493781138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Solution continued …</a:t>
            </a:r>
          </a:p>
        </p:txBody>
      </p:sp>
      <p:sp>
        <p:nvSpPr>
          <p:cNvPr id="444427" name="Text Box 11">
            <a:extLst>
              <a:ext uri="{FF2B5EF4-FFF2-40B4-BE49-F238E27FC236}">
                <a16:creationId xmlns:a16="http://schemas.microsoft.com/office/drawing/2014/main" id="{06973AF3-8DDE-BCB3-EE0F-DC811D5C6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7265" y="2362200"/>
            <a:ext cx="8969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44446" name="Text Box 30">
            <a:extLst>
              <a:ext uri="{FF2B5EF4-FFF2-40B4-BE49-F238E27FC236}">
                <a16:creationId xmlns:a16="http://schemas.microsoft.com/office/drawing/2014/main" id="{602606F8-791F-157D-D160-B2026F133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675" y="3873500"/>
            <a:ext cx="896939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b</a:t>
            </a:r>
            <a:endParaRPr lang="en-US" altLang="en-US"/>
          </a:p>
        </p:txBody>
      </p:sp>
      <p:grpSp>
        <p:nvGrpSpPr>
          <p:cNvPr id="444508" name="Group 92">
            <a:extLst>
              <a:ext uri="{FF2B5EF4-FFF2-40B4-BE49-F238E27FC236}">
                <a16:creationId xmlns:a16="http://schemas.microsoft.com/office/drawing/2014/main" id="{97ED66E2-B1F8-831B-D57B-ADBD32B170CC}"/>
              </a:ext>
            </a:extLst>
          </p:cNvPr>
          <p:cNvGrpSpPr>
            <a:grpSpLocks/>
          </p:cNvGrpSpPr>
          <p:nvPr/>
        </p:nvGrpSpPr>
        <p:grpSpPr bwMode="auto">
          <a:xfrm>
            <a:off x="2990851" y="2305052"/>
            <a:ext cx="7440613" cy="3063875"/>
            <a:chOff x="924" y="1452"/>
            <a:chExt cx="4687" cy="1930"/>
          </a:xfrm>
        </p:grpSpPr>
        <p:sp>
          <p:nvSpPr>
            <p:cNvPr id="444428" name="Text Box 12">
              <a:extLst>
                <a:ext uri="{FF2B5EF4-FFF2-40B4-BE49-F238E27FC236}">
                  <a16:creationId xmlns:a16="http://schemas.microsoft.com/office/drawing/2014/main" id="{9A2FA41D-20F9-2EC8-8BF3-5A5F02301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9" y="2096"/>
              <a:ext cx="2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b</a:t>
              </a:r>
              <a:endParaRPr lang="en-US" altLang="en-US"/>
            </a:p>
          </p:txBody>
        </p:sp>
        <p:grpSp>
          <p:nvGrpSpPr>
            <p:cNvPr id="444429" name="Group 13">
              <a:extLst>
                <a:ext uri="{FF2B5EF4-FFF2-40B4-BE49-F238E27FC236}">
                  <a16:creationId xmlns:a16="http://schemas.microsoft.com/office/drawing/2014/main" id="{66D4A66B-63D0-47E1-FF8F-64F24589B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4" y="1817"/>
              <a:ext cx="594" cy="423"/>
              <a:chOff x="804" y="2596"/>
              <a:chExt cx="634" cy="451"/>
            </a:xfrm>
          </p:grpSpPr>
          <p:sp>
            <p:nvSpPr>
              <p:cNvPr id="444430" name="Oval 14">
                <a:extLst>
                  <a:ext uri="{FF2B5EF4-FFF2-40B4-BE49-F238E27FC236}">
                    <a16:creationId xmlns:a16="http://schemas.microsoft.com/office/drawing/2014/main" id="{F5EFF627-04B8-FEF7-26B2-614229E85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2644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31" name="Text Box 15">
                <a:extLst>
                  <a:ext uri="{FF2B5EF4-FFF2-40B4-BE49-F238E27FC236}">
                    <a16:creationId xmlns:a16="http://schemas.microsoft.com/office/drawing/2014/main" id="{C76E67E1-9609-02CA-41B3-109F6E348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2596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 dirty="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kumimoji="1" lang="en-US" altLang="en-US" sz="1600" dirty="0">
                    <a:latin typeface="Tahoma" panose="020B0604030504040204" pitchFamily="34" charset="0"/>
                    <a:sym typeface="Symbol" panose="05050102010706020507" pitchFamily="18" charset="2"/>
                  </a:rPr>
                  <a:t>6+</a:t>
                </a:r>
                <a:endParaRPr lang="en-US" altLang="en-US" sz="11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4432" name="Group 16">
              <a:extLst>
                <a:ext uri="{FF2B5EF4-FFF2-40B4-BE49-F238E27FC236}">
                  <a16:creationId xmlns:a16="http://schemas.microsoft.com/office/drawing/2014/main" id="{6AE3D364-9055-C0C3-9F35-F7D1DF6713E0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4965" y="1524"/>
              <a:ext cx="404" cy="350"/>
              <a:chOff x="2880" y="3312"/>
              <a:chExt cx="408" cy="336"/>
            </a:xfrm>
          </p:grpSpPr>
          <p:sp>
            <p:nvSpPr>
              <p:cNvPr id="444433" name="Freeform 17">
                <a:extLst>
                  <a:ext uri="{FF2B5EF4-FFF2-40B4-BE49-F238E27FC236}">
                    <a16:creationId xmlns:a16="http://schemas.microsoft.com/office/drawing/2014/main" id="{1B7EE795-AA43-741B-80B2-0BA3C9D26CBC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34" name="Freeform 18">
                <a:extLst>
                  <a:ext uri="{FF2B5EF4-FFF2-40B4-BE49-F238E27FC236}">
                    <a16:creationId xmlns:a16="http://schemas.microsoft.com/office/drawing/2014/main" id="{2E984D7B-C568-2E2D-2311-373447D02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35" name="Freeform 19">
                <a:extLst>
                  <a:ext uri="{FF2B5EF4-FFF2-40B4-BE49-F238E27FC236}">
                    <a16:creationId xmlns:a16="http://schemas.microsoft.com/office/drawing/2014/main" id="{D819DE26-580B-D883-A4CC-014AAE099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436" name="Freeform 20">
              <a:extLst>
                <a:ext uri="{FF2B5EF4-FFF2-40B4-BE49-F238E27FC236}">
                  <a16:creationId xmlns:a16="http://schemas.microsoft.com/office/drawing/2014/main" id="{6B95552F-E5B6-83B6-924D-85620634297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735" y="2120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37" name="Text Box 21">
              <a:extLst>
                <a:ext uri="{FF2B5EF4-FFF2-40B4-BE49-F238E27FC236}">
                  <a16:creationId xmlns:a16="http://schemas.microsoft.com/office/drawing/2014/main" id="{F3291D37-FAFE-A83F-ED93-2F90DBD29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56" y="1560"/>
              <a:ext cx="23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444447" name="Text Box 31">
              <a:extLst>
                <a:ext uri="{FF2B5EF4-FFF2-40B4-BE49-F238E27FC236}">
                  <a16:creationId xmlns:a16="http://schemas.microsoft.com/office/drawing/2014/main" id="{6A366203-7282-6C06-5C2A-4975B5291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3036"/>
              <a:ext cx="2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grpSp>
          <p:nvGrpSpPr>
            <p:cNvPr id="444448" name="Group 32">
              <a:extLst>
                <a:ext uri="{FF2B5EF4-FFF2-40B4-BE49-F238E27FC236}">
                  <a16:creationId xmlns:a16="http://schemas.microsoft.com/office/drawing/2014/main" id="{1B01FA25-3F3E-7BF3-7488-A108A10EB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3" y="2760"/>
              <a:ext cx="608" cy="429"/>
              <a:chOff x="3564" y="3144"/>
              <a:chExt cx="608" cy="429"/>
            </a:xfrm>
          </p:grpSpPr>
          <p:sp>
            <p:nvSpPr>
              <p:cNvPr id="444449" name="Oval 33">
                <a:extLst>
                  <a:ext uri="{FF2B5EF4-FFF2-40B4-BE49-F238E27FC236}">
                    <a16:creationId xmlns:a16="http://schemas.microsoft.com/office/drawing/2014/main" id="{6119A35A-CA73-CA46-EE64-766612DB1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4" y="3195"/>
                <a:ext cx="377" cy="37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50" name="Text Box 34">
                <a:extLst>
                  <a:ext uri="{FF2B5EF4-FFF2-40B4-BE49-F238E27FC236}">
                    <a16:creationId xmlns:a16="http://schemas.microsoft.com/office/drawing/2014/main" id="{91683CDF-5753-3712-CB1A-E5493B94C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2" y="3144"/>
                <a:ext cx="530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 dirty="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kumimoji="1" lang="en-US" altLang="en-US" sz="1600" dirty="0">
                    <a:latin typeface="Tahoma" panose="020B0604030504040204" pitchFamily="34" charset="0"/>
                    <a:sym typeface="Symbol" panose="05050102010706020507" pitchFamily="18" charset="2"/>
                  </a:rPr>
                  <a:t>7+</a:t>
                </a:r>
                <a:endParaRPr lang="en-US" altLang="en-US" sz="11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4451" name="Group 35">
              <a:extLst>
                <a:ext uri="{FF2B5EF4-FFF2-40B4-BE49-F238E27FC236}">
                  <a16:creationId xmlns:a16="http://schemas.microsoft.com/office/drawing/2014/main" id="{D9727695-CB90-1FE9-1373-1FD106D8AF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3" y="2476"/>
              <a:ext cx="404" cy="343"/>
              <a:chOff x="3524" y="2860"/>
              <a:chExt cx="404" cy="343"/>
            </a:xfrm>
          </p:grpSpPr>
          <p:sp>
            <p:nvSpPr>
              <p:cNvPr id="444452" name="Freeform 36">
                <a:extLst>
                  <a:ext uri="{FF2B5EF4-FFF2-40B4-BE49-F238E27FC236}">
                    <a16:creationId xmlns:a16="http://schemas.microsoft.com/office/drawing/2014/main" id="{833209EA-628E-E97D-7D4A-8CF317EA365C}"/>
                  </a:ext>
                </a:extLst>
              </p:cNvPr>
              <p:cNvSpPr>
                <a:spLocks/>
              </p:cNvSpPr>
              <p:nvPr/>
            </p:nvSpPr>
            <p:spPr bwMode="auto">
              <a:xfrm rot="21900000">
                <a:off x="3524" y="2860"/>
                <a:ext cx="404" cy="342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53" name="Freeform 37">
                <a:extLst>
                  <a:ext uri="{FF2B5EF4-FFF2-40B4-BE49-F238E27FC236}">
                    <a16:creationId xmlns:a16="http://schemas.microsoft.com/office/drawing/2014/main" id="{4B46E600-67F4-17B9-259D-541CFBF7FE08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0000">
                <a:off x="3810" y="3154"/>
                <a:ext cx="36" cy="44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54" name="Freeform 38">
                <a:extLst>
                  <a:ext uri="{FF2B5EF4-FFF2-40B4-BE49-F238E27FC236}">
                    <a16:creationId xmlns:a16="http://schemas.microsoft.com/office/drawing/2014/main" id="{0FB46DC9-5730-1B6C-2254-4D458B03F7AC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0000">
                <a:off x="3804" y="3153"/>
                <a:ext cx="3" cy="50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455" name="Freeform 39">
              <a:extLst>
                <a:ext uri="{FF2B5EF4-FFF2-40B4-BE49-F238E27FC236}">
                  <a16:creationId xmlns:a16="http://schemas.microsoft.com/office/drawing/2014/main" id="{2A8410E2-D763-D4FF-7C83-D4EFA2B9B1A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736" y="3060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56" name="Text Box 40">
              <a:extLst>
                <a:ext uri="{FF2B5EF4-FFF2-40B4-BE49-F238E27FC236}">
                  <a16:creationId xmlns:a16="http://schemas.microsoft.com/office/drawing/2014/main" id="{8F1761E2-E59D-7E3E-0927-E11368AF0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55" y="2532"/>
              <a:ext cx="23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b</a:t>
              </a:r>
              <a:endParaRPr lang="en-US" altLang="en-US"/>
            </a:p>
          </p:txBody>
        </p:sp>
        <p:sp>
          <p:nvSpPr>
            <p:cNvPr id="444422" name="Text Box 6">
              <a:extLst>
                <a:ext uri="{FF2B5EF4-FFF2-40B4-BE49-F238E27FC236}">
                  <a16:creationId xmlns:a16="http://schemas.microsoft.com/office/drawing/2014/main" id="{F672010B-461B-F2D9-4EDF-A95965A44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9" y="2720"/>
              <a:ext cx="40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b</a:t>
              </a:r>
              <a:endParaRPr lang="en-US" altLang="en-US" sz="4400"/>
            </a:p>
          </p:txBody>
        </p:sp>
        <p:sp>
          <p:nvSpPr>
            <p:cNvPr id="444423" name="Text Box 7">
              <a:extLst>
                <a:ext uri="{FF2B5EF4-FFF2-40B4-BE49-F238E27FC236}">
                  <a16:creationId xmlns:a16="http://schemas.microsoft.com/office/drawing/2014/main" id="{2BF9A242-39BF-762C-CCF9-EACCD1057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3" y="2040"/>
              <a:ext cx="40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</a:t>
              </a:r>
              <a:endParaRPr lang="en-US" altLang="en-US" sz="4400"/>
            </a:p>
          </p:txBody>
        </p:sp>
        <p:sp>
          <p:nvSpPr>
            <p:cNvPr id="444424" name="Freeform 8">
              <a:extLst>
                <a:ext uri="{FF2B5EF4-FFF2-40B4-BE49-F238E27FC236}">
                  <a16:creationId xmlns:a16="http://schemas.microsoft.com/office/drawing/2014/main" id="{894228E3-7EF4-7791-308C-2CA67A071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096"/>
              <a:ext cx="656" cy="296"/>
            </a:xfrm>
            <a:custGeom>
              <a:avLst/>
              <a:gdLst>
                <a:gd name="T0" fmla="*/ 0 w 656"/>
                <a:gd name="T1" fmla="*/ 296 h 296"/>
                <a:gd name="T2" fmla="*/ 656 w 656"/>
                <a:gd name="T3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6" h="296">
                  <a:moveTo>
                    <a:pt x="0" y="296"/>
                  </a:moveTo>
                  <a:lnTo>
                    <a:pt x="65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25" name="Freeform 9">
              <a:extLst>
                <a:ext uri="{FF2B5EF4-FFF2-40B4-BE49-F238E27FC236}">
                  <a16:creationId xmlns:a16="http://schemas.microsoft.com/office/drawing/2014/main" id="{69759F2B-7958-5CDC-1813-7DBB573D3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2624"/>
              <a:ext cx="688" cy="368"/>
            </a:xfrm>
            <a:custGeom>
              <a:avLst/>
              <a:gdLst>
                <a:gd name="T0" fmla="*/ 0 w 688"/>
                <a:gd name="T1" fmla="*/ 0 h 368"/>
                <a:gd name="T2" fmla="*/ 688 w 688"/>
                <a:gd name="T3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8" h="368">
                  <a:moveTo>
                    <a:pt x="0" y="0"/>
                  </a:moveTo>
                  <a:lnTo>
                    <a:pt x="688" y="36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438" name="Group 22">
              <a:extLst>
                <a:ext uri="{FF2B5EF4-FFF2-40B4-BE49-F238E27FC236}">
                  <a16:creationId xmlns:a16="http://schemas.microsoft.com/office/drawing/2014/main" id="{F9DC4BA1-53AF-39F9-3513-FD7503A2A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3" y="1860"/>
              <a:ext cx="566" cy="413"/>
              <a:chOff x="726" y="2634"/>
              <a:chExt cx="566" cy="413"/>
            </a:xfrm>
          </p:grpSpPr>
          <p:sp>
            <p:nvSpPr>
              <p:cNvPr id="444439" name="Oval 23">
                <a:extLst>
                  <a:ext uri="{FF2B5EF4-FFF2-40B4-BE49-F238E27FC236}">
                    <a16:creationId xmlns:a16="http://schemas.microsoft.com/office/drawing/2014/main" id="{3DE4265B-9962-9899-5568-54D17C2A2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2644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40" name="Text Box 24">
                <a:extLst>
                  <a:ext uri="{FF2B5EF4-FFF2-40B4-BE49-F238E27FC236}">
                    <a16:creationId xmlns:a16="http://schemas.microsoft.com/office/drawing/2014/main" id="{87CDB0FA-2CAF-26FE-C15E-F5F0FF008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6" y="2634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</a:t>
                </a:r>
              </a:p>
              <a:p>
                <a:endParaRPr lang="en-US" altLang="en-US" sz="11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4457" name="Group 41">
              <a:extLst>
                <a:ext uri="{FF2B5EF4-FFF2-40B4-BE49-F238E27FC236}">
                  <a16:creationId xmlns:a16="http://schemas.microsoft.com/office/drawing/2014/main" id="{31B36AB3-9316-9DB7-C1BA-DD35208FA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2" y="2812"/>
              <a:ext cx="566" cy="413"/>
              <a:chOff x="1823" y="3196"/>
              <a:chExt cx="566" cy="413"/>
            </a:xfrm>
          </p:grpSpPr>
          <p:sp>
            <p:nvSpPr>
              <p:cNvPr id="444458" name="Oval 42">
                <a:extLst>
                  <a:ext uri="{FF2B5EF4-FFF2-40B4-BE49-F238E27FC236}">
                    <a16:creationId xmlns:a16="http://schemas.microsoft.com/office/drawing/2014/main" id="{8A3CC521-7F2A-F177-757A-680960260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3206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59" name="Text Box 43">
                <a:extLst>
                  <a:ext uri="{FF2B5EF4-FFF2-40B4-BE49-F238E27FC236}">
                    <a16:creationId xmlns:a16="http://schemas.microsoft.com/office/drawing/2014/main" id="{53505A43-75DA-E933-D081-C3FDB1D60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3196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</a:t>
                </a:r>
              </a:p>
              <a:p>
                <a:endParaRPr lang="en-US" altLang="en-US" sz="11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4465" name="Group 49">
              <a:extLst>
                <a:ext uri="{FF2B5EF4-FFF2-40B4-BE49-F238E27FC236}">
                  <a16:creationId xmlns:a16="http://schemas.microsoft.com/office/drawing/2014/main" id="{132D14E1-7486-642E-F13F-759C2EA61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4" y="2296"/>
              <a:ext cx="530" cy="387"/>
              <a:chOff x="816" y="2680"/>
              <a:chExt cx="530" cy="387"/>
            </a:xfrm>
          </p:grpSpPr>
          <p:sp>
            <p:nvSpPr>
              <p:cNvPr id="444466" name="Oval 50">
                <a:extLst>
                  <a:ext uri="{FF2B5EF4-FFF2-40B4-BE49-F238E27FC236}">
                    <a16:creationId xmlns:a16="http://schemas.microsoft.com/office/drawing/2014/main" id="{067AB0BB-63EF-479B-DA5A-6094BEAC7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2689"/>
                <a:ext cx="377" cy="37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67" name="Text Box 51">
                <a:extLst>
                  <a:ext uri="{FF2B5EF4-FFF2-40B4-BE49-F238E27FC236}">
                    <a16:creationId xmlns:a16="http://schemas.microsoft.com/office/drawing/2014/main" id="{941E396D-1BA8-2198-3AAB-BF47A2F38C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680"/>
                <a:ext cx="530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kumimoji="1" lang="en-US" altLang="en-US" sz="1600">
                    <a:latin typeface="Tahoma" panose="020B0604030504040204" pitchFamily="34" charset="0"/>
                    <a:sym typeface="Symbol" panose="05050102010706020507" pitchFamily="18" charset="2"/>
                  </a:rPr>
                  <a:t>1–</a:t>
                </a:r>
                <a:endParaRPr lang="en-US" altLang="en-US" sz="11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4468" name="Freeform 52">
              <a:extLst>
                <a:ext uri="{FF2B5EF4-FFF2-40B4-BE49-F238E27FC236}">
                  <a16:creationId xmlns:a16="http://schemas.microsoft.com/office/drawing/2014/main" id="{FA7AC34B-73C3-087E-6297-665314321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1692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69" name="Freeform 53">
              <a:extLst>
                <a:ext uri="{FF2B5EF4-FFF2-40B4-BE49-F238E27FC236}">
                  <a16:creationId xmlns:a16="http://schemas.microsoft.com/office/drawing/2014/main" id="{09CD9386-A5AC-3850-43D3-A8B43B209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2664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471" name="Group 55">
              <a:extLst>
                <a:ext uri="{FF2B5EF4-FFF2-40B4-BE49-F238E27FC236}">
                  <a16:creationId xmlns:a16="http://schemas.microsoft.com/office/drawing/2014/main" id="{0F96BDDB-1014-02D0-E432-CF579707F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3" y="1859"/>
              <a:ext cx="667" cy="414"/>
              <a:chOff x="804" y="2633"/>
              <a:chExt cx="667" cy="414"/>
            </a:xfrm>
          </p:grpSpPr>
          <p:sp>
            <p:nvSpPr>
              <p:cNvPr id="444472" name="Oval 56">
                <a:extLst>
                  <a:ext uri="{FF2B5EF4-FFF2-40B4-BE49-F238E27FC236}">
                    <a16:creationId xmlns:a16="http://schemas.microsoft.com/office/drawing/2014/main" id="{95DF4110-A7F2-FAAD-C996-3DD68ACE8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2644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73" name="Text Box 57">
                <a:extLst>
                  <a:ext uri="{FF2B5EF4-FFF2-40B4-BE49-F238E27FC236}">
                    <a16:creationId xmlns:a16="http://schemas.microsoft.com/office/drawing/2014/main" id="{2CA064C8-5096-A398-1CB9-A6228497F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5" y="2633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 dirty="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lang="en-US" altLang="en-US" sz="1500" dirty="0">
                    <a:solidFill>
                      <a:srgbClr val="000000"/>
                    </a:solidFill>
                  </a:rPr>
                  <a:t>4</a:t>
                </a:r>
              </a:p>
            </p:txBody>
          </p:sp>
        </p:grpSp>
        <p:grpSp>
          <p:nvGrpSpPr>
            <p:cNvPr id="444474" name="Group 58">
              <a:extLst>
                <a:ext uri="{FF2B5EF4-FFF2-40B4-BE49-F238E27FC236}">
                  <a16:creationId xmlns:a16="http://schemas.microsoft.com/office/drawing/2014/main" id="{7CB0E70E-D3DE-6A00-2646-AC055F8BF895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3277" y="1536"/>
              <a:ext cx="404" cy="350"/>
              <a:chOff x="2880" y="3312"/>
              <a:chExt cx="408" cy="336"/>
            </a:xfrm>
          </p:grpSpPr>
          <p:sp>
            <p:nvSpPr>
              <p:cNvPr id="444475" name="Freeform 59">
                <a:extLst>
                  <a:ext uri="{FF2B5EF4-FFF2-40B4-BE49-F238E27FC236}">
                    <a16:creationId xmlns:a16="http://schemas.microsoft.com/office/drawing/2014/main" id="{084297E6-33BA-5905-62B8-732BD87FA189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76" name="Freeform 60">
                <a:extLst>
                  <a:ext uri="{FF2B5EF4-FFF2-40B4-BE49-F238E27FC236}">
                    <a16:creationId xmlns:a16="http://schemas.microsoft.com/office/drawing/2014/main" id="{7004F66B-E344-4FA5-293C-C1FE258E9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77" name="Freeform 61">
                <a:extLst>
                  <a:ext uri="{FF2B5EF4-FFF2-40B4-BE49-F238E27FC236}">
                    <a16:creationId xmlns:a16="http://schemas.microsoft.com/office/drawing/2014/main" id="{AA77EFC0-F386-40F9-8C00-A30028C99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478" name="Text Box 62">
              <a:extLst>
                <a:ext uri="{FF2B5EF4-FFF2-40B4-BE49-F238E27FC236}">
                  <a16:creationId xmlns:a16="http://schemas.microsoft.com/office/drawing/2014/main" id="{9CC1317C-97BA-EE4B-D7F7-CBDCB31A3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148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b</a:t>
              </a:r>
              <a:endParaRPr lang="en-US" altLang="en-US"/>
            </a:p>
          </p:txBody>
        </p:sp>
        <p:grpSp>
          <p:nvGrpSpPr>
            <p:cNvPr id="444479" name="Group 63">
              <a:extLst>
                <a:ext uri="{FF2B5EF4-FFF2-40B4-BE49-F238E27FC236}">
                  <a16:creationId xmlns:a16="http://schemas.microsoft.com/office/drawing/2014/main" id="{DEE02F7A-E9AE-C45C-73CE-BDDCCF004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2" y="2812"/>
              <a:ext cx="687" cy="413"/>
              <a:chOff x="1901" y="3196"/>
              <a:chExt cx="687" cy="413"/>
            </a:xfrm>
          </p:grpSpPr>
          <p:sp>
            <p:nvSpPr>
              <p:cNvPr id="444480" name="Oval 64">
                <a:extLst>
                  <a:ext uri="{FF2B5EF4-FFF2-40B4-BE49-F238E27FC236}">
                    <a16:creationId xmlns:a16="http://schemas.microsoft.com/office/drawing/2014/main" id="{4C74BB18-0371-A677-5F74-7D32451B1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3206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444481" name="Text Box 65">
                <a:extLst>
                  <a:ext uri="{FF2B5EF4-FFF2-40B4-BE49-F238E27FC236}">
                    <a16:creationId xmlns:a16="http://schemas.microsoft.com/office/drawing/2014/main" id="{F266D806-D760-6ED7-DADC-F8924871B5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2" y="3196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 dirty="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lang="en-US" altLang="en-US" sz="1500" dirty="0">
                    <a:solidFill>
                      <a:srgbClr val="000000"/>
                    </a:solidFill>
                  </a:rPr>
                  <a:t>5</a:t>
                </a:r>
              </a:p>
            </p:txBody>
          </p:sp>
        </p:grpSp>
        <p:grpSp>
          <p:nvGrpSpPr>
            <p:cNvPr id="444482" name="Group 66">
              <a:extLst>
                <a:ext uri="{FF2B5EF4-FFF2-40B4-BE49-F238E27FC236}">
                  <a16:creationId xmlns:a16="http://schemas.microsoft.com/office/drawing/2014/main" id="{875862D7-D212-B346-99C4-B4DDFE085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5" y="2488"/>
              <a:ext cx="404" cy="343"/>
              <a:chOff x="1834" y="2872"/>
              <a:chExt cx="404" cy="343"/>
            </a:xfrm>
          </p:grpSpPr>
          <p:sp>
            <p:nvSpPr>
              <p:cNvPr id="444483" name="Freeform 67">
                <a:extLst>
                  <a:ext uri="{FF2B5EF4-FFF2-40B4-BE49-F238E27FC236}">
                    <a16:creationId xmlns:a16="http://schemas.microsoft.com/office/drawing/2014/main" id="{02AAF64E-AA02-B497-E3EB-681F06CBB346}"/>
                  </a:ext>
                </a:extLst>
              </p:cNvPr>
              <p:cNvSpPr>
                <a:spLocks/>
              </p:cNvSpPr>
              <p:nvPr/>
            </p:nvSpPr>
            <p:spPr bwMode="auto">
              <a:xfrm rot="21900000">
                <a:off x="1834" y="2872"/>
                <a:ext cx="404" cy="342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84" name="Freeform 68">
                <a:extLst>
                  <a:ext uri="{FF2B5EF4-FFF2-40B4-BE49-F238E27FC236}">
                    <a16:creationId xmlns:a16="http://schemas.microsoft.com/office/drawing/2014/main" id="{17D2E278-0677-1A7B-4E44-20744E7323C7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0000">
                <a:off x="2120" y="3166"/>
                <a:ext cx="36" cy="44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485" name="Freeform 69">
                <a:extLst>
                  <a:ext uri="{FF2B5EF4-FFF2-40B4-BE49-F238E27FC236}">
                    <a16:creationId xmlns:a16="http://schemas.microsoft.com/office/drawing/2014/main" id="{64D0B595-1EBF-1417-A51A-EF1B7A07C5E3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0000">
                <a:off x="2114" y="3165"/>
                <a:ext cx="3" cy="50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486" name="Text Box 70">
              <a:extLst>
                <a:ext uri="{FF2B5EF4-FFF2-40B4-BE49-F238E27FC236}">
                  <a16:creationId xmlns:a16="http://schemas.microsoft.com/office/drawing/2014/main" id="{D6DCFDAC-EB08-57D8-5396-73EACF58B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" y="2440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444488" name="Line 72">
              <a:extLst>
                <a:ext uri="{FF2B5EF4-FFF2-40B4-BE49-F238E27FC236}">
                  <a16:creationId xmlns:a16="http://schemas.microsoft.com/office/drawing/2014/main" id="{0C2E86FD-0D29-EABE-D1F9-DF3E72BBF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302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89" name="Line 73">
              <a:extLst>
                <a:ext uri="{FF2B5EF4-FFF2-40B4-BE49-F238E27FC236}">
                  <a16:creationId xmlns:a16="http://schemas.microsoft.com/office/drawing/2014/main" id="{7D4A2760-B1D2-AA51-765B-DDC200872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206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91" name="Text Box 75">
              <a:extLst>
                <a:ext uri="{FF2B5EF4-FFF2-40B4-BE49-F238E27FC236}">
                  <a16:creationId xmlns:a16="http://schemas.microsoft.com/office/drawing/2014/main" id="{1EBED875-805C-8124-7C4F-8976D7C29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1836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b</a:t>
              </a:r>
              <a:endParaRPr lang="en-US" altLang="en-US"/>
            </a:p>
          </p:txBody>
        </p:sp>
        <p:sp>
          <p:nvSpPr>
            <p:cNvPr id="444492" name="Text Box 76">
              <a:extLst>
                <a:ext uri="{FF2B5EF4-FFF2-40B4-BE49-F238E27FC236}">
                  <a16:creationId xmlns:a16="http://schemas.microsoft.com/office/drawing/2014/main" id="{89C61DCA-F54F-E38D-F8ED-229F01DD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2796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444496" name="Text Box 80">
              <a:extLst>
                <a:ext uri="{FF2B5EF4-FFF2-40B4-BE49-F238E27FC236}">
                  <a16:creationId xmlns:a16="http://schemas.microsoft.com/office/drawing/2014/main" id="{7A9C3681-2AF8-BC93-7CD6-5269BB26F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944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2+</a:t>
              </a:r>
              <a:endParaRPr lang="en-US" altLang="en-US"/>
            </a:p>
          </p:txBody>
        </p:sp>
        <p:sp>
          <p:nvSpPr>
            <p:cNvPr id="444497" name="Text Box 81">
              <a:extLst>
                <a:ext uri="{FF2B5EF4-FFF2-40B4-BE49-F238E27FC236}">
                  <a16:creationId xmlns:a16="http://schemas.microsoft.com/office/drawing/2014/main" id="{5E620363-F2C7-EDD9-E846-D493CDA1F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92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3+</a:t>
              </a:r>
              <a:endParaRPr lang="en-US" altLang="en-US"/>
            </a:p>
          </p:txBody>
        </p:sp>
        <p:grpSp>
          <p:nvGrpSpPr>
            <p:cNvPr id="444498" name="Group 82">
              <a:extLst>
                <a:ext uri="{FF2B5EF4-FFF2-40B4-BE49-F238E27FC236}">
                  <a16:creationId xmlns:a16="http://schemas.microsoft.com/office/drawing/2014/main" id="{E553CEB2-2906-1EE3-40E3-EE7EF165FFD0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1956" y="1536"/>
              <a:ext cx="404" cy="350"/>
              <a:chOff x="2880" y="3312"/>
              <a:chExt cx="408" cy="336"/>
            </a:xfrm>
          </p:grpSpPr>
          <p:sp>
            <p:nvSpPr>
              <p:cNvPr id="444499" name="Freeform 83">
                <a:extLst>
                  <a:ext uri="{FF2B5EF4-FFF2-40B4-BE49-F238E27FC236}">
                    <a16:creationId xmlns:a16="http://schemas.microsoft.com/office/drawing/2014/main" id="{18FB2387-4E35-B5C2-D601-F53406FAB80A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00" name="Freeform 84">
                <a:extLst>
                  <a:ext uri="{FF2B5EF4-FFF2-40B4-BE49-F238E27FC236}">
                    <a16:creationId xmlns:a16="http://schemas.microsoft.com/office/drawing/2014/main" id="{59BB1331-6529-A7AA-2445-9E50DBA35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01" name="Freeform 85">
                <a:extLst>
                  <a:ext uri="{FF2B5EF4-FFF2-40B4-BE49-F238E27FC236}">
                    <a16:creationId xmlns:a16="http://schemas.microsoft.com/office/drawing/2014/main" id="{87C56E39-1FFA-32AD-39E3-076E29FF3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4502" name="Group 86">
              <a:extLst>
                <a:ext uri="{FF2B5EF4-FFF2-40B4-BE49-F238E27FC236}">
                  <a16:creationId xmlns:a16="http://schemas.microsoft.com/office/drawing/2014/main" id="{C4170DF2-1649-0E15-A18A-EFF8B1B576C8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1980" y="2482"/>
              <a:ext cx="404" cy="350"/>
              <a:chOff x="2880" y="3312"/>
              <a:chExt cx="408" cy="336"/>
            </a:xfrm>
          </p:grpSpPr>
          <p:sp>
            <p:nvSpPr>
              <p:cNvPr id="444503" name="Freeform 87">
                <a:extLst>
                  <a:ext uri="{FF2B5EF4-FFF2-40B4-BE49-F238E27FC236}">
                    <a16:creationId xmlns:a16="http://schemas.microsoft.com/office/drawing/2014/main" id="{2BF1CD6A-9F85-4444-1E5D-430315101719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04" name="Freeform 88">
                <a:extLst>
                  <a:ext uri="{FF2B5EF4-FFF2-40B4-BE49-F238E27FC236}">
                    <a16:creationId xmlns:a16="http://schemas.microsoft.com/office/drawing/2014/main" id="{C5CAA192-CB91-2CF0-71EE-BD8410B3E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05" name="Freeform 89">
                <a:extLst>
                  <a:ext uri="{FF2B5EF4-FFF2-40B4-BE49-F238E27FC236}">
                    <a16:creationId xmlns:a16="http://schemas.microsoft.com/office/drawing/2014/main" id="{D29CE2EC-4D15-C1C1-4455-13DEF19FE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506" name="Text Box 90">
              <a:extLst>
                <a:ext uri="{FF2B5EF4-FFF2-40B4-BE49-F238E27FC236}">
                  <a16:creationId xmlns:a16="http://schemas.microsoft.com/office/drawing/2014/main" id="{AFB7CDDA-D9C4-25F1-7101-2B77779C7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" y="1452"/>
              <a:ext cx="40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</a:t>
              </a:r>
              <a:endParaRPr lang="en-US" altLang="en-US" sz="4400"/>
            </a:p>
          </p:txBody>
        </p:sp>
        <p:sp>
          <p:nvSpPr>
            <p:cNvPr id="444507" name="Text Box 91">
              <a:extLst>
                <a:ext uri="{FF2B5EF4-FFF2-40B4-BE49-F238E27FC236}">
                  <a16:creationId xmlns:a16="http://schemas.microsoft.com/office/drawing/2014/main" id="{641CABF0-20E2-D2F5-C586-D1A62151E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7" y="2388"/>
              <a:ext cx="40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b</a:t>
              </a:r>
              <a:endParaRPr lang="en-US" altLang="en-US" sz="44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A04BE-2B41-1C0F-001B-DD2A8771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29B2-949F-441F-B79F-D6AC9C02AAA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39298" name="Rectangle 2">
            <a:extLst>
              <a:ext uri="{FF2B5EF4-FFF2-40B4-BE49-F238E27FC236}">
                <a16:creationId xmlns:a16="http://schemas.microsoft.com/office/drawing/2014/main" id="{9ED7EC76-6A45-D06E-A616-917035DDA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Example</a:t>
            </a:r>
          </a:p>
        </p:txBody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id="{DF623A08-7249-0AB2-C894-B4F96DB5F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b="1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Consider the Language L of Strings , defined over </a:t>
            </a:r>
            <a:r>
              <a:rPr lang="el-GR" altLang="en-US"/>
              <a:t>Σ</a:t>
            </a:r>
            <a:r>
              <a:rPr lang="en-US" altLang="en-US"/>
              <a:t> = {a, b}, </a:t>
            </a:r>
            <a:r>
              <a:rPr lang="en-US" altLang="en-US" b="1"/>
              <a:t>beginning with and ending in different letters.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The language L may be expressed by the following regular expression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		a (a + b)</a:t>
            </a:r>
            <a:r>
              <a:rPr lang="en-US" altLang="en-US" baseline="40000"/>
              <a:t>*</a:t>
            </a:r>
            <a:r>
              <a:rPr lang="en-US" altLang="en-US"/>
              <a:t> b + b (a + b)</a:t>
            </a:r>
            <a:r>
              <a:rPr lang="en-US" altLang="en-US" baseline="40000"/>
              <a:t>*</a:t>
            </a:r>
            <a:r>
              <a:rPr lang="en-US" altLang="en-US"/>
              <a:t> a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This language may be accepted by the following FA </a:t>
            </a:r>
            <a:endParaRPr lang="en-US" altLang="en-US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D9A9-00FB-579C-DBF3-0FFA04AA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CBF6-2D3A-49D2-A087-D6644F52BB0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A08DADEB-36C0-9E19-E901-93A5C7BE4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Continued …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6CFAE5C4-0CC3-B61C-5851-B1FEAA7FF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/>
          </a:p>
          <a:p>
            <a:endParaRPr lang="en-US" altLang="en-US"/>
          </a:p>
        </p:txBody>
      </p:sp>
      <p:grpSp>
        <p:nvGrpSpPr>
          <p:cNvPr id="318468" name="Group 4">
            <a:extLst>
              <a:ext uri="{FF2B5EF4-FFF2-40B4-BE49-F238E27FC236}">
                <a16:creationId xmlns:a16="http://schemas.microsoft.com/office/drawing/2014/main" id="{1FAFEB97-AA60-6E1C-07D2-3EC535EF5988}"/>
              </a:ext>
            </a:extLst>
          </p:cNvPr>
          <p:cNvGrpSpPr>
            <a:grpSpLocks/>
          </p:cNvGrpSpPr>
          <p:nvPr/>
        </p:nvGrpSpPr>
        <p:grpSpPr bwMode="auto">
          <a:xfrm>
            <a:off x="3427415" y="2667001"/>
            <a:ext cx="5640387" cy="2987675"/>
            <a:chOff x="864" y="1872"/>
            <a:chExt cx="3553" cy="1882"/>
          </a:xfrm>
        </p:grpSpPr>
        <p:grpSp>
          <p:nvGrpSpPr>
            <p:cNvPr id="318469" name="Group 5">
              <a:extLst>
                <a:ext uri="{FF2B5EF4-FFF2-40B4-BE49-F238E27FC236}">
                  <a16:creationId xmlns:a16="http://schemas.microsoft.com/office/drawing/2014/main" id="{E94CA61B-632E-8468-F36A-1E17F3918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872"/>
              <a:ext cx="3553" cy="1882"/>
              <a:chOff x="864" y="1872"/>
              <a:chExt cx="3553" cy="1882"/>
            </a:xfrm>
          </p:grpSpPr>
          <p:sp>
            <p:nvSpPr>
              <p:cNvPr id="318470" name="Text Box 6">
                <a:extLst>
                  <a:ext uri="{FF2B5EF4-FFF2-40B4-BE49-F238E27FC236}">
                    <a16:creationId xmlns:a16="http://schemas.microsoft.com/office/drawing/2014/main" id="{67557E82-4D11-A351-29BC-A537F4B23B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" y="3104"/>
                <a:ext cx="40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100">
                    <a:solidFill>
                      <a:srgbClr val="000000"/>
                    </a:solidFill>
                  </a:rPr>
                  <a:t>b</a:t>
                </a:r>
                <a:endParaRPr lang="en-US" altLang="en-US" sz="4400"/>
              </a:p>
            </p:txBody>
          </p:sp>
          <p:sp>
            <p:nvSpPr>
              <p:cNvPr id="318471" name="Text Box 7">
                <a:extLst>
                  <a:ext uri="{FF2B5EF4-FFF2-40B4-BE49-F238E27FC236}">
                    <a16:creationId xmlns:a16="http://schemas.microsoft.com/office/drawing/2014/main" id="{885410A5-3DEC-A1B8-B3A8-608416DA27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2" y="2424"/>
                <a:ext cx="401" cy="4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100">
                    <a:solidFill>
                      <a:srgbClr val="000000"/>
                    </a:solidFill>
                  </a:rPr>
                  <a:t>a</a:t>
                </a:r>
                <a:endParaRPr lang="en-US" altLang="en-US" sz="4400"/>
              </a:p>
            </p:txBody>
          </p:sp>
          <p:sp>
            <p:nvSpPr>
              <p:cNvPr id="318472" name="Freeform 8">
                <a:extLst>
                  <a:ext uri="{FF2B5EF4-FFF2-40B4-BE49-F238E27FC236}">
                    <a16:creationId xmlns:a16="http://schemas.microsoft.com/office/drawing/2014/main" id="{C35AB4E3-DAA9-FB2F-1E75-DBEF69753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0" y="2480"/>
                <a:ext cx="656" cy="296"/>
              </a:xfrm>
              <a:custGeom>
                <a:avLst/>
                <a:gdLst>
                  <a:gd name="T0" fmla="*/ 0 w 656"/>
                  <a:gd name="T1" fmla="*/ 296 h 296"/>
                  <a:gd name="T2" fmla="*/ 656 w 656"/>
                  <a:gd name="T3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56" h="296">
                    <a:moveTo>
                      <a:pt x="0" y="296"/>
                    </a:moveTo>
                    <a:lnTo>
                      <a:pt x="65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73" name="Freeform 9">
                <a:extLst>
                  <a:ext uri="{FF2B5EF4-FFF2-40B4-BE49-F238E27FC236}">
                    <a16:creationId xmlns:a16="http://schemas.microsoft.com/office/drawing/2014/main" id="{62511EAE-CCC0-52EB-728B-3086C5CDA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3008"/>
                <a:ext cx="688" cy="368"/>
              </a:xfrm>
              <a:custGeom>
                <a:avLst/>
                <a:gdLst>
                  <a:gd name="T0" fmla="*/ 0 w 688"/>
                  <a:gd name="T1" fmla="*/ 0 h 368"/>
                  <a:gd name="T2" fmla="*/ 688 w 688"/>
                  <a:gd name="T3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88" h="368">
                    <a:moveTo>
                      <a:pt x="0" y="0"/>
                    </a:moveTo>
                    <a:lnTo>
                      <a:pt x="688" y="36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474" name="Group 10">
                <a:extLst>
                  <a:ext uri="{FF2B5EF4-FFF2-40B4-BE49-F238E27FC236}">
                    <a16:creationId xmlns:a16="http://schemas.microsoft.com/office/drawing/2014/main" id="{2143D367-C6DB-456A-125D-C0B272F8AA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5" y="1872"/>
                <a:ext cx="2542" cy="942"/>
                <a:chOff x="1875" y="1872"/>
                <a:chExt cx="2542" cy="942"/>
              </a:xfrm>
            </p:grpSpPr>
            <p:sp>
              <p:nvSpPr>
                <p:cNvPr id="318475" name="Text Box 11">
                  <a:extLst>
                    <a:ext uri="{FF2B5EF4-FFF2-40B4-BE49-F238E27FC236}">
                      <a16:creationId xmlns:a16="http://schemas.microsoft.com/office/drawing/2014/main" id="{480CC515-2BB8-ED51-A77C-C29BBD57E8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52" y="1872"/>
                  <a:ext cx="565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2200"/>
                    <a:t>b</a:t>
                  </a:r>
                  <a:endParaRPr lang="en-US" altLang="en-US"/>
                </a:p>
              </p:txBody>
            </p:sp>
            <p:sp>
              <p:nvSpPr>
                <p:cNvPr id="318476" name="Text Box 12">
                  <a:extLst>
                    <a:ext uri="{FF2B5EF4-FFF2-40B4-BE49-F238E27FC236}">
                      <a16:creationId xmlns:a16="http://schemas.microsoft.com/office/drawing/2014/main" id="{5A91DCA4-596E-BFDC-7625-B7D27E68D8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78" y="2468"/>
                  <a:ext cx="28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2200"/>
                    <a:t>a</a:t>
                  </a:r>
                  <a:endParaRPr lang="en-US" altLang="en-US"/>
                </a:p>
              </p:txBody>
            </p:sp>
            <p:grpSp>
              <p:nvGrpSpPr>
                <p:cNvPr id="318477" name="Group 13">
                  <a:extLst>
                    <a:ext uri="{FF2B5EF4-FFF2-40B4-BE49-F238E27FC236}">
                      <a16:creationId xmlns:a16="http://schemas.microsoft.com/office/drawing/2014/main" id="{4E60BF24-9AFF-A782-DF8D-4B38C78BF0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3" y="2205"/>
                  <a:ext cx="622" cy="415"/>
                  <a:chOff x="804" y="2604"/>
                  <a:chExt cx="664" cy="443"/>
                </a:xfrm>
              </p:grpSpPr>
              <p:sp>
                <p:nvSpPr>
                  <p:cNvPr id="318478" name="Oval 14">
                    <a:extLst>
                      <a:ext uri="{FF2B5EF4-FFF2-40B4-BE49-F238E27FC236}">
                        <a16:creationId xmlns:a16="http://schemas.microsoft.com/office/drawing/2014/main" id="{FDA666A4-70C3-92BF-AD3E-64CF446C5C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04" y="2644"/>
                    <a:ext cx="403" cy="4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en-US" sz="21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18479" name="Text Box 15">
                    <a:extLst>
                      <a:ext uri="{FF2B5EF4-FFF2-40B4-BE49-F238E27FC236}">
                        <a16:creationId xmlns:a16="http://schemas.microsoft.com/office/drawing/2014/main" id="{D43464C6-8CDC-2FB3-6281-2B2E294A61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2" y="2604"/>
                    <a:ext cx="566" cy="3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l"/>
                    <a:r>
                      <a:rPr lang="en-US" altLang="en-US" sz="1100" dirty="0">
                        <a:solidFill>
                          <a:srgbClr val="000000"/>
                        </a:solidFill>
                      </a:rPr>
                      <a:t>    </a:t>
                    </a:r>
                  </a:p>
                  <a:p>
                    <a:r>
                      <a:rPr kumimoji="1" lang="en-US" altLang="en-US" sz="1600" dirty="0">
                        <a:latin typeface="Tahoma" panose="020B0604030504040204" pitchFamily="34" charset="0"/>
                        <a:sym typeface="Symbol" panose="05050102010706020507" pitchFamily="18" charset="2"/>
                      </a:rPr>
                      <a:t>4+</a:t>
                    </a:r>
                    <a:endParaRPr lang="en-US" altLang="en-US" sz="11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18480" name="Group 16">
                  <a:extLst>
                    <a:ext uri="{FF2B5EF4-FFF2-40B4-BE49-F238E27FC236}">
                      <a16:creationId xmlns:a16="http://schemas.microsoft.com/office/drawing/2014/main" id="{9EEF79AA-744D-E109-0BDC-FE2D6DDBC9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21300000">
                  <a:off x="3574" y="1908"/>
                  <a:ext cx="404" cy="350"/>
                  <a:chOff x="2880" y="3312"/>
                  <a:chExt cx="408" cy="336"/>
                </a:xfrm>
              </p:grpSpPr>
              <p:sp>
                <p:nvSpPr>
                  <p:cNvPr id="318481" name="Freeform 17">
                    <a:extLst>
                      <a:ext uri="{FF2B5EF4-FFF2-40B4-BE49-F238E27FC236}">
                        <a16:creationId xmlns:a16="http://schemas.microsoft.com/office/drawing/2014/main" id="{5AA1C50E-A3C5-FA0C-0DD9-DE5B988AD8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600000">
                    <a:off x="2880" y="3312"/>
                    <a:ext cx="408" cy="328"/>
                  </a:xfrm>
                  <a:custGeom>
                    <a:avLst/>
                    <a:gdLst>
                      <a:gd name="T0" fmla="*/ 196 w 408"/>
                      <a:gd name="T1" fmla="*/ 378 h 378"/>
                      <a:gd name="T2" fmla="*/ 300 w 408"/>
                      <a:gd name="T3" fmla="*/ 370 h 3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08" h="378">
                        <a:moveTo>
                          <a:pt x="196" y="378"/>
                        </a:moveTo>
                        <a:cubicBezTo>
                          <a:pt x="0" y="79"/>
                          <a:pt x="408" y="0"/>
                          <a:pt x="300" y="370"/>
                        </a:cubicBezTo>
                      </a:path>
                    </a:pathLst>
                  </a:custGeom>
                  <a:noFill/>
                  <a:ln w="7620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82" name="Freeform 18">
                    <a:extLst>
                      <a:ext uri="{FF2B5EF4-FFF2-40B4-BE49-F238E27FC236}">
                        <a16:creationId xmlns:a16="http://schemas.microsoft.com/office/drawing/2014/main" id="{8D27795A-F1AB-5A28-42BF-8FABB52198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6" y="3603"/>
                    <a:ext cx="36" cy="42"/>
                  </a:xfrm>
                  <a:custGeom>
                    <a:avLst/>
                    <a:gdLst>
                      <a:gd name="T0" fmla="*/ 0 w 36"/>
                      <a:gd name="T1" fmla="*/ 42 h 42"/>
                      <a:gd name="T2" fmla="*/ 36 w 36"/>
                      <a:gd name="T3" fmla="*/ 0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6" h="42">
                        <a:moveTo>
                          <a:pt x="0" y="42"/>
                        </a:moveTo>
                        <a:lnTo>
                          <a:pt x="36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83" name="Freeform 19">
                    <a:extLst>
                      <a:ext uri="{FF2B5EF4-FFF2-40B4-BE49-F238E27FC236}">
                        <a16:creationId xmlns:a16="http://schemas.microsoft.com/office/drawing/2014/main" id="{4B51657A-6AAE-89D1-4465-84E58467A3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0" y="3600"/>
                    <a:ext cx="3" cy="48"/>
                  </a:xfrm>
                  <a:custGeom>
                    <a:avLst/>
                    <a:gdLst>
                      <a:gd name="T0" fmla="*/ 0 w 3"/>
                      <a:gd name="T1" fmla="*/ 0 h 48"/>
                      <a:gd name="T2" fmla="*/ 3 w 3"/>
                      <a:gd name="T3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8">
                        <a:moveTo>
                          <a:pt x="0" y="0"/>
                        </a:moveTo>
                        <a:lnTo>
                          <a:pt x="3" y="48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18484" name="Freeform 20">
                  <a:extLst>
                    <a:ext uri="{FF2B5EF4-FFF2-40B4-BE49-F238E27FC236}">
                      <a16:creationId xmlns:a16="http://schemas.microsoft.com/office/drawing/2014/main" id="{7878C00F-6BB9-8EC6-0305-41DCBF06E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2341" y="2492"/>
                  <a:ext cx="1267" cy="322"/>
                </a:xfrm>
                <a:custGeom>
                  <a:avLst/>
                  <a:gdLst>
                    <a:gd name="T0" fmla="*/ 0 w 2176"/>
                    <a:gd name="T1" fmla="*/ 336 h 336"/>
                    <a:gd name="T2" fmla="*/ 2176 w 2176"/>
                    <a:gd name="T3" fmla="*/ 33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76" h="336">
                      <a:moveTo>
                        <a:pt x="0" y="336"/>
                      </a:moveTo>
                      <a:cubicBezTo>
                        <a:pt x="558" y="66"/>
                        <a:pt x="1458" y="0"/>
                        <a:pt x="2176" y="33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 type="none" w="med" len="med"/>
                  <a:tailEnd type="arrow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485" name="Text Box 21">
                  <a:extLst>
                    <a:ext uri="{FF2B5EF4-FFF2-40B4-BE49-F238E27FC236}">
                      <a16:creationId xmlns:a16="http://schemas.microsoft.com/office/drawing/2014/main" id="{5CD71670-7BED-E29F-0025-294CE4FE6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77" y="1956"/>
                  <a:ext cx="239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2200"/>
                    <a:t>b</a:t>
                  </a:r>
                  <a:endParaRPr lang="en-US" altLang="en-US"/>
                </a:p>
              </p:txBody>
            </p:sp>
            <p:grpSp>
              <p:nvGrpSpPr>
                <p:cNvPr id="318486" name="Group 22">
                  <a:extLst>
                    <a:ext uri="{FF2B5EF4-FFF2-40B4-BE49-F238E27FC236}">
                      <a16:creationId xmlns:a16="http://schemas.microsoft.com/office/drawing/2014/main" id="{774E1696-14C9-241B-5D2A-702FD9DE7A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50" y="2237"/>
                  <a:ext cx="678" cy="420"/>
                  <a:chOff x="804" y="2627"/>
                  <a:chExt cx="678" cy="420"/>
                </a:xfrm>
              </p:grpSpPr>
              <p:sp>
                <p:nvSpPr>
                  <p:cNvPr id="318487" name="Oval 23">
                    <a:extLst>
                      <a:ext uri="{FF2B5EF4-FFF2-40B4-BE49-F238E27FC236}">
                        <a16:creationId xmlns:a16="http://schemas.microsoft.com/office/drawing/2014/main" id="{EA09DEA9-3B88-70E9-30A1-AD3045CC87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04" y="2644"/>
                    <a:ext cx="403" cy="4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en-US" sz="21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18488" name="Text Box 24">
                    <a:extLst>
                      <a:ext uri="{FF2B5EF4-FFF2-40B4-BE49-F238E27FC236}">
                        <a16:creationId xmlns:a16="http://schemas.microsoft.com/office/drawing/2014/main" id="{708331C9-10CF-B449-275F-884E8ABE20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6" y="2627"/>
                    <a:ext cx="566" cy="3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l"/>
                    <a:r>
                      <a:rPr lang="en-US" altLang="en-US" sz="1100" dirty="0">
                        <a:solidFill>
                          <a:srgbClr val="000000"/>
                        </a:solidFill>
                      </a:rPr>
                      <a:t>    </a:t>
                    </a:r>
                  </a:p>
                  <a:p>
                    <a:r>
                      <a:rPr lang="en-US" altLang="en-US" sz="1500" dirty="0">
                        <a:solidFill>
                          <a:srgbClr val="000000"/>
                        </a:solidFill>
                      </a:rPr>
                      <a:t>2</a:t>
                    </a:r>
                  </a:p>
                </p:txBody>
              </p:sp>
            </p:grpSp>
            <p:grpSp>
              <p:nvGrpSpPr>
                <p:cNvPr id="318489" name="Group 25">
                  <a:extLst>
                    <a:ext uri="{FF2B5EF4-FFF2-40B4-BE49-F238E27FC236}">
                      <a16:creationId xmlns:a16="http://schemas.microsoft.com/office/drawing/2014/main" id="{21D3BE60-7493-E1F8-7546-8D0B26C09C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21300000">
                  <a:off x="1884" y="1920"/>
                  <a:ext cx="404" cy="350"/>
                  <a:chOff x="2880" y="3312"/>
                  <a:chExt cx="408" cy="336"/>
                </a:xfrm>
              </p:grpSpPr>
              <p:sp>
                <p:nvSpPr>
                  <p:cNvPr id="318490" name="Freeform 26">
                    <a:extLst>
                      <a:ext uri="{FF2B5EF4-FFF2-40B4-BE49-F238E27FC236}">
                        <a16:creationId xmlns:a16="http://schemas.microsoft.com/office/drawing/2014/main" id="{D3A0C53F-65F3-17BF-9B6E-9D564AB15A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600000">
                    <a:off x="2880" y="3312"/>
                    <a:ext cx="408" cy="328"/>
                  </a:xfrm>
                  <a:custGeom>
                    <a:avLst/>
                    <a:gdLst>
                      <a:gd name="T0" fmla="*/ 196 w 408"/>
                      <a:gd name="T1" fmla="*/ 378 h 378"/>
                      <a:gd name="T2" fmla="*/ 300 w 408"/>
                      <a:gd name="T3" fmla="*/ 370 h 3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08" h="378">
                        <a:moveTo>
                          <a:pt x="196" y="378"/>
                        </a:moveTo>
                        <a:cubicBezTo>
                          <a:pt x="0" y="79"/>
                          <a:pt x="408" y="0"/>
                          <a:pt x="300" y="370"/>
                        </a:cubicBezTo>
                      </a:path>
                    </a:pathLst>
                  </a:custGeom>
                  <a:noFill/>
                  <a:ln w="7620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91" name="Freeform 27">
                    <a:extLst>
                      <a:ext uri="{FF2B5EF4-FFF2-40B4-BE49-F238E27FC236}">
                        <a16:creationId xmlns:a16="http://schemas.microsoft.com/office/drawing/2014/main" id="{BB0E1235-6096-54ED-6100-24FC701766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6" y="3603"/>
                    <a:ext cx="36" cy="42"/>
                  </a:xfrm>
                  <a:custGeom>
                    <a:avLst/>
                    <a:gdLst>
                      <a:gd name="T0" fmla="*/ 0 w 36"/>
                      <a:gd name="T1" fmla="*/ 42 h 42"/>
                      <a:gd name="T2" fmla="*/ 36 w 36"/>
                      <a:gd name="T3" fmla="*/ 0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6" h="42">
                        <a:moveTo>
                          <a:pt x="0" y="42"/>
                        </a:moveTo>
                        <a:lnTo>
                          <a:pt x="36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8492" name="Freeform 28">
                    <a:extLst>
                      <a:ext uri="{FF2B5EF4-FFF2-40B4-BE49-F238E27FC236}">
                        <a16:creationId xmlns:a16="http://schemas.microsoft.com/office/drawing/2014/main" id="{382FDD1F-26E0-E8F9-5839-EAC29B3A2E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0" y="3600"/>
                    <a:ext cx="3" cy="48"/>
                  </a:xfrm>
                  <a:custGeom>
                    <a:avLst/>
                    <a:gdLst>
                      <a:gd name="T0" fmla="*/ 0 w 3"/>
                      <a:gd name="T1" fmla="*/ 0 h 48"/>
                      <a:gd name="T2" fmla="*/ 3 w 3"/>
                      <a:gd name="T3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8">
                        <a:moveTo>
                          <a:pt x="0" y="0"/>
                        </a:moveTo>
                        <a:lnTo>
                          <a:pt x="3" y="48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18493" name="Text Box 29">
                  <a:extLst>
                    <a:ext uri="{FF2B5EF4-FFF2-40B4-BE49-F238E27FC236}">
                      <a16:creationId xmlns:a16="http://schemas.microsoft.com/office/drawing/2014/main" id="{33AA57DB-BEC5-C1DF-FB5F-6F67D93F9F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5" y="1872"/>
                  <a:ext cx="565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2200"/>
                    <a:t>a</a:t>
                  </a:r>
                  <a:endParaRPr lang="en-US" altLang="en-US"/>
                </a:p>
              </p:txBody>
            </p:sp>
          </p:grpSp>
          <p:sp>
            <p:nvSpPr>
              <p:cNvPr id="318494" name="Text Box 30">
                <a:extLst>
                  <a:ext uri="{FF2B5EF4-FFF2-40B4-BE49-F238E27FC236}">
                    <a16:creationId xmlns:a16="http://schemas.microsoft.com/office/drawing/2014/main" id="{1C99616E-7D28-E1C7-D0E2-C3ABC430F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1" y="2824"/>
                <a:ext cx="56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200"/>
                  <a:t>a</a:t>
                </a:r>
                <a:endParaRPr lang="en-US" altLang="en-US"/>
              </a:p>
            </p:txBody>
          </p:sp>
          <p:sp>
            <p:nvSpPr>
              <p:cNvPr id="318495" name="Text Box 31">
                <a:extLst>
                  <a:ext uri="{FF2B5EF4-FFF2-40B4-BE49-F238E27FC236}">
                    <a16:creationId xmlns:a16="http://schemas.microsoft.com/office/drawing/2014/main" id="{8DAEBDFF-19AF-9854-077C-24405AC6EF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7" y="3408"/>
                <a:ext cx="28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200"/>
                  <a:t>b</a:t>
                </a:r>
                <a:endParaRPr lang="en-US" altLang="en-US"/>
              </a:p>
            </p:txBody>
          </p:sp>
          <p:grpSp>
            <p:nvGrpSpPr>
              <p:cNvPr id="318496" name="Group 32">
                <a:extLst>
                  <a:ext uri="{FF2B5EF4-FFF2-40B4-BE49-F238E27FC236}">
                    <a16:creationId xmlns:a16="http://schemas.microsoft.com/office/drawing/2014/main" id="{536C9164-3651-7849-9C83-066EBD7A57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2" y="3187"/>
                <a:ext cx="591" cy="386"/>
                <a:chOff x="3612" y="3187"/>
                <a:chExt cx="591" cy="386"/>
              </a:xfrm>
            </p:grpSpPr>
            <p:sp>
              <p:nvSpPr>
                <p:cNvPr id="318497" name="Oval 33">
                  <a:extLst>
                    <a:ext uri="{FF2B5EF4-FFF2-40B4-BE49-F238E27FC236}">
                      <a16:creationId xmlns:a16="http://schemas.microsoft.com/office/drawing/2014/main" id="{4066E899-42B4-8A94-0F54-FA1CC1432C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2" y="3195"/>
                  <a:ext cx="377" cy="37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 sz="21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498" name="Text Box 34">
                  <a:extLst>
                    <a:ext uri="{FF2B5EF4-FFF2-40B4-BE49-F238E27FC236}">
                      <a16:creationId xmlns:a16="http://schemas.microsoft.com/office/drawing/2014/main" id="{4A8D59AA-31CE-B582-CE1B-FB9148BEC8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73" y="3187"/>
                  <a:ext cx="530" cy="3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1100" dirty="0">
                      <a:solidFill>
                        <a:srgbClr val="000000"/>
                      </a:solidFill>
                    </a:rPr>
                    <a:t>    </a:t>
                  </a:r>
                </a:p>
                <a:p>
                  <a:r>
                    <a:rPr kumimoji="1" lang="en-US" altLang="en-US" sz="1600" dirty="0">
                      <a:latin typeface="Tahoma" panose="020B0604030504040204" pitchFamily="34" charset="0"/>
                      <a:sym typeface="Symbol" panose="05050102010706020507" pitchFamily="18" charset="2"/>
                    </a:rPr>
                    <a:t>5+</a:t>
                  </a:r>
                  <a:endParaRPr lang="en-US" altLang="en-US" sz="1100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318499" name="Group 35">
                <a:extLst>
                  <a:ext uri="{FF2B5EF4-FFF2-40B4-BE49-F238E27FC236}">
                    <a16:creationId xmlns:a16="http://schemas.microsoft.com/office/drawing/2014/main" id="{CF5DE9B4-A15A-17C7-793F-E966360FF2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2" y="2860"/>
                <a:ext cx="404" cy="343"/>
                <a:chOff x="3572" y="2860"/>
                <a:chExt cx="404" cy="343"/>
              </a:xfrm>
            </p:grpSpPr>
            <p:sp>
              <p:nvSpPr>
                <p:cNvPr id="318500" name="Freeform 36">
                  <a:extLst>
                    <a:ext uri="{FF2B5EF4-FFF2-40B4-BE49-F238E27FC236}">
                      <a16:creationId xmlns:a16="http://schemas.microsoft.com/office/drawing/2014/main" id="{4CB609B4-29B6-4D6B-8608-60C3C17617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900000">
                  <a:off x="3572" y="2860"/>
                  <a:ext cx="404" cy="342"/>
                </a:xfrm>
                <a:custGeom>
                  <a:avLst/>
                  <a:gdLst>
                    <a:gd name="T0" fmla="*/ 196 w 408"/>
                    <a:gd name="T1" fmla="*/ 378 h 378"/>
                    <a:gd name="T2" fmla="*/ 300 w 408"/>
                    <a:gd name="T3" fmla="*/ 370 h 3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08" h="378">
                      <a:moveTo>
                        <a:pt x="196" y="378"/>
                      </a:moveTo>
                      <a:cubicBezTo>
                        <a:pt x="0" y="79"/>
                        <a:pt x="408" y="0"/>
                        <a:pt x="300" y="370"/>
                      </a:cubicBezTo>
                    </a:path>
                  </a:pathLst>
                </a:custGeom>
                <a:noFill/>
                <a:ln w="7620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01" name="Freeform 37">
                  <a:extLst>
                    <a:ext uri="{FF2B5EF4-FFF2-40B4-BE49-F238E27FC236}">
                      <a16:creationId xmlns:a16="http://schemas.microsoft.com/office/drawing/2014/main" id="{FB911745-FD7C-8084-179F-2FDE5B875E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3858" y="3154"/>
                  <a:ext cx="36" cy="44"/>
                </a:xfrm>
                <a:custGeom>
                  <a:avLst/>
                  <a:gdLst>
                    <a:gd name="T0" fmla="*/ 0 w 36"/>
                    <a:gd name="T1" fmla="*/ 42 h 42"/>
                    <a:gd name="T2" fmla="*/ 36 w 36"/>
                    <a:gd name="T3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6" h="42">
                      <a:moveTo>
                        <a:pt x="0" y="42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02" name="Freeform 38">
                  <a:extLst>
                    <a:ext uri="{FF2B5EF4-FFF2-40B4-BE49-F238E27FC236}">
                      <a16:creationId xmlns:a16="http://schemas.microsoft.com/office/drawing/2014/main" id="{D065C4B3-02A1-0C99-CE0A-539098721C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3852" y="3153"/>
                  <a:ext cx="3" cy="50"/>
                </a:xfrm>
                <a:custGeom>
                  <a:avLst/>
                  <a:gdLst>
                    <a:gd name="T0" fmla="*/ 0 w 3"/>
                    <a:gd name="T1" fmla="*/ 0 h 48"/>
                    <a:gd name="T2" fmla="*/ 3 w 3"/>
                    <a:gd name="T3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8">
                      <a:moveTo>
                        <a:pt x="0" y="0"/>
                      </a:moveTo>
                      <a:lnTo>
                        <a:pt x="3" y="4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503" name="Freeform 39">
                <a:extLst>
                  <a:ext uri="{FF2B5EF4-FFF2-40B4-BE49-F238E27FC236}">
                    <a16:creationId xmlns:a16="http://schemas.microsoft.com/office/drawing/2014/main" id="{98AE20D4-FFCA-77E9-6992-DEAE08A61DB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340" y="3432"/>
                <a:ext cx="1267" cy="322"/>
              </a:xfrm>
              <a:custGeom>
                <a:avLst/>
                <a:gdLst>
                  <a:gd name="T0" fmla="*/ 0 w 2176"/>
                  <a:gd name="T1" fmla="*/ 336 h 336"/>
                  <a:gd name="T2" fmla="*/ 2176 w 2176"/>
                  <a:gd name="T3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76" h="336">
                    <a:moveTo>
                      <a:pt x="0" y="336"/>
                    </a:moveTo>
                    <a:cubicBezTo>
                      <a:pt x="558" y="66"/>
                      <a:pt x="1458" y="0"/>
                      <a:pt x="2176" y="33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04" name="Text Box 40">
                <a:extLst>
                  <a:ext uri="{FF2B5EF4-FFF2-40B4-BE49-F238E27FC236}">
                    <a16:creationId xmlns:a16="http://schemas.microsoft.com/office/drawing/2014/main" id="{7448A092-640F-C479-461F-1C1B56268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864" y="2916"/>
                <a:ext cx="23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200"/>
                  <a:t>a</a:t>
                </a:r>
                <a:endParaRPr lang="en-US" altLang="en-US"/>
              </a:p>
            </p:txBody>
          </p:sp>
          <p:grpSp>
            <p:nvGrpSpPr>
              <p:cNvPr id="318505" name="Group 41">
                <a:extLst>
                  <a:ext uri="{FF2B5EF4-FFF2-40B4-BE49-F238E27FC236}">
                    <a16:creationId xmlns:a16="http://schemas.microsoft.com/office/drawing/2014/main" id="{CCC80197-6183-5D4D-980F-6F990F88E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9" y="3196"/>
                <a:ext cx="645" cy="413"/>
                <a:chOff x="1949" y="3196"/>
                <a:chExt cx="645" cy="413"/>
              </a:xfrm>
            </p:grpSpPr>
            <p:sp>
              <p:nvSpPr>
                <p:cNvPr id="318506" name="Oval 42">
                  <a:extLst>
                    <a:ext uri="{FF2B5EF4-FFF2-40B4-BE49-F238E27FC236}">
                      <a16:creationId xmlns:a16="http://schemas.microsoft.com/office/drawing/2014/main" id="{4CB989B9-D8E5-D086-4F09-D3B6D2675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9" y="3206"/>
                  <a:ext cx="403" cy="40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 sz="21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507" name="Text Box 43">
                  <a:extLst>
                    <a:ext uri="{FF2B5EF4-FFF2-40B4-BE49-F238E27FC236}">
                      <a16:creationId xmlns:a16="http://schemas.microsoft.com/office/drawing/2014/main" id="{2BB70E70-6DFC-B7DC-1AAD-E51B0682C6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28" y="3196"/>
                  <a:ext cx="566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1100" dirty="0">
                      <a:solidFill>
                        <a:srgbClr val="000000"/>
                      </a:solidFill>
                    </a:rPr>
                    <a:t>    </a:t>
                  </a:r>
                </a:p>
                <a:p>
                  <a:r>
                    <a:rPr lang="en-US" altLang="en-US" sz="1500" dirty="0">
                      <a:solidFill>
                        <a:srgbClr val="000000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318508" name="Group 44">
                <a:extLst>
                  <a:ext uri="{FF2B5EF4-FFF2-40B4-BE49-F238E27FC236}">
                    <a16:creationId xmlns:a16="http://schemas.microsoft.com/office/drawing/2014/main" id="{5406ABB3-4288-1174-5FFC-9D185CBB15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2" y="2872"/>
                <a:ext cx="404" cy="343"/>
                <a:chOff x="1882" y="2872"/>
                <a:chExt cx="404" cy="343"/>
              </a:xfrm>
            </p:grpSpPr>
            <p:sp>
              <p:nvSpPr>
                <p:cNvPr id="318509" name="Freeform 45">
                  <a:extLst>
                    <a:ext uri="{FF2B5EF4-FFF2-40B4-BE49-F238E27FC236}">
                      <a16:creationId xmlns:a16="http://schemas.microsoft.com/office/drawing/2014/main" id="{1C75AC45-1744-1FAA-55DD-F541465EAB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900000">
                  <a:off x="1882" y="2872"/>
                  <a:ext cx="404" cy="342"/>
                </a:xfrm>
                <a:custGeom>
                  <a:avLst/>
                  <a:gdLst>
                    <a:gd name="T0" fmla="*/ 196 w 408"/>
                    <a:gd name="T1" fmla="*/ 378 h 378"/>
                    <a:gd name="T2" fmla="*/ 300 w 408"/>
                    <a:gd name="T3" fmla="*/ 370 h 3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08" h="378">
                      <a:moveTo>
                        <a:pt x="196" y="378"/>
                      </a:moveTo>
                      <a:cubicBezTo>
                        <a:pt x="0" y="79"/>
                        <a:pt x="408" y="0"/>
                        <a:pt x="300" y="370"/>
                      </a:cubicBezTo>
                    </a:path>
                  </a:pathLst>
                </a:custGeom>
                <a:noFill/>
                <a:ln w="7620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10" name="Freeform 46">
                  <a:extLst>
                    <a:ext uri="{FF2B5EF4-FFF2-40B4-BE49-F238E27FC236}">
                      <a16:creationId xmlns:a16="http://schemas.microsoft.com/office/drawing/2014/main" id="{2E3470CA-A8F0-C4AD-D3E2-3D17BDBB17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2168" y="3166"/>
                  <a:ext cx="36" cy="44"/>
                </a:xfrm>
                <a:custGeom>
                  <a:avLst/>
                  <a:gdLst>
                    <a:gd name="T0" fmla="*/ 0 w 36"/>
                    <a:gd name="T1" fmla="*/ 42 h 42"/>
                    <a:gd name="T2" fmla="*/ 36 w 36"/>
                    <a:gd name="T3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6" h="42">
                      <a:moveTo>
                        <a:pt x="0" y="42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11" name="Freeform 47">
                  <a:extLst>
                    <a:ext uri="{FF2B5EF4-FFF2-40B4-BE49-F238E27FC236}">
                      <a16:creationId xmlns:a16="http://schemas.microsoft.com/office/drawing/2014/main" id="{65CB22BD-7534-2ECD-6315-D381708EEA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2162" y="3165"/>
                  <a:ext cx="3" cy="50"/>
                </a:xfrm>
                <a:custGeom>
                  <a:avLst/>
                  <a:gdLst>
                    <a:gd name="T0" fmla="*/ 0 w 3"/>
                    <a:gd name="T1" fmla="*/ 0 h 48"/>
                    <a:gd name="T2" fmla="*/ 3 w 3"/>
                    <a:gd name="T3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8">
                      <a:moveTo>
                        <a:pt x="0" y="0"/>
                      </a:moveTo>
                      <a:lnTo>
                        <a:pt x="3" y="4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512" name="Text Box 48">
                <a:extLst>
                  <a:ext uri="{FF2B5EF4-FFF2-40B4-BE49-F238E27FC236}">
                    <a16:creationId xmlns:a16="http://schemas.microsoft.com/office/drawing/2014/main" id="{5600BE22-0966-FA38-2E30-7D835CEB79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4" y="2824"/>
                <a:ext cx="56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200"/>
                  <a:t>b</a:t>
                </a:r>
                <a:endParaRPr lang="en-US" altLang="en-US"/>
              </a:p>
            </p:txBody>
          </p:sp>
          <p:grpSp>
            <p:nvGrpSpPr>
              <p:cNvPr id="318513" name="Group 49">
                <a:extLst>
                  <a:ext uri="{FF2B5EF4-FFF2-40B4-BE49-F238E27FC236}">
                    <a16:creationId xmlns:a16="http://schemas.microsoft.com/office/drawing/2014/main" id="{85ED088B-C554-16E9-E904-BFA8FC6B20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680"/>
                <a:ext cx="530" cy="387"/>
                <a:chOff x="864" y="2680"/>
                <a:chExt cx="530" cy="387"/>
              </a:xfrm>
            </p:grpSpPr>
            <p:sp>
              <p:nvSpPr>
                <p:cNvPr id="318514" name="Oval 50">
                  <a:extLst>
                    <a:ext uri="{FF2B5EF4-FFF2-40B4-BE49-F238E27FC236}">
                      <a16:creationId xmlns:a16="http://schemas.microsoft.com/office/drawing/2014/main" id="{28BF4D2B-5BC9-8317-ABF5-B4BDDBE12D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7" y="2689"/>
                  <a:ext cx="377" cy="37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 sz="21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515" name="Text Box 51">
                  <a:extLst>
                    <a:ext uri="{FF2B5EF4-FFF2-40B4-BE49-F238E27FC236}">
                      <a16:creationId xmlns:a16="http://schemas.microsoft.com/office/drawing/2014/main" id="{78DCEBF3-C518-A86B-F838-C5B217DED3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680"/>
                  <a:ext cx="530" cy="3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1100">
                      <a:solidFill>
                        <a:srgbClr val="000000"/>
                      </a:solidFill>
                    </a:rPr>
                    <a:t>    </a:t>
                  </a:r>
                </a:p>
                <a:p>
                  <a:r>
                    <a:rPr kumimoji="1" lang="en-US" altLang="en-US" sz="1600">
                      <a:latin typeface="Tahoma" panose="020B0604030504040204" pitchFamily="34" charset="0"/>
                      <a:sym typeface="Symbol" panose="05050102010706020507" pitchFamily="18" charset="2"/>
                    </a:rPr>
                    <a:t>1–</a:t>
                  </a:r>
                  <a:endParaRPr lang="en-US" altLang="en-US" sz="1100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318516" name="Freeform 52">
              <a:extLst>
                <a:ext uri="{FF2B5EF4-FFF2-40B4-BE49-F238E27FC236}">
                  <a16:creationId xmlns:a16="http://schemas.microsoft.com/office/drawing/2014/main" id="{A6373B8E-C3EE-CC49-79FA-7BB1F50E5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2088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17" name="Freeform 53">
              <a:extLst>
                <a:ext uri="{FF2B5EF4-FFF2-40B4-BE49-F238E27FC236}">
                  <a16:creationId xmlns:a16="http://schemas.microsoft.com/office/drawing/2014/main" id="{F2246377-168D-C071-F38D-41F013702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050"/>
              <a:ext cx="1267" cy="322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AED20-7604-DCAD-AC82-28AD78A3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63BF-6A6C-4972-867D-2BD979CFCB1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215F19CD-7CC4-2585-95CA-23E651111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Example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61FE6566-BD7B-B821-DF80-10F486DEE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Consider the Language L , defined over 	     </a:t>
            </a:r>
            <a:r>
              <a:rPr lang="el-GR" altLang="en-US" dirty="0"/>
              <a:t>Σ</a:t>
            </a:r>
            <a:r>
              <a:rPr lang="en-US" altLang="en-US" dirty="0"/>
              <a:t> = {a, b} of </a:t>
            </a:r>
            <a:r>
              <a:rPr lang="en-US" altLang="en-US" b="1" dirty="0"/>
              <a:t>all strings including </a:t>
            </a:r>
            <a:r>
              <a:rPr lang="el-GR" altLang="en-US" b="1" dirty="0"/>
              <a:t>Λ</a:t>
            </a:r>
            <a:r>
              <a:rPr lang="en-US" altLang="en-US" dirty="0"/>
              <a:t>,  The language L may be accepted by the following FA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language L may also be accepted by the following FA </a:t>
            </a:r>
          </a:p>
        </p:txBody>
      </p:sp>
      <p:grpSp>
        <p:nvGrpSpPr>
          <p:cNvPr id="328738" name="Group 34">
            <a:extLst>
              <a:ext uri="{FF2B5EF4-FFF2-40B4-BE49-F238E27FC236}">
                <a16:creationId xmlns:a16="http://schemas.microsoft.com/office/drawing/2014/main" id="{CE48EC25-FDBB-5E4A-A3D5-73D709AA37D7}"/>
              </a:ext>
            </a:extLst>
          </p:cNvPr>
          <p:cNvGrpSpPr>
            <a:grpSpLocks/>
          </p:cNvGrpSpPr>
          <p:nvPr/>
        </p:nvGrpSpPr>
        <p:grpSpPr bwMode="auto">
          <a:xfrm>
            <a:off x="3505201" y="3124202"/>
            <a:ext cx="4381500" cy="1370013"/>
            <a:chOff x="1104" y="2208"/>
            <a:chExt cx="2760" cy="863"/>
          </a:xfrm>
        </p:grpSpPr>
        <p:sp>
          <p:nvSpPr>
            <p:cNvPr id="328718" name="Text Box 14">
              <a:extLst>
                <a:ext uri="{FF2B5EF4-FFF2-40B4-BE49-F238E27FC236}">
                  <a16:creationId xmlns:a16="http://schemas.microsoft.com/office/drawing/2014/main" id="{25654AD5-C0E1-E037-73B0-8E6CD2873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" y="2208"/>
              <a:ext cx="48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328720" name="Oval 16">
              <a:extLst>
                <a:ext uri="{FF2B5EF4-FFF2-40B4-BE49-F238E27FC236}">
                  <a16:creationId xmlns:a16="http://schemas.microsoft.com/office/drawing/2014/main" id="{1A3D04FD-2ECB-1801-9C3E-B61BD2748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690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721" name="Text Box 17">
              <a:extLst>
                <a:ext uri="{FF2B5EF4-FFF2-40B4-BE49-F238E27FC236}">
                  <a16:creationId xmlns:a16="http://schemas.microsoft.com/office/drawing/2014/main" id="{9F812566-F880-C64C-D81A-60AAE159E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2636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 </a:t>
              </a:r>
              <a:r>
                <a:rPr lang="en-US" altLang="en-US" sz="1500">
                  <a:solidFill>
                    <a:srgbClr val="000000"/>
                  </a:solidFill>
                </a:rPr>
                <a:t>2</a:t>
              </a:r>
              <a:r>
                <a:rPr lang="en-US" altLang="en-US" sz="2100">
                  <a:solidFill>
                    <a:srgbClr val="000000"/>
                  </a:solidFill>
                </a:rPr>
                <a:t>+</a:t>
              </a:r>
              <a:endParaRPr lang="en-US" altLang="en-US" sz="4400"/>
            </a:p>
          </p:txBody>
        </p:sp>
        <p:grpSp>
          <p:nvGrpSpPr>
            <p:cNvPr id="328736" name="Group 32">
              <a:extLst>
                <a:ext uri="{FF2B5EF4-FFF2-40B4-BE49-F238E27FC236}">
                  <a16:creationId xmlns:a16="http://schemas.microsoft.com/office/drawing/2014/main" id="{F2254B09-FB68-B365-6A34-6DC023F10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628"/>
              <a:ext cx="566" cy="443"/>
              <a:chOff x="-1908" y="2640"/>
              <a:chExt cx="566" cy="443"/>
            </a:xfrm>
          </p:grpSpPr>
          <p:sp>
            <p:nvSpPr>
              <p:cNvPr id="328723" name="Oval 19">
                <a:extLst>
                  <a:ext uri="{FF2B5EF4-FFF2-40B4-BE49-F238E27FC236}">
                    <a16:creationId xmlns:a16="http://schemas.microsoft.com/office/drawing/2014/main" id="{603DD32E-C60E-AA2A-AA09-ED79DB39C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896" y="2680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328724" name="Text Box 20">
                <a:extLst>
                  <a:ext uri="{FF2B5EF4-FFF2-40B4-BE49-F238E27FC236}">
                    <a16:creationId xmlns:a16="http://schemas.microsoft.com/office/drawing/2014/main" id="{BD1E6C03-1F49-36A4-212B-632E62C190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08" y="2640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</a:t>
                </a:r>
              </a:p>
              <a:p>
                <a:pPr algn="l"/>
                <a:r>
                  <a:rPr lang="en-US" altLang="en-US" sz="1300">
                    <a:solidFill>
                      <a:srgbClr val="000000"/>
                    </a:solidFill>
                  </a:rPr>
                  <a:t>     1</a:t>
                </a:r>
                <a:r>
                  <a:rPr lang="en-US" altLang="en-US" sz="2100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</a:t>
                </a:r>
                <a:r>
                  <a:rPr lang="en-US" altLang="en-US" sz="1100">
                    <a:solidFill>
                      <a:srgbClr val="000000"/>
                    </a:solidFill>
                  </a:rPr>
                  <a:t>	</a:t>
                </a:r>
              </a:p>
            </p:txBody>
          </p:sp>
        </p:grpSp>
        <p:sp>
          <p:nvSpPr>
            <p:cNvPr id="328726" name="Text Box 22">
              <a:extLst>
                <a:ext uri="{FF2B5EF4-FFF2-40B4-BE49-F238E27FC236}">
                  <a16:creationId xmlns:a16="http://schemas.microsoft.com/office/drawing/2014/main" id="{0A095793-C026-9385-2C13-FE987A856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2640"/>
              <a:ext cx="3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  <p:sp>
          <p:nvSpPr>
            <p:cNvPr id="328727" name="Freeform 23">
              <a:extLst>
                <a:ext uri="{FF2B5EF4-FFF2-40B4-BE49-F238E27FC236}">
                  <a16:creationId xmlns:a16="http://schemas.microsoft.com/office/drawing/2014/main" id="{5AD78F22-753B-0DE2-2E38-C01565C80B3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24" y="2879"/>
              <a:ext cx="1727" cy="1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8728" name="Group 24">
              <a:extLst>
                <a:ext uri="{FF2B5EF4-FFF2-40B4-BE49-F238E27FC236}">
                  <a16:creationId xmlns:a16="http://schemas.microsoft.com/office/drawing/2014/main" id="{4CEDB4FB-2C44-7513-72A1-EC191B809446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3226" y="2331"/>
              <a:ext cx="432" cy="374"/>
              <a:chOff x="2880" y="3312"/>
              <a:chExt cx="408" cy="336"/>
            </a:xfrm>
          </p:grpSpPr>
          <p:sp>
            <p:nvSpPr>
              <p:cNvPr id="328729" name="Freeform 25">
                <a:extLst>
                  <a:ext uri="{FF2B5EF4-FFF2-40B4-BE49-F238E27FC236}">
                    <a16:creationId xmlns:a16="http://schemas.microsoft.com/office/drawing/2014/main" id="{3C478230-6545-A0E9-5571-ACC29E1ED626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730" name="Freeform 26">
                <a:extLst>
                  <a:ext uri="{FF2B5EF4-FFF2-40B4-BE49-F238E27FC236}">
                    <a16:creationId xmlns:a16="http://schemas.microsoft.com/office/drawing/2014/main" id="{35FDAF7E-EB80-6DE0-9B72-7245B86DE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731" name="Freeform 27">
                <a:extLst>
                  <a:ext uri="{FF2B5EF4-FFF2-40B4-BE49-F238E27FC236}">
                    <a16:creationId xmlns:a16="http://schemas.microsoft.com/office/drawing/2014/main" id="{FA221458-B6CC-5BD8-B19B-26D5199D8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F307-2EE9-A5B7-D497-4F01416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B830-3707-49C1-861B-0FBA31555AB4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F9E6E316-BFB1-27D6-E5CA-D37EF84D9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Continued …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ACBCFBFD-B22D-996A-9BD1-A38B11613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The language L may be expressed by the following regular expression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 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 			(a + b)</a:t>
            </a:r>
            <a:r>
              <a:rPr lang="en-US" altLang="en-US" baseline="40000"/>
              <a:t>*</a:t>
            </a:r>
            <a:endParaRPr lang="en-US" altLang="en-US"/>
          </a:p>
          <a:p>
            <a:endParaRPr lang="en-US" altLang="en-US"/>
          </a:p>
        </p:txBody>
      </p:sp>
      <p:grpSp>
        <p:nvGrpSpPr>
          <p:cNvPr id="329732" name="Group 4">
            <a:extLst>
              <a:ext uri="{FF2B5EF4-FFF2-40B4-BE49-F238E27FC236}">
                <a16:creationId xmlns:a16="http://schemas.microsoft.com/office/drawing/2014/main" id="{2DAD6437-E420-4ED5-3019-695938909896}"/>
              </a:ext>
            </a:extLst>
          </p:cNvPr>
          <p:cNvGrpSpPr>
            <a:grpSpLocks/>
          </p:cNvGrpSpPr>
          <p:nvPr/>
        </p:nvGrpSpPr>
        <p:grpSpPr bwMode="auto">
          <a:xfrm>
            <a:off x="5562601" y="1600201"/>
            <a:ext cx="1022351" cy="1358900"/>
            <a:chOff x="628" y="2208"/>
            <a:chExt cx="644" cy="856"/>
          </a:xfrm>
        </p:grpSpPr>
        <p:sp>
          <p:nvSpPr>
            <p:cNvPr id="329733" name="Text Box 5">
              <a:extLst>
                <a:ext uri="{FF2B5EF4-FFF2-40B4-BE49-F238E27FC236}">
                  <a16:creationId xmlns:a16="http://schemas.microsoft.com/office/drawing/2014/main" id="{A5A42780-A684-739C-4C50-45B360B0E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" y="2208"/>
              <a:ext cx="48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329734" name="Oval 6">
              <a:extLst>
                <a:ext uri="{FF2B5EF4-FFF2-40B4-BE49-F238E27FC236}">
                  <a16:creationId xmlns:a16="http://schemas.microsoft.com/office/drawing/2014/main" id="{3AFE6505-E5F0-588E-4A13-CA1CD1336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2690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735" name="Text Box 7">
              <a:extLst>
                <a:ext uri="{FF2B5EF4-FFF2-40B4-BE49-F238E27FC236}">
                  <a16:creationId xmlns:a16="http://schemas.microsoft.com/office/drawing/2014/main" id="{C516057E-E1FE-E3D3-402D-887AFCF21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" y="2636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 </a:t>
              </a:r>
              <a:r>
                <a:rPr lang="en-US" altLang="en-US" sz="2100">
                  <a:solidFill>
                    <a:srgbClr val="000000"/>
                  </a:solidFill>
                  <a:sym typeface="Symbol" panose="05050102010706020507" pitchFamily="18" charset="2"/>
                </a:rPr>
                <a:t></a:t>
              </a:r>
              <a:endParaRPr lang="en-US" altLang="en-US" sz="4400"/>
            </a:p>
          </p:txBody>
        </p:sp>
        <p:grpSp>
          <p:nvGrpSpPr>
            <p:cNvPr id="329736" name="Group 8">
              <a:extLst>
                <a:ext uri="{FF2B5EF4-FFF2-40B4-BE49-F238E27FC236}">
                  <a16:creationId xmlns:a16="http://schemas.microsoft.com/office/drawing/2014/main" id="{69D3FAC3-B746-D61D-F86C-B58E22E181B5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634" y="2331"/>
              <a:ext cx="432" cy="374"/>
              <a:chOff x="2880" y="3312"/>
              <a:chExt cx="408" cy="336"/>
            </a:xfrm>
          </p:grpSpPr>
          <p:sp>
            <p:nvSpPr>
              <p:cNvPr id="329737" name="Freeform 9">
                <a:extLst>
                  <a:ext uri="{FF2B5EF4-FFF2-40B4-BE49-F238E27FC236}">
                    <a16:creationId xmlns:a16="http://schemas.microsoft.com/office/drawing/2014/main" id="{70EEFA49-5627-1441-8391-01F95712A77C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738" name="Freeform 10">
                <a:extLst>
                  <a:ext uri="{FF2B5EF4-FFF2-40B4-BE49-F238E27FC236}">
                    <a16:creationId xmlns:a16="http://schemas.microsoft.com/office/drawing/2014/main" id="{1551C53A-9220-3673-D0A1-EAE4BF638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739" name="Freeform 11">
                <a:extLst>
                  <a:ext uri="{FF2B5EF4-FFF2-40B4-BE49-F238E27FC236}">
                    <a16:creationId xmlns:a16="http://schemas.microsoft.com/office/drawing/2014/main" id="{2F190149-26B7-2DA9-DE5B-22DA2971E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148EF-ADA2-AA9D-453E-003AEA33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4113-AFEB-40B2-ABAA-45C2BDF5A4E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61F24FA9-8284-CEF5-8E3E-7C1101497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F3A54C4C-72AA-B2FF-04C5-14F6EA821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Consider the Language L , defined over 	     </a:t>
            </a:r>
            <a:r>
              <a:rPr lang="el-GR" altLang="en-US"/>
              <a:t>Σ</a:t>
            </a:r>
            <a:r>
              <a:rPr lang="en-US" altLang="en-US"/>
              <a:t> = {a, b} of </a:t>
            </a:r>
            <a:r>
              <a:rPr lang="en-US" altLang="en-US" b="1"/>
              <a:t>all non empty strings</a:t>
            </a:r>
            <a:r>
              <a:rPr lang="en-US" altLang="en-US"/>
              <a:t>. The language L may be accepted by the following FA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The above language may be expressed by the following regular expression (a + b)</a:t>
            </a:r>
            <a:r>
              <a:rPr lang="en-US" altLang="en-US" baseline="40000"/>
              <a:t>+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 </a:t>
            </a:r>
          </a:p>
        </p:txBody>
      </p:sp>
      <p:grpSp>
        <p:nvGrpSpPr>
          <p:cNvPr id="330780" name="Group 28">
            <a:extLst>
              <a:ext uri="{FF2B5EF4-FFF2-40B4-BE49-F238E27FC236}">
                <a16:creationId xmlns:a16="http://schemas.microsoft.com/office/drawing/2014/main" id="{DFAD76C9-8482-1C75-9897-B6DD3866A8B5}"/>
              </a:ext>
            </a:extLst>
          </p:cNvPr>
          <p:cNvGrpSpPr>
            <a:grpSpLocks/>
          </p:cNvGrpSpPr>
          <p:nvPr/>
        </p:nvGrpSpPr>
        <p:grpSpPr bwMode="auto">
          <a:xfrm>
            <a:off x="3105151" y="3429002"/>
            <a:ext cx="4343400" cy="1370013"/>
            <a:chOff x="996" y="2160"/>
            <a:chExt cx="2736" cy="863"/>
          </a:xfrm>
        </p:grpSpPr>
        <p:sp>
          <p:nvSpPr>
            <p:cNvPr id="330767" name="Text Box 15">
              <a:extLst>
                <a:ext uri="{FF2B5EF4-FFF2-40B4-BE49-F238E27FC236}">
                  <a16:creationId xmlns:a16="http://schemas.microsoft.com/office/drawing/2014/main" id="{B306DBD2-C476-7B94-A01C-E6E5F2CAE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" y="2160"/>
              <a:ext cx="48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330768" name="Oval 16">
              <a:extLst>
                <a:ext uri="{FF2B5EF4-FFF2-40B4-BE49-F238E27FC236}">
                  <a16:creationId xmlns:a16="http://schemas.microsoft.com/office/drawing/2014/main" id="{F911AF68-C914-0973-91B1-7B2051D3D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642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69" name="Text Box 17">
              <a:extLst>
                <a:ext uri="{FF2B5EF4-FFF2-40B4-BE49-F238E27FC236}">
                  <a16:creationId xmlns:a16="http://schemas.microsoft.com/office/drawing/2014/main" id="{68B31A39-4509-C0D2-406C-D2BF711AD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2588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 </a:t>
              </a:r>
              <a:r>
                <a:rPr lang="en-US" altLang="en-US" sz="2100">
                  <a:solidFill>
                    <a:srgbClr val="000000"/>
                  </a:solidFill>
                </a:rPr>
                <a:t>+</a:t>
              </a:r>
              <a:endParaRPr lang="en-US" altLang="en-US" sz="4400"/>
            </a:p>
          </p:txBody>
        </p:sp>
        <p:sp>
          <p:nvSpPr>
            <p:cNvPr id="330771" name="Oval 19">
              <a:extLst>
                <a:ext uri="{FF2B5EF4-FFF2-40B4-BE49-F238E27FC236}">
                  <a16:creationId xmlns:a16="http://schemas.microsoft.com/office/drawing/2014/main" id="{783315BF-99EC-A08C-59E3-1B3514DC5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620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330772" name="Text Box 20">
              <a:extLst>
                <a:ext uri="{FF2B5EF4-FFF2-40B4-BE49-F238E27FC236}">
                  <a16:creationId xmlns:a16="http://schemas.microsoft.com/office/drawing/2014/main" id="{370B87CC-231E-0A11-7BB7-7630F5A35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2580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pPr algn="l"/>
              <a:r>
                <a:rPr lang="en-US" altLang="en-US" sz="1300">
                  <a:solidFill>
                    <a:srgbClr val="000000"/>
                  </a:solidFill>
                </a:rPr>
                <a:t>     </a:t>
              </a:r>
              <a:r>
                <a:rPr lang="en-US" altLang="en-US" sz="2100">
                  <a:solidFill>
                    <a:srgbClr val="000000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r>
                <a:rPr lang="en-US" altLang="en-US" sz="1100">
                  <a:solidFill>
                    <a:srgbClr val="000000"/>
                  </a:solidFill>
                </a:rPr>
                <a:t>	</a:t>
              </a:r>
            </a:p>
          </p:txBody>
        </p:sp>
        <p:sp>
          <p:nvSpPr>
            <p:cNvPr id="330773" name="Text Box 21">
              <a:extLst>
                <a:ext uri="{FF2B5EF4-FFF2-40B4-BE49-F238E27FC236}">
                  <a16:creationId xmlns:a16="http://schemas.microsoft.com/office/drawing/2014/main" id="{CAEC9286-0942-D11E-B684-B35435936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" y="2592"/>
              <a:ext cx="3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  <p:sp>
          <p:nvSpPr>
            <p:cNvPr id="330774" name="Freeform 22">
              <a:extLst>
                <a:ext uri="{FF2B5EF4-FFF2-40B4-BE49-F238E27FC236}">
                  <a16:creationId xmlns:a16="http://schemas.microsoft.com/office/drawing/2014/main" id="{974A9A83-F113-2CFD-FBFD-0931ED6C977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16" y="2831"/>
              <a:ext cx="1727" cy="1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6" name="Freeform 24">
              <a:extLst>
                <a:ext uri="{FF2B5EF4-FFF2-40B4-BE49-F238E27FC236}">
                  <a16:creationId xmlns:a16="http://schemas.microsoft.com/office/drawing/2014/main" id="{6221AAD6-9BDF-A087-163D-BF09178C4043}"/>
                </a:ext>
              </a:extLst>
            </p:cNvPr>
            <p:cNvSpPr>
              <a:spLocks/>
            </p:cNvSpPr>
            <p:nvPr/>
          </p:nvSpPr>
          <p:spPr bwMode="auto">
            <a:xfrm rot="21900000">
              <a:off x="3093" y="2283"/>
              <a:ext cx="432" cy="365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7" name="Freeform 25">
              <a:extLst>
                <a:ext uri="{FF2B5EF4-FFF2-40B4-BE49-F238E27FC236}">
                  <a16:creationId xmlns:a16="http://schemas.microsoft.com/office/drawing/2014/main" id="{AB380EDC-6D46-1DA0-8FB2-34A44A62B88F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3399" y="2598"/>
              <a:ext cx="38" cy="47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8" name="Freeform 26">
              <a:extLst>
                <a:ext uri="{FF2B5EF4-FFF2-40B4-BE49-F238E27FC236}">
                  <a16:creationId xmlns:a16="http://schemas.microsoft.com/office/drawing/2014/main" id="{C676E7E2-BD7A-B158-624B-93EEEA35F55B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3393" y="2597"/>
              <a:ext cx="3" cy="53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EFE0-57B0-588A-B53A-5CBED6A5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4FA1-C701-4450-B8F8-D9A9035D6710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87426" name="Rectangle 1026">
            <a:extLst>
              <a:ext uri="{FF2B5EF4-FFF2-40B4-BE49-F238E27FC236}">
                <a16:creationId xmlns:a16="http://schemas.microsoft.com/office/drawing/2014/main" id="{AB222E46-DF1B-C01A-9978-27A15BB53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</a:t>
            </a:r>
          </a:p>
        </p:txBody>
      </p:sp>
      <p:sp>
        <p:nvSpPr>
          <p:cNvPr id="487427" name="Rectangle 1027">
            <a:extLst>
              <a:ext uri="{FF2B5EF4-FFF2-40B4-BE49-F238E27FC236}">
                <a16:creationId xmlns:a16="http://schemas.microsoft.com/office/drawing/2014/main" id="{9321E139-FFDF-D952-3DCA-D090FF3D8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Consider the following FA, defined over	     </a:t>
            </a:r>
            <a:r>
              <a:rPr lang="el-GR" altLang="en-US"/>
              <a:t>Σ</a:t>
            </a:r>
            <a:r>
              <a:rPr lang="en-US" altLang="en-US"/>
              <a:t> = {a, b}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It is to be noted that the above FA </a:t>
            </a:r>
            <a:r>
              <a:rPr lang="en-US" altLang="en-US" b="1"/>
              <a:t>does not accept any string</a:t>
            </a:r>
            <a:r>
              <a:rPr lang="en-US" altLang="en-US"/>
              <a:t>. Even it does not accept the null string. As there is no path starting from initial state and ending in final state.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grpSp>
        <p:nvGrpSpPr>
          <p:cNvPr id="487441" name="Group 1041">
            <a:extLst>
              <a:ext uri="{FF2B5EF4-FFF2-40B4-BE49-F238E27FC236}">
                <a16:creationId xmlns:a16="http://schemas.microsoft.com/office/drawing/2014/main" id="{02D7A646-1712-8040-F9C6-78ACB542179C}"/>
              </a:ext>
            </a:extLst>
          </p:cNvPr>
          <p:cNvGrpSpPr>
            <a:grpSpLocks/>
          </p:cNvGrpSpPr>
          <p:nvPr/>
        </p:nvGrpSpPr>
        <p:grpSpPr bwMode="auto">
          <a:xfrm>
            <a:off x="4222749" y="3048000"/>
            <a:ext cx="4311651" cy="1219200"/>
            <a:chOff x="1536" y="1754"/>
            <a:chExt cx="2716" cy="768"/>
          </a:xfrm>
        </p:grpSpPr>
        <p:grpSp>
          <p:nvGrpSpPr>
            <p:cNvPr id="487428" name="Group 1028">
              <a:extLst>
                <a:ext uri="{FF2B5EF4-FFF2-40B4-BE49-F238E27FC236}">
                  <a16:creationId xmlns:a16="http://schemas.microsoft.com/office/drawing/2014/main" id="{9523FA5A-BE8E-0107-2A7C-F4745EB379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776"/>
              <a:ext cx="2716" cy="746"/>
              <a:chOff x="1056" y="2379"/>
              <a:chExt cx="2716" cy="746"/>
            </a:xfrm>
          </p:grpSpPr>
          <p:sp>
            <p:nvSpPr>
              <p:cNvPr id="487429" name="Oval 1029">
                <a:extLst>
                  <a:ext uri="{FF2B5EF4-FFF2-40B4-BE49-F238E27FC236}">
                    <a16:creationId xmlns:a16="http://schemas.microsoft.com/office/drawing/2014/main" id="{59F2EDA7-5379-A57C-4E98-D2E0C3EC0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" y="2738"/>
                <a:ext cx="374" cy="3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430" name="Text Box 1030">
                <a:extLst>
                  <a:ext uri="{FF2B5EF4-FFF2-40B4-BE49-F238E27FC236}">
                    <a16:creationId xmlns:a16="http://schemas.microsoft.com/office/drawing/2014/main" id="{85CCA892-D810-019A-5AB9-DBC831034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8" y="2678"/>
                <a:ext cx="566" cy="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</a:t>
                </a:r>
              </a:p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  </a:t>
                </a:r>
                <a:r>
                  <a:rPr lang="en-US" altLang="en-US" sz="21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–</a:t>
                </a:r>
                <a:endParaRPr lang="en-US" altLang="en-US" sz="4400"/>
              </a:p>
            </p:txBody>
          </p:sp>
          <p:grpSp>
            <p:nvGrpSpPr>
              <p:cNvPr id="487431" name="Group 1031">
                <a:extLst>
                  <a:ext uri="{FF2B5EF4-FFF2-40B4-BE49-F238E27FC236}">
                    <a16:creationId xmlns:a16="http://schemas.microsoft.com/office/drawing/2014/main" id="{03B8E52D-DEF1-3E04-1746-6EE062891C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6" y="2694"/>
                <a:ext cx="566" cy="431"/>
                <a:chOff x="118" y="2688"/>
                <a:chExt cx="566" cy="431"/>
              </a:xfrm>
            </p:grpSpPr>
            <p:sp>
              <p:nvSpPr>
                <p:cNvPr id="487432" name="Oval 1032">
                  <a:extLst>
                    <a:ext uri="{FF2B5EF4-FFF2-40B4-BE49-F238E27FC236}">
                      <a16:creationId xmlns:a16="http://schemas.microsoft.com/office/drawing/2014/main" id="{85F40F7B-3FDD-F289-836E-9DC574CA2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" y="2716"/>
                  <a:ext cx="403" cy="40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 sz="21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7433" name="Text Box 1033">
                  <a:extLst>
                    <a:ext uri="{FF2B5EF4-FFF2-40B4-BE49-F238E27FC236}">
                      <a16:creationId xmlns:a16="http://schemas.microsoft.com/office/drawing/2014/main" id="{B77F04ED-56D5-1338-02E2-FB3F1EA2B0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" y="2688"/>
                  <a:ext cx="566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/>
                  <a:r>
                    <a:rPr lang="en-US" altLang="en-US" sz="1100">
                      <a:solidFill>
                        <a:srgbClr val="000000"/>
                      </a:solidFill>
                    </a:rPr>
                    <a:t>    </a:t>
                  </a:r>
                </a:p>
                <a:p>
                  <a:pPr algn="l"/>
                  <a:r>
                    <a:rPr lang="en-US" altLang="en-US" sz="1300">
                      <a:solidFill>
                        <a:srgbClr val="000000"/>
                      </a:solidFill>
                    </a:rPr>
                    <a:t>     </a:t>
                  </a:r>
                  <a:r>
                    <a:rPr lang="en-US" altLang="en-US" sz="2100">
                      <a:solidFill>
                        <a:srgbClr val="000000"/>
                      </a:solidFill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+</a:t>
                  </a:r>
                  <a:r>
                    <a:rPr lang="en-US" altLang="en-US" sz="1100">
                      <a:solidFill>
                        <a:srgbClr val="000000"/>
                      </a:solidFill>
                    </a:rPr>
                    <a:t>	</a:t>
                  </a:r>
                </a:p>
              </p:txBody>
            </p:sp>
          </p:grpSp>
          <p:sp>
            <p:nvSpPr>
              <p:cNvPr id="487434" name="Text Box 1034">
                <a:extLst>
                  <a:ext uri="{FF2B5EF4-FFF2-40B4-BE49-F238E27FC236}">
                    <a16:creationId xmlns:a16="http://schemas.microsoft.com/office/drawing/2014/main" id="{9B83ECB1-A891-65F5-7114-C7F209DEBC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2688"/>
                <a:ext cx="372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100">
                    <a:solidFill>
                      <a:srgbClr val="000000"/>
                    </a:solidFill>
                  </a:rPr>
                  <a:t>a,b</a:t>
                </a:r>
                <a:endParaRPr lang="en-US" altLang="en-US" sz="4400"/>
              </a:p>
            </p:txBody>
          </p:sp>
          <p:sp>
            <p:nvSpPr>
              <p:cNvPr id="487435" name="Freeform 1035">
                <a:extLst>
                  <a:ext uri="{FF2B5EF4-FFF2-40B4-BE49-F238E27FC236}">
                    <a16:creationId xmlns:a16="http://schemas.microsoft.com/office/drawing/2014/main" id="{B1729EF2-A8AC-EB79-8EF4-601A84B9D0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1" y="2927"/>
                <a:ext cx="1727" cy="1"/>
              </a:xfrm>
              <a:custGeom>
                <a:avLst/>
                <a:gdLst>
                  <a:gd name="T0" fmla="*/ 0 w 2176"/>
                  <a:gd name="T1" fmla="*/ 336 h 336"/>
                  <a:gd name="T2" fmla="*/ 2176 w 2176"/>
                  <a:gd name="T3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76" h="336">
                    <a:moveTo>
                      <a:pt x="0" y="336"/>
                    </a:moveTo>
                    <a:cubicBezTo>
                      <a:pt x="558" y="66"/>
                      <a:pt x="1458" y="0"/>
                      <a:pt x="2176" y="33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7436" name="Group 1036">
                <a:extLst>
                  <a:ext uri="{FF2B5EF4-FFF2-40B4-BE49-F238E27FC236}">
                    <a16:creationId xmlns:a16="http://schemas.microsoft.com/office/drawing/2014/main" id="{4DDF3622-D3F7-7C3F-F63C-10D74E46ED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1300000">
                <a:off x="1056" y="2379"/>
                <a:ext cx="432" cy="374"/>
                <a:chOff x="2880" y="3312"/>
                <a:chExt cx="408" cy="336"/>
              </a:xfrm>
            </p:grpSpPr>
            <p:sp>
              <p:nvSpPr>
                <p:cNvPr id="487437" name="Freeform 1037">
                  <a:extLst>
                    <a:ext uri="{FF2B5EF4-FFF2-40B4-BE49-F238E27FC236}">
                      <a16:creationId xmlns:a16="http://schemas.microsoft.com/office/drawing/2014/main" id="{4E64FC19-67E0-8234-F19E-E23BD90A32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600000">
                  <a:off x="2880" y="3312"/>
                  <a:ext cx="408" cy="328"/>
                </a:xfrm>
                <a:custGeom>
                  <a:avLst/>
                  <a:gdLst>
                    <a:gd name="T0" fmla="*/ 196 w 408"/>
                    <a:gd name="T1" fmla="*/ 378 h 378"/>
                    <a:gd name="T2" fmla="*/ 300 w 408"/>
                    <a:gd name="T3" fmla="*/ 370 h 3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08" h="378">
                      <a:moveTo>
                        <a:pt x="196" y="378"/>
                      </a:moveTo>
                      <a:cubicBezTo>
                        <a:pt x="0" y="79"/>
                        <a:pt x="408" y="0"/>
                        <a:pt x="300" y="370"/>
                      </a:cubicBezTo>
                    </a:path>
                  </a:pathLst>
                </a:custGeom>
                <a:noFill/>
                <a:ln w="7620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438" name="Freeform 1038">
                  <a:extLst>
                    <a:ext uri="{FF2B5EF4-FFF2-40B4-BE49-F238E27FC236}">
                      <a16:creationId xmlns:a16="http://schemas.microsoft.com/office/drawing/2014/main" id="{D4CCBB81-0E6D-D044-F534-8A07238155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6" y="3603"/>
                  <a:ext cx="36" cy="42"/>
                </a:xfrm>
                <a:custGeom>
                  <a:avLst/>
                  <a:gdLst>
                    <a:gd name="T0" fmla="*/ 0 w 36"/>
                    <a:gd name="T1" fmla="*/ 42 h 42"/>
                    <a:gd name="T2" fmla="*/ 36 w 36"/>
                    <a:gd name="T3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6" h="42">
                      <a:moveTo>
                        <a:pt x="0" y="42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439" name="Freeform 1039">
                  <a:extLst>
                    <a:ext uri="{FF2B5EF4-FFF2-40B4-BE49-F238E27FC236}">
                      <a16:creationId xmlns:a16="http://schemas.microsoft.com/office/drawing/2014/main" id="{8058D54A-AEF0-421C-8A23-28D97893B7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0" y="3600"/>
                  <a:ext cx="3" cy="48"/>
                </a:xfrm>
                <a:custGeom>
                  <a:avLst/>
                  <a:gdLst>
                    <a:gd name="T0" fmla="*/ 0 w 3"/>
                    <a:gd name="T1" fmla="*/ 0 h 48"/>
                    <a:gd name="T2" fmla="*/ 3 w 3"/>
                    <a:gd name="T3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8">
                      <a:moveTo>
                        <a:pt x="0" y="0"/>
                      </a:moveTo>
                      <a:lnTo>
                        <a:pt x="3" y="4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87440" name="Text Box 1040">
              <a:extLst>
                <a:ext uri="{FF2B5EF4-FFF2-40B4-BE49-F238E27FC236}">
                  <a16:creationId xmlns:a16="http://schemas.microsoft.com/office/drawing/2014/main" id="{1DFB7DD1-462D-9A5C-593D-D1F0A3468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1" y="1754"/>
              <a:ext cx="29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a,b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46648-8940-3A0A-1CFC-08D84345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039C-2709-476E-B46A-5F2C9F2FE13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85378" name="Rectangle 1026">
            <a:extLst>
              <a:ext uri="{FF2B5EF4-FFF2-40B4-BE49-F238E27FC236}">
                <a16:creationId xmlns:a16="http://schemas.microsoft.com/office/drawing/2014/main" id="{A631E9DE-C402-46F6-A3A4-83B51B72E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b="1"/>
              <a:t>Equivalent FAs</a:t>
            </a:r>
          </a:p>
        </p:txBody>
      </p:sp>
      <p:sp>
        <p:nvSpPr>
          <p:cNvPr id="485379" name="Rectangle 1027">
            <a:extLst>
              <a:ext uri="{FF2B5EF4-FFF2-40B4-BE49-F238E27FC236}">
                <a16:creationId xmlns:a16="http://schemas.microsoft.com/office/drawing/2014/main" id="{7849FBDE-B1E5-0359-193B-B091A274B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r>
              <a:rPr lang="en-US" altLang="en-US" sz="3200"/>
              <a:t>It is to be noted that two FAs are said to be equivalent, if they accept the same language, as shown in the following FAs.</a:t>
            </a:r>
          </a:p>
          <a:p>
            <a:pPr>
              <a:buFont typeface="Monotype Sorts" pitchFamily="2" charset="2"/>
              <a:buNone/>
            </a:pPr>
            <a:endParaRPr lang="en-US" altLang="en-US" sz="32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81D34-2330-CF4A-0152-ED955A47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CC56-D454-487C-92B3-0FD4EC892A3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36561E9E-1465-BB86-3DEA-CDDD2B706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Equivalent FAs Continued …</a:t>
            </a:r>
          </a:p>
        </p:txBody>
      </p:sp>
      <p:grpSp>
        <p:nvGrpSpPr>
          <p:cNvPr id="486416" name="Group 16">
            <a:extLst>
              <a:ext uri="{FF2B5EF4-FFF2-40B4-BE49-F238E27FC236}">
                <a16:creationId xmlns:a16="http://schemas.microsoft.com/office/drawing/2014/main" id="{58DB98F6-794A-570C-840F-AD3245EEA93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516189"/>
            <a:ext cx="3429000" cy="1370012"/>
            <a:chOff x="144" y="1968"/>
            <a:chExt cx="2160" cy="863"/>
          </a:xfrm>
        </p:grpSpPr>
        <p:sp>
          <p:nvSpPr>
            <p:cNvPr id="486417" name="Text Box 17">
              <a:extLst>
                <a:ext uri="{FF2B5EF4-FFF2-40B4-BE49-F238E27FC236}">
                  <a16:creationId xmlns:a16="http://schemas.microsoft.com/office/drawing/2014/main" id="{30C22C1F-C1B4-03E4-CA2E-03344432C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8" y="1968"/>
              <a:ext cx="48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486418" name="Oval 18">
              <a:extLst>
                <a:ext uri="{FF2B5EF4-FFF2-40B4-BE49-F238E27FC236}">
                  <a16:creationId xmlns:a16="http://schemas.microsoft.com/office/drawing/2014/main" id="{E65FC980-6F11-400D-ECAF-D67CDAA9F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" y="2450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6419" name="Text Box 19">
              <a:extLst>
                <a:ext uri="{FF2B5EF4-FFF2-40B4-BE49-F238E27FC236}">
                  <a16:creationId xmlns:a16="http://schemas.microsoft.com/office/drawing/2014/main" id="{C7163F94-1896-C12A-B625-0A300DB82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2" y="2396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 </a:t>
              </a:r>
              <a:r>
                <a:rPr lang="en-US" altLang="en-US" sz="1700">
                  <a:solidFill>
                    <a:srgbClr val="000000"/>
                  </a:solidFill>
                </a:rPr>
                <a:t>2</a:t>
              </a:r>
              <a:endParaRPr lang="en-US" altLang="en-US" sz="6000"/>
            </a:p>
          </p:txBody>
        </p:sp>
        <p:sp>
          <p:nvSpPr>
            <p:cNvPr id="486420" name="Oval 20">
              <a:extLst>
                <a:ext uri="{FF2B5EF4-FFF2-40B4-BE49-F238E27FC236}">
                  <a16:creationId xmlns:a16="http://schemas.microsoft.com/office/drawing/2014/main" id="{CF33C2C8-A0BD-DB61-6048-903C6044A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428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86421" name="Text Box 21">
              <a:extLst>
                <a:ext uri="{FF2B5EF4-FFF2-40B4-BE49-F238E27FC236}">
                  <a16:creationId xmlns:a16="http://schemas.microsoft.com/office/drawing/2014/main" id="{1EB68A26-E839-0849-0971-BD20C9CF8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388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pPr algn="l"/>
              <a:r>
                <a:rPr lang="en-US" altLang="en-US" sz="1300">
                  <a:solidFill>
                    <a:srgbClr val="000000"/>
                  </a:solidFill>
                </a:rPr>
                <a:t>    1</a:t>
              </a:r>
              <a:r>
                <a:rPr lang="en-US" altLang="en-US" sz="2100">
                  <a:solidFill>
                    <a:srgbClr val="000000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r>
                <a:rPr lang="en-US" altLang="en-US" sz="1100">
                  <a:solidFill>
                    <a:srgbClr val="000000"/>
                  </a:solidFill>
                </a:rPr>
                <a:t>	</a:t>
              </a:r>
            </a:p>
          </p:txBody>
        </p:sp>
        <p:sp>
          <p:nvSpPr>
            <p:cNvPr id="486422" name="Text Box 22">
              <a:extLst>
                <a:ext uri="{FF2B5EF4-FFF2-40B4-BE49-F238E27FC236}">
                  <a16:creationId xmlns:a16="http://schemas.microsoft.com/office/drawing/2014/main" id="{EB3A3FEA-1B46-33E7-F151-1F49278D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" y="2399"/>
              <a:ext cx="3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  <p:sp>
          <p:nvSpPr>
            <p:cNvPr id="486423" name="Freeform 23">
              <a:extLst>
                <a:ext uri="{FF2B5EF4-FFF2-40B4-BE49-F238E27FC236}">
                  <a16:creationId xmlns:a16="http://schemas.microsoft.com/office/drawing/2014/main" id="{F3E8E80C-E7FF-6A77-E723-6A4F0333D89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4" y="2639"/>
              <a:ext cx="1152" cy="1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24" name="Freeform 24">
              <a:extLst>
                <a:ext uri="{FF2B5EF4-FFF2-40B4-BE49-F238E27FC236}">
                  <a16:creationId xmlns:a16="http://schemas.microsoft.com/office/drawing/2014/main" id="{1532020F-D27E-12B1-64AB-7E01D0F122CA}"/>
                </a:ext>
              </a:extLst>
            </p:cNvPr>
            <p:cNvSpPr>
              <a:spLocks/>
            </p:cNvSpPr>
            <p:nvPr/>
          </p:nvSpPr>
          <p:spPr bwMode="auto">
            <a:xfrm rot="21900000">
              <a:off x="1665" y="2091"/>
              <a:ext cx="432" cy="365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25" name="Freeform 25">
              <a:extLst>
                <a:ext uri="{FF2B5EF4-FFF2-40B4-BE49-F238E27FC236}">
                  <a16:creationId xmlns:a16="http://schemas.microsoft.com/office/drawing/2014/main" id="{7CEB089A-A525-F829-4A0C-07D6F3F303D8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1971" y="2406"/>
              <a:ext cx="38" cy="47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26" name="Freeform 26">
              <a:extLst>
                <a:ext uri="{FF2B5EF4-FFF2-40B4-BE49-F238E27FC236}">
                  <a16:creationId xmlns:a16="http://schemas.microsoft.com/office/drawing/2014/main" id="{16A7E404-05BF-C1DF-D705-278D2C25AE22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1965" y="2405"/>
              <a:ext cx="3" cy="53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6427" name="Group 27">
            <a:extLst>
              <a:ext uri="{FF2B5EF4-FFF2-40B4-BE49-F238E27FC236}">
                <a16:creationId xmlns:a16="http://schemas.microsoft.com/office/drawing/2014/main" id="{D4099D96-07B3-AEC6-5C1B-411A79F73C5F}"/>
              </a:ext>
            </a:extLst>
          </p:cNvPr>
          <p:cNvGrpSpPr>
            <a:grpSpLocks/>
          </p:cNvGrpSpPr>
          <p:nvPr/>
        </p:nvGrpSpPr>
        <p:grpSpPr bwMode="auto">
          <a:xfrm>
            <a:off x="3981450" y="4114802"/>
            <a:ext cx="4248151" cy="1370013"/>
            <a:chOff x="2604" y="1968"/>
            <a:chExt cx="2676" cy="863"/>
          </a:xfrm>
        </p:grpSpPr>
        <p:sp>
          <p:nvSpPr>
            <p:cNvPr id="486428" name="Text Box 28">
              <a:extLst>
                <a:ext uri="{FF2B5EF4-FFF2-40B4-BE49-F238E27FC236}">
                  <a16:creationId xmlns:a16="http://schemas.microsoft.com/office/drawing/2014/main" id="{B78565BF-E310-B898-E09E-CF3C54C5A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1968"/>
              <a:ext cx="48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486429" name="Oval 29">
              <a:extLst>
                <a:ext uri="{FF2B5EF4-FFF2-40B4-BE49-F238E27FC236}">
                  <a16:creationId xmlns:a16="http://schemas.microsoft.com/office/drawing/2014/main" id="{A5D2BC79-9835-BDA3-8F36-4FB9163B1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2450"/>
              <a:ext cx="374" cy="3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en-US"/>
                <a:t>2</a:t>
              </a:r>
            </a:p>
          </p:txBody>
        </p:sp>
        <p:sp>
          <p:nvSpPr>
            <p:cNvPr id="486430" name="Text Box 30">
              <a:extLst>
                <a:ext uri="{FF2B5EF4-FFF2-40B4-BE49-F238E27FC236}">
                  <a16:creationId xmlns:a16="http://schemas.microsoft.com/office/drawing/2014/main" id="{0AA7F720-C4BD-C471-A603-9C3161461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2396"/>
              <a:ext cx="56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</a:p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  </a:t>
              </a:r>
              <a:endParaRPr lang="en-US" altLang="en-US" sz="4400"/>
            </a:p>
          </p:txBody>
        </p:sp>
        <p:sp>
          <p:nvSpPr>
            <p:cNvPr id="486431" name="Oval 31">
              <a:extLst>
                <a:ext uri="{FF2B5EF4-FFF2-40B4-BE49-F238E27FC236}">
                  <a16:creationId xmlns:a16="http://schemas.microsoft.com/office/drawing/2014/main" id="{8A3132B3-8D4A-0008-3F3E-8984400C6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2428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86432" name="Text Box 32">
              <a:extLst>
                <a:ext uri="{FF2B5EF4-FFF2-40B4-BE49-F238E27FC236}">
                  <a16:creationId xmlns:a16="http://schemas.microsoft.com/office/drawing/2014/main" id="{FC2B2EB7-F03F-2975-9042-B4971DF97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82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pPr algn="l"/>
              <a:r>
                <a:rPr lang="en-US" altLang="en-US" sz="1300">
                  <a:solidFill>
                    <a:srgbClr val="000000"/>
                  </a:solidFill>
                </a:rPr>
                <a:t> </a:t>
              </a:r>
              <a:r>
                <a:rPr lang="en-US" altLang="en-US">
                  <a:solidFill>
                    <a:srgbClr val="000000"/>
                  </a:solidFill>
                </a:rPr>
                <a:t>1</a:t>
              </a:r>
              <a:r>
                <a:rPr lang="en-US" altLang="en-US">
                  <a:solidFill>
                    <a:srgbClr val="000000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–</a:t>
              </a:r>
              <a:r>
                <a:rPr lang="en-US" altLang="en-US" sz="1100">
                  <a:solidFill>
                    <a:srgbClr val="000000"/>
                  </a:solidFill>
                </a:rPr>
                <a:t>	</a:t>
              </a:r>
            </a:p>
          </p:txBody>
        </p:sp>
        <p:sp>
          <p:nvSpPr>
            <p:cNvPr id="486433" name="Text Box 33">
              <a:extLst>
                <a:ext uri="{FF2B5EF4-FFF2-40B4-BE49-F238E27FC236}">
                  <a16:creationId xmlns:a16="http://schemas.microsoft.com/office/drawing/2014/main" id="{4A35A0EE-53C8-06FA-42D6-91FB0E018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8" y="2399"/>
              <a:ext cx="3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100">
                  <a:solidFill>
                    <a:srgbClr val="000000"/>
                  </a:solidFill>
                </a:rPr>
                <a:t>a,b</a:t>
              </a:r>
              <a:endParaRPr lang="en-US" altLang="en-US" sz="4400"/>
            </a:p>
          </p:txBody>
        </p:sp>
        <p:sp>
          <p:nvSpPr>
            <p:cNvPr id="486434" name="Freeform 34">
              <a:extLst>
                <a:ext uri="{FF2B5EF4-FFF2-40B4-BE49-F238E27FC236}">
                  <a16:creationId xmlns:a16="http://schemas.microsoft.com/office/drawing/2014/main" id="{B61E59BC-48DD-726C-BF2F-9E09D9EE19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12" y="2639"/>
              <a:ext cx="1152" cy="1"/>
            </a:xfrm>
            <a:custGeom>
              <a:avLst/>
              <a:gdLst>
                <a:gd name="T0" fmla="*/ 0 w 2176"/>
                <a:gd name="T1" fmla="*/ 336 h 336"/>
                <a:gd name="T2" fmla="*/ 2176 w 2176"/>
                <a:gd name="T3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76" h="336">
                  <a:moveTo>
                    <a:pt x="0" y="336"/>
                  </a:moveTo>
                  <a:cubicBezTo>
                    <a:pt x="558" y="66"/>
                    <a:pt x="1458" y="0"/>
                    <a:pt x="2176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35" name="Freeform 35">
              <a:extLst>
                <a:ext uri="{FF2B5EF4-FFF2-40B4-BE49-F238E27FC236}">
                  <a16:creationId xmlns:a16="http://schemas.microsoft.com/office/drawing/2014/main" id="{CC265C30-B8D5-EF96-83EC-8FB432DCB8CF}"/>
                </a:ext>
              </a:extLst>
            </p:cNvPr>
            <p:cNvSpPr>
              <a:spLocks/>
            </p:cNvSpPr>
            <p:nvPr/>
          </p:nvSpPr>
          <p:spPr bwMode="auto">
            <a:xfrm rot="21900000">
              <a:off x="4113" y="2091"/>
              <a:ext cx="432" cy="365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36" name="Freeform 36">
              <a:extLst>
                <a:ext uri="{FF2B5EF4-FFF2-40B4-BE49-F238E27FC236}">
                  <a16:creationId xmlns:a16="http://schemas.microsoft.com/office/drawing/2014/main" id="{33205BB1-B35A-C2DD-D2ED-DC916978A396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4419" y="2406"/>
              <a:ext cx="38" cy="47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37" name="Freeform 37">
              <a:extLst>
                <a:ext uri="{FF2B5EF4-FFF2-40B4-BE49-F238E27FC236}">
                  <a16:creationId xmlns:a16="http://schemas.microsoft.com/office/drawing/2014/main" id="{8E662E20-CCF0-7881-714F-56FE919933F3}"/>
                </a:ext>
              </a:extLst>
            </p:cNvPr>
            <p:cNvSpPr>
              <a:spLocks/>
            </p:cNvSpPr>
            <p:nvPr/>
          </p:nvSpPr>
          <p:spPr bwMode="auto">
            <a:xfrm rot="21300000">
              <a:off x="4413" y="2405"/>
              <a:ext cx="3" cy="53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6438" name="Group 38">
              <a:extLst>
                <a:ext uri="{FF2B5EF4-FFF2-40B4-BE49-F238E27FC236}">
                  <a16:creationId xmlns:a16="http://schemas.microsoft.com/office/drawing/2014/main" id="{9D8B5685-5AA7-7663-206B-787DA4A3BA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" y="1996"/>
              <a:ext cx="660" cy="815"/>
              <a:chOff x="4680" y="3192"/>
              <a:chExt cx="660" cy="815"/>
            </a:xfrm>
          </p:grpSpPr>
          <p:sp>
            <p:nvSpPr>
              <p:cNvPr id="486439" name="Text Box 39">
                <a:extLst>
                  <a:ext uri="{FF2B5EF4-FFF2-40B4-BE49-F238E27FC236}">
                    <a16:creationId xmlns:a16="http://schemas.microsoft.com/office/drawing/2014/main" id="{DCAF7E1E-375C-82CA-DA3B-2935A8726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4" y="3192"/>
                <a:ext cx="486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2200"/>
                  <a:t>a,b</a:t>
                </a:r>
                <a:endParaRPr lang="en-US" altLang="en-US"/>
              </a:p>
            </p:txBody>
          </p:sp>
          <p:sp>
            <p:nvSpPr>
              <p:cNvPr id="486440" name="Oval 40">
                <a:extLst>
                  <a:ext uri="{FF2B5EF4-FFF2-40B4-BE49-F238E27FC236}">
                    <a16:creationId xmlns:a16="http://schemas.microsoft.com/office/drawing/2014/main" id="{DCCE1110-53D0-A5E5-1B97-662D99D68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3" y="3633"/>
                <a:ext cx="374" cy="3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 altLang="en-US" sz="2000" dirty="0"/>
                  <a:t>3+</a:t>
                </a:r>
              </a:p>
            </p:txBody>
          </p:sp>
          <p:grpSp>
            <p:nvGrpSpPr>
              <p:cNvPr id="486441" name="Group 41">
                <a:extLst>
                  <a:ext uri="{FF2B5EF4-FFF2-40B4-BE49-F238E27FC236}">
                    <a16:creationId xmlns:a16="http://schemas.microsoft.com/office/drawing/2014/main" id="{6358DD79-6531-4480-B415-B171D60479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0" y="3293"/>
                <a:ext cx="432" cy="367"/>
                <a:chOff x="4752" y="3281"/>
                <a:chExt cx="432" cy="367"/>
              </a:xfrm>
            </p:grpSpPr>
            <p:sp>
              <p:nvSpPr>
                <p:cNvPr id="486442" name="Freeform 42">
                  <a:extLst>
                    <a:ext uri="{FF2B5EF4-FFF2-40B4-BE49-F238E27FC236}">
                      <a16:creationId xmlns:a16="http://schemas.microsoft.com/office/drawing/2014/main" id="{4D898997-93D3-F5A9-5F2A-167DB34844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900000">
                  <a:off x="4752" y="3281"/>
                  <a:ext cx="432" cy="365"/>
                </a:xfrm>
                <a:custGeom>
                  <a:avLst/>
                  <a:gdLst>
                    <a:gd name="T0" fmla="*/ 196 w 408"/>
                    <a:gd name="T1" fmla="*/ 378 h 378"/>
                    <a:gd name="T2" fmla="*/ 300 w 408"/>
                    <a:gd name="T3" fmla="*/ 370 h 3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08" h="378">
                      <a:moveTo>
                        <a:pt x="196" y="378"/>
                      </a:moveTo>
                      <a:cubicBezTo>
                        <a:pt x="0" y="79"/>
                        <a:pt x="408" y="0"/>
                        <a:pt x="300" y="370"/>
                      </a:cubicBezTo>
                    </a:path>
                  </a:pathLst>
                </a:custGeom>
                <a:noFill/>
                <a:ln w="7620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443" name="Freeform 43">
                  <a:extLst>
                    <a:ext uri="{FF2B5EF4-FFF2-40B4-BE49-F238E27FC236}">
                      <a16:creationId xmlns:a16="http://schemas.microsoft.com/office/drawing/2014/main" id="{773E7DF8-8607-FA4F-E3AD-7289DFD547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5058" y="3596"/>
                  <a:ext cx="38" cy="47"/>
                </a:xfrm>
                <a:custGeom>
                  <a:avLst/>
                  <a:gdLst>
                    <a:gd name="T0" fmla="*/ 0 w 36"/>
                    <a:gd name="T1" fmla="*/ 42 h 42"/>
                    <a:gd name="T2" fmla="*/ 36 w 36"/>
                    <a:gd name="T3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6" h="42">
                      <a:moveTo>
                        <a:pt x="0" y="42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444" name="Freeform 44">
                  <a:extLst>
                    <a:ext uri="{FF2B5EF4-FFF2-40B4-BE49-F238E27FC236}">
                      <a16:creationId xmlns:a16="http://schemas.microsoft.com/office/drawing/2014/main" id="{5838F21D-8821-7CC3-6DCB-222C2F9B00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00000">
                  <a:off x="5052" y="3595"/>
                  <a:ext cx="3" cy="53"/>
                </a:xfrm>
                <a:custGeom>
                  <a:avLst/>
                  <a:gdLst>
                    <a:gd name="T0" fmla="*/ 0 w 3"/>
                    <a:gd name="T1" fmla="*/ 0 h 48"/>
                    <a:gd name="T2" fmla="*/ 3 w 3"/>
                    <a:gd name="T3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8">
                      <a:moveTo>
                        <a:pt x="0" y="0"/>
                      </a:moveTo>
                      <a:lnTo>
                        <a:pt x="3" y="4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86458" name="Text Box 58">
            <a:extLst>
              <a:ext uri="{FF2B5EF4-FFF2-40B4-BE49-F238E27FC236}">
                <a16:creationId xmlns:a16="http://schemas.microsoft.com/office/drawing/2014/main" id="{69B307B7-595F-C627-F020-794C2ED4F2B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FA</a:t>
            </a:r>
            <a:r>
              <a:rPr kumimoji="0" lang="en-US" altLang="en-US" baseline="-30000" dirty="0"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FA</a:t>
            </a:r>
            <a:r>
              <a:rPr kumimoji="0" lang="en-US" altLang="en-US" baseline="-30000" dirty="0">
                <a:latin typeface="Times New Roman" panose="02020603050405020304" pitchFamily="18" charset="0"/>
              </a:rPr>
              <a:t>2</a:t>
            </a: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FA</a:t>
            </a:r>
            <a:r>
              <a:rPr kumimoji="0" lang="en-US" altLang="en-US" baseline="-30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86405" name="Oval 5">
            <a:extLst>
              <a:ext uri="{FF2B5EF4-FFF2-40B4-BE49-F238E27FC236}">
                <a16:creationId xmlns:a16="http://schemas.microsoft.com/office/drawing/2014/main" id="{F5EA868C-216C-CF2D-06CC-7091E9DBD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6" y="1976440"/>
            <a:ext cx="593725" cy="593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86406" name="Text Box 6">
            <a:extLst>
              <a:ext uri="{FF2B5EF4-FFF2-40B4-BE49-F238E27FC236}">
                <a16:creationId xmlns:a16="http://schemas.microsoft.com/office/drawing/2014/main" id="{52A70428-6BF8-5A1C-F767-37E549C11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2" y="1881190"/>
            <a:ext cx="898525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100">
                <a:solidFill>
                  <a:srgbClr val="000000"/>
                </a:solidFill>
              </a:rPr>
              <a:t> </a:t>
            </a:r>
          </a:p>
          <a:p>
            <a:pPr algn="l"/>
            <a:r>
              <a:rPr lang="en-US" altLang="en-US" sz="1100">
                <a:solidFill>
                  <a:srgbClr val="000000"/>
                </a:solidFill>
              </a:rPr>
              <a:t>      </a:t>
            </a:r>
            <a:r>
              <a:rPr lang="en-US" altLang="en-US" sz="2100">
                <a:solidFill>
                  <a:srgbClr val="000000"/>
                </a:solidFill>
                <a:cs typeface="Times New Roman" panose="02020603050405020304" pitchFamily="18" charset="0"/>
              </a:rPr>
              <a:t>–</a:t>
            </a:r>
            <a:endParaRPr lang="en-US" altLang="en-US" sz="4400"/>
          </a:p>
        </p:txBody>
      </p:sp>
      <p:grpSp>
        <p:nvGrpSpPr>
          <p:cNvPr id="486407" name="Group 7">
            <a:extLst>
              <a:ext uri="{FF2B5EF4-FFF2-40B4-BE49-F238E27FC236}">
                <a16:creationId xmlns:a16="http://schemas.microsoft.com/office/drawing/2014/main" id="{336704A9-143B-3C8A-5642-9D5B8DDDEE07}"/>
              </a:ext>
            </a:extLst>
          </p:cNvPr>
          <p:cNvGrpSpPr>
            <a:grpSpLocks/>
          </p:cNvGrpSpPr>
          <p:nvPr/>
        </p:nvGrpSpPr>
        <p:grpSpPr bwMode="auto">
          <a:xfrm>
            <a:off x="7331076" y="1906589"/>
            <a:ext cx="898525" cy="684212"/>
            <a:chOff x="118" y="2688"/>
            <a:chExt cx="566" cy="431"/>
          </a:xfrm>
        </p:grpSpPr>
        <p:sp>
          <p:nvSpPr>
            <p:cNvPr id="486408" name="Oval 8">
              <a:extLst>
                <a:ext uri="{FF2B5EF4-FFF2-40B4-BE49-F238E27FC236}">
                  <a16:creationId xmlns:a16="http://schemas.microsoft.com/office/drawing/2014/main" id="{AC94A70C-112E-B81A-2586-D798F3A8B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2716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86409" name="Text Box 9">
              <a:extLst>
                <a:ext uri="{FF2B5EF4-FFF2-40B4-BE49-F238E27FC236}">
                  <a16:creationId xmlns:a16="http://schemas.microsoft.com/office/drawing/2014/main" id="{4569BCA9-9178-1303-3C5C-BC81190B9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" y="2688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pPr algn="l"/>
              <a:r>
                <a:rPr lang="en-US" altLang="en-US" sz="1300">
                  <a:solidFill>
                    <a:srgbClr val="000000"/>
                  </a:solidFill>
                </a:rPr>
                <a:t>     </a:t>
              </a:r>
              <a:r>
                <a:rPr lang="en-US" altLang="en-US" sz="2100">
                  <a:solidFill>
                    <a:srgbClr val="000000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  <a:r>
                <a:rPr lang="en-US" altLang="en-US" sz="1100">
                  <a:solidFill>
                    <a:srgbClr val="000000"/>
                  </a:solidFill>
                </a:rPr>
                <a:t>	</a:t>
              </a:r>
            </a:p>
          </p:txBody>
        </p:sp>
      </p:grpSp>
      <p:sp>
        <p:nvSpPr>
          <p:cNvPr id="486410" name="Text Box 10">
            <a:extLst>
              <a:ext uri="{FF2B5EF4-FFF2-40B4-BE49-F238E27FC236}">
                <a16:creationId xmlns:a16="http://schemas.microsoft.com/office/drawing/2014/main" id="{15A707C0-8CE7-847C-F48D-3F9A07EB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75" y="1897063"/>
            <a:ext cx="59055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100">
                <a:solidFill>
                  <a:srgbClr val="000000"/>
                </a:solidFill>
              </a:rPr>
              <a:t>a,b</a:t>
            </a:r>
            <a:endParaRPr lang="en-US" altLang="en-US" sz="4400"/>
          </a:p>
        </p:txBody>
      </p:sp>
      <p:sp>
        <p:nvSpPr>
          <p:cNvPr id="486411" name="Freeform 11">
            <a:extLst>
              <a:ext uri="{FF2B5EF4-FFF2-40B4-BE49-F238E27FC236}">
                <a16:creationId xmlns:a16="http://schemas.microsoft.com/office/drawing/2014/main" id="{EC01BCDB-C43E-C2FF-8378-AC9B55CC9D0B}"/>
              </a:ext>
            </a:extLst>
          </p:cNvPr>
          <p:cNvSpPr>
            <a:spLocks/>
          </p:cNvSpPr>
          <p:nvPr/>
        </p:nvSpPr>
        <p:spPr bwMode="auto">
          <a:xfrm flipH="1" flipV="1">
            <a:off x="4608514" y="2276475"/>
            <a:ext cx="2741612" cy="1588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6412" name="Group 12">
            <a:extLst>
              <a:ext uri="{FF2B5EF4-FFF2-40B4-BE49-F238E27FC236}">
                <a16:creationId xmlns:a16="http://schemas.microsoft.com/office/drawing/2014/main" id="{543A9B93-FA58-17C0-3EB3-35A9BBBFBFB9}"/>
              </a:ext>
            </a:extLst>
          </p:cNvPr>
          <p:cNvGrpSpPr>
            <a:grpSpLocks/>
          </p:cNvGrpSpPr>
          <p:nvPr/>
        </p:nvGrpSpPr>
        <p:grpSpPr bwMode="auto">
          <a:xfrm rot="21300000">
            <a:off x="3917951" y="1406527"/>
            <a:ext cx="685800" cy="593725"/>
            <a:chOff x="2880" y="3312"/>
            <a:chExt cx="408" cy="336"/>
          </a:xfrm>
        </p:grpSpPr>
        <p:sp>
          <p:nvSpPr>
            <p:cNvPr id="486413" name="Freeform 13">
              <a:extLst>
                <a:ext uri="{FF2B5EF4-FFF2-40B4-BE49-F238E27FC236}">
                  <a16:creationId xmlns:a16="http://schemas.microsoft.com/office/drawing/2014/main" id="{0E50C90E-7949-FAC9-9685-47C7E2FFAD74}"/>
                </a:ext>
              </a:extLst>
            </p:cNvPr>
            <p:cNvSpPr>
              <a:spLocks/>
            </p:cNvSpPr>
            <p:nvPr/>
          </p:nvSpPr>
          <p:spPr bwMode="auto">
            <a:xfrm rot="600000">
              <a:off x="2880" y="3312"/>
              <a:ext cx="408" cy="328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14" name="Freeform 14">
              <a:extLst>
                <a:ext uri="{FF2B5EF4-FFF2-40B4-BE49-F238E27FC236}">
                  <a16:creationId xmlns:a16="http://schemas.microsoft.com/office/drawing/2014/main" id="{39D9AAC0-A53B-4AE0-58C9-DA74CFDFB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3603"/>
              <a:ext cx="36" cy="42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415" name="Freeform 15">
              <a:extLst>
                <a:ext uri="{FF2B5EF4-FFF2-40B4-BE49-F238E27FC236}">
                  <a16:creationId xmlns:a16="http://schemas.microsoft.com/office/drawing/2014/main" id="{E075425D-E56A-307C-3258-A8AA1B4AB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600"/>
              <a:ext cx="3" cy="48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6459" name="Text Box 59">
            <a:extLst>
              <a:ext uri="{FF2B5EF4-FFF2-40B4-BE49-F238E27FC236}">
                <a16:creationId xmlns:a16="http://schemas.microsoft.com/office/drawing/2014/main" id="{C0EC2419-96ED-E1CB-8A9B-35B26C349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49" y="1425575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55C6E-ECE3-975C-C581-F2838DFD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798-DB5F-4CC1-8C2B-3B974FA8E13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7E2D0E6F-C68F-0A27-D709-61DE0AE27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</a:t>
            </a:r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CFAE9F67-F0B9-2D27-4658-0F07B3EB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/>
              <a:t>	Consider the Language L of strings , defined over </a:t>
            </a:r>
            <a:r>
              <a:rPr lang="el-GR" altLang="en-US" sz="3200"/>
              <a:t>Σ</a:t>
            </a:r>
            <a:r>
              <a:rPr lang="en-US" altLang="en-US" sz="3200"/>
              <a:t> = {a, b}, </a:t>
            </a:r>
            <a:r>
              <a:rPr lang="en-US" altLang="en-US" sz="3200" b="1"/>
              <a:t>containing double a.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/>
              <a:t>	The language L may be expressed by the following regular expression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/>
              <a:t>			 </a:t>
            </a:r>
            <a:r>
              <a:rPr lang="en-US" altLang="en-US"/>
              <a:t>(a+b)</a:t>
            </a:r>
            <a:r>
              <a:rPr lang="en-US" altLang="en-US" baseline="40000"/>
              <a:t>* </a:t>
            </a:r>
            <a:r>
              <a:rPr lang="en-US" altLang="en-US"/>
              <a:t>(aa) (a+b)</a:t>
            </a:r>
            <a:r>
              <a:rPr lang="en-US" altLang="en-US" baseline="40000"/>
              <a:t>*</a:t>
            </a:r>
            <a:r>
              <a:rPr lang="en-US" altLang="en-US"/>
              <a:t>.</a:t>
            </a:r>
            <a:r>
              <a:rPr lang="en-US" altLang="en-US" sz="3200"/>
              <a:t> 		        This language may be accepted by the following FA </a:t>
            </a: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1646-4D06-3B56-7E72-2B5E099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967-C4DF-4433-9AF7-4C5328FA62A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22914" name="Rectangle 1026">
            <a:extLst>
              <a:ext uri="{FF2B5EF4-FFF2-40B4-BE49-F238E27FC236}">
                <a16:creationId xmlns:a16="http://schemas.microsoft.com/office/drawing/2014/main" id="{9A78BB92-84F9-B59E-C450-971C6D892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Continued …</a:t>
            </a:r>
          </a:p>
        </p:txBody>
      </p:sp>
      <p:sp>
        <p:nvSpPr>
          <p:cNvPr id="422917" name="Text Box 1029">
            <a:extLst>
              <a:ext uri="{FF2B5EF4-FFF2-40B4-BE49-F238E27FC236}">
                <a16:creationId xmlns:a16="http://schemas.microsoft.com/office/drawing/2014/main" id="{12728741-F09E-DE21-B700-7742F0A7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1865" y="2895600"/>
            <a:ext cx="8969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a,b</a:t>
            </a:r>
            <a:endParaRPr lang="en-US" altLang="en-US"/>
          </a:p>
        </p:txBody>
      </p:sp>
      <p:grpSp>
        <p:nvGrpSpPr>
          <p:cNvPr id="422918" name="Group 1030">
            <a:extLst>
              <a:ext uri="{FF2B5EF4-FFF2-40B4-BE49-F238E27FC236}">
                <a16:creationId xmlns:a16="http://schemas.microsoft.com/office/drawing/2014/main" id="{7191B255-DE5E-B1FE-3FC4-CABB95E59A71}"/>
              </a:ext>
            </a:extLst>
          </p:cNvPr>
          <p:cNvGrpSpPr>
            <a:grpSpLocks/>
          </p:cNvGrpSpPr>
          <p:nvPr/>
        </p:nvGrpSpPr>
        <p:grpSpPr bwMode="auto">
          <a:xfrm>
            <a:off x="6116703" y="3547962"/>
            <a:ext cx="975163" cy="612875"/>
            <a:chOff x="804" y="2635"/>
            <a:chExt cx="656" cy="412"/>
          </a:xfrm>
        </p:grpSpPr>
        <p:sp>
          <p:nvSpPr>
            <p:cNvPr id="422919" name="Oval 1031">
              <a:extLst>
                <a:ext uri="{FF2B5EF4-FFF2-40B4-BE49-F238E27FC236}">
                  <a16:creationId xmlns:a16="http://schemas.microsoft.com/office/drawing/2014/main" id="{294AFF46-B567-F659-B7DE-0F6407D7E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22920" name="Text Box 1032">
              <a:extLst>
                <a:ext uri="{FF2B5EF4-FFF2-40B4-BE49-F238E27FC236}">
                  <a16:creationId xmlns:a16="http://schemas.microsoft.com/office/drawing/2014/main" id="{642870C5-6693-F114-8F6D-F3CF98944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2635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 dirty="0">
                  <a:solidFill>
                    <a:srgbClr val="000000"/>
                  </a:solidFill>
                </a:rPr>
                <a:t>    </a:t>
              </a:r>
            </a:p>
            <a:p>
              <a:r>
                <a:rPr lang="en-US" altLang="en-US" sz="15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422921" name="Group 1033">
            <a:extLst>
              <a:ext uri="{FF2B5EF4-FFF2-40B4-BE49-F238E27FC236}">
                <a16:creationId xmlns:a16="http://schemas.microsoft.com/office/drawing/2014/main" id="{12D0B8E0-95E1-DAB2-ADB1-29A83AE30002}"/>
              </a:ext>
            </a:extLst>
          </p:cNvPr>
          <p:cNvGrpSpPr>
            <a:grpSpLocks/>
          </p:cNvGrpSpPr>
          <p:nvPr/>
        </p:nvGrpSpPr>
        <p:grpSpPr bwMode="auto">
          <a:xfrm rot="21300000">
            <a:off x="8229601" y="3028953"/>
            <a:ext cx="641351" cy="555625"/>
            <a:chOff x="2880" y="3312"/>
            <a:chExt cx="408" cy="336"/>
          </a:xfrm>
        </p:grpSpPr>
        <p:sp>
          <p:nvSpPr>
            <p:cNvPr id="422922" name="Freeform 1034">
              <a:extLst>
                <a:ext uri="{FF2B5EF4-FFF2-40B4-BE49-F238E27FC236}">
                  <a16:creationId xmlns:a16="http://schemas.microsoft.com/office/drawing/2014/main" id="{634835DE-58FE-8F11-77F0-1D60C520CD93}"/>
                </a:ext>
              </a:extLst>
            </p:cNvPr>
            <p:cNvSpPr>
              <a:spLocks/>
            </p:cNvSpPr>
            <p:nvPr/>
          </p:nvSpPr>
          <p:spPr bwMode="auto">
            <a:xfrm rot="600000">
              <a:off x="2880" y="3312"/>
              <a:ext cx="408" cy="328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2923" name="Freeform 1035">
              <a:extLst>
                <a:ext uri="{FF2B5EF4-FFF2-40B4-BE49-F238E27FC236}">
                  <a16:creationId xmlns:a16="http://schemas.microsoft.com/office/drawing/2014/main" id="{CD21D69E-66F7-4F4B-FA73-7DDA481F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3603"/>
              <a:ext cx="36" cy="42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2924" name="Freeform 1036">
              <a:extLst>
                <a:ext uri="{FF2B5EF4-FFF2-40B4-BE49-F238E27FC236}">
                  <a16:creationId xmlns:a16="http://schemas.microsoft.com/office/drawing/2014/main" id="{13E89444-37EE-F140-654D-274F015A1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600"/>
              <a:ext cx="3" cy="48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2925" name="Freeform 1037">
            <a:extLst>
              <a:ext uri="{FF2B5EF4-FFF2-40B4-BE49-F238E27FC236}">
                <a16:creationId xmlns:a16="http://schemas.microsoft.com/office/drawing/2014/main" id="{F09405E4-6902-543B-2C22-6671A0BD1649}"/>
              </a:ext>
            </a:extLst>
          </p:cNvPr>
          <p:cNvSpPr>
            <a:spLocks/>
          </p:cNvSpPr>
          <p:nvPr/>
        </p:nvSpPr>
        <p:spPr bwMode="auto">
          <a:xfrm flipH="1" flipV="1">
            <a:off x="4097337" y="3956053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2926" name="Text Box 1038">
            <a:extLst>
              <a:ext uri="{FF2B5EF4-FFF2-40B4-BE49-F238E27FC236}">
                <a16:creationId xmlns:a16="http://schemas.microsoft.com/office/drawing/2014/main" id="{6F73BBC7-D863-7145-1F37-C010E7684D2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948239" y="3105150"/>
            <a:ext cx="379412" cy="36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grpSp>
        <p:nvGrpSpPr>
          <p:cNvPr id="422927" name="Group 1039">
            <a:extLst>
              <a:ext uri="{FF2B5EF4-FFF2-40B4-BE49-F238E27FC236}">
                <a16:creationId xmlns:a16="http://schemas.microsoft.com/office/drawing/2014/main" id="{94A2287F-FA7D-3D92-B96C-7E751E8AAC26}"/>
              </a:ext>
            </a:extLst>
          </p:cNvPr>
          <p:cNvGrpSpPr>
            <a:grpSpLocks/>
          </p:cNvGrpSpPr>
          <p:nvPr/>
        </p:nvGrpSpPr>
        <p:grpSpPr bwMode="auto">
          <a:xfrm>
            <a:off x="3352802" y="3562350"/>
            <a:ext cx="898525" cy="655639"/>
            <a:chOff x="726" y="2634"/>
            <a:chExt cx="566" cy="413"/>
          </a:xfrm>
        </p:grpSpPr>
        <p:sp>
          <p:nvSpPr>
            <p:cNvPr id="422928" name="Oval 1040">
              <a:extLst>
                <a:ext uri="{FF2B5EF4-FFF2-40B4-BE49-F238E27FC236}">
                  <a16:creationId xmlns:a16="http://schemas.microsoft.com/office/drawing/2014/main" id="{EECCCD03-CAEB-EAD4-B0F3-8A54F8CD7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22929" name="Text Box 1041">
              <a:extLst>
                <a:ext uri="{FF2B5EF4-FFF2-40B4-BE49-F238E27FC236}">
                  <a16:creationId xmlns:a16="http://schemas.microsoft.com/office/drawing/2014/main" id="{B2100293-C327-C149-679B-4B9ED2B81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endParaRPr lang="en-US" altLang="en-US" sz="1100">
                <a:solidFill>
                  <a:srgbClr val="000000"/>
                </a:solidFill>
              </a:endParaRPr>
            </a:p>
          </p:txBody>
        </p:sp>
      </p:grpSp>
      <p:grpSp>
        <p:nvGrpSpPr>
          <p:cNvPr id="422930" name="Group 1042">
            <a:extLst>
              <a:ext uri="{FF2B5EF4-FFF2-40B4-BE49-F238E27FC236}">
                <a16:creationId xmlns:a16="http://schemas.microsoft.com/office/drawing/2014/main" id="{DE917642-99AE-AEB5-0EC3-52003865073D}"/>
              </a:ext>
            </a:extLst>
          </p:cNvPr>
          <p:cNvGrpSpPr>
            <a:grpSpLocks/>
          </p:cNvGrpSpPr>
          <p:nvPr/>
        </p:nvGrpSpPr>
        <p:grpSpPr bwMode="auto">
          <a:xfrm rot="21300000">
            <a:off x="3371850" y="3048002"/>
            <a:ext cx="641351" cy="555625"/>
            <a:chOff x="2880" y="3312"/>
            <a:chExt cx="408" cy="336"/>
          </a:xfrm>
        </p:grpSpPr>
        <p:sp>
          <p:nvSpPr>
            <p:cNvPr id="422931" name="Freeform 1043">
              <a:extLst>
                <a:ext uri="{FF2B5EF4-FFF2-40B4-BE49-F238E27FC236}">
                  <a16:creationId xmlns:a16="http://schemas.microsoft.com/office/drawing/2014/main" id="{03CFCE48-D360-0464-31E3-1C196AE1F466}"/>
                </a:ext>
              </a:extLst>
            </p:cNvPr>
            <p:cNvSpPr>
              <a:spLocks/>
            </p:cNvSpPr>
            <p:nvPr/>
          </p:nvSpPr>
          <p:spPr bwMode="auto">
            <a:xfrm rot="600000">
              <a:off x="2880" y="3312"/>
              <a:ext cx="408" cy="328"/>
            </a:xfrm>
            <a:custGeom>
              <a:avLst/>
              <a:gdLst>
                <a:gd name="T0" fmla="*/ 196 w 408"/>
                <a:gd name="T1" fmla="*/ 378 h 378"/>
                <a:gd name="T2" fmla="*/ 300 w 408"/>
                <a:gd name="T3" fmla="*/ 37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8" h="378">
                  <a:moveTo>
                    <a:pt x="196" y="378"/>
                  </a:moveTo>
                  <a:cubicBezTo>
                    <a:pt x="0" y="79"/>
                    <a:pt x="408" y="0"/>
                    <a:pt x="300" y="370"/>
                  </a:cubicBezTo>
                </a:path>
              </a:pathLst>
            </a:custGeom>
            <a:noFill/>
            <a:ln w="762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2932" name="Freeform 1044">
              <a:extLst>
                <a:ext uri="{FF2B5EF4-FFF2-40B4-BE49-F238E27FC236}">
                  <a16:creationId xmlns:a16="http://schemas.microsoft.com/office/drawing/2014/main" id="{8D941B93-3CBA-0891-25DD-DF3E8B77E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3603"/>
              <a:ext cx="36" cy="42"/>
            </a:xfrm>
            <a:custGeom>
              <a:avLst/>
              <a:gdLst>
                <a:gd name="T0" fmla="*/ 0 w 36"/>
                <a:gd name="T1" fmla="*/ 42 h 42"/>
                <a:gd name="T2" fmla="*/ 36 w 36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42">
                  <a:moveTo>
                    <a:pt x="0" y="42"/>
                  </a:moveTo>
                  <a:lnTo>
                    <a:pt x="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2933" name="Freeform 1045">
              <a:extLst>
                <a:ext uri="{FF2B5EF4-FFF2-40B4-BE49-F238E27FC236}">
                  <a16:creationId xmlns:a16="http://schemas.microsoft.com/office/drawing/2014/main" id="{EB2E4ECE-510E-4A04-AF5F-3303F06AF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600"/>
              <a:ext cx="3" cy="48"/>
            </a:xfrm>
            <a:custGeom>
              <a:avLst/>
              <a:gdLst>
                <a:gd name="T0" fmla="*/ 0 w 3"/>
                <a:gd name="T1" fmla="*/ 0 h 48"/>
                <a:gd name="T2" fmla="*/ 3 w 3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lnTo>
                    <a:pt x="3" y="4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2934" name="Text Box 1046">
            <a:extLst>
              <a:ext uri="{FF2B5EF4-FFF2-40B4-BE49-F238E27FC236}">
                <a16:creationId xmlns:a16="http://schemas.microsoft.com/office/drawing/2014/main" id="{0569FAD2-8B0E-2145-C022-3E24CB013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5" y="2971800"/>
            <a:ext cx="8969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b</a:t>
            </a:r>
            <a:endParaRPr lang="en-US" altLang="en-US"/>
          </a:p>
        </p:txBody>
      </p:sp>
      <p:sp>
        <p:nvSpPr>
          <p:cNvPr id="422935" name="Freeform 1047">
            <a:extLst>
              <a:ext uri="{FF2B5EF4-FFF2-40B4-BE49-F238E27FC236}">
                <a16:creationId xmlns:a16="http://schemas.microsoft.com/office/drawing/2014/main" id="{B022D790-6801-868D-FE42-B3FF3496899B}"/>
              </a:ext>
            </a:extLst>
          </p:cNvPr>
          <p:cNvSpPr>
            <a:spLocks/>
          </p:cNvSpPr>
          <p:nvPr/>
        </p:nvSpPr>
        <p:spPr bwMode="auto">
          <a:xfrm>
            <a:off x="4116388" y="3314702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22936" name="Group 1048">
            <a:extLst>
              <a:ext uri="{FF2B5EF4-FFF2-40B4-BE49-F238E27FC236}">
                <a16:creationId xmlns:a16="http://schemas.microsoft.com/office/drawing/2014/main" id="{C25A9B5F-4772-ECEF-823B-9E28DBFBCE01}"/>
              </a:ext>
            </a:extLst>
          </p:cNvPr>
          <p:cNvGrpSpPr>
            <a:grpSpLocks/>
          </p:cNvGrpSpPr>
          <p:nvPr/>
        </p:nvGrpSpPr>
        <p:grpSpPr bwMode="auto">
          <a:xfrm>
            <a:off x="8169276" y="3557590"/>
            <a:ext cx="898525" cy="655637"/>
            <a:chOff x="726" y="2634"/>
            <a:chExt cx="566" cy="413"/>
          </a:xfrm>
        </p:grpSpPr>
        <p:sp>
          <p:nvSpPr>
            <p:cNvPr id="422937" name="Oval 1049">
              <a:extLst>
                <a:ext uri="{FF2B5EF4-FFF2-40B4-BE49-F238E27FC236}">
                  <a16:creationId xmlns:a16="http://schemas.microsoft.com/office/drawing/2014/main" id="{C9E5C593-38A9-7D6C-606B-73222EEB8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22938" name="Text Box 1050">
              <a:extLst>
                <a:ext uri="{FF2B5EF4-FFF2-40B4-BE49-F238E27FC236}">
                  <a16:creationId xmlns:a16="http://schemas.microsoft.com/office/drawing/2014/main" id="{8AC28E64-5638-A2EB-2584-DC31E0CC9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endParaRPr lang="en-US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422939" name="Line 1051">
            <a:extLst>
              <a:ext uri="{FF2B5EF4-FFF2-40B4-BE49-F238E27FC236}">
                <a16:creationId xmlns:a16="http://schemas.microsoft.com/office/drawing/2014/main" id="{B7932916-B614-EB3B-5BD8-A25E567A9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2940" name="Text Box 1052">
            <a:extLst>
              <a:ext uri="{FF2B5EF4-FFF2-40B4-BE49-F238E27FC236}">
                <a16:creationId xmlns:a16="http://schemas.microsoft.com/office/drawing/2014/main" id="{E30522EE-4EFC-6D40-F525-305501431B0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08852" y="3524250"/>
            <a:ext cx="379413" cy="36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22941" name="Text Box 1053">
            <a:extLst>
              <a:ext uri="{FF2B5EF4-FFF2-40B4-BE49-F238E27FC236}">
                <a16:creationId xmlns:a16="http://schemas.microsoft.com/office/drawing/2014/main" id="{41D66EA2-8463-E44F-A67F-76B5B490F20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953002" y="4203701"/>
            <a:ext cx="379413" cy="36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/>
              <a:t>b</a:t>
            </a:r>
          </a:p>
        </p:txBody>
      </p:sp>
      <p:sp>
        <p:nvSpPr>
          <p:cNvPr id="422942" name="Text Box 1054">
            <a:extLst>
              <a:ext uri="{FF2B5EF4-FFF2-40B4-BE49-F238E27FC236}">
                <a16:creationId xmlns:a16="http://schemas.microsoft.com/office/drawing/2014/main" id="{2F218438-69A1-AB4B-C263-75CD78189BE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25852" y="3711575"/>
            <a:ext cx="379413" cy="36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700"/>
              <a:t>1</a:t>
            </a:r>
            <a:r>
              <a:rPr lang="en-US" altLang="en-US" sz="1900"/>
              <a:t>-</a:t>
            </a:r>
            <a:endParaRPr lang="en-US" altLang="en-US" sz="2800"/>
          </a:p>
        </p:txBody>
      </p:sp>
      <p:sp>
        <p:nvSpPr>
          <p:cNvPr id="422943" name="Text Box 1055">
            <a:extLst>
              <a:ext uri="{FF2B5EF4-FFF2-40B4-BE49-F238E27FC236}">
                <a16:creationId xmlns:a16="http://schemas.microsoft.com/office/drawing/2014/main" id="{C8981D2D-3560-4B6F-E1E8-9050989C632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366127" y="3671888"/>
            <a:ext cx="70167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/>
              <a:t>3+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Content Placeholder 3" descr="Image 14-03-2024 at 9.45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6731"/>
            <a:ext cx="10515600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a transition table of this?</a:t>
            </a:r>
          </a:p>
          <a:p>
            <a:r>
              <a:rPr lang="en-US"/>
              <a:t>Write a regular expression for this FA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14-03-2024 at 9.4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895" y="256542"/>
            <a:ext cx="6539231" cy="63887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</a:t>
            </a:r>
          </a:p>
        </p:txBody>
      </p:sp>
      <p:pic>
        <p:nvPicPr>
          <p:cNvPr id="4" name="Content Placeholder 3" descr="Image 14-03-2024 at 9.48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216" y="2640331"/>
            <a:ext cx="8275955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940"/>
          </a:xfrm>
        </p:spPr>
        <p:txBody>
          <a:bodyPr>
            <a:normAutofit/>
          </a:bodyPr>
          <a:lstStyle/>
          <a:p>
            <a:r>
              <a:rPr lang="en-US" sz="2665"/>
              <a:t>Write down the regular expression for the following finite automata</a:t>
            </a:r>
          </a:p>
        </p:txBody>
      </p:sp>
      <p:pic>
        <p:nvPicPr>
          <p:cNvPr id="4" name="Content Placeholder 3" descr="Image 14-03-2024 at 9.02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255" y="1303656"/>
            <a:ext cx="8521700" cy="51352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pic>
        <p:nvPicPr>
          <p:cNvPr id="4" name="Content Placeholder 3" descr="Image 14-03-2024 at 9.0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000" y="2329815"/>
            <a:ext cx="93980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Image 14-03-2024 at 8.57 AM"/>
          <p:cNvPicPr>
            <a:picLocks noGrp="1" noChangeAspect="1"/>
          </p:cNvPicPr>
          <p:nvPr>
            <p:ph idx="1"/>
          </p:nvPr>
        </p:nvPicPr>
        <p:blipFill>
          <a:blip r:embed="rId2"/>
          <a:srcRect b="82602"/>
          <a:stretch>
            <a:fillRect/>
          </a:stretch>
        </p:blipFill>
        <p:spPr>
          <a:xfrm>
            <a:off x="1377949" y="803911"/>
            <a:ext cx="9737091" cy="9813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7F0C-93DE-5E92-BAEF-5EEBC468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Image 14-03-2024 at 8.57 AM">
            <a:extLst>
              <a:ext uri="{FF2B5EF4-FFF2-40B4-BE49-F238E27FC236}">
                <a16:creationId xmlns:a16="http://schemas.microsoft.com/office/drawing/2014/main" id="{3AC11659-60FB-2893-87EB-6879B6AAA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949" y="803910"/>
            <a:ext cx="9737091" cy="549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97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Image 14-03-2024 at 9.17 AM"/>
          <p:cNvPicPr>
            <a:picLocks noGrp="1" noChangeAspect="1"/>
          </p:cNvPicPr>
          <p:nvPr>
            <p:ph idx="1"/>
          </p:nvPr>
        </p:nvPicPr>
        <p:blipFill>
          <a:blip r:embed="rId3"/>
          <a:srcRect b="72911"/>
          <a:stretch>
            <a:fillRect/>
          </a:stretch>
        </p:blipFill>
        <p:spPr>
          <a:xfrm>
            <a:off x="1825625" y="1825627"/>
            <a:ext cx="8291195" cy="1178832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6721" y="669926"/>
            <a:ext cx="7251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Write down the regular expression for the following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4263-1E2A-C9C9-9646-D5268C3D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Image 14-03-2024 at 9.17 AM">
            <a:extLst>
              <a:ext uri="{FF2B5EF4-FFF2-40B4-BE49-F238E27FC236}">
                <a16:creationId xmlns:a16="http://schemas.microsoft.com/office/drawing/2014/main" id="{10CBC933-98F7-D36E-B96F-6320DDE98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5625" y="1825626"/>
            <a:ext cx="8291195" cy="4351655"/>
          </a:xfrm>
          <a:prstGeom prst="rect">
            <a:avLst/>
          </a:prstGeom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AFEC670A-4109-6329-BA8D-5BFA5C700597}"/>
              </a:ext>
            </a:extLst>
          </p:cNvPr>
          <p:cNvSpPr txBox="1"/>
          <p:nvPr/>
        </p:nvSpPr>
        <p:spPr>
          <a:xfrm>
            <a:off x="426721" y="669926"/>
            <a:ext cx="7251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Write down the regular expression for the following</a:t>
            </a:r>
          </a:p>
        </p:txBody>
      </p:sp>
    </p:spTree>
    <p:extLst>
      <p:ext uri="{BB962C8B-B14F-4D97-AF65-F5344CB8AC3E}">
        <p14:creationId xmlns:p14="http://schemas.microsoft.com/office/powerpoint/2010/main" val="3859099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220"/>
          </a:xfrm>
        </p:spPr>
        <p:txBody>
          <a:bodyPr>
            <a:normAutofit fontScale="90000"/>
          </a:bodyPr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ym typeface="+mn-ea"/>
              </a:rPr>
              <a:t>The regular expression for the previous machine is:</a:t>
            </a: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				     </a:t>
            </a:r>
            <a:r>
              <a:rPr lang="en-US" sz="3600">
                <a:sym typeface="+mn-ea"/>
              </a:rPr>
              <a:t>(ab+baa)</a:t>
            </a:r>
            <a:endParaRPr lang="en-US"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14-03-2024 at 9.39 AM"/>
          <p:cNvPicPr>
            <a:picLocks noGrp="1" noChangeAspect="1"/>
          </p:cNvPicPr>
          <p:nvPr>
            <p:ph idx="1"/>
          </p:nvPr>
        </p:nvPicPr>
        <p:blipFill>
          <a:blip r:embed="rId2"/>
          <a:srcRect b="50000"/>
          <a:stretch>
            <a:fillRect/>
          </a:stretch>
        </p:blipFill>
        <p:spPr>
          <a:xfrm>
            <a:off x="1031240" y="1960880"/>
            <a:ext cx="10515600" cy="1468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338D-F881-6043-27FB-49A818D4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14-03-2024 at 9.39 AM">
            <a:extLst>
              <a:ext uri="{FF2B5EF4-FFF2-40B4-BE49-F238E27FC236}">
                <a16:creationId xmlns:a16="http://schemas.microsoft.com/office/drawing/2014/main" id="{879E624B-4ADF-A2E6-90E2-97009C76C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240" y="1960880"/>
            <a:ext cx="10515600" cy="29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13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pic>
        <p:nvPicPr>
          <p:cNvPr id="4" name="Content Placeholder 3" descr="Image 14-03-2024 at 9.4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720" y="1833246"/>
            <a:ext cx="10515600" cy="36468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D98A1-5D71-8263-AD93-1D4FE6CB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018-F102-4BCB-830A-E285A57A7326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45762" name="Rectangle 1026">
            <a:extLst>
              <a:ext uri="{FF2B5EF4-FFF2-40B4-BE49-F238E27FC236}">
                <a16:creationId xmlns:a16="http://schemas.microsoft.com/office/drawing/2014/main" id="{D4397411-15E8-399C-CF50-71C8093E3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Example</a:t>
            </a:r>
          </a:p>
        </p:txBody>
      </p:sp>
      <p:sp>
        <p:nvSpPr>
          <p:cNvPr id="245763" name="Rectangle 1027">
            <a:extLst>
              <a:ext uri="{FF2B5EF4-FFF2-40B4-BE49-F238E27FC236}">
                <a16:creationId xmlns:a16="http://schemas.microsoft.com/office/drawing/2014/main" id="{1A273C81-7A52-D992-EED7-A007EB5D7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	Consider the language L of strings, defined over </a:t>
            </a:r>
            <a:r>
              <a:rPr lang="el-GR" altLang="en-US" sz="3000"/>
              <a:t>Σ</a:t>
            </a:r>
            <a:r>
              <a:rPr lang="en-US" altLang="en-US" sz="3000"/>
              <a:t>={a, b},</a:t>
            </a:r>
            <a:r>
              <a:rPr lang="en-US" altLang="en-US"/>
              <a:t> </a:t>
            </a:r>
            <a:r>
              <a:rPr lang="en-US" altLang="en-US" b="1"/>
              <a:t>having triple a’s or triple b’s.   </a:t>
            </a:r>
            <a:r>
              <a:rPr lang="en-US" altLang="en-US"/>
              <a:t>The language L may be expressed by RE   			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		(a+b)</a:t>
            </a:r>
            <a:r>
              <a:rPr lang="en-US" altLang="en-US" baseline="40000"/>
              <a:t>* </a:t>
            </a:r>
            <a:r>
              <a:rPr lang="en-US" altLang="en-US"/>
              <a:t>(aaa + bbb) (a+b)</a:t>
            </a:r>
            <a:r>
              <a:rPr lang="en-US" altLang="en-US" baseline="40000"/>
              <a:t>*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This language may be accepted by the following FA</a:t>
            </a:r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99FDD-4A5A-16F9-CD42-D14766FD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D80FD-DD93-4462-B92C-417579DA6AEA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47812" name="Rectangle 4">
            <a:extLst>
              <a:ext uri="{FF2B5EF4-FFF2-40B4-BE49-F238E27FC236}">
                <a16:creationId xmlns:a16="http://schemas.microsoft.com/office/drawing/2014/main" id="{4624C51E-08A1-AE67-1D26-8D7C906CB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Continued …</a:t>
            </a:r>
          </a:p>
        </p:txBody>
      </p:sp>
      <p:sp>
        <p:nvSpPr>
          <p:cNvPr id="275542" name="Text Box 86">
            <a:extLst>
              <a:ext uri="{FF2B5EF4-FFF2-40B4-BE49-F238E27FC236}">
                <a16:creationId xmlns:a16="http://schemas.microsoft.com/office/drawing/2014/main" id="{8E6D1ABC-7699-3192-6198-502F8708E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938" y="6351588"/>
            <a:ext cx="588962" cy="506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grpSp>
        <p:nvGrpSpPr>
          <p:cNvPr id="275595" name="Group 139">
            <a:extLst>
              <a:ext uri="{FF2B5EF4-FFF2-40B4-BE49-F238E27FC236}">
                <a16:creationId xmlns:a16="http://schemas.microsoft.com/office/drawing/2014/main" id="{17EF1297-C5D4-5E6D-43A3-347B4CF8C685}"/>
              </a:ext>
            </a:extLst>
          </p:cNvPr>
          <p:cNvGrpSpPr>
            <a:grpSpLocks/>
          </p:cNvGrpSpPr>
          <p:nvPr/>
        </p:nvGrpSpPr>
        <p:grpSpPr bwMode="auto">
          <a:xfrm>
            <a:off x="2038350" y="1524000"/>
            <a:ext cx="8324850" cy="4953000"/>
            <a:chOff x="324" y="960"/>
            <a:chExt cx="5244" cy="3120"/>
          </a:xfrm>
        </p:grpSpPr>
        <p:sp>
          <p:nvSpPr>
            <p:cNvPr id="275555" name="Oval 99">
              <a:extLst>
                <a:ext uri="{FF2B5EF4-FFF2-40B4-BE49-F238E27FC236}">
                  <a16:creationId xmlns:a16="http://schemas.microsoft.com/office/drawing/2014/main" id="{B819D1AC-E7FD-EC24-44F6-2E3303A5E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98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en-US" sz="21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75556" name="Text Box 100">
              <a:extLst>
                <a:ext uri="{FF2B5EF4-FFF2-40B4-BE49-F238E27FC236}">
                  <a16:creationId xmlns:a16="http://schemas.microsoft.com/office/drawing/2014/main" id="{22B18F93-BB9C-6E5D-7C26-2C3D51C30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" y="1752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grpSp>
          <p:nvGrpSpPr>
            <p:cNvPr id="275557" name="Group 101">
              <a:extLst>
                <a:ext uri="{FF2B5EF4-FFF2-40B4-BE49-F238E27FC236}">
                  <a16:creationId xmlns:a16="http://schemas.microsoft.com/office/drawing/2014/main" id="{BD9E37B1-0938-663D-530D-4D76F93FAD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" y="2302"/>
              <a:ext cx="566" cy="413"/>
              <a:chOff x="726" y="2634"/>
              <a:chExt cx="566" cy="413"/>
            </a:xfrm>
          </p:grpSpPr>
          <p:sp>
            <p:nvSpPr>
              <p:cNvPr id="275558" name="Oval 102">
                <a:extLst>
                  <a:ext uri="{FF2B5EF4-FFF2-40B4-BE49-F238E27FC236}">
                    <a16:creationId xmlns:a16="http://schemas.microsoft.com/office/drawing/2014/main" id="{1AF4F9C5-DB37-0697-72C6-4F18F243F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2644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5559" name="Text Box 103">
                <a:extLst>
                  <a:ext uri="{FF2B5EF4-FFF2-40B4-BE49-F238E27FC236}">
                    <a16:creationId xmlns:a16="http://schemas.microsoft.com/office/drawing/2014/main" id="{CDBC85B9-7DDC-E9D7-47C4-A2B49503E1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6" y="2634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kumimoji="1" lang="en-US" altLang="en-US" sz="1600">
                    <a:latin typeface="Tahoma" panose="020B0604030504040204" pitchFamily="34" charset="0"/>
                    <a:sym typeface="Symbol" panose="05050102010706020507" pitchFamily="18" charset="2"/>
                  </a:rPr>
                  <a:t>1––</a:t>
                </a:r>
                <a:endParaRPr lang="en-US" altLang="en-US" sz="11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5560" name="Oval 104">
              <a:extLst>
                <a:ext uri="{FF2B5EF4-FFF2-40B4-BE49-F238E27FC236}">
                  <a16:creationId xmlns:a16="http://schemas.microsoft.com/office/drawing/2014/main" id="{C125F0BD-9BD1-35F9-DE0D-05579F442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3660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en-US" sz="2100">
                  <a:solidFill>
                    <a:srgbClr val="000000"/>
                  </a:solidFill>
                </a:rPr>
                <a:t>3</a:t>
              </a:r>
            </a:p>
          </p:txBody>
        </p:sp>
        <p:grpSp>
          <p:nvGrpSpPr>
            <p:cNvPr id="275562" name="Group 106">
              <a:extLst>
                <a:ext uri="{FF2B5EF4-FFF2-40B4-BE49-F238E27FC236}">
                  <a16:creationId xmlns:a16="http://schemas.microsoft.com/office/drawing/2014/main" id="{1E06D685-C1BF-62D1-F635-4E874C0E6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2" y="2290"/>
              <a:ext cx="604" cy="413"/>
              <a:chOff x="804" y="2634"/>
              <a:chExt cx="604" cy="413"/>
            </a:xfrm>
          </p:grpSpPr>
          <p:sp>
            <p:nvSpPr>
              <p:cNvPr id="275563" name="Oval 107">
                <a:extLst>
                  <a:ext uri="{FF2B5EF4-FFF2-40B4-BE49-F238E27FC236}">
                    <a16:creationId xmlns:a16="http://schemas.microsoft.com/office/drawing/2014/main" id="{E61B2170-2D6C-D78A-5DB7-4107F962F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2644"/>
                <a:ext cx="403" cy="4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5564" name="Text Box 108">
                <a:extLst>
                  <a:ext uri="{FF2B5EF4-FFF2-40B4-BE49-F238E27FC236}">
                    <a16:creationId xmlns:a16="http://schemas.microsoft.com/office/drawing/2014/main" id="{10E44FD8-6702-6E1D-D9B5-8F7826CE1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2" y="2634"/>
                <a:ext cx="56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r>
                  <a:rPr lang="en-US" altLang="en-US" sz="1100" dirty="0">
                    <a:solidFill>
                      <a:srgbClr val="000000"/>
                    </a:solidFill>
                  </a:rPr>
                  <a:t>    </a:t>
                </a:r>
              </a:p>
              <a:p>
                <a:r>
                  <a:rPr kumimoji="1" lang="en-US" altLang="en-US" sz="1600" dirty="0">
                    <a:latin typeface="Tahoma" panose="020B0604030504040204" pitchFamily="34" charset="0"/>
                    <a:sym typeface="Symbol" panose="05050102010706020507" pitchFamily="18" charset="2"/>
                  </a:rPr>
                  <a:t>6+</a:t>
                </a:r>
                <a:endParaRPr lang="en-US" altLang="en-US" sz="11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75565" name="Group 109">
              <a:extLst>
                <a:ext uri="{FF2B5EF4-FFF2-40B4-BE49-F238E27FC236}">
                  <a16:creationId xmlns:a16="http://schemas.microsoft.com/office/drawing/2014/main" id="{FC656D43-F622-D2D6-5B7E-7FA065F75965}"/>
                </a:ext>
              </a:extLst>
            </p:cNvPr>
            <p:cNvGrpSpPr>
              <a:grpSpLocks/>
            </p:cNvGrpSpPr>
            <p:nvPr/>
          </p:nvGrpSpPr>
          <p:grpSpPr bwMode="auto">
            <a:xfrm rot="21300000">
              <a:off x="4860" y="1942"/>
              <a:ext cx="432" cy="374"/>
              <a:chOff x="2880" y="3312"/>
              <a:chExt cx="408" cy="336"/>
            </a:xfrm>
          </p:grpSpPr>
          <p:sp>
            <p:nvSpPr>
              <p:cNvPr id="275566" name="Freeform 110">
                <a:extLst>
                  <a:ext uri="{FF2B5EF4-FFF2-40B4-BE49-F238E27FC236}">
                    <a16:creationId xmlns:a16="http://schemas.microsoft.com/office/drawing/2014/main" id="{19BC112E-E7CB-9559-E195-617B1BCE8084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2880" y="3312"/>
                <a:ext cx="408" cy="328"/>
              </a:xfrm>
              <a:custGeom>
                <a:avLst/>
                <a:gdLst>
                  <a:gd name="T0" fmla="*/ 196 w 408"/>
                  <a:gd name="T1" fmla="*/ 378 h 378"/>
                  <a:gd name="T2" fmla="*/ 300 w 408"/>
                  <a:gd name="T3" fmla="*/ 37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8" h="378">
                    <a:moveTo>
                      <a:pt x="196" y="378"/>
                    </a:moveTo>
                    <a:cubicBezTo>
                      <a:pt x="0" y="79"/>
                      <a:pt x="408" y="0"/>
                      <a:pt x="300" y="370"/>
                    </a:cubicBezTo>
                  </a:path>
                </a:pathLst>
              </a:custGeom>
              <a:noFill/>
              <a:ln w="7620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567" name="Freeform 111">
                <a:extLst>
                  <a:ext uri="{FF2B5EF4-FFF2-40B4-BE49-F238E27FC236}">
                    <a16:creationId xmlns:a16="http://schemas.microsoft.com/office/drawing/2014/main" id="{8B108FFE-2DD4-FE8E-6389-A1D73F2F6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3603"/>
                <a:ext cx="36" cy="42"/>
              </a:xfrm>
              <a:custGeom>
                <a:avLst/>
                <a:gdLst>
                  <a:gd name="T0" fmla="*/ 0 w 36"/>
                  <a:gd name="T1" fmla="*/ 42 h 42"/>
                  <a:gd name="T2" fmla="*/ 36 w 36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2">
                    <a:moveTo>
                      <a:pt x="0" y="42"/>
                    </a:move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568" name="Freeform 112">
                <a:extLst>
                  <a:ext uri="{FF2B5EF4-FFF2-40B4-BE49-F238E27FC236}">
                    <a16:creationId xmlns:a16="http://schemas.microsoft.com/office/drawing/2014/main" id="{0CCA6352-EE39-2E9C-128B-FB00AB0CA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3600"/>
                <a:ext cx="3" cy="48"/>
              </a:xfrm>
              <a:custGeom>
                <a:avLst/>
                <a:gdLst>
                  <a:gd name="T0" fmla="*/ 0 w 3"/>
                  <a:gd name="T1" fmla="*/ 0 h 48"/>
                  <a:gd name="T2" fmla="*/ 3 w 3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8">
                    <a:moveTo>
                      <a:pt x="0" y="0"/>
                    </a:moveTo>
                    <a:lnTo>
                      <a:pt x="3" y="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5569" name="Freeform 113">
              <a:extLst>
                <a:ext uri="{FF2B5EF4-FFF2-40B4-BE49-F238E27FC236}">
                  <a16:creationId xmlns:a16="http://schemas.microsoft.com/office/drawing/2014/main" id="{B51E4DAD-AF41-833E-28A9-55C8198E4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399"/>
              <a:ext cx="376" cy="2280"/>
            </a:xfrm>
            <a:custGeom>
              <a:avLst/>
              <a:gdLst>
                <a:gd name="T0" fmla="*/ 0 w 376"/>
                <a:gd name="T1" fmla="*/ 0 h 2280"/>
                <a:gd name="T2" fmla="*/ 0 w 376"/>
                <a:gd name="T3" fmla="*/ 2280 h 2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6" h="2280">
                  <a:moveTo>
                    <a:pt x="0" y="0"/>
                  </a:moveTo>
                  <a:cubicBezTo>
                    <a:pt x="376" y="648"/>
                    <a:pt x="376" y="1544"/>
                    <a:pt x="0" y="22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570" name="Freeform 114">
              <a:extLst>
                <a:ext uri="{FF2B5EF4-FFF2-40B4-BE49-F238E27FC236}">
                  <a16:creationId xmlns:a16="http://schemas.microsoft.com/office/drawing/2014/main" id="{87EE4A71-ED0B-8E0A-49A7-D63B3908FB7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89" y="1391"/>
              <a:ext cx="376" cy="2280"/>
            </a:xfrm>
            <a:custGeom>
              <a:avLst/>
              <a:gdLst>
                <a:gd name="T0" fmla="*/ 0 w 376"/>
                <a:gd name="T1" fmla="*/ 0 h 2280"/>
                <a:gd name="T2" fmla="*/ 0 w 376"/>
                <a:gd name="T3" fmla="*/ 2280 h 2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6" h="2280">
                  <a:moveTo>
                    <a:pt x="0" y="0"/>
                  </a:moveTo>
                  <a:cubicBezTo>
                    <a:pt x="376" y="648"/>
                    <a:pt x="376" y="1544"/>
                    <a:pt x="0" y="22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571" name="Text Box 115">
              <a:extLst>
                <a:ext uri="{FF2B5EF4-FFF2-40B4-BE49-F238E27FC236}">
                  <a16:creationId xmlns:a16="http://schemas.microsoft.com/office/drawing/2014/main" id="{75B87CB2-02C4-408E-596F-99A6391CE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1032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en-US" altLang="en-US"/>
            </a:p>
          </p:txBody>
        </p:sp>
        <p:sp>
          <p:nvSpPr>
            <p:cNvPr id="275572" name="Text Box 116">
              <a:extLst>
                <a:ext uri="{FF2B5EF4-FFF2-40B4-BE49-F238E27FC236}">
                  <a16:creationId xmlns:a16="http://schemas.microsoft.com/office/drawing/2014/main" id="{26C44F64-0524-A96C-D0D0-28616515A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684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en-US" altLang="en-US"/>
            </a:p>
          </p:txBody>
        </p:sp>
        <p:sp>
          <p:nvSpPr>
            <p:cNvPr id="275573" name="Oval 117">
              <a:extLst>
                <a:ext uri="{FF2B5EF4-FFF2-40B4-BE49-F238E27FC236}">
                  <a16:creationId xmlns:a16="http://schemas.microsoft.com/office/drawing/2014/main" id="{A20FFA73-D2A9-A318-F120-8BD0D4666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996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275574" name="Oval 118">
              <a:extLst>
                <a:ext uri="{FF2B5EF4-FFF2-40B4-BE49-F238E27FC236}">
                  <a16:creationId xmlns:a16="http://schemas.microsoft.com/office/drawing/2014/main" id="{260C6DC8-F3AC-3287-9D2A-25056B291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672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275575" name="Text Box 119">
              <a:extLst>
                <a:ext uri="{FF2B5EF4-FFF2-40B4-BE49-F238E27FC236}">
                  <a16:creationId xmlns:a16="http://schemas.microsoft.com/office/drawing/2014/main" id="{E4D88FA0-584C-057B-18AA-D5DA868B3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1044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4</a:t>
              </a:r>
            </a:p>
          </p:txBody>
        </p:sp>
        <p:sp>
          <p:nvSpPr>
            <p:cNvPr id="275576" name="Text Box 120">
              <a:extLst>
                <a:ext uri="{FF2B5EF4-FFF2-40B4-BE49-F238E27FC236}">
                  <a16:creationId xmlns:a16="http://schemas.microsoft.com/office/drawing/2014/main" id="{CB5F32B8-A3A6-18E4-1A3C-EA740BFE7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3696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5</a:t>
              </a:r>
            </a:p>
          </p:txBody>
        </p:sp>
        <p:sp>
          <p:nvSpPr>
            <p:cNvPr id="275577" name="Line 121">
              <a:extLst>
                <a:ext uri="{FF2B5EF4-FFF2-40B4-BE49-F238E27FC236}">
                  <a16:creationId xmlns:a16="http://schemas.microsoft.com/office/drawing/2014/main" id="{5C1CE26B-BCFB-A5B7-1BA8-3C0B0E1F1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1200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78" name="Line 122">
              <a:extLst>
                <a:ext uri="{FF2B5EF4-FFF2-40B4-BE49-F238E27FC236}">
                  <a16:creationId xmlns:a16="http://schemas.microsoft.com/office/drawing/2014/main" id="{7F216405-1557-06D2-1037-360EE367A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900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79" name="Line 123">
              <a:extLst>
                <a:ext uri="{FF2B5EF4-FFF2-40B4-BE49-F238E27FC236}">
                  <a16:creationId xmlns:a16="http://schemas.microsoft.com/office/drawing/2014/main" id="{41EFEABA-33F6-9DA2-B55F-9BB199FF9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6" y="1272"/>
              <a:ext cx="1248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80" name="Line 124">
              <a:extLst>
                <a:ext uri="{FF2B5EF4-FFF2-40B4-BE49-F238E27FC236}">
                  <a16:creationId xmlns:a16="http://schemas.microsoft.com/office/drawing/2014/main" id="{6AF3BB3E-233E-718D-5A75-84799BD008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44" y="2676"/>
              <a:ext cx="120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81" name="Line 125">
              <a:extLst>
                <a:ext uri="{FF2B5EF4-FFF2-40B4-BE49-F238E27FC236}">
                  <a16:creationId xmlns:a16="http://schemas.microsoft.com/office/drawing/2014/main" id="{8ED40C42-CB5A-853A-6800-919668754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" y="2676"/>
              <a:ext cx="105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82" name="Line 126">
              <a:extLst>
                <a:ext uri="{FF2B5EF4-FFF2-40B4-BE49-F238E27FC236}">
                  <a16:creationId xmlns:a16="http://schemas.microsoft.com/office/drawing/2014/main" id="{234A2B97-7DD1-256E-48B6-9E0D3FAC5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1224"/>
              <a:ext cx="1008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83" name="Text Box 127">
              <a:extLst>
                <a:ext uri="{FF2B5EF4-FFF2-40B4-BE49-F238E27FC236}">
                  <a16:creationId xmlns:a16="http://schemas.microsoft.com/office/drawing/2014/main" id="{C02BA552-04A0-5009-0875-D575AF5E7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960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275584" name="Text Box 128">
              <a:extLst>
                <a:ext uri="{FF2B5EF4-FFF2-40B4-BE49-F238E27FC236}">
                  <a16:creationId xmlns:a16="http://schemas.microsoft.com/office/drawing/2014/main" id="{5E4BB2BB-798B-C70B-0C41-851063D3F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154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275585" name="Text Box 129">
              <a:extLst>
                <a:ext uri="{FF2B5EF4-FFF2-40B4-BE49-F238E27FC236}">
                  <a16:creationId xmlns:a16="http://schemas.microsoft.com/office/drawing/2014/main" id="{65DF411F-77DE-267C-7B11-0A80BD48A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184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a,b</a:t>
              </a:r>
              <a:endParaRPr lang="en-US" altLang="en-US"/>
            </a:p>
          </p:txBody>
        </p:sp>
        <p:sp>
          <p:nvSpPr>
            <p:cNvPr id="275586" name="Text Box 130">
              <a:extLst>
                <a:ext uri="{FF2B5EF4-FFF2-40B4-BE49-F238E27FC236}">
                  <a16:creationId xmlns:a16="http://schemas.microsoft.com/office/drawing/2014/main" id="{8ACE9E04-28AB-DC9C-338C-58091EE4F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" y="2952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b</a:t>
              </a:r>
            </a:p>
          </p:txBody>
        </p:sp>
        <p:sp>
          <p:nvSpPr>
            <p:cNvPr id="275587" name="Text Box 131">
              <a:extLst>
                <a:ext uri="{FF2B5EF4-FFF2-40B4-BE49-F238E27FC236}">
                  <a16:creationId xmlns:a16="http://schemas.microsoft.com/office/drawing/2014/main" id="{6CCC65AC-40B8-D2CC-CDA9-CA9070CB8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3660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b</a:t>
              </a:r>
            </a:p>
          </p:txBody>
        </p:sp>
        <p:sp>
          <p:nvSpPr>
            <p:cNvPr id="275588" name="Text Box 132">
              <a:extLst>
                <a:ext uri="{FF2B5EF4-FFF2-40B4-BE49-F238E27FC236}">
                  <a16:creationId xmlns:a16="http://schemas.microsoft.com/office/drawing/2014/main" id="{A82202C9-A3C1-613A-32B8-243D17F61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" y="304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b</a:t>
              </a:r>
            </a:p>
          </p:txBody>
        </p:sp>
        <p:sp>
          <p:nvSpPr>
            <p:cNvPr id="275589" name="Text Box 133">
              <a:extLst>
                <a:ext uri="{FF2B5EF4-FFF2-40B4-BE49-F238E27FC236}">
                  <a16:creationId xmlns:a16="http://schemas.microsoft.com/office/drawing/2014/main" id="{93DBFF13-B336-A0AF-6383-966342B39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232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  <p:sp>
          <p:nvSpPr>
            <p:cNvPr id="275590" name="Text Box 134">
              <a:extLst>
                <a:ext uri="{FF2B5EF4-FFF2-40B4-BE49-F238E27FC236}">
                  <a16:creationId xmlns:a16="http://schemas.microsoft.com/office/drawing/2014/main" id="{7B3C54A5-DA36-001A-061C-2797950D6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" y="2328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b</a:t>
              </a:r>
            </a:p>
          </p:txBody>
        </p:sp>
        <p:sp>
          <p:nvSpPr>
            <p:cNvPr id="275591" name="Line 135">
              <a:extLst>
                <a:ext uri="{FF2B5EF4-FFF2-40B4-BE49-F238E27FC236}">
                  <a16:creationId xmlns:a16="http://schemas.microsoft.com/office/drawing/2014/main" id="{DB419F18-C90D-BB3B-9528-7EC225A7F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92" y="1320"/>
              <a:ext cx="1392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92" name="Line 136">
              <a:extLst>
                <a:ext uri="{FF2B5EF4-FFF2-40B4-BE49-F238E27FC236}">
                  <a16:creationId xmlns:a16="http://schemas.microsoft.com/office/drawing/2014/main" id="{19CD5789-9020-B152-6BE7-D14F995775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2" y="1416"/>
              <a:ext cx="144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593" name="Text Box 137">
              <a:extLst>
                <a:ext uri="{FF2B5EF4-FFF2-40B4-BE49-F238E27FC236}">
                  <a16:creationId xmlns:a16="http://schemas.microsoft.com/office/drawing/2014/main" id="{9AFFC85D-6C29-A3AB-9DA3-C8E046357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1836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/>
                <a:t>b</a:t>
              </a:r>
            </a:p>
          </p:txBody>
        </p:sp>
        <p:sp>
          <p:nvSpPr>
            <p:cNvPr id="275594" name="Text Box 138">
              <a:extLst>
                <a:ext uri="{FF2B5EF4-FFF2-40B4-BE49-F238E27FC236}">
                  <a16:creationId xmlns:a16="http://schemas.microsoft.com/office/drawing/2014/main" id="{CF917D2E-D56E-89CD-3383-6BA56590E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2940"/>
              <a:ext cx="5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2200"/>
                <a:t>a</a:t>
              </a:r>
              <a:endParaRPr lang="en-US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C3EEF-D518-E571-6F8C-22027DC0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1A89-6BA2-4A4E-B3A3-7DAC4670EB8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31106" name="Rectangle 2">
            <a:extLst>
              <a:ext uri="{FF2B5EF4-FFF2-40B4-BE49-F238E27FC236}">
                <a16:creationId xmlns:a16="http://schemas.microsoft.com/office/drawing/2014/main" id="{B26EFE12-8CA9-DFC6-6941-7DADA85B0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0E4A669D-23A3-0008-18B7-4BF992EDC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Consider the </a:t>
            </a:r>
            <a:r>
              <a:rPr lang="en-US" altLang="en-US" b="1"/>
              <a:t>EVEN-EVEN</a:t>
            </a:r>
            <a:r>
              <a:rPr lang="en-US" altLang="en-US"/>
              <a:t> language, defined over </a:t>
            </a:r>
            <a:r>
              <a:rPr lang="el-GR" altLang="en-US" sz="3000"/>
              <a:t>Σ</a:t>
            </a:r>
            <a:r>
              <a:rPr lang="en-US" altLang="en-US" sz="3000"/>
              <a:t>={a, b}. As discussed earlier that </a:t>
            </a:r>
            <a:r>
              <a:rPr lang="en-US" altLang="en-US" sz="3000" b="1"/>
              <a:t>EVEN-EVEN</a:t>
            </a:r>
            <a:r>
              <a:rPr lang="en-US" altLang="en-US" sz="3000"/>
              <a:t> language can be expressed by the regular expression 	</a:t>
            </a:r>
            <a:r>
              <a:rPr lang="en-US" altLang="en-US"/>
              <a:t>(aa+bb+(ab+ba)(aa+bb)</a:t>
            </a:r>
            <a:r>
              <a:rPr lang="en-US" altLang="en-US" baseline="40000"/>
              <a:t>*</a:t>
            </a:r>
            <a:r>
              <a:rPr lang="en-US" altLang="en-US"/>
              <a:t>(ab+ba))</a:t>
            </a:r>
            <a:r>
              <a:rPr lang="en-US" altLang="en-US" baseline="40000"/>
              <a:t>*</a:t>
            </a:r>
            <a:r>
              <a:rPr lang="en-US" altLang="en-US"/>
              <a:t> 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 </a:t>
            </a:r>
            <a:r>
              <a:rPr lang="en-US" altLang="en-US" b="1"/>
              <a:t>EVEN-EVEN</a:t>
            </a:r>
            <a:r>
              <a:rPr lang="en-US" altLang="en-US"/>
              <a:t> language may be accepted by the following FA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4C0B-EC02-F9F4-4677-178CA9C6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B606-C0A1-4C7B-867D-E0A13FEA0375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73594215-9C9B-004B-CA65-0009FC5D9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 Continued …</a:t>
            </a:r>
          </a:p>
        </p:txBody>
      </p:sp>
      <p:sp>
        <p:nvSpPr>
          <p:cNvPr id="432133" name="Text Box 5">
            <a:extLst>
              <a:ext uri="{FF2B5EF4-FFF2-40B4-BE49-F238E27FC236}">
                <a16:creationId xmlns:a16="http://schemas.microsoft.com/office/drawing/2014/main" id="{3CD3E71D-4919-CC87-4999-5B66F729F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9" y="2641600"/>
            <a:ext cx="44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/>
              <a:t>b</a:t>
            </a:r>
          </a:p>
        </p:txBody>
      </p:sp>
      <p:grpSp>
        <p:nvGrpSpPr>
          <p:cNvPr id="432134" name="Group 6">
            <a:extLst>
              <a:ext uri="{FF2B5EF4-FFF2-40B4-BE49-F238E27FC236}">
                <a16:creationId xmlns:a16="http://schemas.microsoft.com/office/drawing/2014/main" id="{116B5E0A-BFDB-7F4E-B9CA-81E142EA2373}"/>
              </a:ext>
            </a:extLst>
          </p:cNvPr>
          <p:cNvGrpSpPr>
            <a:grpSpLocks/>
          </p:cNvGrpSpPr>
          <p:nvPr/>
        </p:nvGrpSpPr>
        <p:grpSpPr bwMode="auto">
          <a:xfrm>
            <a:off x="6837364" y="2270126"/>
            <a:ext cx="841375" cy="614363"/>
            <a:chOff x="726" y="2634"/>
            <a:chExt cx="566" cy="413"/>
          </a:xfrm>
        </p:grpSpPr>
        <p:sp>
          <p:nvSpPr>
            <p:cNvPr id="432135" name="Oval 7">
              <a:extLst>
                <a:ext uri="{FF2B5EF4-FFF2-40B4-BE49-F238E27FC236}">
                  <a16:creationId xmlns:a16="http://schemas.microsoft.com/office/drawing/2014/main" id="{D4F0CFAA-0247-4787-D852-DBA4F3D89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32136" name="Text Box 8">
              <a:extLst>
                <a:ext uri="{FF2B5EF4-FFF2-40B4-BE49-F238E27FC236}">
                  <a16:creationId xmlns:a16="http://schemas.microsoft.com/office/drawing/2014/main" id="{1AF17669-B848-BF06-14CC-385BC139F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endParaRPr lang="en-US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432137" name="Freeform 9">
            <a:extLst>
              <a:ext uri="{FF2B5EF4-FFF2-40B4-BE49-F238E27FC236}">
                <a16:creationId xmlns:a16="http://schemas.microsoft.com/office/drawing/2014/main" id="{ED655213-8E78-AFB7-47AD-FF472D4DE096}"/>
              </a:ext>
            </a:extLst>
          </p:cNvPr>
          <p:cNvSpPr>
            <a:spLocks/>
          </p:cNvSpPr>
          <p:nvPr/>
        </p:nvSpPr>
        <p:spPr bwMode="auto">
          <a:xfrm flipH="1" flipV="1">
            <a:off x="4933951" y="2679701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38" name="Text Box 10">
            <a:extLst>
              <a:ext uri="{FF2B5EF4-FFF2-40B4-BE49-F238E27FC236}">
                <a16:creationId xmlns:a16="http://schemas.microsoft.com/office/drawing/2014/main" id="{DC60F690-C9A9-B0A2-8C83-3E1A4B0F8AB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784851" y="1828800"/>
            <a:ext cx="3794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b</a:t>
            </a:r>
            <a:endParaRPr lang="en-US" altLang="en-US"/>
          </a:p>
        </p:txBody>
      </p:sp>
      <p:grpSp>
        <p:nvGrpSpPr>
          <p:cNvPr id="432139" name="Group 11">
            <a:extLst>
              <a:ext uri="{FF2B5EF4-FFF2-40B4-BE49-F238E27FC236}">
                <a16:creationId xmlns:a16="http://schemas.microsoft.com/office/drawing/2014/main" id="{7DCA072A-EADC-368B-B51F-C57A208FBECF}"/>
              </a:ext>
            </a:extLst>
          </p:cNvPr>
          <p:cNvGrpSpPr>
            <a:grpSpLocks/>
          </p:cNvGrpSpPr>
          <p:nvPr/>
        </p:nvGrpSpPr>
        <p:grpSpPr bwMode="auto">
          <a:xfrm>
            <a:off x="4189414" y="2286000"/>
            <a:ext cx="898525" cy="655638"/>
            <a:chOff x="726" y="2634"/>
            <a:chExt cx="566" cy="413"/>
          </a:xfrm>
        </p:grpSpPr>
        <p:sp>
          <p:nvSpPr>
            <p:cNvPr id="432140" name="Oval 12">
              <a:extLst>
                <a:ext uri="{FF2B5EF4-FFF2-40B4-BE49-F238E27FC236}">
                  <a16:creationId xmlns:a16="http://schemas.microsoft.com/office/drawing/2014/main" id="{52F514CB-6C42-AC99-C3AB-A386766FA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32141" name="Text Box 13">
              <a:extLst>
                <a:ext uri="{FF2B5EF4-FFF2-40B4-BE49-F238E27FC236}">
                  <a16:creationId xmlns:a16="http://schemas.microsoft.com/office/drawing/2014/main" id="{0A05DD13-340A-26BE-D59B-3B6478088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</p:txBody>
        </p:sp>
      </p:grpSp>
      <p:sp>
        <p:nvSpPr>
          <p:cNvPr id="432142" name="Freeform 14">
            <a:extLst>
              <a:ext uri="{FF2B5EF4-FFF2-40B4-BE49-F238E27FC236}">
                <a16:creationId xmlns:a16="http://schemas.microsoft.com/office/drawing/2014/main" id="{7CE95D4E-97FB-9950-C52E-E7EEBC67DE35}"/>
              </a:ext>
            </a:extLst>
          </p:cNvPr>
          <p:cNvSpPr>
            <a:spLocks/>
          </p:cNvSpPr>
          <p:nvPr/>
        </p:nvSpPr>
        <p:spPr bwMode="auto">
          <a:xfrm>
            <a:off x="4953001" y="2038351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32143" name="Group 15">
            <a:extLst>
              <a:ext uri="{FF2B5EF4-FFF2-40B4-BE49-F238E27FC236}">
                <a16:creationId xmlns:a16="http://schemas.microsoft.com/office/drawing/2014/main" id="{220DB1CD-D3BE-C96D-AB88-0D3DCB7DD1B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290220" y="4958557"/>
            <a:ext cx="841375" cy="614363"/>
            <a:chOff x="726" y="2634"/>
            <a:chExt cx="566" cy="413"/>
          </a:xfrm>
        </p:grpSpPr>
        <p:sp>
          <p:nvSpPr>
            <p:cNvPr id="432144" name="Oval 16">
              <a:extLst>
                <a:ext uri="{FF2B5EF4-FFF2-40B4-BE49-F238E27FC236}">
                  <a16:creationId xmlns:a16="http://schemas.microsoft.com/office/drawing/2014/main" id="{3C7CCD0A-BA7F-CDA5-90F4-70EC1B2DE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vert="eaVert"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32145" name="Text Box 17">
              <a:extLst>
                <a:ext uri="{FF2B5EF4-FFF2-40B4-BE49-F238E27FC236}">
                  <a16:creationId xmlns:a16="http://schemas.microsoft.com/office/drawing/2014/main" id="{D0D1D91A-13AB-846C-5998-5C9BE662D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en-US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432146" name="Freeform 18">
            <a:extLst>
              <a:ext uri="{FF2B5EF4-FFF2-40B4-BE49-F238E27FC236}">
                <a16:creationId xmlns:a16="http://schemas.microsoft.com/office/drawing/2014/main" id="{3C1C8907-A6D9-BA53-889B-A5BD7AF8A32B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3348832" y="3691732"/>
            <a:ext cx="2011362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47" name="Freeform 19">
            <a:extLst>
              <a:ext uri="{FF2B5EF4-FFF2-40B4-BE49-F238E27FC236}">
                <a16:creationId xmlns:a16="http://schemas.microsoft.com/office/drawing/2014/main" id="{413EE79B-DDF8-20F3-49C9-3E56E9614389}"/>
              </a:ext>
            </a:extLst>
          </p:cNvPr>
          <p:cNvSpPr>
            <a:spLocks/>
          </p:cNvSpPr>
          <p:nvPr/>
        </p:nvSpPr>
        <p:spPr bwMode="auto">
          <a:xfrm rot="5400000">
            <a:off x="3990182" y="3710782"/>
            <a:ext cx="2011362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48" name="Text Box 20">
            <a:extLst>
              <a:ext uri="{FF2B5EF4-FFF2-40B4-BE49-F238E27FC236}">
                <a16:creationId xmlns:a16="http://schemas.microsoft.com/office/drawing/2014/main" id="{F7464EE3-0146-465E-10DB-BD4B0406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39" y="5251450"/>
            <a:ext cx="44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/>
              <a:t>b</a:t>
            </a:r>
          </a:p>
        </p:txBody>
      </p:sp>
      <p:grpSp>
        <p:nvGrpSpPr>
          <p:cNvPr id="432149" name="Group 21">
            <a:extLst>
              <a:ext uri="{FF2B5EF4-FFF2-40B4-BE49-F238E27FC236}">
                <a16:creationId xmlns:a16="http://schemas.microsoft.com/office/drawing/2014/main" id="{E6B8C66F-7A1D-06CA-226F-BEBA3F353DC1}"/>
              </a:ext>
            </a:extLst>
          </p:cNvPr>
          <p:cNvGrpSpPr>
            <a:grpSpLocks/>
          </p:cNvGrpSpPr>
          <p:nvPr/>
        </p:nvGrpSpPr>
        <p:grpSpPr bwMode="auto">
          <a:xfrm>
            <a:off x="6938964" y="4879976"/>
            <a:ext cx="841375" cy="614363"/>
            <a:chOff x="726" y="2634"/>
            <a:chExt cx="566" cy="413"/>
          </a:xfrm>
        </p:grpSpPr>
        <p:sp>
          <p:nvSpPr>
            <p:cNvPr id="432150" name="Oval 22">
              <a:extLst>
                <a:ext uri="{FF2B5EF4-FFF2-40B4-BE49-F238E27FC236}">
                  <a16:creationId xmlns:a16="http://schemas.microsoft.com/office/drawing/2014/main" id="{92918F2F-787F-4003-DD20-C16B7A540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644"/>
              <a:ext cx="403" cy="4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432151" name="Text Box 23">
              <a:extLst>
                <a:ext uri="{FF2B5EF4-FFF2-40B4-BE49-F238E27FC236}">
                  <a16:creationId xmlns:a16="http://schemas.microsoft.com/office/drawing/2014/main" id="{81FF9E38-62E0-F780-AC4F-C423D8C06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2634"/>
              <a:ext cx="56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r>
                <a:rPr lang="en-US" altLang="en-US" sz="1100">
                  <a:solidFill>
                    <a:srgbClr val="000000"/>
                  </a:solidFill>
                </a:rPr>
                <a:t>    </a:t>
              </a:r>
            </a:p>
            <a:p>
              <a:endParaRPr lang="en-US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432152" name="Freeform 24">
            <a:extLst>
              <a:ext uri="{FF2B5EF4-FFF2-40B4-BE49-F238E27FC236}">
                <a16:creationId xmlns:a16="http://schemas.microsoft.com/office/drawing/2014/main" id="{4542643E-0117-7D30-B823-D1F9E2AA6248}"/>
              </a:ext>
            </a:extLst>
          </p:cNvPr>
          <p:cNvSpPr>
            <a:spLocks/>
          </p:cNvSpPr>
          <p:nvPr/>
        </p:nvSpPr>
        <p:spPr bwMode="auto">
          <a:xfrm flipH="1" flipV="1">
            <a:off x="5035551" y="5289551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53" name="Text Box 25">
            <a:extLst>
              <a:ext uri="{FF2B5EF4-FFF2-40B4-BE49-F238E27FC236}">
                <a16:creationId xmlns:a16="http://schemas.microsoft.com/office/drawing/2014/main" id="{F2B6E4AC-E2F9-66FD-60F8-E17E32F382F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86451" y="4438650"/>
            <a:ext cx="3794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b</a:t>
            </a:r>
            <a:endParaRPr lang="en-US" altLang="en-US"/>
          </a:p>
        </p:txBody>
      </p:sp>
      <p:sp>
        <p:nvSpPr>
          <p:cNvPr id="432154" name="Freeform 26">
            <a:extLst>
              <a:ext uri="{FF2B5EF4-FFF2-40B4-BE49-F238E27FC236}">
                <a16:creationId xmlns:a16="http://schemas.microsoft.com/office/drawing/2014/main" id="{0F34AD60-74FC-F0D5-3826-2DF957BBAD8E}"/>
              </a:ext>
            </a:extLst>
          </p:cNvPr>
          <p:cNvSpPr>
            <a:spLocks/>
          </p:cNvSpPr>
          <p:nvPr/>
        </p:nvSpPr>
        <p:spPr bwMode="auto">
          <a:xfrm>
            <a:off x="5016501" y="4648201"/>
            <a:ext cx="2011363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55" name="Freeform 27">
            <a:extLst>
              <a:ext uri="{FF2B5EF4-FFF2-40B4-BE49-F238E27FC236}">
                <a16:creationId xmlns:a16="http://schemas.microsoft.com/office/drawing/2014/main" id="{877477C4-D594-9809-1E44-E06F057F600A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6001545" y="3612357"/>
            <a:ext cx="2011362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56" name="Freeform 28">
            <a:extLst>
              <a:ext uri="{FF2B5EF4-FFF2-40B4-BE49-F238E27FC236}">
                <a16:creationId xmlns:a16="http://schemas.microsoft.com/office/drawing/2014/main" id="{79E86B88-CBD1-CC2E-0A94-2D49127A9392}"/>
              </a:ext>
            </a:extLst>
          </p:cNvPr>
          <p:cNvSpPr>
            <a:spLocks/>
          </p:cNvSpPr>
          <p:nvPr/>
        </p:nvSpPr>
        <p:spPr bwMode="auto">
          <a:xfrm rot="5400000">
            <a:off x="6642895" y="3631407"/>
            <a:ext cx="2011362" cy="511175"/>
          </a:xfrm>
          <a:custGeom>
            <a:avLst/>
            <a:gdLst>
              <a:gd name="T0" fmla="*/ 0 w 2176"/>
              <a:gd name="T1" fmla="*/ 336 h 336"/>
              <a:gd name="T2" fmla="*/ 2176 w 2176"/>
              <a:gd name="T3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76" h="336">
                <a:moveTo>
                  <a:pt x="0" y="336"/>
                </a:moveTo>
                <a:cubicBezTo>
                  <a:pt x="558" y="66"/>
                  <a:pt x="1458" y="0"/>
                  <a:pt x="2176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57" name="Text Box 29">
            <a:extLst>
              <a:ext uri="{FF2B5EF4-FFF2-40B4-BE49-F238E27FC236}">
                <a16:creationId xmlns:a16="http://schemas.microsoft.com/office/drawing/2014/main" id="{E6A89624-DD32-EC70-4C47-4AC293314B7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243388" y="3752850"/>
            <a:ext cx="3794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32158" name="Text Box 30">
            <a:extLst>
              <a:ext uri="{FF2B5EF4-FFF2-40B4-BE49-F238E27FC236}">
                <a16:creationId xmlns:a16="http://schemas.microsoft.com/office/drawing/2014/main" id="{953AE882-B314-9F82-8DB9-3D7A5906971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30763" y="3776663"/>
            <a:ext cx="3794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32159" name="Text Box 31">
            <a:extLst>
              <a:ext uri="{FF2B5EF4-FFF2-40B4-BE49-F238E27FC236}">
                <a16:creationId xmlns:a16="http://schemas.microsoft.com/office/drawing/2014/main" id="{93DB51AD-F147-57BB-D38A-C60638A72A7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54801" y="3676650"/>
            <a:ext cx="3794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32160" name="Text Box 32">
            <a:extLst>
              <a:ext uri="{FF2B5EF4-FFF2-40B4-BE49-F238E27FC236}">
                <a16:creationId xmlns:a16="http://schemas.microsoft.com/office/drawing/2014/main" id="{79167A02-9CC5-925A-6F67-56035D7AEE6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469188" y="3676650"/>
            <a:ext cx="3794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2200"/>
              <a:t>a</a:t>
            </a:r>
            <a:endParaRPr lang="en-US" altLang="en-US"/>
          </a:p>
        </p:txBody>
      </p:sp>
      <p:sp>
        <p:nvSpPr>
          <p:cNvPr id="432161" name="Text Box 33">
            <a:extLst>
              <a:ext uri="{FF2B5EF4-FFF2-40B4-BE49-F238E27FC236}">
                <a16:creationId xmlns:a16="http://schemas.microsoft.com/office/drawing/2014/main" id="{8A69CDFB-96A9-5868-37CD-7308CC74DFC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359276" y="2362200"/>
            <a:ext cx="631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kumimoji="1" lang="en-US" altLang="en-US">
                <a:latin typeface="Tahoma" panose="020B0604030504040204" pitchFamily="34" charset="0"/>
                <a:sym typeface="Symbol" panose="05050102010706020507" pitchFamily="18" charset="2"/>
              </a:rPr>
              <a:t>1</a:t>
            </a:r>
          </a:p>
        </p:txBody>
      </p:sp>
      <p:sp>
        <p:nvSpPr>
          <p:cNvPr id="432162" name="Text Box 34">
            <a:extLst>
              <a:ext uri="{FF2B5EF4-FFF2-40B4-BE49-F238E27FC236}">
                <a16:creationId xmlns:a16="http://schemas.microsoft.com/office/drawing/2014/main" id="{45659EA4-BABD-C5A5-E084-7E939D2997E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140576" y="4953000"/>
            <a:ext cx="631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kumimoji="1" lang="en-US" altLang="en-US">
                <a:latin typeface="Tahoma" panose="020B0604030504040204" pitchFamily="34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32163" name="Text Box 35">
            <a:extLst>
              <a:ext uri="{FF2B5EF4-FFF2-40B4-BE49-F238E27FC236}">
                <a16:creationId xmlns:a16="http://schemas.microsoft.com/office/drawing/2014/main" id="{172AA03B-E3CD-28B9-6A1B-CEBB1B7ED94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064376" y="2343150"/>
            <a:ext cx="631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kumimoji="1" lang="en-US" altLang="en-US">
                <a:latin typeface="Tahoma" panose="020B0604030504040204" pitchFamily="34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32164" name="Text Box 36">
            <a:extLst>
              <a:ext uri="{FF2B5EF4-FFF2-40B4-BE49-F238E27FC236}">
                <a16:creationId xmlns:a16="http://schemas.microsoft.com/office/drawing/2014/main" id="{E70D81F3-9000-F967-F110-66EBD58E497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533901" y="5010150"/>
            <a:ext cx="631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kumimoji="1" lang="en-US" altLang="en-US">
                <a:latin typeface="Tahoma" panose="020B0604030504040204" pitchFamily="34" charset="0"/>
                <a:sym typeface="Symbol" panose="05050102010706020507" pitchFamily="18" charset="2"/>
              </a:rPr>
              <a:t>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Image 14-03-2024 at 9.24 AM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6941" y="1000760"/>
            <a:ext cx="10273665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344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a transition table</a:t>
            </a:r>
          </a:p>
          <a:p>
            <a:r>
              <a:rPr lang="en-US"/>
              <a:t>Write down its regular expression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1"/>
            <a:ext cx="5715635" cy="79311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/>
              <a:t>End of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995</Words>
  <Application>Microsoft Office PowerPoint</Application>
  <PresentationFormat>Widescreen</PresentationFormat>
  <Paragraphs>255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Monotype Sorts</vt:lpstr>
      <vt:lpstr>Symbol</vt:lpstr>
      <vt:lpstr>Tahoma</vt:lpstr>
      <vt:lpstr>Times New Roman</vt:lpstr>
      <vt:lpstr>Office Theme</vt:lpstr>
      <vt:lpstr> Theory of Automata (CSC- 402)  Semester : Spring 2026  Credit Hours: 3 </vt:lpstr>
      <vt:lpstr> Theory of Automata Course</vt:lpstr>
      <vt:lpstr>PowerPoint Presentation</vt:lpstr>
      <vt:lpstr>TASK </vt:lpstr>
      <vt:lpstr>Solution continued …</vt:lpstr>
      <vt:lpstr>Task </vt:lpstr>
      <vt:lpstr>Solution continued …</vt:lpstr>
      <vt:lpstr>Example</vt:lpstr>
      <vt:lpstr>Example Continued …</vt:lpstr>
      <vt:lpstr>Example</vt:lpstr>
      <vt:lpstr>Example Continued …</vt:lpstr>
      <vt:lpstr>Example</vt:lpstr>
      <vt:lpstr>Example </vt:lpstr>
      <vt:lpstr>Equivalent FAs</vt:lpstr>
      <vt:lpstr>Equivalent FAs Continued …</vt:lpstr>
      <vt:lpstr>Example</vt:lpstr>
      <vt:lpstr>Example Continued …</vt:lpstr>
      <vt:lpstr>Example</vt:lpstr>
      <vt:lpstr>PowerPoint Presentation</vt:lpstr>
      <vt:lpstr>PowerPoint Presentation</vt:lpstr>
      <vt:lpstr>Regular expression</vt:lpstr>
      <vt:lpstr>Write down the regular expression for the following finite automata</vt:lpstr>
      <vt:lpstr>Solution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PowerPoint Presentation</vt:lpstr>
      <vt:lpstr>Solution</vt:lpstr>
      <vt:lpstr>Example</vt:lpstr>
      <vt:lpstr>Example Continued …</vt:lpstr>
      <vt:lpstr>Example</vt:lpstr>
      <vt:lpstr>Example Continued …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Sheeza Batool</cp:lastModifiedBy>
  <cp:revision>422</cp:revision>
  <dcterms:created xsi:type="dcterms:W3CDTF">2026-02-11T10:59:52Z</dcterms:created>
  <dcterms:modified xsi:type="dcterms:W3CDTF">2026-03-26T06:54:51Z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