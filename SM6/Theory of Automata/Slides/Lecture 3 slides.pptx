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sldIdLst>
    <p:sldId id="324" r:id="rId2"/>
    <p:sldId id="256" r:id="rId3"/>
    <p:sldId id="257" r:id="rId4"/>
    <p:sldId id="436" r:id="rId5"/>
    <p:sldId id="390" r:id="rId6"/>
    <p:sldId id="395" r:id="rId7"/>
    <p:sldId id="423" r:id="rId8"/>
    <p:sldId id="424" r:id="rId9"/>
    <p:sldId id="425" r:id="rId10"/>
    <p:sldId id="426" r:id="rId11"/>
    <p:sldId id="427" r:id="rId12"/>
    <p:sldId id="428" r:id="rId13"/>
    <p:sldId id="431" r:id="rId14"/>
    <p:sldId id="429" r:id="rId15"/>
    <p:sldId id="399" r:id="rId16"/>
    <p:sldId id="293" r:id="rId17"/>
    <p:sldId id="294" r:id="rId18"/>
    <p:sldId id="295" r:id="rId19"/>
    <p:sldId id="386" r:id="rId20"/>
    <p:sldId id="387" r:id="rId21"/>
    <p:sldId id="459" r:id="rId22"/>
    <p:sldId id="388" r:id="rId23"/>
    <p:sldId id="460" r:id="rId24"/>
    <p:sldId id="389" r:id="rId25"/>
    <p:sldId id="461" r:id="rId26"/>
    <p:sldId id="458" r:id="rId27"/>
    <p:sldId id="462" r:id="rId28"/>
    <p:sldId id="391" r:id="rId29"/>
    <p:sldId id="463" r:id="rId30"/>
    <p:sldId id="433" r:id="rId31"/>
    <p:sldId id="435" r:id="rId32"/>
    <p:sldId id="450" r:id="rId33"/>
    <p:sldId id="451" r:id="rId34"/>
    <p:sldId id="452" r:id="rId35"/>
    <p:sldId id="453" r:id="rId36"/>
    <p:sldId id="454" r:id="rId37"/>
    <p:sldId id="455" r:id="rId38"/>
    <p:sldId id="456" r:id="rId39"/>
    <p:sldId id="457" r:id="rId40"/>
    <p:sldId id="396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mraabbas" initials="n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2-13T10:24:05.175" idx="2">
    <p:pos x="10" y="10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79CEE-7766-467A-AD48-D068D9C9E51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0D8A8-3AA1-4FF6-BE16-2FE515242F3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5A18B4-2029-423F-AF07-FF085EF6276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07234"/>
            <a:ext cx="10515600" cy="233523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Theory of Automata (CSC- 402)	</a:t>
            </a:r>
            <a:br>
              <a:rPr lang="en-US" b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Semester : Spring 2026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br>
              <a:rPr lang="en-US" b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Credit Hours: 3</a:t>
            </a:r>
            <a:br>
              <a:rPr 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</a:b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dirty="0">
                <a:sym typeface="+mn-ea"/>
              </a:rPr>
              <a:t>Theory of Automata</a:t>
            </a:r>
            <a:r>
              <a:rPr lang="en-US" dirty="0"/>
              <a:t> Course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39815"/>
            <a:ext cx="10515600" cy="3376247"/>
          </a:xfrm>
        </p:spPr>
        <p:txBody>
          <a:bodyPr/>
          <a:lstStyle/>
          <a:p>
            <a:pPr marL="0" indent="0" algn="ctr">
              <a:buNone/>
            </a:pPr>
            <a:r>
              <a:rPr lang="en-US" sz="5400" dirty="0">
                <a:latin typeface="Algerian" panose="04020705040A02060702" pitchFamily="82" charset="0"/>
              </a:rPr>
              <a:t>CHAPTER 2 - Languages</a:t>
            </a:r>
          </a:p>
          <a:p>
            <a:pPr marL="0" indent="0" algn="ctr">
              <a:buNone/>
            </a:pPr>
            <a:r>
              <a:rPr lang="en-US" sz="3200"/>
              <a:t>Overview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5260"/>
            <a:ext cx="10515600" cy="1325563"/>
          </a:xfrm>
        </p:spPr>
        <p:txBody>
          <a:bodyPr/>
          <a:lstStyle/>
          <a:p>
            <a:r>
              <a:rPr lang="en-US"/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1140"/>
            <a:ext cx="10515600" cy="4351338"/>
          </a:xfrm>
        </p:spPr>
        <p:txBody>
          <a:bodyPr/>
          <a:lstStyle/>
          <a:p>
            <a:r>
              <a:rPr lang="en-US"/>
              <a:t>Language</a:t>
            </a:r>
          </a:p>
          <a:p>
            <a:r>
              <a:rPr lang="en-US"/>
              <a:t>Empty String</a:t>
            </a:r>
          </a:p>
          <a:p>
            <a:r>
              <a:rPr lang="en-US"/>
              <a:t>Power of string</a:t>
            </a:r>
          </a:p>
          <a:p>
            <a:r>
              <a:rPr lang="en-US"/>
              <a:t>Length of string</a:t>
            </a:r>
          </a:p>
          <a:p>
            <a:r>
              <a:rPr lang="en-US"/>
              <a:t>Reverse of a string</a:t>
            </a:r>
          </a:p>
          <a:p>
            <a:r>
              <a:rPr lang="en-US"/>
              <a:t>Concatenation</a:t>
            </a:r>
          </a:p>
          <a:p>
            <a:r>
              <a:rPr lang="en-US"/>
              <a:t>Palindrome</a:t>
            </a:r>
          </a:p>
          <a:p>
            <a:r>
              <a:rPr lang="en-US"/>
              <a:t>Kleene star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41985"/>
            <a:ext cx="10515600" cy="527050"/>
          </a:xfrm>
        </p:spPr>
        <p:txBody>
          <a:bodyPr>
            <a:normAutofit/>
          </a:bodyPr>
          <a:lstStyle/>
          <a:p>
            <a:r>
              <a:rPr lang="en-US" sz="2220" b="1"/>
              <a:t>Kleen Star/Closure/Operator VS. Kleener Closure/Plus/Positive, Lexicographic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8120"/>
            <a:ext cx="10515600" cy="4709160"/>
          </a:xfrm>
        </p:spPr>
        <p:txBody>
          <a:bodyPr/>
          <a:lstStyle/>
          <a:p>
            <a:r>
              <a:rPr lang="en-US" sz="2000"/>
              <a:t>In the first lecture, we discussed about power of alphabet, and poower of string which are:</a:t>
            </a:r>
          </a:p>
          <a:p>
            <a:endParaRPr lang="en-US" sz="2000"/>
          </a:p>
        </p:txBody>
      </p:sp>
      <p:pic>
        <p:nvPicPr>
          <p:cNvPr id="5" name="Picture 4" descr="Image 13-02-2024 at 9.52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15" y="2288540"/>
            <a:ext cx="11120120" cy="1207770"/>
          </a:xfrm>
          <a:prstGeom prst="rect">
            <a:avLst/>
          </a:prstGeom>
        </p:spPr>
      </p:pic>
      <p:pic>
        <p:nvPicPr>
          <p:cNvPr id="6" name="Picture 5" descr="Image 13-02-2024 at 9.54 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15" y="4060825"/>
            <a:ext cx="11121390" cy="91059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838200" y="4971415"/>
            <a:ext cx="692277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>
                <a:sym typeface="+mn-ea"/>
              </a:rPr>
              <a:t>Then we learn about Kleene star, kleene closure, kleene operator. 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9140"/>
          </a:xfrm>
        </p:spPr>
        <p:txBody>
          <a:bodyPr>
            <a:normAutofit fontScale="90000"/>
          </a:bodyPr>
          <a:lstStyle/>
          <a:p>
            <a:br>
              <a:rPr lang="en-US" alt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</a:b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Kleene Star/Closure/Operator</a:t>
            </a:r>
            <a:br>
              <a:rPr lang="en-US" alt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</a:br>
            <a:endParaRPr lang="en-US"/>
          </a:p>
        </p:txBody>
      </p:sp>
      <p:pic>
        <p:nvPicPr>
          <p:cNvPr id="5" name="Picture 4" descr="Image 13-02-2024 at 9.57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530" y="1270635"/>
            <a:ext cx="9552940" cy="3041650"/>
          </a:xfrm>
          <a:prstGeom prst="rect">
            <a:avLst/>
          </a:prstGeom>
        </p:spPr>
      </p:pic>
      <p:pic>
        <p:nvPicPr>
          <p:cNvPr id="6" name="Picture 5" descr="Image 13-02-2024 at 10.00 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832225"/>
            <a:ext cx="11734800" cy="1092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0580"/>
          </a:xfrm>
        </p:spPr>
        <p:txBody>
          <a:bodyPr>
            <a:normAutofit/>
          </a:bodyPr>
          <a:lstStyle/>
          <a:p>
            <a:r>
              <a:rPr lang="en-US" altLang="en-US" sz="3200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Kleene Plus/Psitive/Closure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95705"/>
            <a:ext cx="10749280" cy="5229225"/>
          </a:xfrm>
        </p:spPr>
        <p:txBody>
          <a:bodyPr/>
          <a:lstStyle/>
          <a:p>
            <a:r>
              <a:rPr lang="en-US"/>
              <a:t>It is undermined power, represent infinite number of terms can be made except empty string.</a:t>
            </a:r>
          </a:p>
          <a:p>
            <a:r>
              <a:rPr lang="en-US"/>
              <a:t>It is denoted by +</a:t>
            </a:r>
          </a:p>
          <a:p>
            <a:pPr marL="0" indent="0">
              <a:buNone/>
            </a:pPr>
            <a:endParaRPr lang="en-US">
              <a:sym typeface="+mn-ea"/>
            </a:endParaRPr>
          </a:p>
          <a:p>
            <a:pPr marL="0" indent="0">
              <a:buNone/>
            </a:pPr>
            <a:endParaRPr lang="en-US">
              <a:sym typeface="+mn-ea"/>
            </a:endParaRPr>
          </a:p>
          <a:p>
            <a:pPr marL="0" indent="0">
              <a:buNone/>
            </a:pPr>
            <a:endParaRPr lang="en-US"/>
          </a:p>
          <a:p>
            <a:r>
              <a:rPr lang="en-US"/>
              <a:t>What are the possible values of ba</a:t>
            </a:r>
            <a:r>
              <a:rPr lang="en-US" baseline="30000"/>
              <a:t>+</a:t>
            </a:r>
            <a:r>
              <a:rPr lang="en-US"/>
              <a:t>b?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 descr="Image 13-02-2024 at 10.06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205" y="3082290"/>
            <a:ext cx="10348595" cy="6934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8955"/>
          </a:xfrm>
        </p:spPr>
        <p:txBody>
          <a:bodyPr>
            <a:normAutofit/>
          </a:bodyPr>
          <a:lstStyle/>
          <a:p>
            <a:r>
              <a:rPr lang="en-US" sz="2000" b="1">
                <a:sym typeface="+mn-ea"/>
              </a:rPr>
              <a:t>Lexicographic Order</a:t>
            </a:r>
            <a:endParaRPr lang="en-US" sz="2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96010"/>
            <a:ext cx="10515600" cy="5081270"/>
          </a:xfrm>
        </p:spPr>
        <p:txBody>
          <a:bodyPr/>
          <a:lstStyle/>
          <a:p>
            <a:r>
              <a:rPr lang="en-US"/>
              <a:t>We arrange the terms on the basis of shortest length first. </a:t>
            </a:r>
          </a:p>
          <a:p>
            <a:pPr marL="0" indent="0">
              <a:buNone/>
            </a:pPr>
            <a:r>
              <a:rPr lang="en-US"/>
              <a:t>Defination: Method of sequencing a language in which strings are grouped by their length (i.e., strings of shortest legth first)</a:t>
            </a:r>
          </a:p>
        </p:txBody>
      </p:sp>
      <p:pic>
        <p:nvPicPr>
          <p:cNvPr id="4" name="Picture 3" descr="Image 13-02-2024 at 10.06 AM"/>
          <p:cNvPicPr>
            <a:picLocks noChangeAspect="1"/>
          </p:cNvPicPr>
          <p:nvPr/>
        </p:nvPicPr>
        <p:blipFill>
          <a:blip r:embed="rId2"/>
          <a:srcRect l="44941"/>
          <a:stretch>
            <a:fillRect/>
          </a:stretch>
        </p:blipFill>
        <p:spPr>
          <a:xfrm>
            <a:off x="3068955" y="3082290"/>
            <a:ext cx="5697855" cy="6934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8520"/>
          </a:xfrm>
        </p:spPr>
        <p:txBody>
          <a:bodyPr>
            <a:normAutofit fontScale="90000"/>
          </a:bodyPr>
          <a:lstStyle/>
          <a:p>
            <a:br>
              <a:rPr lang="en-US" sz="3110" b="1">
                <a:sym typeface="+mn-ea"/>
              </a:rPr>
            </a:br>
            <a:r>
              <a:rPr lang="en-US" sz="3110" b="1">
                <a:sym typeface="+mn-ea"/>
              </a:rPr>
              <a:t>Formal Language Vs Informal Language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23010"/>
            <a:ext cx="10515600" cy="495427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Language is : set of strings with rules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- What is the correct word ?</a:t>
            </a:r>
          </a:p>
          <a:p>
            <a:pPr marL="0" indent="0">
              <a:buNone/>
            </a:pPr>
            <a:r>
              <a:rPr lang="en-US"/>
              <a:t>work, wkro ?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- Language 1 : Start with w and end with o?</a:t>
            </a:r>
          </a:p>
          <a:p>
            <a:pPr marL="0" indent="0">
              <a:buNone/>
            </a:pPr>
            <a:r>
              <a:rPr lang="en-US" sz="2000"/>
              <a:t>Now which one is correct?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115"/>
          </a:xfrm>
        </p:spPr>
        <p:txBody>
          <a:bodyPr>
            <a:normAutofit fontScale="90000"/>
          </a:bodyPr>
          <a:lstStyle/>
          <a:p>
            <a:br>
              <a:rPr lang="en-US" b="1">
                <a:sym typeface="+mn-ea"/>
              </a:rPr>
            </a:br>
            <a:br>
              <a:rPr lang="en-US" b="1">
                <a:sym typeface="+mn-ea"/>
              </a:rPr>
            </a:br>
            <a:r>
              <a:rPr lang="en-US" sz="2220" b="1">
                <a:sym typeface="+mn-ea"/>
              </a:rPr>
              <a:t>Formal Language Vs Informal Language</a:t>
            </a:r>
            <a:br>
              <a:rPr lang="en-US" sz="2220">
                <a:sym typeface="+mn-ea"/>
              </a:rPr>
            </a:br>
            <a:br>
              <a:rPr lang="en-US"/>
            </a:br>
            <a:endParaRPr lang="en-US"/>
          </a:p>
        </p:txBody>
      </p:sp>
      <p:pic>
        <p:nvPicPr>
          <p:cNvPr id="4" name="Content Placeholder 3" descr="Image 13-02-2024 at 10.21 AM (1)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02375" y="1363345"/>
            <a:ext cx="5448300" cy="3903980"/>
          </a:xfrm>
          <a:prstGeom prst="rect">
            <a:avLst/>
          </a:prstGeom>
        </p:spPr>
      </p:pic>
      <p:pic>
        <p:nvPicPr>
          <p:cNvPr id="5" name="Picture 4" descr="Image 13-02-2024 at 10.21 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80" y="1313815"/>
            <a:ext cx="5620385" cy="395351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32460" y="5789930"/>
            <a:ext cx="6522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Automata focuses on formal language.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8320"/>
          </a:xfrm>
        </p:spPr>
        <p:txBody>
          <a:bodyPr>
            <a:normAutofit/>
          </a:bodyPr>
          <a:lstStyle/>
          <a:p>
            <a:r>
              <a:rPr lang="en-US" sz="2220" b="1"/>
              <a:t>Descriptive Defination in Automata</a:t>
            </a:r>
          </a:p>
        </p:txBody>
      </p:sp>
      <p:pic>
        <p:nvPicPr>
          <p:cNvPr id="4" name="Content Placeholder 3" descr="Image 13-02-2024 at 10.30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34515"/>
            <a:ext cx="10515600" cy="35775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15332"/>
          </a:xfrm>
        </p:spPr>
        <p:txBody>
          <a:bodyPr>
            <a:normAutofit/>
          </a:bodyPr>
          <a:lstStyle/>
          <a:p>
            <a:br>
              <a:rPr lang="en-US" sz="2220" b="1" dirty="0"/>
            </a:br>
            <a:r>
              <a:rPr lang="en-US" sz="2220" b="1" dirty="0"/>
              <a:t>Example</a:t>
            </a:r>
            <a:br>
              <a:rPr lang="en-US" sz="2220" b="1" dirty="0"/>
            </a:br>
            <a:r>
              <a:rPr lang="en-US" sz="2220" b="1" dirty="0">
                <a:latin typeface="Sylfaen" panose="010A0502050306030303" pitchFamily="18" charset="0"/>
              </a:rPr>
              <a:t>∑ = {0,1,2,3,4,5,6,7,8,9,10}</a:t>
            </a:r>
            <a:endParaRPr lang="en-US" dirty="0"/>
          </a:p>
        </p:txBody>
      </p:sp>
      <p:pic>
        <p:nvPicPr>
          <p:cNvPr id="4" name="Content Placeholder 3" descr="Image 13-02-2024 at 10.36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10360"/>
            <a:ext cx="10515600" cy="40138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DB1E6F-8336-01C1-9275-99F1DBD7B57B}"/>
              </a:ext>
            </a:extLst>
          </p:cNvPr>
          <p:cNvSpPr txBox="1"/>
          <p:nvPr/>
        </p:nvSpPr>
        <p:spPr>
          <a:xfrm>
            <a:off x="2808514" y="353824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Sylfaen" panose="010A0502050306030303" pitchFamily="18" charset="0"/>
              </a:rPr>
              <a:t>∑ = {</a:t>
            </a:r>
            <a:r>
              <a:rPr lang="en-US" sz="2400" b="1" dirty="0" err="1">
                <a:latin typeface="Sylfaen" panose="010A0502050306030303" pitchFamily="18" charset="0"/>
              </a:rPr>
              <a:t>a,b</a:t>
            </a:r>
            <a:r>
              <a:rPr lang="en-US" sz="2400" b="1" dirty="0">
                <a:latin typeface="Sylfaen" panose="010A0502050306030303" pitchFamily="18" charset="0"/>
              </a:rPr>
              <a:t>}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39815"/>
            <a:ext cx="10515600" cy="3376247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dirty="0">
                <a:latin typeface="Algerian" panose="04020705040A02060702" pitchFamily="82" charset="0"/>
              </a:rPr>
              <a:t>CHAPTER 3 - Recursive Definations Overview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ym typeface="+mn-ea"/>
              </a:rPr>
              <a:t>Recursive Defination in Automata</a:t>
            </a:r>
            <a:br>
              <a:rPr lang="en-US" b="1"/>
            </a:br>
            <a:endParaRPr lang="en-US"/>
          </a:p>
        </p:txBody>
      </p:sp>
      <p:pic>
        <p:nvPicPr>
          <p:cNvPr id="4" name="Content Placeholder 3" descr="Image 13-02-2024 at 10.50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0405" y="1536700"/>
            <a:ext cx="10653395" cy="28092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0CF3F-7A8E-C630-F125-385D831EF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CDC97-D110-4340-A8D0-7DFA468ED83A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372738" name="Rectangle 1026">
            <a:extLst>
              <a:ext uri="{FF2B5EF4-FFF2-40B4-BE49-F238E27FC236}">
                <a16:creationId xmlns:a16="http://schemas.microsoft.com/office/drawing/2014/main" id="{DBDCDA81-9536-995A-AB4A-F4C150914F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/>
              <a:t>Defining Languages Continued…</a:t>
            </a:r>
          </a:p>
        </p:txBody>
      </p:sp>
      <p:sp>
        <p:nvSpPr>
          <p:cNvPr id="372739" name="Rectangle 1027">
            <a:extLst>
              <a:ext uri="{FF2B5EF4-FFF2-40B4-BE49-F238E27FC236}">
                <a16:creationId xmlns:a16="http://schemas.microsoft.com/office/drawing/2014/main" id="{05E26456-BE5E-4296-71FC-D46DA81DAD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b="1" dirty="0"/>
              <a:t>Recursive definition of languages</a:t>
            </a:r>
          </a:p>
          <a:p>
            <a:pPr marL="533400" indent="-533400">
              <a:buNone/>
            </a:pPr>
            <a:r>
              <a:rPr lang="en-US" altLang="en-US" dirty="0"/>
              <a:t>	The following three steps are used in recursive definition</a:t>
            </a:r>
          </a:p>
          <a:p>
            <a:pPr marL="533400" indent="-533400">
              <a:buFont typeface="Monotype Sorts" pitchFamily="2" charset="2"/>
              <a:buAutoNum type="arabicPeriod"/>
            </a:pPr>
            <a:r>
              <a:rPr lang="en-US" altLang="en-US" dirty="0"/>
              <a:t>Some basic words are specified in the language.</a:t>
            </a:r>
          </a:p>
          <a:p>
            <a:pPr marL="533400" indent="-533400">
              <a:buFont typeface="Monotype Sorts" pitchFamily="2" charset="2"/>
              <a:buAutoNum type="arabicPeriod"/>
            </a:pPr>
            <a:r>
              <a:rPr lang="en-US" altLang="en-US" dirty="0"/>
              <a:t>Rules for constructing more words are defined in the language.</a:t>
            </a:r>
          </a:p>
          <a:p>
            <a:pPr marL="533400" indent="-533400">
              <a:buFont typeface="Monotype Sorts" pitchFamily="2" charset="2"/>
              <a:buAutoNum type="arabicPeriod"/>
            </a:pPr>
            <a:r>
              <a:rPr lang="en-US" altLang="en-US" dirty="0"/>
              <a:t>No strings except those constructed in above, are allowed to be in the language.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786A0-0A02-FB90-9709-A88C2FD9C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DDD79-1154-44D1-A961-65E4E6F19276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199682" name="Rectangle 2">
            <a:extLst>
              <a:ext uri="{FF2B5EF4-FFF2-40B4-BE49-F238E27FC236}">
                <a16:creationId xmlns:a16="http://schemas.microsoft.com/office/drawing/2014/main" id="{8740F5D2-41B4-E52C-DF85-13CF55D986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/>
              <a:t>Example</a:t>
            </a:r>
          </a:p>
        </p:txBody>
      </p:sp>
      <p:sp>
        <p:nvSpPr>
          <p:cNvPr id="199683" name="Rectangle 3">
            <a:extLst>
              <a:ext uri="{FF2B5EF4-FFF2-40B4-BE49-F238E27FC236}">
                <a16:creationId xmlns:a16="http://schemas.microsoft.com/office/drawing/2014/main" id="{D60662C4-CAE7-597A-848D-69AC18CD8C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3000" b="1" dirty="0"/>
              <a:t>Defining language of INTEGER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000" u="sng" dirty="0"/>
              <a:t>Step 1: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000" dirty="0"/>
              <a:t>	1 is in </a:t>
            </a:r>
            <a:r>
              <a:rPr lang="en-US" altLang="en-US" sz="3000" b="1" dirty="0"/>
              <a:t>INTEGER</a:t>
            </a:r>
            <a:r>
              <a:rPr lang="en-US" altLang="en-US" sz="3000" dirty="0"/>
              <a:t>.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000" u="sng" dirty="0"/>
              <a:t>Step 2: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000" dirty="0"/>
              <a:t>	If x is in </a:t>
            </a:r>
            <a:r>
              <a:rPr lang="en-US" altLang="en-US" sz="3000" b="1" dirty="0"/>
              <a:t>INTEGER</a:t>
            </a:r>
            <a:r>
              <a:rPr lang="en-US" altLang="en-US" sz="3000" dirty="0"/>
              <a:t> then x+1 and x-1 are also in </a:t>
            </a:r>
            <a:r>
              <a:rPr lang="en-US" altLang="en-US" sz="3000" b="1" dirty="0"/>
              <a:t>INTEGER</a:t>
            </a:r>
            <a:r>
              <a:rPr lang="en-US" altLang="en-US" sz="3000" dirty="0"/>
              <a:t>.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000" u="sng" dirty="0"/>
              <a:t>Step 3: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000" dirty="0"/>
              <a:t>	No strings except those constructed in above, are allowed to be in </a:t>
            </a:r>
            <a:r>
              <a:rPr lang="en-US" altLang="en-US" sz="3000" b="1" dirty="0"/>
              <a:t>INTEGER</a:t>
            </a:r>
            <a:r>
              <a:rPr lang="en-US" altLang="en-US" sz="3000" dirty="0"/>
              <a:t>.</a:t>
            </a:r>
            <a:endParaRPr lang="en-US" altLang="en-US" sz="3000" u="sng" dirty="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000" dirty="0"/>
              <a:t>	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B4DFF0-1201-90B6-5E5E-3C2D99F88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E670D-4A10-47E3-BDBF-C8D180811757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200706" name="Rectangle 2">
            <a:extLst>
              <a:ext uri="{FF2B5EF4-FFF2-40B4-BE49-F238E27FC236}">
                <a16:creationId xmlns:a16="http://schemas.microsoft.com/office/drawing/2014/main" id="{5C9824C4-8A24-D5F2-F2B9-6D76A2C2A2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/>
              <a:t>Example</a:t>
            </a:r>
          </a:p>
        </p:txBody>
      </p:sp>
      <p:sp>
        <p:nvSpPr>
          <p:cNvPr id="200707" name="Rectangle 3">
            <a:extLst>
              <a:ext uri="{FF2B5EF4-FFF2-40B4-BE49-F238E27FC236}">
                <a16:creationId xmlns:a16="http://schemas.microsoft.com/office/drawing/2014/main" id="{99575372-0B53-5EB0-A080-074519D7BF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/>
              <a:t>Defining language of EVEN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u="sng" dirty="0"/>
              <a:t>Step 1: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dirty="0"/>
              <a:t>	2 is in </a:t>
            </a:r>
            <a:r>
              <a:rPr lang="en-US" altLang="en-US" b="1" dirty="0"/>
              <a:t>EVEN</a:t>
            </a:r>
            <a:r>
              <a:rPr lang="en-US" altLang="en-US" dirty="0"/>
              <a:t>.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u="sng" dirty="0"/>
              <a:t>Step 2: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dirty="0"/>
              <a:t>	If x is in </a:t>
            </a:r>
            <a:r>
              <a:rPr lang="en-US" altLang="en-US" b="1" dirty="0"/>
              <a:t>EVEN</a:t>
            </a:r>
            <a:r>
              <a:rPr lang="en-US" altLang="en-US" dirty="0"/>
              <a:t> then x+2 and x-2 are also in </a:t>
            </a:r>
            <a:r>
              <a:rPr lang="en-US" altLang="en-US" b="1" dirty="0"/>
              <a:t>EVEN</a:t>
            </a:r>
            <a:r>
              <a:rPr lang="en-US" altLang="en-US" dirty="0"/>
              <a:t>.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u="sng" dirty="0"/>
              <a:t>Step 3: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dirty="0"/>
              <a:t>	No strings except those constructed in above, are allowed to be in </a:t>
            </a:r>
            <a:r>
              <a:rPr lang="en-US" altLang="en-US" b="1" dirty="0"/>
              <a:t>EVEN</a:t>
            </a:r>
            <a:r>
              <a:rPr lang="en-US" altLang="en-US" dirty="0"/>
              <a:t>.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57E49-BD2D-F07B-4090-81B1321ED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65FAD-1A4A-4360-B36B-A4052AC2798B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201730" name="Rectangle 2">
            <a:extLst>
              <a:ext uri="{FF2B5EF4-FFF2-40B4-BE49-F238E27FC236}">
                <a16:creationId xmlns:a16="http://schemas.microsoft.com/office/drawing/2014/main" id="{F5FB97E1-5ED5-3F9A-DD92-AA1EF21F29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Example</a:t>
            </a:r>
          </a:p>
        </p:txBody>
      </p:sp>
      <p:sp>
        <p:nvSpPr>
          <p:cNvPr id="201731" name="Rectangle 3">
            <a:extLst>
              <a:ext uri="{FF2B5EF4-FFF2-40B4-BE49-F238E27FC236}">
                <a16:creationId xmlns:a16="http://schemas.microsoft.com/office/drawing/2014/main" id="{2BF81C8D-BB39-A4EF-2D55-4188B3A26A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885950"/>
            <a:ext cx="8305800" cy="4591050"/>
          </a:xfrm>
        </p:spPr>
        <p:txBody>
          <a:bodyPr/>
          <a:lstStyle/>
          <a:p>
            <a:r>
              <a:rPr lang="en-US" altLang="en-US" b="1" dirty="0"/>
              <a:t>Defining the language factorial</a:t>
            </a:r>
          </a:p>
          <a:p>
            <a:pPr>
              <a:buFont typeface="Monotype Sorts" pitchFamily="2" charset="2"/>
              <a:buNone/>
            </a:pPr>
            <a:r>
              <a:rPr lang="en-US" altLang="en-US" u="sng" dirty="0"/>
              <a:t>Step 1:</a:t>
            </a:r>
          </a:p>
          <a:p>
            <a:pPr>
              <a:buFont typeface="Monotype Sorts" pitchFamily="2" charset="2"/>
              <a:buNone/>
            </a:pPr>
            <a:r>
              <a:rPr lang="en-US" altLang="en-US" dirty="0"/>
              <a:t>	As 0!=1, so 1 is in </a:t>
            </a:r>
            <a:r>
              <a:rPr lang="en-US" altLang="en-US" b="1" dirty="0"/>
              <a:t>factorial</a:t>
            </a:r>
            <a:r>
              <a:rPr lang="en-US" altLang="en-US" dirty="0"/>
              <a:t>.</a:t>
            </a:r>
          </a:p>
          <a:p>
            <a:pPr>
              <a:buFont typeface="Monotype Sorts" pitchFamily="2" charset="2"/>
              <a:buNone/>
            </a:pPr>
            <a:r>
              <a:rPr lang="en-US" altLang="en-US" u="sng" dirty="0"/>
              <a:t>Step 2:</a:t>
            </a:r>
          </a:p>
          <a:p>
            <a:pPr>
              <a:buFont typeface="Monotype Sorts" pitchFamily="2" charset="2"/>
              <a:buNone/>
            </a:pPr>
            <a:r>
              <a:rPr lang="en-US" altLang="en-US" dirty="0"/>
              <a:t>	n!=n*(n-1)! is in </a:t>
            </a:r>
            <a:r>
              <a:rPr lang="en-US" altLang="en-US" b="1" dirty="0"/>
              <a:t>factorial</a:t>
            </a:r>
            <a:r>
              <a:rPr lang="en-US" altLang="en-US" dirty="0"/>
              <a:t>. n= 1,2,3,…….</a:t>
            </a:r>
          </a:p>
          <a:p>
            <a:pPr>
              <a:buFont typeface="Monotype Sorts" pitchFamily="2" charset="2"/>
              <a:buNone/>
            </a:pPr>
            <a:r>
              <a:rPr lang="en-US" altLang="en-US" u="sng" dirty="0"/>
              <a:t>Step 3:</a:t>
            </a:r>
          </a:p>
          <a:p>
            <a:pPr>
              <a:buFont typeface="Monotype Sorts" pitchFamily="2" charset="2"/>
              <a:buNone/>
            </a:pPr>
            <a:r>
              <a:rPr lang="en-US" altLang="en-US" dirty="0"/>
              <a:t>	 	No strings except those constructed in above, are allowed to be in </a:t>
            </a:r>
            <a:r>
              <a:rPr lang="en-US" altLang="en-US" b="1" dirty="0"/>
              <a:t>factorial</a:t>
            </a:r>
            <a:r>
              <a:rPr lang="en-US" altLang="en-US" dirty="0"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2C4C9A-E835-B421-EB13-A9CC7A682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8F5F-9619-4DC9-BA54-D29E7A845FE9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358402" name="Rectangle 1026">
            <a:extLst>
              <a:ext uri="{FF2B5EF4-FFF2-40B4-BE49-F238E27FC236}">
                <a16:creationId xmlns:a16="http://schemas.microsoft.com/office/drawing/2014/main" id="{84036697-7956-1213-4D39-9A2097CD9B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</a:t>
            </a:r>
          </a:p>
        </p:txBody>
      </p:sp>
      <p:sp>
        <p:nvSpPr>
          <p:cNvPr id="358403" name="Rectangle 1027">
            <a:extLst>
              <a:ext uri="{FF2B5EF4-FFF2-40B4-BE49-F238E27FC236}">
                <a16:creationId xmlns:a16="http://schemas.microsoft.com/office/drawing/2014/main" id="{A280C58F-954F-E0FF-A684-5A24286F43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000" b="1" dirty="0"/>
              <a:t>Defining the language PALINDROME, defined over </a:t>
            </a:r>
            <a:r>
              <a:rPr lang="el-GR" altLang="en-US" sz="3000" dirty="0"/>
              <a:t>Σ</a:t>
            </a:r>
            <a:r>
              <a:rPr lang="en-US" altLang="en-US" sz="3000" dirty="0"/>
              <a:t> = {</a:t>
            </a:r>
            <a:r>
              <a:rPr lang="en-US" altLang="en-US" sz="3000" dirty="0" err="1"/>
              <a:t>a,b</a:t>
            </a:r>
            <a:r>
              <a:rPr lang="en-US" altLang="en-US" sz="3000" dirty="0"/>
              <a:t>} </a:t>
            </a:r>
            <a:endParaRPr lang="en-US" altLang="en-US" sz="3000" b="1" dirty="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000" u="sng" dirty="0"/>
              <a:t>Step 1: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000" dirty="0"/>
              <a:t>	a and b are in </a:t>
            </a:r>
            <a:r>
              <a:rPr lang="en-US" altLang="en-US" sz="3000" b="1" dirty="0"/>
              <a:t>PALINDROME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000" u="sng" dirty="0"/>
              <a:t>Step 2: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000" dirty="0"/>
              <a:t>	if x is palindrome, then </a:t>
            </a:r>
            <a:r>
              <a:rPr lang="en-US" altLang="en-US" sz="3000" dirty="0" err="1"/>
              <a:t>axb</a:t>
            </a:r>
            <a:r>
              <a:rPr lang="en-US" altLang="en-US" sz="3000" dirty="0"/>
              <a:t> and </a:t>
            </a:r>
            <a:r>
              <a:rPr lang="en-US" altLang="en-US" sz="3000" dirty="0" err="1"/>
              <a:t>bxb</a:t>
            </a:r>
            <a:r>
              <a:rPr lang="en-US" altLang="en-US" sz="3000" dirty="0"/>
              <a:t> will also be palindrome</a:t>
            </a:r>
            <a:endParaRPr lang="en-US" altLang="en-US" sz="3000" baseline="40000" dirty="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000" u="sng" dirty="0"/>
              <a:t>Step 3: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000" dirty="0"/>
              <a:t>	 	No strings except those constructed in above, are allowed to be in palindrome</a:t>
            </a:r>
            <a:endParaRPr lang="en-US" altLang="en-US" sz="3000" b="1" dirty="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en-US" sz="3000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0DF76B-A5AF-A63A-F32D-B7A59C228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9F506-D5CC-425D-856C-56EF5204B5F8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359426" name="Rectangle 2">
            <a:extLst>
              <a:ext uri="{FF2B5EF4-FFF2-40B4-BE49-F238E27FC236}">
                <a16:creationId xmlns:a16="http://schemas.microsoft.com/office/drawing/2014/main" id="{836899F8-B823-0545-3C6A-F66664B7C9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</a:t>
            </a:r>
          </a:p>
        </p:txBody>
      </p:sp>
      <p:sp>
        <p:nvSpPr>
          <p:cNvPr id="359427" name="Rectangle 3">
            <a:extLst>
              <a:ext uri="{FF2B5EF4-FFF2-40B4-BE49-F238E27FC236}">
                <a16:creationId xmlns:a16="http://schemas.microsoft.com/office/drawing/2014/main" id="{10BCFBFD-15F6-FCDB-BF25-937201CB35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/>
              <a:t>Defining the language {</a:t>
            </a:r>
            <a:r>
              <a:rPr lang="en-US" altLang="en-US" b="1" dirty="0" err="1"/>
              <a:t>a</a:t>
            </a:r>
            <a:r>
              <a:rPr lang="en-US" altLang="en-US" b="1" baseline="40000" dirty="0" err="1"/>
              <a:t>n</a:t>
            </a:r>
            <a:r>
              <a:rPr lang="en-US" altLang="en-US" b="1" dirty="0" err="1"/>
              <a:t>b</a:t>
            </a:r>
            <a:r>
              <a:rPr lang="en-US" altLang="en-US" b="1" baseline="40000" dirty="0" err="1"/>
              <a:t>n</a:t>
            </a:r>
            <a:r>
              <a:rPr lang="en-US" altLang="en-US" b="1" baseline="40000" dirty="0"/>
              <a:t> </a:t>
            </a:r>
            <a:r>
              <a:rPr lang="en-US" altLang="en-US" b="1" dirty="0"/>
              <a:t>}, n=1,2,3,… , of strings defined over </a:t>
            </a:r>
            <a:r>
              <a:rPr lang="el-GR" altLang="en-US" b="1" dirty="0"/>
              <a:t>Σ</a:t>
            </a:r>
            <a:r>
              <a:rPr lang="en-US" altLang="en-US" b="1" dirty="0"/>
              <a:t>={</a:t>
            </a:r>
            <a:r>
              <a:rPr lang="en-US" altLang="en-US" b="1" dirty="0" err="1"/>
              <a:t>a,b</a:t>
            </a:r>
            <a:r>
              <a:rPr lang="en-US" altLang="en-US" b="1" dirty="0"/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C68FE-C202-D62D-3C0A-65735CF5D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414D5-8AFD-28FB-373F-22DE17203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9F506-D5CC-425D-856C-56EF5204B5F8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359426" name="Rectangle 2">
            <a:extLst>
              <a:ext uri="{FF2B5EF4-FFF2-40B4-BE49-F238E27FC236}">
                <a16:creationId xmlns:a16="http://schemas.microsoft.com/office/drawing/2014/main" id="{B64E3266-E79A-9659-E08C-FDFA7D205E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</a:t>
            </a:r>
          </a:p>
        </p:txBody>
      </p:sp>
      <p:sp>
        <p:nvSpPr>
          <p:cNvPr id="359427" name="Rectangle 3">
            <a:extLst>
              <a:ext uri="{FF2B5EF4-FFF2-40B4-BE49-F238E27FC236}">
                <a16:creationId xmlns:a16="http://schemas.microsoft.com/office/drawing/2014/main" id="{5A8E5ECE-1EFF-1552-BD2F-A01BD7BA51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/>
              <a:t>Defining the language {a</a:t>
            </a:r>
            <a:r>
              <a:rPr lang="en-US" altLang="en-US" b="1" baseline="40000"/>
              <a:t>n</a:t>
            </a:r>
            <a:r>
              <a:rPr lang="en-US" altLang="en-US" b="1"/>
              <a:t>b</a:t>
            </a:r>
            <a:r>
              <a:rPr lang="en-US" altLang="en-US" b="1" baseline="40000"/>
              <a:t>n </a:t>
            </a:r>
            <a:r>
              <a:rPr lang="en-US" altLang="en-US" b="1"/>
              <a:t>}, n=1,2,3,… , of strings defined over </a:t>
            </a:r>
            <a:r>
              <a:rPr lang="el-GR" altLang="en-US" b="1"/>
              <a:t>Σ</a:t>
            </a:r>
            <a:r>
              <a:rPr lang="en-US" altLang="en-US" b="1"/>
              <a:t>={a,b}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u="sng"/>
              <a:t>Step 1: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/>
              <a:t>	ab is in {</a:t>
            </a:r>
            <a:r>
              <a:rPr lang="en-US" altLang="en-US" b="1"/>
              <a:t>a</a:t>
            </a:r>
            <a:r>
              <a:rPr lang="en-US" altLang="en-US" b="1" baseline="40000"/>
              <a:t>n</a:t>
            </a:r>
            <a:r>
              <a:rPr lang="en-US" altLang="en-US" b="1"/>
              <a:t>b</a:t>
            </a:r>
            <a:r>
              <a:rPr lang="en-US" altLang="en-US" b="1" baseline="40000"/>
              <a:t>n</a:t>
            </a:r>
            <a:r>
              <a:rPr lang="en-US" altLang="en-US"/>
              <a:t>}</a:t>
            </a:r>
            <a:r>
              <a:rPr lang="en-US" altLang="en-US" b="1" baseline="40000"/>
              <a:t> </a:t>
            </a:r>
            <a:endParaRPr lang="en-US" altLang="en-US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u="sng"/>
              <a:t>Step 2: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/>
              <a:t>	if x is in {</a:t>
            </a:r>
            <a:r>
              <a:rPr lang="en-US" altLang="en-US" b="1"/>
              <a:t>a</a:t>
            </a:r>
            <a:r>
              <a:rPr lang="en-US" altLang="en-US" b="1" baseline="40000"/>
              <a:t>n</a:t>
            </a:r>
            <a:r>
              <a:rPr lang="en-US" altLang="en-US" b="1"/>
              <a:t>b</a:t>
            </a:r>
            <a:r>
              <a:rPr lang="en-US" altLang="en-US" b="1" baseline="40000"/>
              <a:t>n</a:t>
            </a:r>
            <a:r>
              <a:rPr lang="en-US" altLang="en-US"/>
              <a:t>}, then axb is in {</a:t>
            </a:r>
            <a:r>
              <a:rPr lang="en-US" altLang="en-US" b="1"/>
              <a:t>a</a:t>
            </a:r>
            <a:r>
              <a:rPr lang="en-US" altLang="en-US" b="1" baseline="40000"/>
              <a:t>n</a:t>
            </a:r>
            <a:r>
              <a:rPr lang="en-US" altLang="en-US" b="1"/>
              <a:t>b</a:t>
            </a:r>
            <a:r>
              <a:rPr lang="en-US" altLang="en-US" b="1" baseline="40000"/>
              <a:t>n</a:t>
            </a:r>
            <a:r>
              <a:rPr lang="en-US" altLang="en-US"/>
              <a:t>}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u="sng"/>
              <a:t>Step 3: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/>
              <a:t>	 	No strings except those constructed in above, are allowed to be in {</a:t>
            </a:r>
            <a:r>
              <a:rPr lang="en-US" altLang="en-US" b="1"/>
              <a:t>a</a:t>
            </a:r>
            <a:r>
              <a:rPr lang="en-US" altLang="en-US" b="1" baseline="40000"/>
              <a:t>n</a:t>
            </a:r>
            <a:r>
              <a:rPr lang="en-US" altLang="en-US" b="1"/>
              <a:t>b</a:t>
            </a:r>
            <a:r>
              <a:rPr lang="en-US" altLang="en-US" b="1" baseline="40000"/>
              <a:t>n</a:t>
            </a:r>
            <a:r>
              <a:rPr lang="en-US" altLang="en-US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00460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20DD7-385D-6AB3-87B9-5EB22DF1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9B5DB-4B3B-499D-9AA7-643766F47F20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360450" name="Rectangle 2">
            <a:extLst>
              <a:ext uri="{FF2B5EF4-FFF2-40B4-BE49-F238E27FC236}">
                <a16:creationId xmlns:a16="http://schemas.microsoft.com/office/drawing/2014/main" id="{70F9BB9E-B1D7-D17B-8C06-5A9D93897C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</a:t>
            </a:r>
          </a:p>
        </p:txBody>
      </p:sp>
      <p:sp>
        <p:nvSpPr>
          <p:cNvPr id="360451" name="Rectangle 3">
            <a:extLst>
              <a:ext uri="{FF2B5EF4-FFF2-40B4-BE49-F238E27FC236}">
                <a16:creationId xmlns:a16="http://schemas.microsoft.com/office/drawing/2014/main" id="{C5B3EFB2-B05B-6B7E-7976-F44A94CE19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/>
              <a:t>Defining the language L, of strings ending in a , defined over  </a:t>
            </a:r>
            <a:r>
              <a:rPr lang="el-GR" altLang="en-US" b="1" dirty="0"/>
              <a:t>Σ</a:t>
            </a:r>
            <a:r>
              <a:rPr lang="en-US" altLang="en-US" b="1" dirty="0"/>
              <a:t>={</a:t>
            </a:r>
            <a:r>
              <a:rPr lang="en-US" altLang="en-US" b="1" dirty="0" err="1"/>
              <a:t>a,b</a:t>
            </a:r>
            <a:r>
              <a:rPr lang="en-US" altLang="en-US" b="1" dirty="0"/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E7A56-D04D-9C66-28B5-CA081C22B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1EF68-AE6B-422A-4C97-ABB94F968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9B5DB-4B3B-499D-9AA7-643766F47F20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360450" name="Rectangle 2">
            <a:extLst>
              <a:ext uri="{FF2B5EF4-FFF2-40B4-BE49-F238E27FC236}">
                <a16:creationId xmlns:a16="http://schemas.microsoft.com/office/drawing/2014/main" id="{2C5A76DB-57BF-7D5A-C7D7-57872CC960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</a:t>
            </a:r>
          </a:p>
        </p:txBody>
      </p:sp>
      <p:sp>
        <p:nvSpPr>
          <p:cNvPr id="360451" name="Rectangle 3">
            <a:extLst>
              <a:ext uri="{FF2B5EF4-FFF2-40B4-BE49-F238E27FC236}">
                <a16:creationId xmlns:a16="http://schemas.microsoft.com/office/drawing/2014/main" id="{E067F86A-094A-E5EE-7D4E-3C53A4106C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/>
              <a:t>Defining the language L, of strings ending in a , defined over  </a:t>
            </a:r>
            <a:r>
              <a:rPr lang="el-GR" altLang="en-US" b="1" dirty="0"/>
              <a:t>Σ</a:t>
            </a:r>
            <a:r>
              <a:rPr lang="en-US" altLang="en-US" b="1" dirty="0"/>
              <a:t>={</a:t>
            </a:r>
            <a:r>
              <a:rPr lang="en-US" altLang="en-US" b="1" dirty="0" err="1"/>
              <a:t>a,b</a:t>
            </a:r>
            <a:r>
              <a:rPr lang="en-US" altLang="en-US" b="1" dirty="0"/>
              <a:t>}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u="sng" dirty="0"/>
              <a:t>Step 1: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dirty="0"/>
              <a:t>	a is in L</a:t>
            </a:r>
            <a:r>
              <a:rPr lang="en-US" altLang="en-US" b="1" baseline="40000" dirty="0"/>
              <a:t> 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u="sng" dirty="0"/>
              <a:t>Step 2: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dirty="0"/>
              <a:t>	if x is in L then (x)a is also in </a:t>
            </a:r>
            <a:r>
              <a:rPr lang="en-US" altLang="en-US" b="1" dirty="0"/>
              <a:t>L, x belong to </a:t>
            </a:r>
            <a:r>
              <a:rPr lang="en-US" altLang="en-US" b="1" dirty="0">
                <a:latin typeface="Sylfaen" panose="010A0502050306030303" pitchFamily="18" charset="0"/>
              </a:rPr>
              <a:t>∑ </a:t>
            </a:r>
            <a:r>
              <a:rPr lang="en-US" altLang="en-US" sz="3200" b="1" baseline="30000" dirty="0">
                <a:latin typeface="Sylfaen" panose="010A0502050306030303" pitchFamily="18" charset="0"/>
              </a:rPr>
              <a:t>*</a:t>
            </a:r>
            <a:endParaRPr lang="en-US" altLang="en-US" sz="3200" b="1" dirty="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u="sng" dirty="0"/>
              <a:t>Step 3: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dirty="0"/>
              <a:t>	 	No strings except those constructed in above, are allowed to be in </a:t>
            </a:r>
            <a:r>
              <a:rPr lang="en-US" altLang="en-US" b="1" dirty="0"/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1865487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1A99E-77C6-0C68-20EF-1570F4D36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F98F-982B-40E7-9A20-49015ED29940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361474" name="Rectangle 2">
            <a:extLst>
              <a:ext uri="{FF2B5EF4-FFF2-40B4-BE49-F238E27FC236}">
                <a16:creationId xmlns:a16="http://schemas.microsoft.com/office/drawing/2014/main" id="{3335894C-9F6F-4181-40A0-2295B36C4C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</a:t>
            </a:r>
          </a:p>
        </p:txBody>
      </p:sp>
      <p:sp>
        <p:nvSpPr>
          <p:cNvPr id="361475" name="Rectangle 3">
            <a:extLst>
              <a:ext uri="{FF2B5EF4-FFF2-40B4-BE49-F238E27FC236}">
                <a16:creationId xmlns:a16="http://schemas.microsoft.com/office/drawing/2014/main" id="{32B2292A-58A6-233D-34BA-086835D92D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/>
              <a:t>Defining the language L, of strings beginning and ending in same letters , defined over  </a:t>
            </a:r>
            <a:r>
              <a:rPr lang="el-GR" altLang="en-US" b="1" dirty="0"/>
              <a:t>Σ</a:t>
            </a:r>
            <a:r>
              <a:rPr lang="en-US" altLang="en-US" b="1" dirty="0"/>
              <a:t>={a, b}</a:t>
            </a:r>
          </a:p>
          <a:p>
            <a:pPr>
              <a:lnSpc>
                <a:spcPct val="90000"/>
              </a:lnSpc>
            </a:pPr>
            <a:endParaRPr lang="en-US" alt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8A4BB-247D-E647-226C-AC8ADE0B8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6857C-7EBE-3AF0-0E76-19C3F1321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F98F-982B-40E7-9A20-49015ED29940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361474" name="Rectangle 2">
            <a:extLst>
              <a:ext uri="{FF2B5EF4-FFF2-40B4-BE49-F238E27FC236}">
                <a16:creationId xmlns:a16="http://schemas.microsoft.com/office/drawing/2014/main" id="{B55EC3DC-E50D-1B98-BB09-0E1134A0BB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</a:t>
            </a:r>
          </a:p>
        </p:txBody>
      </p:sp>
      <p:sp>
        <p:nvSpPr>
          <p:cNvPr id="361475" name="Rectangle 3">
            <a:extLst>
              <a:ext uri="{FF2B5EF4-FFF2-40B4-BE49-F238E27FC236}">
                <a16:creationId xmlns:a16="http://schemas.microsoft.com/office/drawing/2014/main" id="{C8E9EDF7-29D6-4E1E-E780-73B718592F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/>
              <a:t>Defining the language L, of strings beginning and ending in same letters , defined over  </a:t>
            </a:r>
            <a:r>
              <a:rPr lang="el-GR" altLang="en-US" b="1"/>
              <a:t>Σ</a:t>
            </a:r>
            <a:r>
              <a:rPr lang="en-US" altLang="en-US" b="1"/>
              <a:t>={a, b}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u="sng"/>
              <a:t>Step 1: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/>
              <a:t>	a and b are in L</a:t>
            </a:r>
            <a:r>
              <a:rPr lang="en-US" altLang="en-US" b="1" baseline="40000"/>
              <a:t> </a:t>
            </a:r>
            <a:endParaRPr lang="en-US" altLang="en-US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u="sng"/>
              <a:t>Step 2: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/>
              <a:t>	(a)s(a) and (b)s(b) are also in </a:t>
            </a:r>
            <a:r>
              <a:rPr lang="en-US" altLang="en-US" b="1"/>
              <a:t>L, </a:t>
            </a:r>
            <a:r>
              <a:rPr lang="en-US" altLang="en-US"/>
              <a:t>where s belongs to </a:t>
            </a:r>
            <a:r>
              <a:rPr lang="el-GR" altLang="en-US"/>
              <a:t>Σ</a:t>
            </a:r>
            <a:r>
              <a:rPr lang="en-US" altLang="en-US" baseline="40000"/>
              <a:t>*</a:t>
            </a:r>
            <a:endParaRPr lang="en-US" altLang="en-US" b="1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u="sng"/>
              <a:t>Step 3: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/>
              <a:t>	 	No strings except those constructed in above, are allowed to be in </a:t>
            </a:r>
            <a:r>
              <a:rPr lang="en-US" altLang="en-US" b="1"/>
              <a:t>L</a:t>
            </a:r>
          </a:p>
          <a:p>
            <a:pPr>
              <a:lnSpc>
                <a:spcPct val="90000"/>
              </a:lnSpc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35864411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63F1F-C189-4B9F-9B01-B597AA218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8A90-7E11-4884-8BD6-078BA1269B6D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362498" name="Rectangle 2">
            <a:extLst>
              <a:ext uri="{FF2B5EF4-FFF2-40B4-BE49-F238E27FC236}">
                <a16:creationId xmlns:a16="http://schemas.microsoft.com/office/drawing/2014/main" id="{C4D8C5C3-E20B-9B75-28BA-2F7DF81E9F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</a:t>
            </a:r>
          </a:p>
        </p:txBody>
      </p:sp>
      <p:sp>
        <p:nvSpPr>
          <p:cNvPr id="362499" name="Rectangle 3">
            <a:extLst>
              <a:ext uri="{FF2B5EF4-FFF2-40B4-BE49-F238E27FC236}">
                <a16:creationId xmlns:a16="http://schemas.microsoft.com/office/drawing/2014/main" id="{AEE53B07-AA91-10B6-9CE3-DE82E55F4C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/>
              <a:t>Defining the language L, of strings containing aa or bb , defined over       </a:t>
            </a:r>
            <a:r>
              <a:rPr lang="el-GR" altLang="en-US" b="1" dirty="0"/>
              <a:t>Σ</a:t>
            </a:r>
            <a:r>
              <a:rPr lang="en-US" altLang="en-US" b="1" dirty="0"/>
              <a:t>={a, b}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8FE2A-3F63-84B2-89A7-B4F8C3407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178C3-ED99-39E1-59B2-970D478FB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8A90-7E11-4884-8BD6-078BA1269B6D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362498" name="Rectangle 2">
            <a:extLst>
              <a:ext uri="{FF2B5EF4-FFF2-40B4-BE49-F238E27FC236}">
                <a16:creationId xmlns:a16="http://schemas.microsoft.com/office/drawing/2014/main" id="{2FC8DB54-40B7-1F88-F720-7588F1CDE6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</a:t>
            </a:r>
          </a:p>
        </p:txBody>
      </p:sp>
      <p:sp>
        <p:nvSpPr>
          <p:cNvPr id="362499" name="Rectangle 3">
            <a:extLst>
              <a:ext uri="{FF2B5EF4-FFF2-40B4-BE49-F238E27FC236}">
                <a16:creationId xmlns:a16="http://schemas.microsoft.com/office/drawing/2014/main" id="{5CD50F3C-62E1-F49A-1CE1-2A5A7EE7BA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/>
              <a:t>Defining the language L, of strings containing aa or bb , defined over       </a:t>
            </a:r>
            <a:r>
              <a:rPr lang="el-GR" altLang="en-US" b="1"/>
              <a:t>Σ</a:t>
            </a:r>
            <a:r>
              <a:rPr lang="en-US" altLang="en-US" b="1"/>
              <a:t>={a, b}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u="sng"/>
              <a:t>Step 1: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/>
              <a:t>	aa and bb are in L</a:t>
            </a:r>
            <a:r>
              <a:rPr lang="en-US" altLang="en-US" b="1" baseline="40000"/>
              <a:t> </a:t>
            </a:r>
            <a:endParaRPr lang="en-US" altLang="en-US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u="sng"/>
              <a:t>Step 2: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/>
              <a:t>	s(aa)s and s(bb)s are also in </a:t>
            </a:r>
            <a:r>
              <a:rPr lang="en-US" altLang="en-US" b="1"/>
              <a:t>L, </a:t>
            </a:r>
            <a:r>
              <a:rPr lang="en-US" altLang="en-US"/>
              <a:t>where s belongs to </a:t>
            </a:r>
            <a:r>
              <a:rPr lang="el-GR" altLang="en-US"/>
              <a:t>Σ</a:t>
            </a:r>
            <a:r>
              <a:rPr lang="en-US" altLang="en-US" baseline="40000"/>
              <a:t>*</a:t>
            </a:r>
            <a:endParaRPr lang="en-US" altLang="en-US" b="1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u="sng"/>
              <a:t>Step 3: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/>
              <a:t>	 	No strings except those constructed in above, are allowed to be in </a:t>
            </a:r>
            <a:r>
              <a:rPr lang="en-US" altLang="en-US" b="1"/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35542559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30896B-53BC-7114-9333-F5E7C75FD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9A491-C4BE-4199-8E93-1D8F8F718821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363522" name="Rectangle 2">
            <a:extLst>
              <a:ext uri="{FF2B5EF4-FFF2-40B4-BE49-F238E27FC236}">
                <a16:creationId xmlns:a16="http://schemas.microsoft.com/office/drawing/2014/main" id="{6DFE7AB0-3ADE-D542-0830-394B4513A6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</a:t>
            </a:r>
          </a:p>
        </p:txBody>
      </p:sp>
      <p:sp>
        <p:nvSpPr>
          <p:cNvPr id="363523" name="Rectangle 3">
            <a:extLst>
              <a:ext uri="{FF2B5EF4-FFF2-40B4-BE49-F238E27FC236}">
                <a16:creationId xmlns:a16="http://schemas.microsoft.com/office/drawing/2014/main" id="{BA48368B-8B7F-CCAD-1CC0-691CD1E902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/>
              <a:t>Defining the language L, of strings containing exactly aa, defined over       </a:t>
            </a:r>
            <a:r>
              <a:rPr lang="el-GR" altLang="en-US" b="1" dirty="0"/>
              <a:t>Σ</a:t>
            </a:r>
            <a:r>
              <a:rPr lang="en-US" altLang="en-US" b="1" dirty="0"/>
              <a:t>={a, b}</a:t>
            </a:r>
          </a:p>
          <a:p>
            <a:pPr>
              <a:lnSpc>
                <a:spcPct val="90000"/>
              </a:lnSpc>
            </a:pPr>
            <a:endParaRPr lang="en-US" alt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87D38-DCD3-DE80-B96E-961E12D4C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F741D-D8ED-EEF1-ADD8-BF6D3490D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8A90-7E11-4884-8BD6-078BA1269B6D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362498" name="Rectangle 2">
            <a:extLst>
              <a:ext uri="{FF2B5EF4-FFF2-40B4-BE49-F238E27FC236}">
                <a16:creationId xmlns:a16="http://schemas.microsoft.com/office/drawing/2014/main" id="{65D446FA-41F3-9B7E-1612-8082638D15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</a:t>
            </a:r>
          </a:p>
        </p:txBody>
      </p:sp>
      <p:sp>
        <p:nvSpPr>
          <p:cNvPr id="362499" name="Rectangle 3">
            <a:extLst>
              <a:ext uri="{FF2B5EF4-FFF2-40B4-BE49-F238E27FC236}">
                <a16:creationId xmlns:a16="http://schemas.microsoft.com/office/drawing/2014/main" id="{A8438F61-F81C-D303-5242-D18942A728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/>
              <a:t>Defining the language L, of strings containing aa or bb , defined over       </a:t>
            </a:r>
            <a:r>
              <a:rPr lang="el-GR" altLang="en-US" b="1" dirty="0"/>
              <a:t>Σ</a:t>
            </a:r>
            <a:r>
              <a:rPr lang="en-US" altLang="en-US" b="1" dirty="0"/>
              <a:t>={a, b}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u="sng" dirty="0"/>
              <a:t>Step 1: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dirty="0"/>
              <a:t>	aa and bb are in L</a:t>
            </a:r>
            <a:r>
              <a:rPr lang="en-US" altLang="en-US" b="1" baseline="40000" dirty="0"/>
              <a:t> 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u="sng" dirty="0"/>
              <a:t>Step 2:</a:t>
            </a:r>
          </a:p>
          <a:p>
            <a:pPr>
              <a:buNone/>
            </a:pPr>
            <a:r>
              <a:rPr lang="en-US" altLang="en-US" dirty="0"/>
              <a:t>	s(aa)s is also in </a:t>
            </a:r>
            <a:r>
              <a:rPr lang="en-US" altLang="en-US" b="1" dirty="0"/>
              <a:t>L, </a:t>
            </a:r>
            <a:r>
              <a:rPr lang="en-US" altLang="en-US" dirty="0"/>
              <a:t>where s belongs to b</a:t>
            </a:r>
            <a:r>
              <a:rPr lang="en-US" altLang="en-US" baseline="40000" dirty="0"/>
              <a:t>*</a:t>
            </a:r>
            <a:endParaRPr lang="en-US" altLang="en-US" b="1" dirty="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u="sng" dirty="0"/>
              <a:t>Step 3: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dirty="0"/>
              <a:t>	 	No strings except those constructed in above, are allowed to be in </a:t>
            </a:r>
            <a:r>
              <a:rPr lang="en-US" altLang="en-US" b="1" dirty="0"/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31476688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40080"/>
            <a:ext cx="10515600" cy="692785"/>
          </a:xfrm>
        </p:spPr>
        <p:txBody>
          <a:bodyPr>
            <a:normAutofit fontScale="90000"/>
          </a:bodyPr>
          <a:lstStyle/>
          <a:p>
            <a:br>
              <a:rPr lang="en-US" sz="2220" b="1"/>
            </a:br>
            <a:r>
              <a:rPr lang="en-US" sz="2220" b="1"/>
              <a:t>Example </a:t>
            </a:r>
            <a:br>
              <a:rPr lang="en-US" sz="2220" b="1"/>
            </a:br>
            <a:endParaRPr lang="en-US"/>
          </a:p>
        </p:txBody>
      </p:sp>
      <p:pic>
        <p:nvPicPr>
          <p:cNvPr id="5" name="Content Placeholder 4" descr="Image 13-02-2024 at 10.51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95755"/>
            <a:ext cx="10515600" cy="182562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40080"/>
            <a:ext cx="10515600" cy="692785"/>
          </a:xfrm>
        </p:spPr>
        <p:txBody>
          <a:bodyPr>
            <a:normAutofit fontScale="90000"/>
          </a:bodyPr>
          <a:lstStyle/>
          <a:p>
            <a:br>
              <a:rPr lang="en-US" sz="2220" b="1"/>
            </a:br>
            <a:r>
              <a:rPr lang="en-US" sz="2220" b="1"/>
              <a:t>Example </a:t>
            </a:r>
            <a:br>
              <a:rPr lang="en-US" sz="2220" b="1"/>
            </a:br>
            <a:endParaRPr lang="en-US"/>
          </a:p>
        </p:txBody>
      </p:sp>
      <p:pic>
        <p:nvPicPr>
          <p:cNvPr id="4" name="Content Placeholder 3" descr="Image 13-02-2024 at 10.53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02435"/>
            <a:ext cx="10515600" cy="200977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1365"/>
          </a:xfrm>
        </p:spPr>
        <p:txBody>
          <a:bodyPr/>
          <a:lstStyle/>
          <a:p>
            <a:r>
              <a:rPr lang="en-US" sz="3200"/>
              <a:t>Example 1</a:t>
            </a:r>
          </a:p>
        </p:txBody>
      </p:sp>
      <p:pic>
        <p:nvPicPr>
          <p:cNvPr id="6" name="Content Placeholder 5" descr="Image 15-02-2024 at 9.36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1190" y="1333500"/>
            <a:ext cx="11148695" cy="328485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06170"/>
          </a:xfrm>
        </p:spPr>
        <p:txBody>
          <a:bodyPr/>
          <a:lstStyle/>
          <a:p>
            <a:r>
              <a:rPr lang="en-US" sz="3200"/>
              <a:t>Example 1</a:t>
            </a:r>
          </a:p>
        </p:txBody>
      </p:sp>
      <p:pic>
        <p:nvPicPr>
          <p:cNvPr id="7" name="Picture 6" descr="Image 15-02-2024 at 9.40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60" y="1697355"/>
            <a:ext cx="11435080" cy="339471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6955"/>
          </a:xfrm>
        </p:spPr>
        <p:txBody>
          <a:bodyPr>
            <a:normAutofit/>
          </a:bodyPr>
          <a:lstStyle/>
          <a:p>
            <a:r>
              <a:rPr lang="en-US" sz="3110"/>
              <a:t>Applying the recursive approach from example 1</a:t>
            </a:r>
          </a:p>
        </p:txBody>
      </p:sp>
      <p:pic>
        <p:nvPicPr>
          <p:cNvPr id="4" name="Content Placeholder 3" descr="Image 15-02-2024 at 9.42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795" y="1402080"/>
            <a:ext cx="10515600" cy="1144270"/>
          </a:xfrm>
          <a:prstGeom prst="rect">
            <a:avLst/>
          </a:prstGeom>
        </p:spPr>
      </p:pic>
      <p:pic>
        <p:nvPicPr>
          <p:cNvPr id="5" name="Picture 4" descr="Image 15-02-2024 at 9.47 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40" y="2719705"/>
            <a:ext cx="11751945" cy="377063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460"/>
          </a:xfrm>
        </p:spPr>
        <p:txBody>
          <a:bodyPr/>
          <a:lstStyle/>
          <a:p>
            <a:r>
              <a:rPr lang="en-US"/>
              <a:t>Example 2</a:t>
            </a:r>
          </a:p>
        </p:txBody>
      </p:sp>
      <p:pic>
        <p:nvPicPr>
          <p:cNvPr id="4" name="Content Placeholder 3" descr="Image 15-02-2024 at 9.50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3100" y="1251585"/>
            <a:ext cx="10982325" cy="509079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5330"/>
          </a:xfrm>
        </p:spPr>
        <p:txBody>
          <a:bodyPr>
            <a:normAutofit fontScale="90000"/>
          </a:bodyPr>
          <a:lstStyle/>
          <a:p>
            <a:br>
              <a:rPr lang="en-US" sz="2665" dirty="0"/>
            </a:br>
            <a:r>
              <a:rPr lang="en-US" sz="2665" b="1" dirty="0" err="1"/>
              <a:t>Practise</a:t>
            </a:r>
            <a:r>
              <a:rPr lang="en-US" sz="2665" b="1" dirty="0"/>
              <a:t> Questions from Example 2</a:t>
            </a:r>
            <a:br>
              <a:rPr lang="en-US" sz="2665" dirty="0"/>
            </a:br>
            <a:endParaRPr lang="en-US" sz="2665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0175"/>
            <a:ext cx="10515600" cy="477710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1.) 9x</a:t>
            </a:r>
            <a:r>
              <a:rPr lang="en-US" baseline="30000" dirty="0"/>
              <a:t>2 </a:t>
            </a:r>
            <a:r>
              <a:rPr lang="en-US" dirty="0"/>
              <a:t>+3y</a:t>
            </a:r>
            <a:r>
              <a:rPr lang="en-US" baseline="30000" dirty="0"/>
              <a:t>2</a:t>
            </a:r>
            <a:r>
              <a:rPr lang="en-US" dirty="0"/>
              <a:t>+7xy-9</a:t>
            </a:r>
          </a:p>
          <a:p>
            <a:pPr marL="0" indent="0">
              <a:buNone/>
            </a:pPr>
            <a:r>
              <a:rPr lang="en-US" dirty="0">
                <a:sym typeface="+mn-ea"/>
              </a:rPr>
              <a:t>2.) -3xy</a:t>
            </a:r>
            <a:r>
              <a:rPr lang="en-US" baseline="30000" dirty="0">
                <a:sym typeface="+mn-ea"/>
              </a:rPr>
              <a:t>2 </a:t>
            </a:r>
            <a:r>
              <a:rPr lang="en-US" dirty="0">
                <a:sym typeface="+mn-ea"/>
              </a:rPr>
              <a:t>+12x</a:t>
            </a:r>
            <a:r>
              <a:rPr lang="en-US" baseline="30000" dirty="0">
                <a:sym typeface="+mn-ea"/>
              </a:rPr>
              <a:t>2</a:t>
            </a:r>
            <a:r>
              <a:rPr lang="en-US" dirty="0">
                <a:sym typeface="+mn-ea"/>
              </a:rPr>
              <a:t>-7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460"/>
          </a:xfrm>
        </p:spPr>
        <p:txBody>
          <a:bodyPr/>
          <a:lstStyle/>
          <a:p>
            <a:r>
              <a:rPr lang="en-US"/>
              <a:t>How to define a language recursively?</a:t>
            </a:r>
          </a:p>
        </p:txBody>
      </p:sp>
      <p:pic>
        <p:nvPicPr>
          <p:cNvPr id="4" name="Content Placeholder 3" descr="Image 15-02-2024 at 10.13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02740"/>
            <a:ext cx="10515600" cy="402653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2200"/>
          </a:xfrm>
        </p:spPr>
        <p:txBody>
          <a:bodyPr/>
          <a:lstStyle/>
          <a:p>
            <a:r>
              <a:rPr lang="en-US"/>
              <a:t>Cont..</a:t>
            </a:r>
          </a:p>
        </p:txBody>
      </p:sp>
      <p:pic>
        <p:nvPicPr>
          <p:cNvPr id="4" name="Content Placeholder 3" descr="Image 15-02-2024 at 10.14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57325"/>
            <a:ext cx="10515600" cy="250380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06805"/>
          </a:xfrm>
        </p:spPr>
        <p:txBody>
          <a:bodyPr/>
          <a:lstStyle/>
          <a:p>
            <a:r>
              <a:rPr lang="en-US"/>
              <a:t>Example</a:t>
            </a:r>
          </a:p>
        </p:txBody>
      </p:sp>
      <p:pic>
        <p:nvPicPr>
          <p:cNvPr id="4" name="Content Placeholder 3" descr="Image 15-02-2024 at 10.30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78305"/>
            <a:ext cx="10611485" cy="211264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100455" y="4370705"/>
            <a:ext cx="5902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Will this language have all numbers?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8085" y="2772410"/>
            <a:ext cx="5715635" cy="793115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b="1"/>
              <a:t>End of Lecture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1109</Words>
  <Application>Microsoft Office PowerPoint</Application>
  <PresentationFormat>Widescreen</PresentationFormat>
  <Paragraphs>161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Algerian</vt:lpstr>
      <vt:lpstr>Arial</vt:lpstr>
      <vt:lpstr>Calibri</vt:lpstr>
      <vt:lpstr>Calibri Light</vt:lpstr>
      <vt:lpstr>Monotype Sorts</vt:lpstr>
      <vt:lpstr>Sylfaen</vt:lpstr>
      <vt:lpstr>Office Theme</vt:lpstr>
      <vt:lpstr> Theory of Automata (CSC- 402)  Semester : Spring 2026  Credit Hours: 3 </vt:lpstr>
      <vt:lpstr> Theory of Automata Course</vt:lpstr>
      <vt:lpstr>PowerPoint Presentation</vt:lpstr>
      <vt:lpstr>Recap</vt:lpstr>
      <vt:lpstr>Kleen Star/Closure/Operator VS. Kleener Closure/Plus/Positive, Lexicographic Order</vt:lpstr>
      <vt:lpstr> Kleene Star/Closure/Operator </vt:lpstr>
      <vt:lpstr>Kleene Plus/Psitive/Closure</vt:lpstr>
      <vt:lpstr>Lexicographic Order</vt:lpstr>
      <vt:lpstr> Formal Language Vs Informal Language </vt:lpstr>
      <vt:lpstr>  Formal Language Vs Informal Language  </vt:lpstr>
      <vt:lpstr>Descriptive Defination in Automata</vt:lpstr>
      <vt:lpstr> Example ∑ = {0,1,2,3,4,5,6,7,8,9,10}</vt:lpstr>
      <vt:lpstr>PowerPoint Presentation</vt:lpstr>
      <vt:lpstr>Recursive Defination in Automata </vt:lpstr>
      <vt:lpstr>Defining Languages Continued…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 Example  </vt:lpstr>
      <vt:lpstr> Example  </vt:lpstr>
      <vt:lpstr>Example 1</vt:lpstr>
      <vt:lpstr>Example 1</vt:lpstr>
      <vt:lpstr>Applying the recursive approach from example 1</vt:lpstr>
      <vt:lpstr>Example 2</vt:lpstr>
      <vt:lpstr> Practise Questions from Example 2 </vt:lpstr>
      <vt:lpstr>How to define a language recursively?</vt:lpstr>
      <vt:lpstr>Cont..</vt:lpstr>
      <vt:lpstr>Example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 to Z</dc:creator>
  <cp:lastModifiedBy>Sheeza Batool</cp:lastModifiedBy>
  <cp:revision>330</cp:revision>
  <dcterms:created xsi:type="dcterms:W3CDTF">2026-02-11T10:47:39Z</dcterms:created>
  <dcterms:modified xsi:type="dcterms:W3CDTF">2026-02-19T07:11:52Z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