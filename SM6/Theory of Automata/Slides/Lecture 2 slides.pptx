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3"/>
  </p:notesMasterIdLst>
  <p:sldIdLst>
    <p:sldId id="324" r:id="rId2"/>
    <p:sldId id="345" r:id="rId3"/>
    <p:sldId id="256" r:id="rId4"/>
    <p:sldId id="257" r:id="rId5"/>
    <p:sldId id="390" r:id="rId6"/>
    <p:sldId id="417" r:id="rId7"/>
    <p:sldId id="418" r:id="rId8"/>
    <p:sldId id="419" r:id="rId9"/>
    <p:sldId id="422" r:id="rId10"/>
    <p:sldId id="395" r:id="rId11"/>
    <p:sldId id="406" r:id="rId12"/>
    <p:sldId id="416" r:id="rId13"/>
    <p:sldId id="407" r:id="rId14"/>
    <p:sldId id="408" r:id="rId15"/>
    <p:sldId id="400" r:id="rId16"/>
    <p:sldId id="401" r:id="rId17"/>
    <p:sldId id="402" r:id="rId18"/>
    <p:sldId id="403" r:id="rId19"/>
    <p:sldId id="404" r:id="rId20"/>
    <p:sldId id="405" r:id="rId21"/>
    <p:sldId id="409" r:id="rId22"/>
    <p:sldId id="410" r:id="rId23"/>
    <p:sldId id="411" r:id="rId24"/>
    <p:sldId id="412" r:id="rId25"/>
    <p:sldId id="413" r:id="rId26"/>
    <p:sldId id="414" r:id="rId27"/>
    <p:sldId id="415" r:id="rId28"/>
    <p:sldId id="420" r:id="rId29"/>
    <p:sldId id="397" r:id="rId30"/>
    <p:sldId id="421" r:id="rId31"/>
    <p:sldId id="396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imraabbas" initials="n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079CEE-7766-467A-AD48-D068D9C9E51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0D8A8-3AA1-4FF6-BE16-2FE515242F3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A18B4-2029-423F-AF07-FF085EF6276F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D74C9-42A5-4070-BA50-12D3E3C7E19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A18B4-2029-423F-AF07-FF085EF6276F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D74C9-42A5-4070-BA50-12D3E3C7E19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A18B4-2029-423F-AF07-FF085EF6276F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D74C9-42A5-4070-BA50-12D3E3C7E19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A18B4-2029-423F-AF07-FF085EF6276F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D74C9-42A5-4070-BA50-12D3E3C7E19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A18B4-2029-423F-AF07-FF085EF6276F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D74C9-42A5-4070-BA50-12D3E3C7E19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A18B4-2029-423F-AF07-FF085EF6276F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D74C9-42A5-4070-BA50-12D3E3C7E19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A18B4-2029-423F-AF07-FF085EF6276F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D74C9-42A5-4070-BA50-12D3E3C7E19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A18B4-2029-423F-AF07-FF085EF6276F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D74C9-42A5-4070-BA50-12D3E3C7E19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A18B4-2029-423F-AF07-FF085EF6276F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D74C9-42A5-4070-BA50-12D3E3C7E19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A18B4-2029-423F-AF07-FF085EF6276F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D74C9-42A5-4070-BA50-12D3E3C7E19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A18B4-2029-423F-AF07-FF085EF6276F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D74C9-42A5-4070-BA50-12D3E3C7E19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5A18B4-2029-423F-AF07-FF085EF6276F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7D74C9-42A5-4070-BA50-12D3E3C7E195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007234"/>
            <a:ext cx="10515600" cy="233523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 Theory of Automata (CSC- 402)	</a:t>
            </a:r>
            <a:br>
              <a:rPr lang="en-US" b="1" dirty="0">
                <a:solidFill>
                  <a:schemeClr val="accent2">
                    <a:lumMod val="75000"/>
                  </a:schemeClr>
                </a:solidFill>
              </a:rPr>
            </a:br>
            <a:r>
              <a:rPr 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  <a:t>Semester : Spring 2026</a:t>
            </a:r>
            <a:br>
              <a:rPr lang="en-US" b="1" dirty="0">
                <a:solidFill>
                  <a:schemeClr val="accent2">
                    <a:lumMod val="75000"/>
                  </a:schemeClr>
                </a:solidFill>
              </a:rPr>
            </a:br>
            <a:r>
              <a:rPr 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  <a:t>Credit Hours: 3</a:t>
            </a:r>
            <a:br>
              <a:rPr 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</a:b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36659"/>
            <a:ext cx="10515600" cy="714626"/>
          </a:xfrm>
        </p:spPr>
        <p:txBody>
          <a:bodyPr/>
          <a:lstStyle/>
          <a:p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Course Objective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35100"/>
            <a:ext cx="10088245" cy="4886325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To have a clear understanding of automata theory concepts.</a:t>
            </a:r>
          </a:p>
          <a:p>
            <a:pPr algn="just"/>
            <a:r>
              <a:rPr lang="en-US" dirty="0"/>
              <a:t>To understand that regular and context free languages are useful models for many important kinds of hardware and software.</a:t>
            </a:r>
          </a:p>
          <a:p>
            <a:pPr algn="just"/>
            <a:r>
              <a:rPr lang="en-US" dirty="0"/>
              <a:t>To be able to understand the use of regular and context free languages in solving problems such as lexical analysis, text processing etc.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 </a:t>
            </a:r>
            <a:r>
              <a:rPr lang="en-US" dirty="0">
                <a:sym typeface="+mn-ea"/>
              </a:rPr>
              <a:t>Theory of Automata</a:t>
            </a:r>
            <a:r>
              <a:rPr lang="en-US" dirty="0"/>
              <a:t> Course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Lecture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039815"/>
            <a:ext cx="10515600" cy="3376247"/>
          </a:xfrm>
        </p:spPr>
        <p:txBody>
          <a:bodyPr/>
          <a:lstStyle/>
          <a:p>
            <a:pPr marL="0" indent="0" algn="ctr">
              <a:buNone/>
            </a:pPr>
            <a:r>
              <a:rPr lang="en-US" sz="5400" dirty="0">
                <a:latin typeface="Algerian" panose="04020705040A02060702" pitchFamily="82" charset="0"/>
              </a:rPr>
              <a:t>CHAPTER 2 - Languages</a:t>
            </a:r>
          </a:p>
          <a:p>
            <a:pPr marL="0" indent="0" algn="ctr">
              <a:buNone/>
            </a:pPr>
            <a:r>
              <a:rPr lang="en-US" sz="3200"/>
              <a:t>Overview</a:t>
            </a:r>
            <a:endParaRPr lang="en-US" sz="3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41985"/>
            <a:ext cx="10515600" cy="527050"/>
          </a:xfrm>
        </p:spPr>
        <p:txBody>
          <a:bodyPr>
            <a:normAutofit fontScale="90000"/>
          </a:bodyPr>
          <a:lstStyle/>
          <a:p>
            <a: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  <a:t>Language</a:t>
            </a:r>
            <a:endParaRPr lang="en-US"/>
          </a:p>
        </p:txBody>
      </p:sp>
      <p:pic>
        <p:nvPicPr>
          <p:cNvPr id="4" name="Content Placeholder 3" descr="Image 29-01-2024 at 11.29 PM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77365"/>
            <a:ext cx="10678795" cy="28314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5E297-89EE-2EF5-C070-57B29A17A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596D27-794B-B523-789B-7409B98B7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Example: The language </a:t>
            </a:r>
            <a:r>
              <a:rPr lang="en-US" altLang="en-US" b="1" dirty="0"/>
              <a:t>EQUAL</a:t>
            </a:r>
            <a:r>
              <a:rPr lang="en-US" altLang="en-US" dirty="0"/>
              <a:t>, of strings with number of a’s equal to number of b’s, defined over </a:t>
            </a:r>
            <a:r>
              <a:rPr lang="el-GR" altLang="en-US" dirty="0"/>
              <a:t>Σ</a:t>
            </a:r>
            <a:r>
              <a:rPr lang="en-US" altLang="en-US" dirty="0"/>
              <a:t>={</a:t>
            </a:r>
            <a:r>
              <a:rPr lang="en-US" altLang="en-US" dirty="0" err="1"/>
              <a:t>a,b</a:t>
            </a:r>
            <a:r>
              <a:rPr lang="en-US" altLang="en-US" dirty="0"/>
              <a:t>}, can be written as</a:t>
            </a:r>
          </a:p>
          <a:p>
            <a:pPr>
              <a:buNone/>
            </a:pPr>
            <a:r>
              <a:rPr lang="en-US" altLang="en-US" dirty="0"/>
              <a:t>	{</a:t>
            </a:r>
            <a:r>
              <a:rPr lang="el-GR" altLang="en-US" sz="3000" dirty="0"/>
              <a:t>Λ</a:t>
            </a:r>
            <a:r>
              <a:rPr lang="en-US" altLang="en-US" dirty="0"/>
              <a:t> ,</a:t>
            </a:r>
            <a:r>
              <a:rPr lang="en-US" altLang="en-US" dirty="0" err="1"/>
              <a:t>ab,aabb,abab,baba,abba</a:t>
            </a:r>
            <a:r>
              <a:rPr lang="en-US" altLang="en-US" dirty="0"/>
              <a:t>,…}</a:t>
            </a:r>
          </a:p>
          <a:p>
            <a:r>
              <a:rPr lang="en-US" altLang="en-US" dirty="0"/>
              <a:t>Example: The language </a:t>
            </a:r>
            <a:r>
              <a:rPr lang="en-US" altLang="en-US" b="1" dirty="0"/>
              <a:t>EVEN-EVEN</a:t>
            </a:r>
            <a:r>
              <a:rPr lang="en-US" altLang="en-US" dirty="0"/>
              <a:t>, of strings with even number of a’s and even number of b’s, defined over </a:t>
            </a:r>
            <a:r>
              <a:rPr lang="el-GR" altLang="en-US" dirty="0"/>
              <a:t>Σ</a:t>
            </a:r>
            <a:r>
              <a:rPr lang="en-US" altLang="en-US" dirty="0"/>
              <a:t>={</a:t>
            </a:r>
            <a:r>
              <a:rPr lang="en-US" altLang="en-US" dirty="0" err="1"/>
              <a:t>a,b</a:t>
            </a:r>
            <a:r>
              <a:rPr lang="en-US" altLang="en-US" dirty="0"/>
              <a:t>}, can be written as</a:t>
            </a:r>
          </a:p>
          <a:p>
            <a:pPr>
              <a:buNone/>
            </a:pPr>
            <a:r>
              <a:rPr lang="en-US" altLang="en-US" sz="2400" dirty="0"/>
              <a:t>	</a:t>
            </a:r>
            <a:r>
              <a:rPr lang="en-US" altLang="en-US" dirty="0"/>
              <a:t>{</a:t>
            </a:r>
            <a:r>
              <a:rPr lang="el-GR" altLang="en-US" dirty="0"/>
              <a:t>Λ</a:t>
            </a:r>
            <a:r>
              <a:rPr lang="en-US" altLang="en-US" dirty="0"/>
              <a:t>, aa, bb, </a:t>
            </a:r>
            <a:r>
              <a:rPr lang="en-US" altLang="en-US" dirty="0" err="1"/>
              <a:t>aaaa,aabb,abab</a:t>
            </a:r>
            <a:r>
              <a:rPr lang="en-US" altLang="en-US" dirty="0"/>
              <a:t>, abba, </a:t>
            </a:r>
            <a:r>
              <a:rPr lang="en-US" altLang="en-US" dirty="0" err="1"/>
              <a:t>baab</a:t>
            </a:r>
            <a:r>
              <a:rPr lang="en-US" altLang="en-US" dirty="0"/>
              <a:t>, baba, </a:t>
            </a:r>
            <a:r>
              <a:rPr lang="en-US" altLang="en-US" dirty="0" err="1"/>
              <a:t>bbaa</a:t>
            </a:r>
            <a:r>
              <a:rPr lang="en-US" altLang="en-US" dirty="0"/>
              <a:t>, </a:t>
            </a:r>
            <a:r>
              <a:rPr lang="en-US" altLang="en-US" dirty="0" err="1"/>
              <a:t>bbbb</a:t>
            </a:r>
            <a:r>
              <a:rPr lang="en-US" altLang="en-US" dirty="0"/>
              <a:t>,…}</a:t>
            </a:r>
            <a:endParaRPr lang="en-US" altLang="en-US" sz="24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478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42DA7-AB23-313F-8F79-A4F80D74E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29799-ED22-CB57-6471-A3BE63D7A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Example: The language {</a:t>
            </a:r>
            <a:r>
              <a:rPr lang="en-US" altLang="en-US" dirty="0" err="1"/>
              <a:t>a</a:t>
            </a:r>
            <a:r>
              <a:rPr lang="en-US" altLang="en-US" baseline="40000" dirty="0" err="1"/>
              <a:t>n</a:t>
            </a:r>
            <a:r>
              <a:rPr lang="en-US" altLang="en-US" dirty="0" err="1"/>
              <a:t>b</a:t>
            </a:r>
            <a:r>
              <a:rPr lang="en-US" altLang="en-US" baseline="40000" dirty="0" err="1"/>
              <a:t>n</a:t>
            </a:r>
            <a:r>
              <a:rPr lang="en-US" altLang="en-US" baseline="40000" dirty="0"/>
              <a:t> </a:t>
            </a:r>
            <a:r>
              <a:rPr lang="en-US" altLang="en-US" dirty="0"/>
              <a:t>}, of strings defined over </a:t>
            </a:r>
            <a:r>
              <a:rPr lang="el-GR" altLang="en-US" dirty="0"/>
              <a:t>Σ</a:t>
            </a:r>
            <a:r>
              <a:rPr lang="en-US" altLang="en-US" dirty="0"/>
              <a:t>={</a:t>
            </a:r>
            <a:r>
              <a:rPr lang="en-US" altLang="en-US" dirty="0" err="1"/>
              <a:t>a,b</a:t>
            </a:r>
            <a:r>
              <a:rPr lang="en-US" altLang="en-US" dirty="0"/>
              <a:t>}, as </a:t>
            </a:r>
          </a:p>
          <a:p>
            <a:pPr>
              <a:buNone/>
            </a:pPr>
            <a:r>
              <a:rPr lang="en-US" altLang="en-US" dirty="0"/>
              <a:t>	{a</a:t>
            </a:r>
            <a:r>
              <a:rPr lang="en-US" altLang="en-US" baseline="40000" dirty="0"/>
              <a:t>n</a:t>
            </a:r>
            <a:r>
              <a:rPr lang="en-US" altLang="en-US" sz="800" baseline="40000" dirty="0"/>
              <a:t> </a:t>
            </a:r>
            <a:r>
              <a:rPr lang="en-US" altLang="en-US" baseline="40000" dirty="0"/>
              <a:t> </a:t>
            </a:r>
            <a:r>
              <a:rPr lang="en-US" altLang="en-US" dirty="0"/>
              <a:t>b</a:t>
            </a:r>
            <a:r>
              <a:rPr lang="en-US" altLang="en-US" baseline="40000" dirty="0"/>
              <a:t>n</a:t>
            </a:r>
            <a:r>
              <a:rPr lang="en-US" altLang="en-US" sz="800" baseline="40000" dirty="0"/>
              <a:t> </a:t>
            </a:r>
            <a:r>
              <a:rPr lang="en-US" altLang="en-US" baseline="40000" dirty="0"/>
              <a:t> </a:t>
            </a:r>
            <a:r>
              <a:rPr lang="en-US" altLang="en-US" dirty="0"/>
              <a:t>: n=1,2,3,…}, can be written as</a:t>
            </a:r>
          </a:p>
          <a:p>
            <a:pPr>
              <a:buNone/>
            </a:pPr>
            <a:r>
              <a:rPr lang="en-US" altLang="en-US" dirty="0"/>
              <a:t>	{ab, </a:t>
            </a:r>
            <a:r>
              <a:rPr lang="en-US" altLang="en-US" dirty="0" err="1"/>
              <a:t>aabb</a:t>
            </a:r>
            <a:r>
              <a:rPr lang="en-US" altLang="en-US" dirty="0"/>
              <a:t>, </a:t>
            </a:r>
            <a:r>
              <a:rPr lang="en-US" altLang="en-US" dirty="0" err="1"/>
              <a:t>aaabbb,aaaabbbb</a:t>
            </a:r>
            <a:r>
              <a:rPr lang="en-US" altLang="en-US" dirty="0"/>
              <a:t>,…}</a:t>
            </a:r>
          </a:p>
          <a:p>
            <a:pPr>
              <a:buNone/>
            </a:pPr>
            <a:endParaRPr lang="en-US" altLang="en-US" sz="2000" baseline="90000" dirty="0"/>
          </a:p>
          <a:p>
            <a:r>
              <a:rPr lang="en-US" altLang="en-US" dirty="0"/>
              <a:t>Example: The language {</a:t>
            </a:r>
            <a:r>
              <a:rPr lang="en-US" altLang="en-US" dirty="0" err="1"/>
              <a:t>a</a:t>
            </a:r>
            <a:r>
              <a:rPr lang="en-US" altLang="en-US" baseline="40000" dirty="0" err="1"/>
              <a:t>n</a:t>
            </a:r>
            <a:r>
              <a:rPr lang="en-US" altLang="en-US" dirty="0" err="1"/>
              <a:t>b</a:t>
            </a:r>
            <a:r>
              <a:rPr lang="en-US" altLang="en-US" baseline="40000" dirty="0" err="1"/>
              <a:t>n</a:t>
            </a:r>
            <a:r>
              <a:rPr lang="en-US" altLang="en-US" dirty="0" err="1"/>
              <a:t>a</a:t>
            </a:r>
            <a:r>
              <a:rPr lang="en-US" altLang="en-US" baseline="40000" dirty="0" err="1"/>
              <a:t>n</a:t>
            </a:r>
            <a:r>
              <a:rPr lang="en-US" altLang="en-US" baseline="40000" dirty="0"/>
              <a:t> </a:t>
            </a:r>
            <a:r>
              <a:rPr lang="en-US" altLang="en-US" dirty="0"/>
              <a:t>}, of strings defined over </a:t>
            </a:r>
            <a:r>
              <a:rPr lang="el-GR" altLang="en-US" dirty="0"/>
              <a:t>Σ</a:t>
            </a:r>
            <a:r>
              <a:rPr lang="en-US" altLang="en-US" dirty="0"/>
              <a:t>={</a:t>
            </a:r>
            <a:r>
              <a:rPr lang="en-US" altLang="en-US" dirty="0" err="1"/>
              <a:t>a,b</a:t>
            </a:r>
            <a:r>
              <a:rPr lang="en-US" altLang="en-US" dirty="0"/>
              <a:t>}, as </a:t>
            </a:r>
          </a:p>
          <a:p>
            <a:pPr>
              <a:buNone/>
            </a:pPr>
            <a:r>
              <a:rPr lang="en-US" altLang="en-US" dirty="0"/>
              <a:t>	{a</a:t>
            </a:r>
            <a:r>
              <a:rPr lang="en-US" altLang="en-US" baseline="40000" dirty="0"/>
              <a:t>n</a:t>
            </a:r>
            <a:r>
              <a:rPr lang="en-US" altLang="en-US" sz="800" baseline="40000" dirty="0"/>
              <a:t> </a:t>
            </a:r>
            <a:r>
              <a:rPr lang="en-US" altLang="en-US" dirty="0"/>
              <a:t>b</a:t>
            </a:r>
            <a:r>
              <a:rPr lang="en-US" altLang="en-US" baseline="40000" dirty="0"/>
              <a:t>n</a:t>
            </a:r>
            <a:r>
              <a:rPr lang="en-US" altLang="en-US" sz="800" baseline="40000" dirty="0"/>
              <a:t> </a:t>
            </a:r>
            <a:r>
              <a:rPr lang="en-US" altLang="en-US" dirty="0"/>
              <a:t>a</a:t>
            </a:r>
            <a:r>
              <a:rPr lang="en-US" altLang="en-US" baseline="40000" dirty="0"/>
              <a:t>n</a:t>
            </a:r>
            <a:r>
              <a:rPr lang="en-US" altLang="en-US" dirty="0"/>
              <a:t>: n=1,2,3,…}, can be written as</a:t>
            </a:r>
          </a:p>
          <a:p>
            <a:pPr>
              <a:buNone/>
            </a:pPr>
            <a:r>
              <a:rPr lang="en-US" altLang="en-US" dirty="0"/>
              <a:t>	{aba, </a:t>
            </a:r>
            <a:r>
              <a:rPr lang="en-US" altLang="en-US" dirty="0" err="1"/>
              <a:t>aabbaa</a:t>
            </a:r>
            <a:r>
              <a:rPr lang="en-US" altLang="en-US" dirty="0"/>
              <a:t>, </a:t>
            </a:r>
            <a:r>
              <a:rPr lang="en-US" altLang="en-US" dirty="0" err="1"/>
              <a:t>aaabbbaaa,aaaabbbbaaaa</a:t>
            </a:r>
            <a:r>
              <a:rPr lang="en-US" altLang="en-US" dirty="0"/>
              <a:t>,…}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574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F25CD-93EA-A313-8004-34B3323C7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6CC4B-56F8-D859-6F30-B7E686E0C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Example: The language </a:t>
            </a:r>
            <a:r>
              <a:rPr lang="en-US" altLang="en-US" b="1" dirty="0"/>
              <a:t>factorial</a:t>
            </a:r>
            <a:r>
              <a:rPr lang="en-US" altLang="en-US" dirty="0"/>
              <a:t>, of strings defined over </a:t>
            </a:r>
            <a:r>
              <a:rPr lang="el-GR" altLang="en-US" dirty="0"/>
              <a:t>Σ</a:t>
            </a:r>
            <a:r>
              <a:rPr lang="en-US" altLang="en-US" dirty="0"/>
              <a:t>={1,2,3,4,5,6,7,8,9} </a:t>
            </a:r>
            <a:r>
              <a:rPr lang="en-US" altLang="en-US" i="1" dirty="0"/>
              <a:t>i.e.</a:t>
            </a:r>
          </a:p>
          <a:p>
            <a:pPr>
              <a:buNone/>
            </a:pPr>
            <a:r>
              <a:rPr lang="en-US" altLang="en-US" i="1" dirty="0"/>
              <a:t>	</a:t>
            </a:r>
            <a:r>
              <a:rPr lang="en-US" altLang="en-US" dirty="0"/>
              <a:t>{1,2,6,24,120,…}</a:t>
            </a:r>
          </a:p>
          <a:p>
            <a:r>
              <a:rPr lang="en-US" altLang="en-US" dirty="0"/>
              <a:t>Example: The language </a:t>
            </a:r>
            <a:r>
              <a:rPr lang="en-US" altLang="en-US" b="1" dirty="0"/>
              <a:t>FACTORIAL</a:t>
            </a:r>
            <a:r>
              <a:rPr lang="en-US" altLang="en-US" dirty="0"/>
              <a:t>, of strings defined over </a:t>
            </a:r>
            <a:r>
              <a:rPr lang="el-GR" altLang="en-US" dirty="0"/>
              <a:t>Σ</a:t>
            </a:r>
            <a:r>
              <a:rPr lang="en-US" altLang="en-US" dirty="0"/>
              <a:t>={a}, as </a:t>
            </a:r>
          </a:p>
          <a:p>
            <a:pPr>
              <a:buNone/>
            </a:pPr>
            <a:r>
              <a:rPr lang="en-US" altLang="en-US" dirty="0"/>
              <a:t>	{a</a:t>
            </a:r>
            <a:r>
              <a:rPr lang="en-US" altLang="en-US" baseline="40000" dirty="0"/>
              <a:t>n! </a:t>
            </a:r>
            <a:r>
              <a:rPr lang="en-US" altLang="en-US" dirty="0"/>
              <a:t>: n=1,2,3,…}, can be written as</a:t>
            </a:r>
          </a:p>
          <a:p>
            <a:pPr>
              <a:buNone/>
            </a:pPr>
            <a:r>
              <a:rPr lang="en-US" altLang="en-US" dirty="0"/>
              <a:t>	{</a:t>
            </a:r>
            <a:r>
              <a:rPr lang="en-US" altLang="en-US" dirty="0" err="1"/>
              <a:t>a,aa,aaaaaa</a:t>
            </a:r>
            <a:r>
              <a:rPr lang="en-US" altLang="en-US" dirty="0"/>
              <a:t>,…}. It is to be noted that the language FACTORIAL can be defined over any single letter alphabet.</a:t>
            </a:r>
          </a:p>
          <a:p>
            <a:pPr>
              <a:buNone/>
            </a:pPr>
            <a:endParaRPr lang="en-US" alt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12686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5DC0F-19A1-1153-77E8-474ADBB47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936C5A-B39C-E476-DC39-F30A6AD71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S={a, bb, </a:t>
            </a:r>
            <a:r>
              <a:rPr lang="en-US" dirty="0" err="1"/>
              <a:t>bab</a:t>
            </a:r>
            <a:r>
              <a:rPr lang="en-US" dirty="0"/>
              <a:t>, </a:t>
            </a:r>
            <a:r>
              <a:rPr lang="en-US" dirty="0" err="1"/>
              <a:t>abaab</a:t>
            </a:r>
            <a:r>
              <a:rPr lang="en-US" dirty="0"/>
              <a:t>} be a set of strings. Are </a:t>
            </a:r>
            <a:r>
              <a:rPr lang="en-US" dirty="0" err="1"/>
              <a:t>abbabaabab</a:t>
            </a:r>
            <a:r>
              <a:rPr lang="en-US" dirty="0"/>
              <a:t> and </a:t>
            </a:r>
            <a:r>
              <a:rPr lang="en-US" dirty="0" err="1"/>
              <a:t>baabbbabbaabb</a:t>
            </a:r>
            <a:r>
              <a:rPr lang="en-US" dirty="0"/>
              <a:t> in S*? Does any word in S* have odd  number of b’s?</a:t>
            </a:r>
          </a:p>
        </p:txBody>
      </p:sp>
    </p:spTree>
    <p:extLst>
      <p:ext uri="{BB962C8B-B14F-4D97-AF65-F5344CB8AC3E}">
        <p14:creationId xmlns:p14="http://schemas.microsoft.com/office/powerpoint/2010/main" val="2189152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39140"/>
          </a:xfrm>
        </p:spPr>
        <p:txBody>
          <a:bodyPr>
            <a:normAutofit fontScale="90000"/>
          </a:bodyPr>
          <a:lstStyle/>
          <a:p>
            <a:b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</a:br>
            <a: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  <a:t>Power of String</a:t>
            </a:r>
            <a:b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</a:b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70635"/>
            <a:ext cx="10515600" cy="4906645"/>
          </a:xfrm>
        </p:spPr>
        <p:txBody>
          <a:bodyPr/>
          <a:lstStyle/>
          <a:p>
            <a:r>
              <a:rPr lang="en-US"/>
              <a:t>It determines the lenth of the string</a:t>
            </a:r>
          </a:p>
          <a:p>
            <a:endParaRPr lang="en-US"/>
          </a:p>
        </p:txBody>
      </p:sp>
      <p:pic>
        <p:nvPicPr>
          <p:cNvPr id="4" name="Picture 3" descr="Image 29-01-2024 at 11.51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300" y="2311400"/>
            <a:ext cx="5613400" cy="2235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8680"/>
          </a:xfrm>
        </p:spPr>
        <p:txBody>
          <a:bodyPr/>
          <a:lstStyle/>
          <a:p>
            <a: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  <a:t>Length of a String</a:t>
            </a:r>
            <a:endParaRPr lang="en-US"/>
          </a:p>
        </p:txBody>
      </p:sp>
      <p:pic>
        <p:nvPicPr>
          <p:cNvPr id="4" name="Content Placeholder 3" descr="Image 01-02-2024 at 9.38 AM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30070"/>
            <a:ext cx="10515600" cy="361251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DA4E5-24CA-DCBB-D9DD-50CB47A20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29D76-AE6A-481B-61A1-564B3EFD8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8635"/>
            <a:ext cx="10515600" cy="807085"/>
          </a:xfrm>
        </p:spPr>
        <p:txBody>
          <a:bodyPr/>
          <a:lstStyle/>
          <a:p>
            <a:r>
              <a:rPr lang="en-US" altLang="en-US" b="1" dirty="0">
                <a:solidFill>
                  <a:schemeClr val="accent2">
                    <a:lumMod val="75000"/>
                  </a:schemeClr>
                </a:solidFill>
              </a:rPr>
              <a:t>Cont...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DC28AFB-5F0A-4035-8AC2-95F50BC20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6373" y="1315720"/>
            <a:ext cx="7434942" cy="25162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C28DD73-9140-50BB-CA28-F42BEDA52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1222" y="4087545"/>
            <a:ext cx="7805243" cy="2661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3042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8635"/>
            <a:ext cx="10515600" cy="807085"/>
          </a:xfrm>
        </p:spPr>
        <p:txBody>
          <a:bodyPr/>
          <a:lstStyle/>
          <a:p>
            <a:r>
              <a:rPr lang="en-US" altLang="en-US" b="1" dirty="0">
                <a:solidFill>
                  <a:schemeClr val="accent2">
                    <a:lumMod val="75000"/>
                  </a:schemeClr>
                </a:solidFill>
              </a:rPr>
              <a:t>Cont...</a:t>
            </a:r>
          </a:p>
        </p:txBody>
      </p:sp>
      <p:pic>
        <p:nvPicPr>
          <p:cNvPr id="4" name="Content Placeholder 3" descr="Image 01-02-2024 at 9.41 AM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94890" y="1475740"/>
            <a:ext cx="7616825" cy="49625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83615"/>
          </a:xfrm>
        </p:spPr>
        <p:txBody>
          <a:bodyPr/>
          <a:lstStyle/>
          <a:p>
            <a: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  <a:t>Reverse of a String- Example</a:t>
            </a:r>
            <a:endParaRPr lang="en-US"/>
          </a:p>
        </p:txBody>
      </p:sp>
      <p:pic>
        <p:nvPicPr>
          <p:cNvPr id="4" name="Content Placeholder 3" descr="Image 01-02-2024 at 9.42 AM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35810" y="1348740"/>
            <a:ext cx="8046085" cy="52324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80365"/>
            <a:ext cx="10515600" cy="711200"/>
          </a:xfrm>
        </p:spPr>
        <p:txBody>
          <a:bodyPr>
            <a:normAutofit fontScale="90000"/>
          </a:bodyPr>
          <a:lstStyle/>
          <a:p>
            <a:b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</a:br>
            <a:b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</a:br>
            <a: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  <a:t>Theory of Formal Languages</a:t>
            </a:r>
            <a:b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</a:br>
            <a:br>
              <a:rPr lang="en-US"/>
            </a:br>
            <a:endParaRPr lang="en-US"/>
          </a:p>
        </p:txBody>
      </p:sp>
      <p:pic>
        <p:nvPicPr>
          <p:cNvPr id="4" name="Content Placeholder 3" descr="Image 01-02-2024 at 9.17 AM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7390" y="1778635"/>
            <a:ext cx="10515600" cy="18002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52805"/>
          </a:xfrm>
        </p:spPr>
        <p:txBody>
          <a:bodyPr>
            <a:normAutofit fontScale="90000"/>
          </a:bodyPr>
          <a:lstStyle/>
          <a:p>
            <a:b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</a:br>
            <a: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  <a:t>Cont...</a:t>
            </a:r>
            <a:b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</a:br>
            <a:endParaRPr lang="en-US"/>
          </a:p>
        </p:txBody>
      </p:sp>
      <p:pic>
        <p:nvPicPr>
          <p:cNvPr id="4" name="Content Placeholder 3" descr="Image 01-02-2024 at 9.22 AM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217930"/>
            <a:ext cx="10515600" cy="491553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5015"/>
          </a:xfrm>
        </p:spPr>
        <p:txBody>
          <a:bodyPr>
            <a:normAutofit fontScale="90000"/>
          </a:bodyPr>
          <a:lstStyle/>
          <a:p>
            <a:b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</a:br>
            <a:b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</a:br>
            <a: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  <a:t>Concatenation</a:t>
            </a:r>
            <a:b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</a:br>
            <a:br>
              <a:rPr lang="en-US"/>
            </a:br>
            <a:endParaRPr lang="en-US"/>
          </a:p>
        </p:txBody>
      </p:sp>
      <p:pic>
        <p:nvPicPr>
          <p:cNvPr id="4" name="Content Placeholder 3" descr="Image 01-02-2024 at 9.24 AM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572260"/>
            <a:ext cx="10759440" cy="2423795"/>
          </a:xfrm>
          <a:prstGeom prst="rect">
            <a:avLst/>
          </a:prstGeom>
        </p:spPr>
      </p:pic>
      <p:pic>
        <p:nvPicPr>
          <p:cNvPr id="5" name="Picture 4" descr="Image 01-02-2024 at 9.26 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0400" y="4448175"/>
            <a:ext cx="8331200" cy="1092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88035"/>
          </a:xfrm>
        </p:spPr>
        <p:txBody>
          <a:bodyPr>
            <a:normAutofit fontScale="90000"/>
          </a:bodyPr>
          <a:lstStyle/>
          <a:p>
            <a:b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</a:br>
            <a:b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</a:br>
            <a: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  <a:t>Cont...</a:t>
            </a:r>
            <a:b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</a:br>
            <a:br>
              <a:rPr lang="en-US"/>
            </a:br>
            <a:endParaRPr lang="en-US"/>
          </a:p>
        </p:txBody>
      </p:sp>
      <p:pic>
        <p:nvPicPr>
          <p:cNvPr id="4" name="Content Placeholder 3" descr="Image 01-02-2024 at 9.27 AM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460500"/>
            <a:ext cx="10515600" cy="29108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3275"/>
          </a:xfrm>
        </p:spPr>
        <p:txBody>
          <a:bodyPr>
            <a:normAutofit/>
          </a:bodyPr>
          <a:lstStyle/>
          <a:p>
            <a: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  <a:t>Cont...</a:t>
            </a:r>
            <a:endParaRPr lang="en-US"/>
          </a:p>
        </p:txBody>
      </p:sp>
      <p:pic>
        <p:nvPicPr>
          <p:cNvPr id="4" name="Content Placeholder 3" descr="Image 01-02-2024 at 9.34 AM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377315"/>
            <a:ext cx="10515600" cy="416941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720"/>
          </a:xfrm>
        </p:spPr>
        <p:txBody>
          <a:bodyPr/>
          <a:lstStyle/>
          <a:p>
            <a: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  <a:t>Cont...</a:t>
            </a:r>
            <a:endParaRPr lang="en-US"/>
          </a:p>
        </p:txBody>
      </p:sp>
      <p:pic>
        <p:nvPicPr>
          <p:cNvPr id="4" name="Content Placeholder 3" descr="Image 01-02-2024 at 9.36 AM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63700"/>
            <a:ext cx="10515600" cy="420179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50595"/>
          </a:xfrm>
        </p:spPr>
        <p:txBody>
          <a:bodyPr>
            <a:normAutofit fontScale="90000"/>
          </a:bodyPr>
          <a:lstStyle/>
          <a:p>
            <a:br>
              <a:rPr lang="en-US" altLang="en-US" b="1" dirty="0">
                <a:solidFill>
                  <a:schemeClr val="accent2">
                    <a:lumMod val="75000"/>
                  </a:schemeClr>
                </a:solidFill>
              </a:rPr>
            </a:br>
            <a:r>
              <a:rPr lang="en-US" altLang="en-US" b="1" dirty="0">
                <a:solidFill>
                  <a:schemeClr val="accent2">
                    <a:lumMod val="75000"/>
                  </a:schemeClr>
                </a:solidFill>
              </a:rPr>
              <a:t>Palindrome</a:t>
            </a:r>
            <a:br>
              <a:rPr lang="en-US" altLang="en-US" b="1" dirty="0">
                <a:solidFill>
                  <a:schemeClr val="accent2">
                    <a:lumMod val="75000"/>
                  </a:schemeClr>
                </a:solidFill>
              </a:rPr>
            </a:br>
            <a:endParaRPr lang="en-US"/>
          </a:p>
        </p:txBody>
      </p:sp>
      <p:pic>
        <p:nvPicPr>
          <p:cNvPr id="4" name="Content Placeholder 3" descr="Image 01-02-2024 at 9.47 AM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50670" y="1205865"/>
            <a:ext cx="9267825" cy="539559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150"/>
          </a:xfrm>
        </p:spPr>
        <p:txBody>
          <a:bodyPr>
            <a:normAutofit/>
          </a:bodyPr>
          <a:lstStyle/>
          <a:p>
            <a:r>
              <a:rPr lang="en-US" altLang="en-US" b="1" dirty="0">
                <a:solidFill>
                  <a:schemeClr val="accent2">
                    <a:lumMod val="75000"/>
                  </a:schemeClr>
                </a:solidFill>
              </a:rPr>
              <a:t>Kleene Star</a:t>
            </a:r>
          </a:p>
        </p:txBody>
      </p:sp>
      <p:pic>
        <p:nvPicPr>
          <p:cNvPr id="4" name="Content Placeholder 3" descr="Image 01-02-2024 at 9.49 AM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451610"/>
            <a:ext cx="10515600" cy="459359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  <a:t>Kleene Star - Example</a:t>
            </a:r>
            <a:endParaRPr lang="en-US"/>
          </a:p>
        </p:txBody>
      </p:sp>
      <p:pic>
        <p:nvPicPr>
          <p:cNvPr id="4" name="Content Placeholder 3" descr="Image 01-02-2024 at 9.50 AM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00175" y="1825625"/>
            <a:ext cx="9391015" cy="435165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720"/>
          </a:xfrm>
        </p:spPr>
        <p:txBody>
          <a:bodyPr/>
          <a:lstStyle/>
          <a:p>
            <a:r>
              <a:rPr lang="en-US" altLang="en-US" b="1" dirty="0">
                <a:solidFill>
                  <a:schemeClr val="accent2">
                    <a:lumMod val="75000"/>
                  </a:schemeClr>
                </a:solidFill>
              </a:rPr>
              <a:t>Cont...</a:t>
            </a:r>
          </a:p>
        </p:txBody>
      </p:sp>
      <p:pic>
        <p:nvPicPr>
          <p:cNvPr id="4" name="Content Placeholder 3" descr="Image 01-02-2024 at 9.51 AM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02435"/>
            <a:ext cx="10515600" cy="407162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Image 01-02-2024 at 9.53 AM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515870"/>
            <a:ext cx="10515600" cy="106299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76275"/>
          </a:xfrm>
        </p:spPr>
        <p:txBody>
          <a:bodyPr>
            <a:normAutofit fontScale="90000"/>
          </a:bodyPr>
          <a:lstStyle/>
          <a:p>
            <a:b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</a:br>
            <a: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  <a:t>Cont...</a:t>
            </a:r>
            <a:br>
              <a:rPr lang="en-US" altLang="en-US" b="1" dirty="0">
                <a:solidFill>
                  <a:schemeClr val="accent2">
                    <a:lumMod val="75000"/>
                  </a:schemeClr>
                </a:solidFill>
              </a:rPr>
            </a:br>
            <a:endParaRPr lang="en-US"/>
          </a:p>
        </p:txBody>
      </p:sp>
      <p:pic>
        <p:nvPicPr>
          <p:cNvPr id="4" name="Content Placeholder 3" descr="Image 01-02-2024 at 9.55 AM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3460" y="1248410"/>
            <a:ext cx="7972425" cy="540575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34695"/>
          </a:xfrm>
        </p:spPr>
        <p:txBody>
          <a:bodyPr>
            <a:normAutofit fontScale="90000"/>
          </a:bodyPr>
          <a:lstStyle/>
          <a:p>
            <a:b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</a:br>
            <a: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  <a:t>Example 2</a:t>
            </a:r>
            <a:br>
              <a:rPr lang="en-US" altLang="en-US" b="1" dirty="0">
                <a:solidFill>
                  <a:schemeClr val="accent2">
                    <a:lumMod val="75000"/>
                  </a:schemeClr>
                </a:solidFill>
                <a:sym typeface="+mn-ea"/>
              </a:rPr>
            </a:br>
            <a:endParaRPr lang="en-US"/>
          </a:p>
        </p:txBody>
      </p:sp>
      <p:pic>
        <p:nvPicPr>
          <p:cNvPr id="4" name="Content Placeholder 3" descr="Image 01-02-2024 at 9.57 AM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97025" y="1273175"/>
            <a:ext cx="8808720" cy="527939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59859-736C-7E27-9553-A5F2B0959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9BD73-FDD7-4E26-8496-E1839C5552C7}" type="slidenum">
              <a:rPr lang="en-US" altLang="en-US"/>
              <a:pPr/>
              <a:t>28</a:t>
            </a:fld>
            <a:endParaRPr lang="en-US" altLang="en-US"/>
          </a:p>
        </p:txBody>
      </p:sp>
      <p:sp>
        <p:nvSpPr>
          <p:cNvPr id="369666" name="Rectangle 2">
            <a:extLst>
              <a:ext uri="{FF2B5EF4-FFF2-40B4-BE49-F238E27FC236}">
                <a16:creationId xmlns:a16="http://schemas.microsoft.com/office/drawing/2014/main" id="{12750400-9C4B-1641-0376-3A3F500FEBD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/>
              <a:t>PLUS Operation (</a:t>
            </a:r>
            <a:r>
              <a:rPr lang="en-US" altLang="en-US" baseline="30000"/>
              <a:t>+</a:t>
            </a:r>
            <a:r>
              <a:rPr lang="en-US" altLang="en-US"/>
              <a:t>)</a:t>
            </a:r>
          </a:p>
        </p:txBody>
      </p:sp>
      <p:sp>
        <p:nvSpPr>
          <p:cNvPr id="369667" name="Rectangle 3">
            <a:extLst>
              <a:ext uri="{FF2B5EF4-FFF2-40B4-BE49-F238E27FC236}">
                <a16:creationId xmlns:a16="http://schemas.microsoft.com/office/drawing/2014/main" id="{D9B053BE-FF25-16FE-70C2-75E0A43F847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Plus Operation is same as Kleene Star Closure except that it does not generate  </a:t>
            </a:r>
            <a:r>
              <a:rPr lang="el-GR" altLang="en-US"/>
              <a:t>Λ (null string)</a:t>
            </a:r>
            <a:r>
              <a:rPr lang="en-US" altLang="en-US"/>
              <a:t>, automatically. </a:t>
            </a:r>
          </a:p>
          <a:p>
            <a:pPr>
              <a:buFont typeface="Monotype Sorts" pitchFamily="2" charset="2"/>
              <a:buNone/>
            </a:pPr>
            <a:r>
              <a:rPr lang="en-US" altLang="en-US"/>
              <a:t>Example:</a:t>
            </a:r>
          </a:p>
          <a:p>
            <a:r>
              <a:rPr lang="en-US" altLang="en-US"/>
              <a:t> If </a:t>
            </a:r>
            <a:r>
              <a:rPr lang="el-GR" altLang="en-US"/>
              <a:t>Σ</a:t>
            </a:r>
            <a:r>
              <a:rPr lang="en-US" altLang="en-US"/>
              <a:t> = {0,1} </a:t>
            </a:r>
          </a:p>
          <a:p>
            <a:pPr>
              <a:buFont typeface="Monotype Sorts" pitchFamily="2" charset="2"/>
              <a:buNone/>
            </a:pPr>
            <a:r>
              <a:rPr lang="en-US" altLang="en-US"/>
              <a:t>	Then </a:t>
            </a:r>
            <a:r>
              <a:rPr lang="el-GR" altLang="en-US"/>
              <a:t>Σ</a:t>
            </a:r>
            <a:r>
              <a:rPr lang="en-US" altLang="en-US" baseline="40000"/>
              <a:t>+</a:t>
            </a:r>
            <a:r>
              <a:rPr lang="en-US" altLang="en-US"/>
              <a:t> = {0, 1, 00, 01, 10, 11, ….}</a:t>
            </a:r>
          </a:p>
          <a:p>
            <a:r>
              <a:rPr lang="en-US" altLang="en-US"/>
              <a:t>If </a:t>
            </a:r>
            <a:r>
              <a:rPr lang="el-GR" altLang="en-US"/>
              <a:t>Σ</a:t>
            </a:r>
            <a:r>
              <a:rPr lang="en-US" altLang="en-US"/>
              <a:t> = {aab, c} </a:t>
            </a:r>
          </a:p>
          <a:p>
            <a:pPr>
              <a:buFont typeface="Monotype Sorts" pitchFamily="2" charset="2"/>
              <a:buNone/>
            </a:pPr>
            <a:r>
              <a:rPr lang="en-US" altLang="en-US"/>
              <a:t>	Then </a:t>
            </a:r>
            <a:r>
              <a:rPr lang="el-GR" altLang="en-US"/>
              <a:t>Σ</a:t>
            </a:r>
            <a:r>
              <a:rPr lang="en-US" altLang="en-US" baseline="40000"/>
              <a:t>+</a:t>
            </a:r>
            <a:r>
              <a:rPr lang="en-US" altLang="en-US"/>
              <a:t> = {aab, c, aabaab, aabc, caab, cc, ….}</a:t>
            </a:r>
            <a:endParaRPr lang="el-GR" altLang="en-US"/>
          </a:p>
          <a:p>
            <a:pPr>
              <a:buFont typeface="Monotype Sorts" pitchFamily="2" charset="2"/>
              <a:buNone/>
            </a:pPr>
            <a:endParaRPr lang="el-GR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1C58F-2BB3-27FC-D198-1FBB9F865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7716F-E2D9-486A-957C-6AD572878639}" type="slidenum">
              <a:rPr lang="en-US" altLang="en-US"/>
              <a:pPr/>
              <a:t>29</a:t>
            </a:fld>
            <a:endParaRPr lang="en-US" altLang="en-US"/>
          </a:p>
        </p:txBody>
      </p:sp>
      <p:sp>
        <p:nvSpPr>
          <p:cNvPr id="370690" name="Rectangle 1026">
            <a:extLst>
              <a:ext uri="{FF2B5EF4-FFF2-40B4-BE49-F238E27FC236}">
                <a16:creationId xmlns:a16="http://schemas.microsoft.com/office/drawing/2014/main" id="{CB348DAB-1BB2-E751-3753-FB8C2C01707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/>
              <a:t>TASK</a:t>
            </a:r>
          </a:p>
        </p:txBody>
      </p:sp>
      <p:sp>
        <p:nvSpPr>
          <p:cNvPr id="370691" name="Rectangle 1027">
            <a:extLst>
              <a:ext uri="{FF2B5EF4-FFF2-40B4-BE49-F238E27FC236}">
                <a16:creationId xmlns:a16="http://schemas.microsoft.com/office/drawing/2014/main" id="{C8EB85F5-F3B4-BD72-281C-87A83FC94B1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577850" indent="-577850">
              <a:buNone/>
            </a:pPr>
            <a:r>
              <a:rPr lang="en-US" altLang="en-US" sz="3000"/>
              <a:t>Q1)Is there any case when S</a:t>
            </a:r>
            <a:r>
              <a:rPr lang="en-US" altLang="en-US" sz="3000" baseline="40000"/>
              <a:t>+ </a:t>
            </a:r>
            <a:r>
              <a:rPr lang="en-US" altLang="en-US" sz="3000"/>
              <a:t>contains </a:t>
            </a:r>
            <a:r>
              <a:rPr lang="el-GR" altLang="en-US" sz="3000"/>
              <a:t>Λ</a:t>
            </a:r>
            <a:r>
              <a:rPr lang="en-US" altLang="en-US" sz="3000"/>
              <a:t>? If yes then justify your answer. </a:t>
            </a:r>
          </a:p>
          <a:p>
            <a:pPr marL="577850" indent="-577850"/>
            <a:endParaRPr lang="en-US" altLang="en-US" sz="3000"/>
          </a:p>
          <a:p>
            <a:pPr marL="577850" indent="-577850">
              <a:buNone/>
            </a:pPr>
            <a:r>
              <a:rPr lang="en-US" altLang="en-US" sz="3000"/>
              <a:t>Q2) Prove that for any set of strings S</a:t>
            </a:r>
          </a:p>
          <a:p>
            <a:pPr marL="577850" indent="-577850">
              <a:buNone/>
            </a:pPr>
            <a:endParaRPr lang="en-US" altLang="en-US" sz="3000"/>
          </a:p>
          <a:p>
            <a:pPr marL="577850" indent="-577850">
              <a:buFont typeface="Monotype Sorts" pitchFamily="2" charset="2"/>
              <a:buAutoNum type="romanLcPeriod"/>
            </a:pPr>
            <a:r>
              <a:rPr lang="en-US" altLang="en-US" sz="3000"/>
              <a:t>(S</a:t>
            </a:r>
            <a:r>
              <a:rPr lang="en-US" altLang="en-US" sz="3000" baseline="40000"/>
              <a:t>+</a:t>
            </a:r>
            <a:r>
              <a:rPr lang="en-US" altLang="en-US" sz="3000"/>
              <a:t>)</a:t>
            </a:r>
            <a:r>
              <a:rPr lang="en-US" altLang="en-US" sz="3000" baseline="30000"/>
              <a:t>*</a:t>
            </a:r>
            <a:r>
              <a:rPr lang="en-US" altLang="en-US" sz="3000"/>
              <a:t>=(S</a:t>
            </a:r>
            <a:r>
              <a:rPr lang="en-US" altLang="en-US" sz="3000" baseline="30000"/>
              <a:t>*</a:t>
            </a:r>
            <a:r>
              <a:rPr lang="en-US" altLang="en-US" sz="3000"/>
              <a:t>)</a:t>
            </a:r>
            <a:r>
              <a:rPr lang="en-US" altLang="en-US" sz="3000" baseline="30000"/>
              <a:t>*</a:t>
            </a:r>
            <a:endParaRPr lang="en-US" altLang="en-US" sz="3000"/>
          </a:p>
          <a:p>
            <a:pPr marL="577850" indent="-577850">
              <a:buFont typeface="Monotype Sorts" pitchFamily="2" charset="2"/>
              <a:buAutoNum type="romanLcPeriod"/>
            </a:pPr>
            <a:r>
              <a:rPr lang="en-US" altLang="en-US" sz="3000"/>
              <a:t>(S</a:t>
            </a:r>
            <a:r>
              <a:rPr lang="en-US" altLang="en-US" sz="3000" baseline="40000"/>
              <a:t>+</a:t>
            </a:r>
            <a:r>
              <a:rPr lang="en-US" altLang="en-US" sz="3000"/>
              <a:t>)</a:t>
            </a:r>
            <a:r>
              <a:rPr lang="en-US" altLang="en-US" sz="3000" baseline="40000"/>
              <a:t>+</a:t>
            </a:r>
            <a:r>
              <a:rPr lang="en-US" altLang="en-US" sz="3000"/>
              <a:t>=S</a:t>
            </a:r>
            <a:r>
              <a:rPr lang="en-US" altLang="en-US" sz="3000" baseline="40000"/>
              <a:t>+</a:t>
            </a:r>
            <a:endParaRPr lang="en-US" altLang="en-US" sz="3000" baseline="30000"/>
          </a:p>
          <a:p>
            <a:pPr marL="577850" indent="-577850">
              <a:buFont typeface="Monotype Sorts" pitchFamily="2" charset="2"/>
              <a:buAutoNum type="romanLcPeriod"/>
            </a:pPr>
            <a:r>
              <a:rPr lang="en-US" altLang="en-US" sz="3000"/>
              <a:t>Is (S</a:t>
            </a:r>
            <a:r>
              <a:rPr lang="en-US" altLang="en-US" sz="3000" baseline="40000"/>
              <a:t>*</a:t>
            </a:r>
            <a:r>
              <a:rPr lang="en-US" altLang="en-US" sz="3000"/>
              <a:t>)</a:t>
            </a:r>
            <a:r>
              <a:rPr lang="en-US" altLang="en-US" sz="3000" baseline="40000"/>
              <a:t>+</a:t>
            </a:r>
            <a:r>
              <a:rPr lang="en-US" altLang="en-US" sz="3000"/>
              <a:t>=(S</a:t>
            </a:r>
            <a:r>
              <a:rPr lang="en-US" altLang="en-US" sz="3000" baseline="40000"/>
              <a:t>+</a:t>
            </a:r>
            <a:r>
              <a:rPr lang="en-US" altLang="en-US" sz="3000"/>
              <a:t>)</a:t>
            </a:r>
            <a:r>
              <a:rPr lang="en-US" altLang="en-US" sz="3000" baseline="40000"/>
              <a:t>*</a:t>
            </a:r>
            <a:endParaRPr lang="el-GR" altLang="en-US" sz="3000" baseline="400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F5D578-DB30-97D1-B385-F9E5EB613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3D274-A994-4D01-B89C-DBC9A1996C1A}" type="slidenum">
              <a:rPr lang="en-US" altLang="en-US"/>
              <a:pPr/>
              <a:t>30</a:t>
            </a:fld>
            <a:endParaRPr lang="en-US" altLang="en-US"/>
          </a:p>
        </p:txBody>
      </p:sp>
      <p:sp>
        <p:nvSpPr>
          <p:cNvPr id="373762" name="Rectangle 1026">
            <a:extLst>
              <a:ext uri="{FF2B5EF4-FFF2-40B4-BE49-F238E27FC236}">
                <a16:creationId xmlns:a16="http://schemas.microsoft.com/office/drawing/2014/main" id="{1EF001D6-F92B-E3BF-D39D-B6E5DBB984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/>
              <a:t>Remark</a:t>
            </a:r>
          </a:p>
        </p:txBody>
      </p:sp>
      <p:sp>
        <p:nvSpPr>
          <p:cNvPr id="373763" name="Rectangle 1027">
            <a:extLst>
              <a:ext uri="{FF2B5EF4-FFF2-40B4-BE49-F238E27FC236}">
                <a16:creationId xmlns:a16="http://schemas.microsoft.com/office/drawing/2014/main" id="{BC90B5F2-3E4C-3DAB-0C0C-3791E9B3FC7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/>
              <a:t>It is to be noted that Kleene Star can also be operated on any string </a:t>
            </a:r>
            <a:r>
              <a:rPr lang="en-US" altLang="en-US" i="1"/>
              <a:t>i.e. </a:t>
            </a:r>
            <a:r>
              <a:rPr lang="en-US" altLang="en-US"/>
              <a:t>a</a:t>
            </a:r>
            <a:r>
              <a:rPr lang="en-US" altLang="en-US" baseline="40000"/>
              <a:t>* </a:t>
            </a:r>
            <a:r>
              <a:rPr lang="en-US" altLang="en-US"/>
              <a:t>can be considered to be all possible strings defined over {a}, which shows that a</a:t>
            </a:r>
            <a:r>
              <a:rPr lang="en-US" altLang="en-US" baseline="40000"/>
              <a:t>*</a:t>
            </a:r>
            <a:r>
              <a:rPr lang="en-US" altLang="en-US"/>
              <a:t> generates </a:t>
            </a:r>
          </a:p>
          <a:p>
            <a:pPr>
              <a:lnSpc>
                <a:spcPct val="90000"/>
              </a:lnSpc>
              <a:buFont typeface="Monotype Sorts" pitchFamily="2" charset="2"/>
              <a:buNone/>
            </a:pPr>
            <a:r>
              <a:rPr lang="en-US" altLang="en-US"/>
              <a:t>	 </a:t>
            </a:r>
            <a:r>
              <a:rPr lang="el-GR" altLang="en-US" sz="3000"/>
              <a:t>Λ</a:t>
            </a:r>
            <a:r>
              <a:rPr lang="en-US" altLang="en-US" sz="3000"/>
              <a:t>, a, aa, aaa, …</a:t>
            </a:r>
          </a:p>
          <a:p>
            <a:pPr>
              <a:lnSpc>
                <a:spcPct val="90000"/>
              </a:lnSpc>
              <a:buFont typeface="Monotype Sorts" pitchFamily="2" charset="2"/>
              <a:buNone/>
            </a:pPr>
            <a:r>
              <a:rPr lang="en-US" altLang="en-US" sz="3000"/>
              <a:t>It may also be noted that a</a:t>
            </a:r>
            <a:r>
              <a:rPr lang="en-US" altLang="en-US" baseline="40000"/>
              <a:t>+</a:t>
            </a:r>
            <a:r>
              <a:rPr lang="en-US" altLang="en-US"/>
              <a:t> can be considered to be all possible non empty strings defined over {a}, which shows that a</a:t>
            </a:r>
            <a:r>
              <a:rPr lang="en-US" altLang="en-US" baseline="40000"/>
              <a:t>+</a:t>
            </a:r>
            <a:r>
              <a:rPr lang="en-US" altLang="en-US"/>
              <a:t> generates </a:t>
            </a:r>
          </a:p>
          <a:p>
            <a:pPr>
              <a:lnSpc>
                <a:spcPct val="90000"/>
              </a:lnSpc>
              <a:buFont typeface="Monotype Sorts" pitchFamily="2" charset="2"/>
              <a:buNone/>
            </a:pPr>
            <a:r>
              <a:rPr lang="en-US" altLang="en-US"/>
              <a:t>	</a:t>
            </a:r>
            <a:r>
              <a:rPr lang="en-US" altLang="en-US" sz="3000"/>
              <a:t> a, aa, aaa, aaaa, …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8085" y="2772410"/>
            <a:ext cx="5715635" cy="793115"/>
          </a:xfrm>
        </p:spPr>
        <p:txBody>
          <a:bodyPr/>
          <a:lstStyle/>
          <a:p>
            <a:pPr marL="0" indent="0" algn="ctr">
              <a:buNone/>
            </a:pPr>
            <a:r>
              <a:rPr lang="en-US" sz="3600" b="1"/>
              <a:t>End of Lecture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683</Words>
  <Application>Microsoft Office PowerPoint</Application>
  <PresentationFormat>Widescreen</PresentationFormat>
  <Paragraphs>73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Algerian</vt:lpstr>
      <vt:lpstr>Arial</vt:lpstr>
      <vt:lpstr>Calibri</vt:lpstr>
      <vt:lpstr>Calibri Light</vt:lpstr>
      <vt:lpstr>Monotype Sorts</vt:lpstr>
      <vt:lpstr>Office Theme</vt:lpstr>
      <vt:lpstr> Theory of Automata (CSC- 402)  Semester : Spring 2026 Credit Hours: 3 </vt:lpstr>
      <vt:lpstr>Course Objective</vt:lpstr>
      <vt:lpstr> Theory of Automata Course</vt:lpstr>
      <vt:lpstr>PowerPoint Presentation</vt:lpstr>
      <vt:lpstr>Language</vt:lpstr>
      <vt:lpstr>Language</vt:lpstr>
      <vt:lpstr>Language</vt:lpstr>
      <vt:lpstr>language</vt:lpstr>
      <vt:lpstr>task</vt:lpstr>
      <vt:lpstr> Power of String </vt:lpstr>
      <vt:lpstr>Length of a String</vt:lpstr>
      <vt:lpstr>Cont...</vt:lpstr>
      <vt:lpstr>Cont...</vt:lpstr>
      <vt:lpstr>Reverse of a String- Example</vt:lpstr>
      <vt:lpstr>  Theory of Formal Languages  </vt:lpstr>
      <vt:lpstr> Cont... </vt:lpstr>
      <vt:lpstr>  Concatenation  </vt:lpstr>
      <vt:lpstr>  Cont...  </vt:lpstr>
      <vt:lpstr>Cont...</vt:lpstr>
      <vt:lpstr>Cont...</vt:lpstr>
      <vt:lpstr> Palindrome </vt:lpstr>
      <vt:lpstr>Kleene Star</vt:lpstr>
      <vt:lpstr>Kleene Star - Example</vt:lpstr>
      <vt:lpstr>Cont...</vt:lpstr>
      <vt:lpstr>PowerPoint Presentation</vt:lpstr>
      <vt:lpstr> Cont... </vt:lpstr>
      <vt:lpstr> Example 2 </vt:lpstr>
      <vt:lpstr>PLUS Operation (+)</vt:lpstr>
      <vt:lpstr>TASK</vt:lpstr>
      <vt:lpstr>Remark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 to Z</dc:creator>
  <cp:lastModifiedBy>Sheeza Batool</cp:lastModifiedBy>
  <cp:revision>287</cp:revision>
  <dcterms:created xsi:type="dcterms:W3CDTF">2026-02-11T10:43:45Z</dcterms:created>
  <dcterms:modified xsi:type="dcterms:W3CDTF">2026-02-17T09:06:21Z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1033-5.7.0.8090</vt:lpwstr>
  </property>
</Properties>
</file>