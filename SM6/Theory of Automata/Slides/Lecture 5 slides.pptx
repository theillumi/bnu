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324" r:id="rId2"/>
    <p:sldId id="256" r:id="rId3"/>
    <p:sldId id="464" r:id="rId4"/>
    <p:sldId id="475" r:id="rId5"/>
    <p:sldId id="451" r:id="rId6"/>
    <p:sldId id="476" r:id="rId7"/>
    <p:sldId id="477" r:id="rId8"/>
    <p:sldId id="478" r:id="rId9"/>
    <p:sldId id="479" r:id="rId10"/>
    <p:sldId id="480" r:id="rId11"/>
    <p:sldId id="481" r:id="rId12"/>
    <p:sldId id="483" r:id="rId13"/>
    <p:sldId id="484" r:id="rId14"/>
    <p:sldId id="485" r:id="rId15"/>
    <p:sldId id="452" r:id="rId16"/>
    <p:sldId id="453" r:id="rId17"/>
    <p:sldId id="486" r:id="rId18"/>
    <p:sldId id="454" r:id="rId19"/>
    <p:sldId id="487" r:id="rId20"/>
    <p:sldId id="488" r:id="rId21"/>
    <p:sldId id="39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79CEE-7766-467A-AD48-D068D9C9E51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0D8A8-3AA1-4FF6-BE16-2FE515242F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A18B4-2029-423F-AF07-FF085EF6276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7234"/>
            <a:ext cx="10515600" cy="233523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Theory of Automata (CSC- 402)	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Semester : Spring 2026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Credit Hours: 3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sym typeface="+mn-ea"/>
              </a:rPr>
              <a:t>Theory of Automata</a:t>
            </a:r>
            <a:r>
              <a:rPr lang="en-US" dirty="0"/>
              <a:t> Course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20-02-2024 at 9.57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7305" y="450215"/>
            <a:ext cx="6728460" cy="57124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27-02-2024 at 9.43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2250" y="500380"/>
            <a:ext cx="9498330" cy="6111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17C5B-97C5-E8AF-2DEF-7AF032E8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6FDE-513E-405F-AC09-33E0399FA730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88450" name="Rectangle 2">
            <a:extLst>
              <a:ext uri="{FF2B5EF4-FFF2-40B4-BE49-F238E27FC236}">
                <a16:creationId xmlns:a16="http://schemas.microsoft.com/office/drawing/2014/main" id="{92166EBD-15DD-04AA-04EC-B5FCF41A8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important example</a:t>
            </a:r>
          </a:p>
        </p:txBody>
      </p:sp>
      <p:sp>
        <p:nvSpPr>
          <p:cNvPr id="488451" name="Rectangle 3">
            <a:extLst>
              <a:ext uri="{FF2B5EF4-FFF2-40B4-BE49-F238E27FC236}">
                <a16:creationId xmlns:a16="http://schemas.microsoft.com/office/drawing/2014/main" id="{64B827BB-F4F7-86DD-DD02-F50E505473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b="1"/>
              <a:t>	The Language EVEN-EVEN :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Language of strings, defined over </a:t>
            </a:r>
            <a:r>
              <a:rPr lang="el-GR" altLang="en-US" sz="3000"/>
              <a:t>Σ</a:t>
            </a:r>
            <a:r>
              <a:rPr lang="en-US" altLang="en-US" sz="3000"/>
              <a:t>={a, b} </a:t>
            </a:r>
            <a:r>
              <a:rPr lang="en-US" altLang="en-US"/>
              <a:t>having </a:t>
            </a:r>
            <a:r>
              <a:rPr lang="en-US" altLang="en-US" b="1"/>
              <a:t>even number of a’s and even number of b’s</a:t>
            </a:r>
            <a:r>
              <a:rPr lang="en-US" altLang="en-US"/>
              <a:t>. </a:t>
            </a:r>
            <a:r>
              <a:rPr lang="en-US" altLang="en-US" i="1"/>
              <a:t>i.e.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EVEN-EVEN = {</a:t>
            </a:r>
            <a:r>
              <a:rPr lang="el-GR" altLang="en-US"/>
              <a:t>Λ</a:t>
            </a:r>
            <a:r>
              <a:rPr lang="en-US" altLang="en-US"/>
              <a:t>, aa, bb, aaaa,aabb,abab, abba, baab, baba, bbaa, bbbb,…} ,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its regular expression can be written as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(aa+bb+(ab+ba)(aa+bb)</a:t>
            </a:r>
            <a:r>
              <a:rPr lang="en-US" altLang="en-US" baseline="40000"/>
              <a:t>*</a:t>
            </a:r>
            <a:r>
              <a:rPr lang="en-US" altLang="en-US"/>
              <a:t>(ab+ba))</a:t>
            </a:r>
            <a:r>
              <a:rPr lang="en-US" altLang="en-US" baseline="4000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483998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27-02-2024 at 9.43 AM (1)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88340"/>
            <a:ext cx="10861040" cy="5641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27-02-2024 at 9.43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905" y="985520"/>
            <a:ext cx="10918190" cy="43764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27-02-2024 at 9.47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9600"/>
            <a:ext cx="10515600" cy="28086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Image 27-02-2024 at 10.04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4440" y="771525"/>
            <a:ext cx="9794875" cy="55695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27-02-2024 at 10.10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785" y="889635"/>
            <a:ext cx="9790430" cy="50780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27-02-2024 at 10.14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4715" y="317500"/>
            <a:ext cx="8171815" cy="6403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27-02-2024 at 10.40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8745" y="953135"/>
            <a:ext cx="9542145" cy="54413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27-02-2024 at 10.46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89000"/>
            <a:ext cx="10515600" cy="45885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List the possible elements in the  following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1.) a*b*</a:t>
            </a:r>
          </a:p>
          <a:p>
            <a:pPr marL="0" indent="0">
              <a:buNone/>
            </a:pPr>
            <a:r>
              <a:rPr lang="en-US"/>
              <a:t>2.) (a+b)*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Solve this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8C19E-B9E3-0E9B-F220-CC606FEE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9A83-F23E-4DBC-B492-CE4EC21206FC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489474" name="Rectangle 2">
            <a:extLst>
              <a:ext uri="{FF2B5EF4-FFF2-40B4-BE49-F238E27FC236}">
                <a16:creationId xmlns:a16="http://schemas.microsoft.com/office/drawing/2014/main" id="{DA1C83F3-F87B-1C78-7266-C70EFB518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Note</a:t>
            </a:r>
          </a:p>
        </p:txBody>
      </p:sp>
      <p:sp>
        <p:nvSpPr>
          <p:cNvPr id="489475" name="Rectangle 3">
            <a:extLst>
              <a:ext uri="{FF2B5EF4-FFF2-40B4-BE49-F238E27FC236}">
                <a16:creationId xmlns:a16="http://schemas.microsoft.com/office/drawing/2014/main" id="{08E6EB07-AC20-753B-6634-6A60F408BB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altLang="en-US" sz="3000"/>
              <a:t>It is important to be clear about the difference of the following regular expressions</a:t>
            </a:r>
          </a:p>
          <a:p>
            <a:pPr marL="914400" lvl="1" indent="-457200">
              <a:buNone/>
            </a:pPr>
            <a:r>
              <a:rPr lang="en-US" altLang="en-US" sz="3000"/>
              <a:t>r</a:t>
            </a:r>
            <a:r>
              <a:rPr lang="en-US" altLang="en-US" sz="3000" baseline="-30000"/>
              <a:t>1</a:t>
            </a:r>
            <a:r>
              <a:rPr lang="en-US" altLang="en-US" sz="3000"/>
              <a:t>=a</a:t>
            </a:r>
            <a:r>
              <a:rPr lang="en-US" altLang="en-US" sz="3000" baseline="40000"/>
              <a:t>*</a:t>
            </a:r>
            <a:r>
              <a:rPr lang="en-US" altLang="en-US" sz="3000"/>
              <a:t>+b</a:t>
            </a:r>
            <a:r>
              <a:rPr lang="en-US" altLang="en-US" sz="3000" baseline="40000"/>
              <a:t>*</a:t>
            </a:r>
          </a:p>
          <a:p>
            <a:pPr marL="914400" lvl="1" indent="-457200">
              <a:buNone/>
            </a:pPr>
            <a:r>
              <a:rPr lang="en-US" altLang="en-US" sz="3000"/>
              <a:t>r</a:t>
            </a:r>
            <a:r>
              <a:rPr lang="en-US" altLang="en-US" sz="3000" baseline="-30000"/>
              <a:t>2</a:t>
            </a:r>
            <a:r>
              <a:rPr lang="en-US" altLang="en-US" sz="3000"/>
              <a:t>=(a+b)</a:t>
            </a:r>
            <a:r>
              <a:rPr lang="en-US" altLang="en-US" sz="3000" baseline="40000"/>
              <a:t>*</a:t>
            </a:r>
          </a:p>
          <a:p>
            <a:pPr marL="533400" indent="-533400">
              <a:buNone/>
            </a:pPr>
            <a:r>
              <a:rPr lang="en-US" altLang="en-US" sz="3000"/>
              <a:t>	Here r</a:t>
            </a:r>
            <a:r>
              <a:rPr lang="en-US" altLang="en-US" sz="3400" baseline="-30000"/>
              <a:t>1</a:t>
            </a:r>
            <a:r>
              <a:rPr lang="en-US" altLang="en-US" sz="3000"/>
              <a:t> does not generate any string of concatenation of a and b, while r</a:t>
            </a:r>
            <a:r>
              <a:rPr lang="en-US" altLang="en-US" sz="3400" baseline="-30000"/>
              <a:t>2</a:t>
            </a:r>
            <a:r>
              <a:rPr lang="en-US" altLang="en-US" sz="3000"/>
              <a:t> generates such strings.</a:t>
            </a:r>
            <a:endParaRPr lang="en-US" altLang="en-US" sz="3000" baseline="40000"/>
          </a:p>
          <a:p>
            <a:pPr marL="533400" indent="-533400">
              <a:buNone/>
            </a:pPr>
            <a:endParaRPr lang="en-US" altLang="en-US" sz="3000" baseline="40000"/>
          </a:p>
          <a:p>
            <a:pPr marL="533400" indent="-533400">
              <a:buNone/>
            </a:pPr>
            <a:endParaRPr lang="en-US" altLang="en-US"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667DD-7607-CB43-E817-357B08FC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4CC2-14F5-420A-8466-57FA76BD4CF8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490498" name="Rectangle 2">
            <a:extLst>
              <a:ext uri="{FF2B5EF4-FFF2-40B4-BE49-F238E27FC236}">
                <a16:creationId xmlns:a16="http://schemas.microsoft.com/office/drawing/2014/main" id="{662BE494-6187-93FF-50C0-948047D07B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Equivalent Regular Expressions</a:t>
            </a:r>
          </a:p>
        </p:txBody>
      </p:sp>
      <p:sp>
        <p:nvSpPr>
          <p:cNvPr id="490499" name="Rectangle 3">
            <a:extLst>
              <a:ext uri="{FF2B5EF4-FFF2-40B4-BE49-F238E27FC236}">
                <a16:creationId xmlns:a16="http://schemas.microsoft.com/office/drawing/2014/main" id="{B98316D5-25C0-B80E-AEA3-5B8084854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/>
              <a:t>Definition: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	Two regular expressions are said to be equivalent if they generate the same language.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</a:t>
            </a:r>
            <a:r>
              <a:rPr lang="en-US" altLang="en-US" b="1"/>
              <a:t>Example: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	Consider the following regular expressions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r</a:t>
            </a:r>
            <a:r>
              <a:rPr lang="en-US" altLang="en-US" sz="3400" baseline="-30000"/>
              <a:t>1</a:t>
            </a:r>
            <a:r>
              <a:rPr lang="en-US" altLang="en-US"/>
              <a:t>= (a + b)</a:t>
            </a:r>
            <a:r>
              <a:rPr lang="en-US" altLang="en-US" baseline="40000"/>
              <a:t>* </a:t>
            </a:r>
            <a:r>
              <a:rPr lang="en-US" altLang="en-US"/>
              <a:t>(aa + bb)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r</a:t>
            </a:r>
            <a:r>
              <a:rPr lang="en-US" altLang="en-US" sz="3400" baseline="-30000"/>
              <a:t>2</a:t>
            </a:r>
            <a:r>
              <a:rPr lang="en-US" altLang="en-US"/>
              <a:t>= (a + b)</a:t>
            </a:r>
            <a:r>
              <a:rPr lang="en-US" altLang="en-US" baseline="40000"/>
              <a:t>*</a:t>
            </a:r>
            <a:r>
              <a:rPr lang="en-US" altLang="en-US"/>
              <a:t>aa + ( a + b)</a:t>
            </a:r>
            <a:r>
              <a:rPr lang="en-US" altLang="en-US" baseline="40000"/>
              <a:t>*</a:t>
            </a:r>
            <a:r>
              <a:rPr lang="en-US" altLang="en-US"/>
              <a:t>bb   then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both regular expressions define the language of strings </a:t>
            </a:r>
            <a:r>
              <a:rPr lang="en-US" altLang="en-US" b="1"/>
              <a:t>ending in aa or bb</a:t>
            </a:r>
            <a:r>
              <a:rPr lang="en-US" altLang="en-US"/>
              <a:t>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05-03-2024 at 10.18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79805"/>
            <a:ext cx="10515600" cy="45345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314C5-F540-CB93-912B-DE46B9AF0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48CF-961B-4F1B-8C89-52BBB4DB12A2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491522" name="Rectangle 2">
            <a:extLst>
              <a:ext uri="{FF2B5EF4-FFF2-40B4-BE49-F238E27FC236}">
                <a16:creationId xmlns:a16="http://schemas.microsoft.com/office/drawing/2014/main" id="{26F8B62C-3856-5F4C-43C0-C9848BBF30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Note</a:t>
            </a:r>
          </a:p>
        </p:txBody>
      </p:sp>
      <p:sp>
        <p:nvSpPr>
          <p:cNvPr id="491523" name="Rectangle 3">
            <a:extLst>
              <a:ext uri="{FF2B5EF4-FFF2-40B4-BE49-F238E27FC236}">
                <a16:creationId xmlns:a16="http://schemas.microsoft.com/office/drawing/2014/main" id="{3ED95AAE-AEB3-4F26-1FEA-31D1331CBE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lnSpc>
                <a:spcPct val="80000"/>
              </a:lnSpc>
            </a:pPr>
            <a:endParaRPr lang="en-US" altLang="en-US" sz="3000" dirty="0"/>
          </a:p>
          <a:p>
            <a:pPr marL="533400" indent="-533400">
              <a:lnSpc>
                <a:spcPct val="80000"/>
              </a:lnSpc>
            </a:pPr>
            <a:r>
              <a:rPr lang="en-US" altLang="en-US" sz="3000" dirty="0"/>
              <a:t>If r</a:t>
            </a:r>
            <a:r>
              <a:rPr lang="en-US" altLang="en-US" sz="3000" baseline="-30000" dirty="0"/>
              <a:t>1</a:t>
            </a:r>
            <a:r>
              <a:rPr lang="en-US" altLang="en-US" sz="3000" dirty="0"/>
              <a:t>     =(aa + bb) and r</a:t>
            </a:r>
            <a:r>
              <a:rPr lang="en-US" altLang="en-US" sz="3000" baseline="-30000" dirty="0"/>
              <a:t>2</a:t>
            </a:r>
            <a:r>
              <a:rPr lang="en-US" altLang="en-US" sz="3000" dirty="0"/>
              <a:t>=( a + b) then </a:t>
            </a:r>
          </a:p>
          <a:p>
            <a:pPr marL="914400" lvl="1" indent="-457200">
              <a:lnSpc>
                <a:spcPct val="80000"/>
              </a:lnSpc>
              <a:buFont typeface="Monotype Sorts" pitchFamily="2" charset="2"/>
              <a:buAutoNum type="arabicPeriod"/>
            </a:pPr>
            <a:r>
              <a:rPr lang="en-US" altLang="en-US" sz="3000" dirty="0"/>
              <a:t>r</a:t>
            </a:r>
            <a:r>
              <a:rPr lang="en-US" altLang="en-US" sz="3000" baseline="-30000" dirty="0"/>
              <a:t>1</a:t>
            </a:r>
            <a:r>
              <a:rPr lang="en-US" altLang="en-US" sz="3000" dirty="0"/>
              <a:t>+r</a:t>
            </a:r>
            <a:r>
              <a:rPr lang="en-US" altLang="en-US" sz="3000" baseline="-30000" dirty="0"/>
              <a:t>2</a:t>
            </a:r>
            <a:r>
              <a:rPr lang="en-US" altLang="en-US" sz="3000" dirty="0"/>
              <a:t> =(aa + bb) + (a + b) =(a + b + aa + bb) </a:t>
            </a:r>
          </a:p>
          <a:p>
            <a:pPr marL="914400" lvl="1" indent="-457200">
              <a:lnSpc>
                <a:spcPct val="80000"/>
              </a:lnSpc>
              <a:buFont typeface="Monotype Sorts" pitchFamily="2" charset="2"/>
              <a:buAutoNum type="arabicPeriod"/>
            </a:pPr>
            <a:r>
              <a:rPr lang="en-US" altLang="en-US" sz="3000" dirty="0"/>
              <a:t>r</a:t>
            </a:r>
            <a:r>
              <a:rPr lang="en-US" altLang="en-US" sz="3000" baseline="-30000" dirty="0"/>
              <a:t>1</a:t>
            </a:r>
            <a:r>
              <a:rPr lang="en-US" altLang="en-US" sz="3000" dirty="0"/>
              <a:t>r</a:t>
            </a:r>
            <a:r>
              <a:rPr lang="en-US" altLang="en-US" sz="3000" baseline="-30000" dirty="0"/>
              <a:t>2</a:t>
            </a:r>
            <a:r>
              <a:rPr lang="en-US" altLang="en-US" sz="3000" dirty="0"/>
              <a:t>    =(aa + bb)  (a + b)	=(</a:t>
            </a:r>
            <a:r>
              <a:rPr lang="en-US" altLang="en-US" sz="3000" dirty="0" err="1"/>
              <a:t>aaa</a:t>
            </a:r>
            <a:r>
              <a:rPr lang="en-US" altLang="en-US" sz="3000" dirty="0"/>
              <a:t> + </a:t>
            </a:r>
            <a:r>
              <a:rPr lang="en-US" altLang="en-US" sz="3000" dirty="0" err="1"/>
              <a:t>aab</a:t>
            </a:r>
            <a:r>
              <a:rPr lang="en-US" altLang="en-US" sz="3000" dirty="0"/>
              <a:t> + </a:t>
            </a:r>
            <a:r>
              <a:rPr lang="en-US" altLang="en-US" sz="3000" dirty="0" err="1"/>
              <a:t>bba</a:t>
            </a:r>
            <a:r>
              <a:rPr lang="en-US" altLang="en-US" sz="3000" dirty="0"/>
              <a:t> + </a:t>
            </a:r>
            <a:r>
              <a:rPr lang="en-US" altLang="en-US" sz="3000" dirty="0" err="1"/>
              <a:t>bbb</a:t>
            </a:r>
            <a:r>
              <a:rPr lang="en-US" altLang="en-US" sz="3000" dirty="0"/>
              <a:t>) </a:t>
            </a:r>
          </a:p>
          <a:p>
            <a:pPr marL="914400" lvl="1" indent="-457200">
              <a:lnSpc>
                <a:spcPct val="80000"/>
              </a:lnSpc>
              <a:buFont typeface="Monotype Sorts" pitchFamily="2" charset="2"/>
              <a:buAutoNum type="arabicPeriod"/>
            </a:pPr>
            <a:r>
              <a:rPr lang="en-US" altLang="en-US" sz="3000" dirty="0"/>
              <a:t>(r</a:t>
            </a:r>
            <a:r>
              <a:rPr lang="en-US" altLang="en-US" sz="3000" baseline="-30000" dirty="0"/>
              <a:t>1</a:t>
            </a:r>
            <a:r>
              <a:rPr lang="en-US" altLang="en-US" sz="3000" dirty="0"/>
              <a:t>)</a:t>
            </a:r>
            <a:r>
              <a:rPr lang="en-US" altLang="en-US" sz="3000" baseline="40000" dirty="0"/>
              <a:t>*</a:t>
            </a:r>
            <a:r>
              <a:rPr lang="en-US" altLang="en-US" sz="3000" dirty="0"/>
              <a:t>  =(aa + bb)</a:t>
            </a:r>
            <a:r>
              <a:rPr lang="en-US" altLang="en-US" sz="3000" baseline="40000" dirty="0"/>
              <a:t>*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05-03-2024 at 10.24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5950" y="681355"/>
            <a:ext cx="8382000" cy="59855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05-03-2024 at 10.31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3620" y="635"/>
            <a:ext cx="718439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8085" y="2772410"/>
            <a:ext cx="5715635" cy="793115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/>
              <a:t>End of Lecture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339</Words>
  <Application>Microsoft Office PowerPoint</Application>
  <PresentationFormat>Widescreen</PresentationFormat>
  <Paragraphs>39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Monotype Sorts</vt:lpstr>
      <vt:lpstr>Office Theme</vt:lpstr>
      <vt:lpstr> Theory of Automata (CSC- 402)  Semester : Spring 2026 Credit Hours: 3 </vt:lpstr>
      <vt:lpstr> Theory of Automata Course</vt:lpstr>
      <vt:lpstr>PowerPoint Presentation</vt:lpstr>
      <vt:lpstr>PowerPoint Presentation</vt:lpstr>
      <vt:lpstr>An important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List the possible elements in the  following languages</vt:lpstr>
      <vt:lpstr>Note</vt:lpstr>
      <vt:lpstr>Equivalent Regular Expressions</vt:lpstr>
      <vt:lpstr>PowerPoint Presentation</vt:lpstr>
      <vt:lpstr>Note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to Z</dc:creator>
  <cp:lastModifiedBy>Sheeza Batool</cp:lastModifiedBy>
  <cp:revision>377</cp:revision>
  <dcterms:created xsi:type="dcterms:W3CDTF">2026-02-11T10:52:56Z</dcterms:created>
  <dcterms:modified xsi:type="dcterms:W3CDTF">2026-02-26T04:16:18Z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