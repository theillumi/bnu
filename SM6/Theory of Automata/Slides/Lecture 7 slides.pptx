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324" r:id="rId2"/>
    <p:sldId id="256" r:id="rId3"/>
    <p:sldId id="491" r:id="rId4"/>
    <p:sldId id="429" r:id="rId5"/>
    <p:sldId id="339" r:id="rId6"/>
    <p:sldId id="341" r:id="rId7"/>
    <p:sldId id="340" r:id="rId8"/>
    <p:sldId id="343" r:id="rId9"/>
    <p:sldId id="433" r:id="rId10"/>
    <p:sldId id="434" r:id="rId11"/>
    <p:sldId id="319" r:id="rId12"/>
    <p:sldId id="328" r:id="rId13"/>
    <p:sldId id="329" r:id="rId14"/>
    <p:sldId id="330" r:id="rId15"/>
    <p:sldId id="338" r:id="rId16"/>
    <p:sldId id="344" r:id="rId17"/>
    <p:sldId id="345" r:id="rId18"/>
    <p:sldId id="346" r:id="rId19"/>
    <p:sldId id="349" r:id="rId20"/>
    <p:sldId id="352" r:id="rId21"/>
    <p:sldId id="448" r:id="rId22"/>
    <p:sldId id="512" r:id="rId23"/>
    <p:sldId id="513" r:id="rId24"/>
    <p:sldId id="514" r:id="rId25"/>
    <p:sldId id="517" r:id="rId26"/>
    <p:sldId id="518" r:id="rId27"/>
    <p:sldId id="519" r:id="rId28"/>
    <p:sldId id="520" r:id="rId29"/>
    <p:sldId id="521" r:id="rId30"/>
    <p:sldId id="522" r:id="rId31"/>
    <p:sldId id="523" r:id="rId32"/>
    <p:sldId id="524" r:id="rId33"/>
    <p:sldId id="3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79CEE-7766-467A-AD48-D068D9C9E519}"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0D8A8-3AA1-4FF6-BE16-2FE515242F3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5A18B4-2029-423F-AF07-FF085EF6276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A18B4-2029-423F-AF07-FF085EF6276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E5A18B4-2029-423F-AF07-FF085EF6276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5A18B4-2029-423F-AF07-FF085EF6276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5A18B4-2029-423F-AF07-FF085EF6276F}"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5A18B4-2029-423F-AF07-FF085EF6276F}"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5A18B4-2029-423F-AF07-FF085EF6276F}"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5A18B4-2029-423F-AF07-FF085EF6276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5A18B4-2029-423F-AF07-FF085EF6276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A18B4-2029-423F-AF07-FF085EF6276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A18B4-2029-423F-AF07-FF085EF6276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C116A-59D1-D587-8D65-05262B63C262}"/>
              </a:ext>
            </a:extLst>
          </p:cNvPr>
          <p:cNvSpPr>
            <a:spLocks noGrp="1"/>
          </p:cNvSpPr>
          <p:nvPr>
            <p:ph type="title"/>
          </p:nvPr>
        </p:nvSpPr>
        <p:spPr>
          <a:xfrm>
            <a:off x="541867" y="228600"/>
            <a:ext cx="103632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3CE946-1B35-472D-C780-ADDC2E74A79E}"/>
              </a:ext>
            </a:extLst>
          </p:cNvPr>
          <p:cNvSpPr>
            <a:spLocks noGrp="1"/>
          </p:cNvSpPr>
          <p:nvPr>
            <p:ph type="body" sz="half" idx="1"/>
          </p:nvPr>
        </p:nvSpPr>
        <p:spPr>
          <a:xfrm>
            <a:off x="609600" y="1885950"/>
            <a:ext cx="5350933"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056E64-F713-8D79-233C-F93C073B9A86}"/>
              </a:ext>
            </a:extLst>
          </p:cNvPr>
          <p:cNvSpPr>
            <a:spLocks noGrp="1"/>
          </p:cNvSpPr>
          <p:nvPr>
            <p:ph sz="half" idx="2"/>
          </p:nvPr>
        </p:nvSpPr>
        <p:spPr>
          <a:xfrm>
            <a:off x="6163734" y="1885950"/>
            <a:ext cx="5350933"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00D2F0-EA4A-7670-0A1A-6306B0829065}"/>
              </a:ext>
            </a:extLst>
          </p:cNvPr>
          <p:cNvSpPr>
            <a:spLocks noGrp="1"/>
          </p:cNvSpPr>
          <p:nvPr>
            <p:ph type="dt" sz="half" idx="10"/>
          </p:nvPr>
        </p:nvSpPr>
        <p:spPr>
          <a:xfrm>
            <a:off x="575733" y="6229350"/>
            <a:ext cx="2540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88F3FB5-0488-A8B5-F9C7-CDFF6B88D619}"/>
              </a:ext>
            </a:extLst>
          </p:cNvPr>
          <p:cNvSpPr>
            <a:spLocks noGrp="1"/>
          </p:cNvSpPr>
          <p:nvPr>
            <p:ph type="ftr" sz="quarter" idx="11"/>
          </p:nvPr>
        </p:nvSpPr>
        <p:spPr>
          <a:xfrm>
            <a:off x="4165600" y="6229350"/>
            <a:ext cx="38608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656E3D4-90E2-8429-4198-43C5E1A291F9}"/>
              </a:ext>
            </a:extLst>
          </p:cNvPr>
          <p:cNvSpPr>
            <a:spLocks noGrp="1"/>
          </p:cNvSpPr>
          <p:nvPr>
            <p:ph type="sldNum" sz="quarter" idx="12"/>
          </p:nvPr>
        </p:nvSpPr>
        <p:spPr>
          <a:xfrm>
            <a:off x="8974667" y="6229350"/>
            <a:ext cx="2540000" cy="457200"/>
          </a:xfrm>
        </p:spPr>
        <p:txBody>
          <a:bodyPr/>
          <a:lstStyle>
            <a:lvl1pPr>
              <a:defRPr/>
            </a:lvl1pPr>
          </a:lstStyle>
          <a:p>
            <a:fld id="{24194ED5-69A2-4AD7-9C23-95389A7AA95E}" type="slidenum">
              <a:rPr lang="en-US" altLang="en-US"/>
              <a:pPr/>
              <a:t>‹#›</a:t>
            </a:fld>
            <a:endParaRPr lang="en-US" altLang="en-US"/>
          </a:p>
        </p:txBody>
      </p:sp>
    </p:spTree>
    <p:extLst>
      <p:ext uri="{BB962C8B-B14F-4D97-AF65-F5344CB8AC3E}">
        <p14:creationId xmlns:p14="http://schemas.microsoft.com/office/powerpoint/2010/main" val="2506644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5A18B4-2029-423F-AF07-FF085EF6276F}" type="datetimeFigureOut">
              <a:rPr lang="en-US" smtClean="0"/>
              <a:t>3/29/2026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7D74C9-42A5-4070-BA50-12D3E3C7E19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7234"/>
            <a:ext cx="10515600" cy="2335237"/>
          </a:xfrm>
        </p:spPr>
        <p:txBody>
          <a:bodyPr>
            <a:normAutofit fontScale="90000"/>
          </a:bodyPr>
          <a:lstStyle/>
          <a:p>
            <a:pPr algn="ctr"/>
            <a:r>
              <a:rPr lang="en-US" b="1" dirty="0">
                <a:solidFill>
                  <a:schemeClr val="accent2">
                    <a:lumMod val="75000"/>
                  </a:schemeClr>
                </a:solidFill>
              </a:rPr>
              <a:t> Theory of Automata (CSC- 402)	</a:t>
            </a:r>
            <a:br>
              <a:rPr lang="en-US" b="1" dirty="0">
                <a:solidFill>
                  <a:schemeClr val="accent2">
                    <a:lumMod val="75000"/>
                  </a:schemeClr>
                </a:solidFill>
              </a:rPr>
            </a:br>
            <a:r>
              <a:rPr lang="en-US" b="1" dirty="0">
                <a:solidFill>
                  <a:schemeClr val="accent2">
                    <a:lumMod val="75000"/>
                  </a:schemeClr>
                </a:solidFill>
                <a:sym typeface="+mn-ea"/>
              </a:rPr>
              <a:t>Semester : Spring 2026</a:t>
            </a:r>
            <a:r>
              <a:rPr lang="en-US" b="1" dirty="0">
                <a:solidFill>
                  <a:schemeClr val="accent2">
                    <a:lumMod val="75000"/>
                  </a:schemeClr>
                </a:solidFill>
              </a:rPr>
              <a:t> </a:t>
            </a:r>
            <a:br>
              <a:rPr lang="en-US" b="1" dirty="0">
                <a:solidFill>
                  <a:schemeClr val="accent2">
                    <a:lumMod val="75000"/>
                  </a:schemeClr>
                </a:solidFill>
              </a:rPr>
            </a:br>
            <a:r>
              <a:rPr lang="en-US" b="1" dirty="0">
                <a:solidFill>
                  <a:schemeClr val="accent2">
                    <a:lumMod val="75000"/>
                  </a:schemeClr>
                </a:solidFill>
                <a:sym typeface="+mn-ea"/>
              </a:rPr>
              <a:t>Credit Hours: 3</a:t>
            </a:r>
            <a:br>
              <a:rPr lang="en-US" b="1" dirty="0">
                <a:solidFill>
                  <a:schemeClr val="accent2">
                    <a:lumMod val="75000"/>
                  </a:schemeClr>
                </a:solidFill>
                <a:sym typeface="+mn-ea"/>
              </a:rPr>
            </a:br>
            <a:endParaRPr lang="en-US" b="1" dirty="0">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 </a:t>
            </a:r>
            <a:r>
              <a:rPr lang="en-US" dirty="0">
                <a:sym typeface="+mn-ea"/>
              </a:rPr>
              <a:t>Theory of Automata</a:t>
            </a:r>
            <a:r>
              <a:rPr lang="en-US" dirty="0"/>
              <a:t> Course</a:t>
            </a:r>
          </a:p>
        </p:txBody>
      </p:sp>
      <p:sp>
        <p:nvSpPr>
          <p:cNvPr id="3" name="Subtitle 2"/>
          <p:cNvSpPr>
            <a:spLocks noGrp="1"/>
          </p:cNvSpPr>
          <p:nvPr>
            <p:ph type="subTitle" idx="1"/>
          </p:nvPr>
        </p:nvSpPr>
        <p:spPr/>
        <p:txBody>
          <a:bodyPr/>
          <a:lstStyle/>
          <a:p>
            <a:r>
              <a:rPr lang="en-US" dirty="0"/>
              <a:t>Lecture 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05-03-2024 at 10.33 AM"/>
          <p:cNvPicPr>
            <a:picLocks noGrp="1" noChangeAspect="1"/>
          </p:cNvPicPr>
          <p:nvPr>
            <p:ph idx="1"/>
          </p:nvPr>
        </p:nvPicPr>
        <p:blipFill>
          <a:blip r:embed="rId2"/>
          <a:stretch>
            <a:fillRect/>
          </a:stretch>
        </p:blipFill>
        <p:spPr>
          <a:xfrm>
            <a:off x="2553970" y="172085"/>
            <a:ext cx="6391910" cy="6313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71D87E0-5B31-3A14-20F4-37C890A27876}"/>
              </a:ext>
            </a:extLst>
          </p:cNvPr>
          <p:cNvSpPr>
            <a:spLocks noGrp="1"/>
          </p:cNvSpPr>
          <p:nvPr>
            <p:ph type="sldNum" sz="quarter" idx="12"/>
          </p:nvPr>
        </p:nvSpPr>
        <p:spPr/>
        <p:txBody>
          <a:bodyPr/>
          <a:lstStyle/>
          <a:p>
            <a:fld id="{0567735C-FE00-4BED-8694-D03C88DA2691}" type="slidenum">
              <a:rPr lang="en-US" altLang="en-US"/>
              <a:pPr/>
              <a:t>4</a:t>
            </a:fld>
            <a:endParaRPr lang="en-US" altLang="en-US"/>
          </a:p>
        </p:txBody>
      </p:sp>
      <p:sp>
        <p:nvSpPr>
          <p:cNvPr id="408578" name="Rectangle 2">
            <a:extLst>
              <a:ext uri="{FF2B5EF4-FFF2-40B4-BE49-F238E27FC236}">
                <a16:creationId xmlns:a16="http://schemas.microsoft.com/office/drawing/2014/main" id="{5E26894A-07E2-C88D-1FFC-D8D024E392E7}"/>
              </a:ext>
            </a:extLst>
          </p:cNvPr>
          <p:cNvSpPr>
            <a:spLocks noGrp="1" noChangeArrowheads="1"/>
          </p:cNvSpPr>
          <p:nvPr>
            <p:ph type="title"/>
          </p:nvPr>
        </p:nvSpPr>
        <p:spPr/>
        <p:txBody>
          <a:bodyPr/>
          <a:lstStyle/>
          <a:p>
            <a:pPr algn="ctr"/>
            <a:r>
              <a:rPr lang="en-US" altLang="en-US"/>
              <a:t>Note</a:t>
            </a:r>
          </a:p>
        </p:txBody>
      </p:sp>
      <p:sp>
        <p:nvSpPr>
          <p:cNvPr id="408579" name="Rectangle 3">
            <a:extLst>
              <a:ext uri="{FF2B5EF4-FFF2-40B4-BE49-F238E27FC236}">
                <a16:creationId xmlns:a16="http://schemas.microsoft.com/office/drawing/2014/main" id="{31B19FF0-4CA3-6D20-6E71-460E1F51EF93}"/>
              </a:ext>
            </a:extLst>
          </p:cNvPr>
          <p:cNvSpPr>
            <a:spLocks noGrp="1" noChangeArrowheads="1"/>
          </p:cNvSpPr>
          <p:nvPr>
            <p:ph type="body" idx="1"/>
          </p:nvPr>
        </p:nvSpPr>
        <p:spPr>
          <a:xfrm>
            <a:off x="1981200" y="1885950"/>
            <a:ext cx="8178800" cy="4743450"/>
          </a:xfrm>
        </p:spPr>
        <p:txBody>
          <a:bodyPr/>
          <a:lstStyle/>
          <a:p>
            <a:r>
              <a:rPr lang="en-US" altLang="en-US"/>
              <a:t>It may be noted that to indicate the initial state, an arrow head can also be placed before that state and that the final state with double circle, as shown below. It is also to be noted that while expressing an FA by its transition diagram, the labels of states are not necessary. </a:t>
            </a:r>
          </a:p>
        </p:txBody>
      </p:sp>
      <p:grpSp>
        <p:nvGrpSpPr>
          <p:cNvPr id="408605" name="Group 29">
            <a:extLst>
              <a:ext uri="{FF2B5EF4-FFF2-40B4-BE49-F238E27FC236}">
                <a16:creationId xmlns:a16="http://schemas.microsoft.com/office/drawing/2014/main" id="{D6514A88-F15F-1BE1-63F8-DD8C97AACE6D}"/>
              </a:ext>
            </a:extLst>
          </p:cNvPr>
          <p:cNvGrpSpPr>
            <a:grpSpLocks/>
          </p:cNvGrpSpPr>
          <p:nvPr/>
        </p:nvGrpSpPr>
        <p:grpSpPr bwMode="auto">
          <a:xfrm>
            <a:off x="3867150" y="4724400"/>
            <a:ext cx="4438650" cy="1676400"/>
            <a:chOff x="672" y="2400"/>
            <a:chExt cx="2796" cy="1056"/>
          </a:xfrm>
        </p:grpSpPr>
        <p:grpSp>
          <p:nvGrpSpPr>
            <p:cNvPr id="408581" name="Group 5">
              <a:extLst>
                <a:ext uri="{FF2B5EF4-FFF2-40B4-BE49-F238E27FC236}">
                  <a16:creationId xmlns:a16="http://schemas.microsoft.com/office/drawing/2014/main" id="{45C9AFBC-60AF-5A7B-BE72-DC92AC3F4C9D}"/>
                </a:ext>
              </a:extLst>
            </p:cNvPr>
            <p:cNvGrpSpPr>
              <a:grpSpLocks/>
            </p:cNvGrpSpPr>
            <p:nvPr/>
          </p:nvGrpSpPr>
          <p:grpSpPr bwMode="auto">
            <a:xfrm>
              <a:off x="2902" y="2903"/>
              <a:ext cx="566" cy="452"/>
              <a:chOff x="3178" y="2565"/>
              <a:chExt cx="566" cy="452"/>
            </a:xfrm>
          </p:grpSpPr>
          <p:sp>
            <p:nvSpPr>
              <p:cNvPr id="408582" name="Oval 6">
                <a:extLst>
                  <a:ext uri="{FF2B5EF4-FFF2-40B4-BE49-F238E27FC236}">
                    <a16:creationId xmlns:a16="http://schemas.microsoft.com/office/drawing/2014/main" id="{E469D820-18D5-ED3F-51AC-83D115DA7639}"/>
                  </a:ext>
                </a:extLst>
              </p:cNvPr>
              <p:cNvSpPr>
                <a:spLocks noChangeArrowheads="1"/>
              </p:cNvSpPr>
              <p:nvPr/>
            </p:nvSpPr>
            <p:spPr bwMode="auto">
              <a:xfrm>
                <a:off x="3214" y="2643"/>
                <a:ext cx="374" cy="374"/>
              </a:xfrm>
              <a:prstGeom prst="ellipse">
                <a:avLst/>
              </a:prstGeom>
              <a:solidFill>
                <a:srgbClr val="FFFFFF"/>
              </a:solidFill>
              <a:ln w="9525">
                <a:solidFill>
                  <a:srgbClr val="000000"/>
                </a:solidFill>
                <a:round/>
                <a:headEnd/>
                <a:tailEnd/>
              </a:ln>
            </p:spPr>
            <p:txBody>
              <a:bodyPr/>
              <a:lstStyle/>
              <a:p>
                <a:endParaRPr lang="en-US"/>
              </a:p>
            </p:txBody>
          </p:sp>
          <p:sp>
            <p:nvSpPr>
              <p:cNvPr id="408583" name="Text Box 7">
                <a:extLst>
                  <a:ext uri="{FF2B5EF4-FFF2-40B4-BE49-F238E27FC236}">
                    <a16:creationId xmlns:a16="http://schemas.microsoft.com/office/drawing/2014/main" id="{E42DF05D-CD51-223D-37D9-C5D68FA30074}"/>
                  </a:ext>
                </a:extLst>
              </p:cNvPr>
              <p:cNvSpPr txBox="1">
                <a:spLocks noChangeArrowheads="1"/>
              </p:cNvSpPr>
              <p:nvPr/>
            </p:nvSpPr>
            <p:spPr bwMode="auto">
              <a:xfrm>
                <a:off x="3178" y="2565"/>
                <a:ext cx="566"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100">
                    <a:solidFill>
                      <a:srgbClr val="000000"/>
                    </a:solidFill>
                  </a:rPr>
                  <a:t>      </a:t>
                </a:r>
                <a:endParaRPr lang="en-US" altLang="en-US" sz="4400"/>
              </a:p>
            </p:txBody>
          </p:sp>
        </p:grpSp>
        <p:sp>
          <p:nvSpPr>
            <p:cNvPr id="408589" name="Text Box 13">
              <a:extLst>
                <a:ext uri="{FF2B5EF4-FFF2-40B4-BE49-F238E27FC236}">
                  <a16:creationId xmlns:a16="http://schemas.microsoft.com/office/drawing/2014/main" id="{A02A7DA2-CEBD-ACC8-D119-F9EE2528EA8D}"/>
                </a:ext>
              </a:extLst>
            </p:cNvPr>
            <p:cNvSpPr txBox="1">
              <a:spLocks noChangeArrowheads="1"/>
            </p:cNvSpPr>
            <p:nvPr/>
          </p:nvSpPr>
          <p:spPr bwMode="auto">
            <a:xfrm>
              <a:off x="2256" y="2880"/>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 b</a:t>
              </a:r>
              <a:endParaRPr lang="en-US" altLang="en-US" sz="4400"/>
            </a:p>
          </p:txBody>
        </p:sp>
        <p:sp>
          <p:nvSpPr>
            <p:cNvPr id="408591" name="Line 15">
              <a:extLst>
                <a:ext uri="{FF2B5EF4-FFF2-40B4-BE49-F238E27FC236}">
                  <a16:creationId xmlns:a16="http://schemas.microsoft.com/office/drawing/2014/main" id="{7521EE67-9A35-83A7-EDFF-2E5493F40FE1}"/>
                </a:ext>
              </a:extLst>
            </p:cNvPr>
            <p:cNvSpPr>
              <a:spLocks noChangeShapeType="1"/>
            </p:cNvSpPr>
            <p:nvPr/>
          </p:nvSpPr>
          <p:spPr bwMode="auto">
            <a:xfrm>
              <a:off x="1488" y="3168"/>
              <a:ext cx="1344"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8593" name="Line 17">
              <a:extLst>
                <a:ext uri="{FF2B5EF4-FFF2-40B4-BE49-F238E27FC236}">
                  <a16:creationId xmlns:a16="http://schemas.microsoft.com/office/drawing/2014/main" id="{EA154D28-E0A8-4D24-1730-504AC1A28E16}"/>
                </a:ext>
              </a:extLst>
            </p:cNvPr>
            <p:cNvSpPr>
              <a:spLocks noChangeShapeType="1"/>
            </p:cNvSpPr>
            <p:nvPr/>
          </p:nvSpPr>
          <p:spPr bwMode="auto">
            <a:xfrm>
              <a:off x="672" y="3120"/>
              <a:ext cx="288"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8598" name="Oval 22">
              <a:extLst>
                <a:ext uri="{FF2B5EF4-FFF2-40B4-BE49-F238E27FC236}">
                  <a16:creationId xmlns:a16="http://schemas.microsoft.com/office/drawing/2014/main" id="{5C0B1C48-BB49-6304-55C0-37EE79F338FD}"/>
                </a:ext>
              </a:extLst>
            </p:cNvPr>
            <p:cNvSpPr>
              <a:spLocks noChangeArrowheads="1"/>
            </p:cNvSpPr>
            <p:nvPr/>
          </p:nvSpPr>
          <p:spPr bwMode="auto">
            <a:xfrm>
              <a:off x="2832" y="2880"/>
              <a:ext cx="576"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8599" name="Oval 23">
              <a:extLst>
                <a:ext uri="{FF2B5EF4-FFF2-40B4-BE49-F238E27FC236}">
                  <a16:creationId xmlns:a16="http://schemas.microsoft.com/office/drawing/2014/main" id="{9EAD2D7F-BBFF-194D-CCB2-1C0AE91FA626}"/>
                </a:ext>
              </a:extLst>
            </p:cNvPr>
            <p:cNvSpPr>
              <a:spLocks noChangeArrowheads="1"/>
            </p:cNvSpPr>
            <p:nvPr/>
          </p:nvSpPr>
          <p:spPr bwMode="auto">
            <a:xfrm>
              <a:off x="960" y="2880"/>
              <a:ext cx="576"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08600" name="Group 24">
              <a:extLst>
                <a:ext uri="{FF2B5EF4-FFF2-40B4-BE49-F238E27FC236}">
                  <a16:creationId xmlns:a16="http://schemas.microsoft.com/office/drawing/2014/main" id="{BCC3FAFA-BB47-CA74-519B-03A572ED30BB}"/>
                </a:ext>
              </a:extLst>
            </p:cNvPr>
            <p:cNvGrpSpPr>
              <a:grpSpLocks/>
            </p:cNvGrpSpPr>
            <p:nvPr/>
          </p:nvGrpSpPr>
          <p:grpSpPr bwMode="auto">
            <a:xfrm rot="21300000">
              <a:off x="2832" y="2506"/>
              <a:ext cx="432" cy="374"/>
              <a:chOff x="2880" y="3312"/>
              <a:chExt cx="408" cy="336"/>
            </a:xfrm>
          </p:grpSpPr>
          <p:sp>
            <p:nvSpPr>
              <p:cNvPr id="408601" name="Freeform 25">
                <a:extLst>
                  <a:ext uri="{FF2B5EF4-FFF2-40B4-BE49-F238E27FC236}">
                    <a16:creationId xmlns:a16="http://schemas.microsoft.com/office/drawing/2014/main" id="{9F5FA48D-486C-DDE3-5A16-F3E91659A402}"/>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8602" name="Freeform 26">
                <a:extLst>
                  <a:ext uri="{FF2B5EF4-FFF2-40B4-BE49-F238E27FC236}">
                    <a16:creationId xmlns:a16="http://schemas.microsoft.com/office/drawing/2014/main" id="{EE48E0FE-F5C3-7D20-6466-743A30F071A7}"/>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8603" name="Freeform 27">
                <a:extLst>
                  <a:ext uri="{FF2B5EF4-FFF2-40B4-BE49-F238E27FC236}">
                    <a16:creationId xmlns:a16="http://schemas.microsoft.com/office/drawing/2014/main" id="{C4E09E41-5DA1-6F66-0639-985696646927}"/>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08604" name="Text Box 28">
              <a:extLst>
                <a:ext uri="{FF2B5EF4-FFF2-40B4-BE49-F238E27FC236}">
                  <a16:creationId xmlns:a16="http://schemas.microsoft.com/office/drawing/2014/main" id="{F5D94124-29A0-08B6-1976-A6C626FB53A5}"/>
                </a:ext>
              </a:extLst>
            </p:cNvPr>
            <p:cNvSpPr txBox="1">
              <a:spLocks noChangeArrowheads="1"/>
            </p:cNvSpPr>
            <p:nvPr/>
          </p:nvSpPr>
          <p:spPr bwMode="auto">
            <a:xfrm>
              <a:off x="2784" y="2400"/>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 b</a:t>
              </a:r>
              <a:endParaRPr lang="en-US" altLang="en-US" sz="440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6A5256D-AFCA-9BCD-5ED0-36763E843A40}"/>
              </a:ext>
            </a:extLst>
          </p:cNvPr>
          <p:cNvSpPr>
            <a:spLocks noGrp="1"/>
          </p:cNvSpPr>
          <p:nvPr>
            <p:ph type="sldNum" sz="quarter" idx="12"/>
          </p:nvPr>
        </p:nvSpPr>
        <p:spPr/>
        <p:txBody>
          <a:bodyPr/>
          <a:lstStyle/>
          <a:p>
            <a:fld id="{48402826-9071-4CC4-B1BE-ECEB2F5D1CC5}" type="slidenum">
              <a:rPr lang="en-US" altLang="en-US"/>
              <a:pPr/>
              <a:t>5</a:t>
            </a:fld>
            <a:endParaRPr lang="en-US" altLang="en-US"/>
          </a:p>
        </p:txBody>
      </p:sp>
      <p:sp>
        <p:nvSpPr>
          <p:cNvPr id="303106" name="Rectangle 2">
            <a:extLst>
              <a:ext uri="{FF2B5EF4-FFF2-40B4-BE49-F238E27FC236}">
                <a16:creationId xmlns:a16="http://schemas.microsoft.com/office/drawing/2014/main" id="{069E7401-230F-298A-0F79-7CFF591AECA2}"/>
              </a:ext>
            </a:extLst>
          </p:cNvPr>
          <p:cNvSpPr>
            <a:spLocks noGrp="1" noChangeArrowheads="1"/>
          </p:cNvSpPr>
          <p:nvPr>
            <p:ph type="title"/>
          </p:nvPr>
        </p:nvSpPr>
        <p:spPr/>
        <p:txBody>
          <a:bodyPr/>
          <a:lstStyle/>
          <a:p>
            <a:pPr algn="ctr"/>
            <a:r>
              <a:rPr lang="en-US" altLang="en-US"/>
              <a:t>Example </a:t>
            </a:r>
          </a:p>
        </p:txBody>
      </p:sp>
      <p:sp>
        <p:nvSpPr>
          <p:cNvPr id="303107" name="Rectangle 3">
            <a:extLst>
              <a:ext uri="{FF2B5EF4-FFF2-40B4-BE49-F238E27FC236}">
                <a16:creationId xmlns:a16="http://schemas.microsoft.com/office/drawing/2014/main" id="{2D58B578-7CED-3658-EBBA-F9047224CE88}"/>
              </a:ext>
            </a:extLst>
          </p:cNvPr>
          <p:cNvSpPr>
            <a:spLocks noGrp="1" noChangeArrowheads="1"/>
          </p:cNvSpPr>
          <p:nvPr>
            <p:ph type="body" idx="1"/>
          </p:nvPr>
        </p:nvSpPr>
        <p:spPr/>
        <p:txBody>
          <a:bodyPr/>
          <a:lstStyle/>
          <a:p>
            <a:r>
              <a:rPr lang="el-GR" altLang="en-US"/>
              <a:t>Σ</a:t>
            </a:r>
            <a:r>
              <a:rPr lang="en-US" altLang="en-US"/>
              <a:t> = {a,b}</a:t>
            </a:r>
          </a:p>
          <a:p>
            <a:pPr>
              <a:buFont typeface="Monotype Sorts" pitchFamily="2" charset="2"/>
              <a:buNone/>
            </a:pPr>
            <a:r>
              <a:rPr lang="en-US" altLang="en-US"/>
              <a:t>	</a:t>
            </a:r>
            <a:r>
              <a:rPr lang="en-US" altLang="en-US" b="1"/>
              <a:t>States:</a:t>
            </a:r>
            <a:r>
              <a:rPr lang="en-US" altLang="en-US"/>
              <a:t> x, y,  where x is both initial and final state.</a:t>
            </a:r>
          </a:p>
          <a:p>
            <a:pPr>
              <a:buFont typeface="Monotype Sorts" pitchFamily="2" charset="2"/>
              <a:buNone/>
            </a:pPr>
            <a:r>
              <a:rPr lang="en-US" altLang="en-US"/>
              <a:t>	</a:t>
            </a:r>
            <a:r>
              <a:rPr lang="en-US" altLang="en-US" b="1"/>
              <a:t>Transitions</a:t>
            </a:r>
            <a:r>
              <a:rPr lang="en-US" altLang="en-US"/>
              <a:t>:</a:t>
            </a:r>
          </a:p>
          <a:p>
            <a:pPr lvl="1">
              <a:buFont typeface="Monotype Sorts" pitchFamily="2" charset="2"/>
              <a:buAutoNum type="arabicPeriod"/>
            </a:pPr>
            <a:r>
              <a:rPr lang="en-US" altLang="en-US" sz="2800"/>
              <a:t>At state x reading a or b go to state y.</a:t>
            </a:r>
          </a:p>
          <a:p>
            <a:pPr lvl="1">
              <a:buFont typeface="Monotype Sorts" pitchFamily="2" charset="2"/>
              <a:buAutoNum type="arabicPeriod"/>
            </a:pPr>
            <a:r>
              <a:rPr lang="en-US" altLang="en-US" sz="2800"/>
              <a:t>At state y reading a or b  go to state x.</a:t>
            </a:r>
          </a:p>
          <a:p>
            <a:pPr lvl="1">
              <a:buFont typeface="Monotype Sorts" pitchFamily="2" charset="2"/>
              <a:buNone/>
            </a:pP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BCA41A0-1C2D-8993-6D20-C77F2F8C6D2C}"/>
              </a:ext>
            </a:extLst>
          </p:cNvPr>
          <p:cNvSpPr>
            <a:spLocks noGrp="1"/>
          </p:cNvSpPr>
          <p:nvPr>
            <p:ph type="sldNum" sz="quarter" idx="12"/>
          </p:nvPr>
        </p:nvSpPr>
        <p:spPr/>
        <p:txBody>
          <a:bodyPr/>
          <a:lstStyle/>
          <a:p>
            <a:fld id="{D08F90B1-BD86-46CB-8464-DA95F0897F35}" type="slidenum">
              <a:rPr lang="en-US" altLang="en-US"/>
              <a:pPr/>
              <a:t>6</a:t>
            </a:fld>
            <a:endParaRPr lang="en-US" altLang="en-US"/>
          </a:p>
        </p:txBody>
      </p:sp>
      <p:sp>
        <p:nvSpPr>
          <p:cNvPr id="305220" name="Rectangle 68">
            <a:extLst>
              <a:ext uri="{FF2B5EF4-FFF2-40B4-BE49-F238E27FC236}">
                <a16:creationId xmlns:a16="http://schemas.microsoft.com/office/drawing/2014/main" id="{AD68A628-304A-CB22-DA84-78662B8BF6B9}"/>
              </a:ext>
            </a:extLst>
          </p:cNvPr>
          <p:cNvSpPr>
            <a:spLocks noGrp="1" noChangeArrowheads="1"/>
          </p:cNvSpPr>
          <p:nvPr>
            <p:ph type="title"/>
          </p:nvPr>
        </p:nvSpPr>
        <p:spPr/>
        <p:txBody>
          <a:bodyPr/>
          <a:lstStyle/>
          <a:p>
            <a:pPr algn="ctr"/>
            <a:r>
              <a:rPr lang="en-US" altLang="en-US"/>
              <a:t>Example Continued …</a:t>
            </a:r>
          </a:p>
        </p:txBody>
      </p:sp>
      <p:sp>
        <p:nvSpPr>
          <p:cNvPr id="305155" name="Rectangle 3">
            <a:extLst>
              <a:ext uri="{FF2B5EF4-FFF2-40B4-BE49-F238E27FC236}">
                <a16:creationId xmlns:a16="http://schemas.microsoft.com/office/drawing/2014/main" id="{E989B82C-AED9-2D87-3B9A-6C35458DF2F8}"/>
              </a:ext>
            </a:extLst>
          </p:cNvPr>
          <p:cNvSpPr>
            <a:spLocks noGrp="1" noChangeArrowheads="1"/>
          </p:cNvSpPr>
          <p:nvPr>
            <p:ph type="body" sz="half" idx="1"/>
          </p:nvPr>
        </p:nvSpPr>
        <p:spPr>
          <a:xfrm>
            <a:off x="1981200" y="1885950"/>
            <a:ext cx="8153400" cy="4171950"/>
          </a:xfrm>
        </p:spPr>
        <p:txBody>
          <a:bodyPr/>
          <a:lstStyle/>
          <a:p>
            <a:r>
              <a:rPr lang="en-US" altLang="en-US"/>
              <a:t>These transitions can be expressed by the following transition table</a:t>
            </a:r>
          </a:p>
        </p:txBody>
      </p:sp>
      <p:graphicFrame>
        <p:nvGraphicFramePr>
          <p:cNvPr id="305239" name="Group 87">
            <a:extLst>
              <a:ext uri="{FF2B5EF4-FFF2-40B4-BE49-F238E27FC236}">
                <a16:creationId xmlns:a16="http://schemas.microsoft.com/office/drawing/2014/main" id="{BF14CD95-D98A-60FF-29D0-73C4CB64FCBE}"/>
              </a:ext>
            </a:extLst>
          </p:cNvPr>
          <p:cNvGraphicFramePr>
            <a:graphicFrameLocks noGrp="1"/>
          </p:cNvGraphicFramePr>
          <p:nvPr>
            <p:ph sz="half" idx="2"/>
          </p:nvPr>
        </p:nvGraphicFramePr>
        <p:xfrm>
          <a:off x="2514600" y="3048000"/>
          <a:ext cx="7467600" cy="3033078"/>
        </p:xfrm>
        <a:graphic>
          <a:graphicData uri="http://schemas.openxmlformats.org/drawingml/2006/table">
            <a:tbl>
              <a:tblPr/>
              <a:tblGrid>
                <a:gridCol w="2489200">
                  <a:extLst>
                    <a:ext uri="{9D8B030D-6E8A-4147-A177-3AD203B41FA5}">
                      <a16:colId xmlns:a16="http://schemas.microsoft.com/office/drawing/2014/main" val="2668482417"/>
                    </a:ext>
                  </a:extLst>
                </a:gridCol>
                <a:gridCol w="2489200">
                  <a:extLst>
                    <a:ext uri="{9D8B030D-6E8A-4147-A177-3AD203B41FA5}">
                      <a16:colId xmlns:a16="http://schemas.microsoft.com/office/drawing/2014/main" val="3559880275"/>
                    </a:ext>
                  </a:extLst>
                </a:gridCol>
                <a:gridCol w="2489200">
                  <a:extLst>
                    <a:ext uri="{9D8B030D-6E8A-4147-A177-3AD203B41FA5}">
                      <a16:colId xmlns:a16="http://schemas.microsoft.com/office/drawing/2014/main" val="207889784"/>
                    </a:ext>
                  </a:extLst>
                </a:gridCol>
              </a:tblGrid>
              <a:tr h="457200">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Old States</a:t>
                      </a: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New States</a:t>
                      </a: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2894810520"/>
                  </a:ext>
                </a:extLst>
              </a:tr>
              <a:tr h="509588">
                <a:tc>
                  <a:txBody>
                    <a:bodyPr/>
                    <a:lstStyle>
                      <a:lvl1pPr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algn="l">
                        <a:spcBef>
                          <a:spcPct val="20000"/>
                        </a:spcBef>
                        <a:buClr>
                          <a:schemeClr val="accent2"/>
                        </a:buClr>
                        <a:defRPr kumimoji="1" sz="1600">
                          <a:solidFill>
                            <a:schemeClr val="tx1"/>
                          </a:solidFill>
                          <a:latin typeface="Tahoma" panose="020B0604030504040204" pitchFamily="34" charset="0"/>
                        </a:defRPr>
                      </a:lvl4pPr>
                      <a:lvl5pPr algn="l">
                        <a:spcBef>
                          <a:spcPct val="20000"/>
                        </a:spcBef>
                        <a:buClr>
                          <a:schemeClr val="accent2"/>
                        </a:buClr>
                        <a:defRPr kumimoji="1" sz="1600">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tabLst/>
                      </a:pPr>
                      <a:endParaRPr kumimoji="1"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Reading</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Reading </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64991457"/>
                  </a:ext>
                </a:extLst>
              </a:tr>
              <a:tr h="784225">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 </a:t>
                      </a:r>
                      <a:r>
                        <a:rPr kumimoji="0" lang="en-US" altLang="en-US" sz="2800" b="0" i="0" u="none" strike="noStrike" cap="none" normalizeH="0" baseline="0">
                          <a:ln>
                            <a:noFill/>
                          </a:ln>
                          <a:solidFill>
                            <a:srgbClr val="000000"/>
                          </a:solidFill>
                          <a:effectLst/>
                          <a:latin typeface="Times New Roman" panose="02020603050405020304" pitchFamily="18" charset="0"/>
                        </a:rPr>
                        <a:t>±</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y</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91629187"/>
                  </a:ext>
                </a:extLst>
              </a:tr>
              <a:tr h="785813">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y</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a:t>
                      </a: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lvl1pPr marL="342900" indent="-342900" algn="l">
                        <a:spcBef>
                          <a:spcPct val="20000"/>
                        </a:spcBef>
                        <a:buClr>
                          <a:schemeClr val="accent2"/>
                        </a:buClr>
                        <a:buFont typeface="Monotype Sorts" pitchFamily="2" charset="2"/>
                        <a:defRPr kumimoji="1" sz="2400">
                          <a:solidFill>
                            <a:schemeClr val="tx1"/>
                          </a:solidFill>
                          <a:latin typeface="Tahoma" panose="020B0604030504040204" pitchFamily="34" charset="0"/>
                        </a:defRPr>
                      </a:lvl1pPr>
                      <a:lvl2pPr marL="742950" indent="-285750" algn="l">
                        <a:spcBef>
                          <a:spcPct val="20000"/>
                        </a:spcBef>
                        <a:buClr>
                          <a:schemeClr val="accent2"/>
                        </a:buClr>
                        <a:buFont typeface="Monotype Sorts" pitchFamily="2" charset="2"/>
                        <a:defRPr kumimoji="1" sz="2000">
                          <a:solidFill>
                            <a:schemeClr val="tx1"/>
                          </a:solidFill>
                          <a:latin typeface="Tahoma" panose="020B0604030504040204" pitchFamily="34" charset="0"/>
                        </a:defRPr>
                      </a:lvl2pPr>
                      <a:lvl3pPr marL="1143000" indent="-228600" algn="l">
                        <a:spcBef>
                          <a:spcPct val="20000"/>
                        </a:spcBef>
                        <a:buClr>
                          <a:schemeClr val="accent2"/>
                        </a:buClr>
                        <a:buFont typeface="Monotype Sorts" pitchFamily="2" charset="2"/>
                        <a:defRPr kumimoji="1">
                          <a:solidFill>
                            <a:schemeClr val="tx1"/>
                          </a:solidFill>
                          <a:latin typeface="Tahoma" panose="020B0604030504040204" pitchFamily="34" charset="0"/>
                        </a:defRPr>
                      </a:lvl3pPr>
                      <a:lvl4pPr marL="1600200" indent="-228600" algn="l">
                        <a:spcBef>
                          <a:spcPct val="20000"/>
                        </a:spcBef>
                        <a:buClr>
                          <a:schemeClr val="accent2"/>
                        </a:buClr>
                        <a:defRPr kumimoji="1" sz="1600">
                          <a:solidFill>
                            <a:schemeClr val="tx1"/>
                          </a:solidFill>
                          <a:latin typeface="Tahoma" panose="020B0604030504040204" pitchFamily="34" charset="0"/>
                        </a:defRPr>
                      </a:lvl4pPr>
                      <a:lvl5pPr marL="2057400" indent="-228600" algn="l">
                        <a:spcBef>
                          <a:spcPct val="20000"/>
                        </a:spcBef>
                        <a:buClr>
                          <a:schemeClr val="accent2"/>
                        </a:buClr>
                        <a:defRPr kumimoji="1"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defRPr kumimoji="1" sz="1600">
                          <a:solidFill>
                            <a:schemeClr val="tx1"/>
                          </a:solidFill>
                          <a:latin typeface="Tahom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a:t>
                      </a: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5022513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E2B326D-984F-FC65-839D-123D138B9ED4}"/>
              </a:ext>
            </a:extLst>
          </p:cNvPr>
          <p:cNvSpPr>
            <a:spLocks noGrp="1"/>
          </p:cNvSpPr>
          <p:nvPr>
            <p:ph type="sldNum" sz="quarter" idx="12"/>
          </p:nvPr>
        </p:nvSpPr>
        <p:spPr/>
        <p:txBody>
          <a:bodyPr/>
          <a:lstStyle/>
          <a:p>
            <a:fld id="{40F9378E-7131-4CF5-B837-D5D6E41D739E}" type="slidenum">
              <a:rPr lang="en-US" altLang="en-US"/>
              <a:pPr/>
              <a:t>7</a:t>
            </a:fld>
            <a:endParaRPr lang="en-US" altLang="en-US"/>
          </a:p>
        </p:txBody>
      </p:sp>
      <p:sp>
        <p:nvSpPr>
          <p:cNvPr id="304130" name="Rectangle 2">
            <a:extLst>
              <a:ext uri="{FF2B5EF4-FFF2-40B4-BE49-F238E27FC236}">
                <a16:creationId xmlns:a16="http://schemas.microsoft.com/office/drawing/2014/main" id="{83C758B2-EE3F-0387-981A-37FB092F35C7}"/>
              </a:ext>
            </a:extLst>
          </p:cNvPr>
          <p:cNvSpPr>
            <a:spLocks noGrp="1" noChangeArrowheads="1"/>
          </p:cNvSpPr>
          <p:nvPr>
            <p:ph type="title"/>
          </p:nvPr>
        </p:nvSpPr>
        <p:spPr/>
        <p:txBody>
          <a:bodyPr/>
          <a:lstStyle/>
          <a:p>
            <a:pPr algn="ctr"/>
            <a:r>
              <a:rPr lang="en-US" altLang="en-US"/>
              <a:t>Example Continued …</a:t>
            </a:r>
          </a:p>
        </p:txBody>
      </p:sp>
      <p:sp>
        <p:nvSpPr>
          <p:cNvPr id="304131" name="Rectangle 3">
            <a:extLst>
              <a:ext uri="{FF2B5EF4-FFF2-40B4-BE49-F238E27FC236}">
                <a16:creationId xmlns:a16="http://schemas.microsoft.com/office/drawing/2014/main" id="{762DDC23-BE89-EF18-79CD-C5075C98468B}"/>
              </a:ext>
            </a:extLst>
          </p:cNvPr>
          <p:cNvSpPr>
            <a:spLocks noGrp="1" noChangeArrowheads="1"/>
          </p:cNvSpPr>
          <p:nvPr>
            <p:ph type="body" idx="1"/>
          </p:nvPr>
        </p:nvSpPr>
        <p:spPr/>
        <p:txBody>
          <a:bodyPr/>
          <a:lstStyle/>
          <a:p>
            <a:r>
              <a:rPr lang="en-US" altLang="en-US"/>
              <a:t>It may be noted that the previous transition table may be depicted by the following transition diagram. </a:t>
            </a:r>
          </a:p>
        </p:txBody>
      </p:sp>
      <p:grpSp>
        <p:nvGrpSpPr>
          <p:cNvPr id="304153" name="Group 25">
            <a:extLst>
              <a:ext uri="{FF2B5EF4-FFF2-40B4-BE49-F238E27FC236}">
                <a16:creationId xmlns:a16="http://schemas.microsoft.com/office/drawing/2014/main" id="{3CB2DCCF-83F1-43CC-ADD0-9B3F1F1FB56C}"/>
              </a:ext>
            </a:extLst>
          </p:cNvPr>
          <p:cNvGrpSpPr>
            <a:grpSpLocks/>
          </p:cNvGrpSpPr>
          <p:nvPr/>
        </p:nvGrpSpPr>
        <p:grpSpPr bwMode="auto">
          <a:xfrm>
            <a:off x="2990850" y="3676651"/>
            <a:ext cx="4857750" cy="2111375"/>
            <a:chOff x="924" y="2316"/>
            <a:chExt cx="3060" cy="1330"/>
          </a:xfrm>
        </p:grpSpPr>
        <p:grpSp>
          <p:nvGrpSpPr>
            <p:cNvPr id="304150" name="Group 22">
              <a:extLst>
                <a:ext uri="{FF2B5EF4-FFF2-40B4-BE49-F238E27FC236}">
                  <a16:creationId xmlns:a16="http://schemas.microsoft.com/office/drawing/2014/main" id="{66AB2D8E-297A-3138-037E-D6235939519C}"/>
                </a:ext>
              </a:extLst>
            </p:cNvPr>
            <p:cNvGrpSpPr>
              <a:grpSpLocks/>
            </p:cNvGrpSpPr>
            <p:nvPr/>
          </p:nvGrpSpPr>
          <p:grpSpPr bwMode="auto">
            <a:xfrm>
              <a:off x="3418" y="2661"/>
              <a:ext cx="566" cy="452"/>
              <a:chOff x="3178" y="2565"/>
              <a:chExt cx="566" cy="452"/>
            </a:xfrm>
          </p:grpSpPr>
          <p:sp>
            <p:nvSpPr>
              <p:cNvPr id="304133" name="Oval 5">
                <a:extLst>
                  <a:ext uri="{FF2B5EF4-FFF2-40B4-BE49-F238E27FC236}">
                    <a16:creationId xmlns:a16="http://schemas.microsoft.com/office/drawing/2014/main" id="{63C331DC-01F1-06FE-8D94-D4DE9F39D0EB}"/>
                  </a:ext>
                </a:extLst>
              </p:cNvPr>
              <p:cNvSpPr>
                <a:spLocks noChangeArrowheads="1"/>
              </p:cNvSpPr>
              <p:nvPr/>
            </p:nvSpPr>
            <p:spPr bwMode="auto">
              <a:xfrm>
                <a:off x="3214" y="2643"/>
                <a:ext cx="374" cy="374"/>
              </a:xfrm>
              <a:prstGeom prst="ellipse">
                <a:avLst/>
              </a:prstGeom>
              <a:solidFill>
                <a:srgbClr val="FFFFFF"/>
              </a:solidFill>
              <a:ln w="9525">
                <a:solidFill>
                  <a:srgbClr val="000000"/>
                </a:solidFill>
                <a:round/>
                <a:headEnd/>
                <a:tailEnd/>
              </a:ln>
            </p:spPr>
            <p:txBody>
              <a:bodyPr/>
              <a:lstStyle/>
              <a:p>
                <a:endParaRPr lang="en-US"/>
              </a:p>
            </p:txBody>
          </p:sp>
          <p:sp>
            <p:nvSpPr>
              <p:cNvPr id="304137" name="Text Box 9">
                <a:extLst>
                  <a:ext uri="{FF2B5EF4-FFF2-40B4-BE49-F238E27FC236}">
                    <a16:creationId xmlns:a16="http://schemas.microsoft.com/office/drawing/2014/main" id="{188D3C63-96B6-601B-F00F-F6BCE81D5CA0}"/>
                  </a:ext>
                </a:extLst>
              </p:cNvPr>
              <p:cNvSpPr txBox="1">
                <a:spLocks noChangeArrowheads="1"/>
              </p:cNvSpPr>
              <p:nvPr/>
            </p:nvSpPr>
            <p:spPr bwMode="auto">
              <a:xfrm>
                <a:off x="3178" y="2565"/>
                <a:ext cx="566"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100">
                    <a:solidFill>
                      <a:srgbClr val="000000"/>
                    </a:solidFill>
                  </a:rPr>
                  <a:t>      </a:t>
                </a:r>
                <a:r>
                  <a:rPr lang="en-US" altLang="en-US" sz="2100">
                    <a:solidFill>
                      <a:srgbClr val="000000"/>
                    </a:solidFill>
                  </a:rPr>
                  <a:t>y</a:t>
                </a:r>
                <a:endParaRPr lang="en-US" altLang="en-US" sz="4400"/>
              </a:p>
            </p:txBody>
          </p:sp>
        </p:grpSp>
        <p:sp>
          <p:nvSpPr>
            <p:cNvPr id="304135" name="Text Box 7">
              <a:extLst>
                <a:ext uri="{FF2B5EF4-FFF2-40B4-BE49-F238E27FC236}">
                  <a16:creationId xmlns:a16="http://schemas.microsoft.com/office/drawing/2014/main" id="{53DF47E4-E35E-F42C-B716-79D9B171D2CB}"/>
                </a:ext>
              </a:extLst>
            </p:cNvPr>
            <p:cNvSpPr txBox="1">
              <a:spLocks noChangeArrowheads="1"/>
            </p:cNvSpPr>
            <p:nvPr/>
          </p:nvSpPr>
          <p:spPr bwMode="auto">
            <a:xfrm>
              <a:off x="2286" y="3252"/>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 b</a:t>
              </a:r>
              <a:endParaRPr lang="en-US" altLang="en-US" sz="4400"/>
            </a:p>
          </p:txBody>
        </p:sp>
        <p:grpSp>
          <p:nvGrpSpPr>
            <p:cNvPr id="304149" name="Group 21">
              <a:extLst>
                <a:ext uri="{FF2B5EF4-FFF2-40B4-BE49-F238E27FC236}">
                  <a16:creationId xmlns:a16="http://schemas.microsoft.com/office/drawing/2014/main" id="{A38D80C8-E541-75B2-78DA-7E25394E3833}"/>
                </a:ext>
              </a:extLst>
            </p:cNvPr>
            <p:cNvGrpSpPr>
              <a:grpSpLocks/>
            </p:cNvGrpSpPr>
            <p:nvPr/>
          </p:nvGrpSpPr>
          <p:grpSpPr bwMode="auto">
            <a:xfrm>
              <a:off x="924" y="2664"/>
              <a:ext cx="566" cy="455"/>
              <a:chOff x="792" y="2598"/>
              <a:chExt cx="566" cy="455"/>
            </a:xfrm>
          </p:grpSpPr>
          <p:sp>
            <p:nvSpPr>
              <p:cNvPr id="304134" name="Oval 6">
                <a:extLst>
                  <a:ext uri="{FF2B5EF4-FFF2-40B4-BE49-F238E27FC236}">
                    <a16:creationId xmlns:a16="http://schemas.microsoft.com/office/drawing/2014/main" id="{5F32FCEA-C0E9-9064-EECF-2725FEDFD619}"/>
                  </a:ext>
                </a:extLst>
              </p:cNvPr>
              <p:cNvSpPr>
                <a:spLocks noChangeArrowheads="1"/>
              </p:cNvSpPr>
              <p:nvPr/>
            </p:nvSpPr>
            <p:spPr bwMode="auto">
              <a:xfrm>
                <a:off x="876" y="2650"/>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04136" name="Text Box 8">
                <a:extLst>
                  <a:ext uri="{FF2B5EF4-FFF2-40B4-BE49-F238E27FC236}">
                    <a16:creationId xmlns:a16="http://schemas.microsoft.com/office/drawing/2014/main" id="{834F605B-F449-69FC-9EA0-06E1CF4D9D2A}"/>
                  </a:ext>
                </a:extLst>
              </p:cNvPr>
              <p:cNvSpPr txBox="1">
                <a:spLocks noChangeArrowheads="1"/>
              </p:cNvSpPr>
              <p:nvPr/>
            </p:nvSpPr>
            <p:spPr bwMode="auto">
              <a:xfrm>
                <a:off x="792" y="2598"/>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300">
                    <a:solidFill>
                      <a:srgbClr val="000000"/>
                    </a:solidFill>
                  </a:rPr>
                  <a:t>     </a:t>
                </a:r>
                <a:r>
                  <a:rPr lang="en-US" altLang="en-US" sz="2100">
                    <a:solidFill>
                      <a:srgbClr val="000000"/>
                    </a:solidFill>
                  </a:rPr>
                  <a:t>x </a:t>
                </a:r>
                <a:r>
                  <a:rPr kumimoji="1" lang="en-US" altLang="en-US" sz="2000" b="1">
                    <a:latin typeface="Tahoma" panose="020B0604030504040204" pitchFamily="34" charset="0"/>
                    <a:sym typeface="Symbol" panose="05050102010706020507" pitchFamily="18" charset="2"/>
                  </a:rPr>
                  <a:t></a:t>
                </a:r>
                <a:r>
                  <a:rPr lang="en-US" altLang="en-US" sz="2100">
                    <a:solidFill>
                      <a:srgbClr val="000000"/>
                    </a:solidFill>
                  </a:rPr>
                  <a:t> </a:t>
                </a:r>
                <a:r>
                  <a:rPr lang="en-US" altLang="en-US" sz="1100">
                    <a:solidFill>
                      <a:srgbClr val="000000"/>
                    </a:solidFill>
                  </a:rPr>
                  <a:t>	</a:t>
                </a:r>
              </a:p>
            </p:txBody>
          </p:sp>
        </p:grpSp>
        <p:sp>
          <p:nvSpPr>
            <p:cNvPr id="304138" name="Freeform 10">
              <a:extLst>
                <a:ext uri="{FF2B5EF4-FFF2-40B4-BE49-F238E27FC236}">
                  <a16:creationId xmlns:a16="http://schemas.microsoft.com/office/drawing/2014/main" id="{10E010C5-46E7-0DA4-CE3D-6FA2CEB7707B}"/>
                </a:ext>
              </a:extLst>
            </p:cNvPr>
            <p:cNvSpPr>
              <a:spLocks/>
            </p:cNvSpPr>
            <p:nvPr/>
          </p:nvSpPr>
          <p:spPr bwMode="auto">
            <a:xfrm>
              <a:off x="1350" y="2436"/>
              <a:ext cx="2176" cy="336"/>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4140" name="Text Box 12">
              <a:extLst>
                <a:ext uri="{FF2B5EF4-FFF2-40B4-BE49-F238E27FC236}">
                  <a16:creationId xmlns:a16="http://schemas.microsoft.com/office/drawing/2014/main" id="{E667DA96-9766-C63C-7FA6-C82EF8AE9DC8}"/>
                </a:ext>
              </a:extLst>
            </p:cNvPr>
            <p:cNvSpPr txBox="1">
              <a:spLocks noChangeArrowheads="1"/>
            </p:cNvSpPr>
            <p:nvPr/>
          </p:nvSpPr>
          <p:spPr bwMode="auto">
            <a:xfrm>
              <a:off x="2178" y="2316"/>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 b</a:t>
              </a:r>
              <a:endParaRPr lang="en-US" altLang="en-US" sz="4400"/>
            </a:p>
          </p:txBody>
        </p:sp>
        <p:sp>
          <p:nvSpPr>
            <p:cNvPr id="304148" name="Freeform 20">
              <a:extLst>
                <a:ext uri="{FF2B5EF4-FFF2-40B4-BE49-F238E27FC236}">
                  <a16:creationId xmlns:a16="http://schemas.microsoft.com/office/drawing/2014/main" id="{A92723FD-4388-A4F4-1B20-4F385EDE610B}"/>
                </a:ext>
              </a:extLst>
            </p:cNvPr>
            <p:cNvSpPr>
              <a:spLocks/>
            </p:cNvSpPr>
            <p:nvPr/>
          </p:nvSpPr>
          <p:spPr bwMode="auto">
            <a:xfrm flipH="1" flipV="1">
              <a:off x="1344" y="3078"/>
              <a:ext cx="2176" cy="336"/>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313311B-BDE9-AB6D-7562-AFFD2DB3420F}"/>
              </a:ext>
            </a:extLst>
          </p:cNvPr>
          <p:cNvSpPr>
            <a:spLocks noGrp="1"/>
          </p:cNvSpPr>
          <p:nvPr>
            <p:ph type="sldNum" sz="quarter" idx="12"/>
          </p:nvPr>
        </p:nvSpPr>
        <p:spPr/>
        <p:txBody>
          <a:bodyPr/>
          <a:lstStyle/>
          <a:p>
            <a:fld id="{276E4647-0569-4D47-BABE-60D5AAB428EB}" type="slidenum">
              <a:rPr lang="en-US" altLang="en-US"/>
              <a:pPr/>
              <a:t>8</a:t>
            </a:fld>
            <a:endParaRPr lang="en-US" altLang="en-US"/>
          </a:p>
        </p:txBody>
      </p:sp>
      <p:sp>
        <p:nvSpPr>
          <p:cNvPr id="308226" name="Rectangle 2">
            <a:extLst>
              <a:ext uri="{FF2B5EF4-FFF2-40B4-BE49-F238E27FC236}">
                <a16:creationId xmlns:a16="http://schemas.microsoft.com/office/drawing/2014/main" id="{934AAC6D-FC30-A52C-EA4A-DEA76F2A1462}"/>
              </a:ext>
            </a:extLst>
          </p:cNvPr>
          <p:cNvSpPr>
            <a:spLocks noGrp="1" noChangeArrowheads="1"/>
          </p:cNvSpPr>
          <p:nvPr>
            <p:ph type="title"/>
          </p:nvPr>
        </p:nvSpPr>
        <p:spPr/>
        <p:txBody>
          <a:bodyPr/>
          <a:lstStyle/>
          <a:p>
            <a:pPr algn="ctr"/>
            <a:r>
              <a:rPr lang="en-US" altLang="en-US"/>
              <a:t>Example Continued …</a:t>
            </a:r>
          </a:p>
        </p:txBody>
      </p:sp>
      <p:sp>
        <p:nvSpPr>
          <p:cNvPr id="308227" name="Rectangle 3">
            <a:extLst>
              <a:ext uri="{FF2B5EF4-FFF2-40B4-BE49-F238E27FC236}">
                <a16:creationId xmlns:a16="http://schemas.microsoft.com/office/drawing/2014/main" id="{949BE08A-4CD3-E811-25D0-E6054291F47B}"/>
              </a:ext>
            </a:extLst>
          </p:cNvPr>
          <p:cNvSpPr>
            <a:spLocks noGrp="1" noChangeArrowheads="1"/>
          </p:cNvSpPr>
          <p:nvPr>
            <p:ph type="body" idx="1"/>
          </p:nvPr>
        </p:nvSpPr>
        <p:spPr/>
        <p:txBody>
          <a:bodyPr/>
          <a:lstStyle/>
          <a:p>
            <a:r>
              <a:rPr lang="en-US" altLang="en-US"/>
              <a:t>The previous transition diagram is an FA accepting the language of strings, defined over </a:t>
            </a:r>
            <a:r>
              <a:rPr lang="el-GR" altLang="en-US" sz="3000"/>
              <a:t>Σ</a:t>
            </a:r>
            <a:r>
              <a:rPr lang="en-US" altLang="en-US" sz="3000"/>
              <a:t>={a, b} of</a:t>
            </a:r>
            <a:r>
              <a:rPr lang="en-US" altLang="en-US" sz="3000" b="1"/>
              <a:t> even length</a:t>
            </a:r>
            <a:r>
              <a:rPr lang="en-US" altLang="en-US"/>
              <a:t>. It may be noted that this language may be expressed by the regular expression</a:t>
            </a:r>
          </a:p>
          <a:p>
            <a:pPr>
              <a:buFont typeface="Monotype Sorts" pitchFamily="2" charset="2"/>
              <a:buNone/>
            </a:pPr>
            <a:endParaRPr lang="en-US" altLang="en-US"/>
          </a:p>
          <a:p>
            <a:pPr>
              <a:buFont typeface="Monotype Sorts" pitchFamily="2" charset="2"/>
              <a:buNone/>
            </a:pPr>
            <a:r>
              <a:rPr lang="en-US" altLang="en-US"/>
              <a:t>				 ((a+ b) (a + b))</a:t>
            </a:r>
            <a:r>
              <a:rPr lang="en-US" altLang="en-US" baseline="4000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2A60F79-A35B-E915-9E46-2EF1DD3F80F5}"/>
              </a:ext>
            </a:extLst>
          </p:cNvPr>
          <p:cNvSpPr>
            <a:spLocks noGrp="1"/>
          </p:cNvSpPr>
          <p:nvPr>
            <p:ph type="sldNum" sz="quarter" idx="12"/>
          </p:nvPr>
        </p:nvSpPr>
        <p:spPr/>
        <p:txBody>
          <a:bodyPr/>
          <a:lstStyle/>
          <a:p>
            <a:fld id="{E44A1BCD-649E-4CCC-B6C1-10C0CE40715D}" type="slidenum">
              <a:rPr lang="en-US" altLang="en-US"/>
              <a:pPr/>
              <a:t>9</a:t>
            </a:fld>
            <a:endParaRPr lang="en-US" altLang="en-US"/>
          </a:p>
        </p:txBody>
      </p:sp>
      <p:sp>
        <p:nvSpPr>
          <p:cNvPr id="419842" name="Rectangle 2">
            <a:extLst>
              <a:ext uri="{FF2B5EF4-FFF2-40B4-BE49-F238E27FC236}">
                <a16:creationId xmlns:a16="http://schemas.microsoft.com/office/drawing/2014/main" id="{80AD7E3A-BCCE-3D75-97BE-479B70712DE5}"/>
              </a:ext>
            </a:extLst>
          </p:cNvPr>
          <p:cNvSpPr>
            <a:spLocks noGrp="1" noChangeArrowheads="1"/>
          </p:cNvSpPr>
          <p:nvPr>
            <p:ph type="title"/>
          </p:nvPr>
        </p:nvSpPr>
        <p:spPr/>
        <p:txBody>
          <a:bodyPr/>
          <a:lstStyle/>
          <a:p>
            <a:pPr algn="ctr"/>
            <a:r>
              <a:rPr lang="en-US" altLang="en-US"/>
              <a:t>TASK </a:t>
            </a:r>
          </a:p>
        </p:txBody>
      </p:sp>
      <p:sp>
        <p:nvSpPr>
          <p:cNvPr id="419843" name="Rectangle 3">
            <a:extLst>
              <a:ext uri="{FF2B5EF4-FFF2-40B4-BE49-F238E27FC236}">
                <a16:creationId xmlns:a16="http://schemas.microsoft.com/office/drawing/2014/main" id="{7E703DE6-2983-FF9B-13A2-945E8408D5DA}"/>
              </a:ext>
            </a:extLst>
          </p:cNvPr>
          <p:cNvSpPr>
            <a:spLocks noGrp="1" noChangeArrowheads="1"/>
          </p:cNvSpPr>
          <p:nvPr>
            <p:ph type="body" idx="1"/>
          </p:nvPr>
        </p:nvSpPr>
        <p:spPr/>
        <p:txBody>
          <a:bodyPr/>
          <a:lstStyle/>
          <a:p>
            <a:pPr>
              <a:buFont typeface="Monotype Sorts" pitchFamily="2" charset="2"/>
              <a:buNone/>
            </a:pPr>
            <a:r>
              <a:rPr lang="en-US" altLang="en-US" sz="3200"/>
              <a:t>	Build an FA for the language L of strings, defined over </a:t>
            </a:r>
            <a:r>
              <a:rPr lang="el-GR" altLang="en-US" sz="3200"/>
              <a:t>Σ</a:t>
            </a:r>
            <a:r>
              <a:rPr lang="en-US" altLang="en-US" sz="3200"/>
              <a:t>={a, b}, </a:t>
            </a:r>
            <a:r>
              <a:rPr lang="en-US" altLang="en-US" sz="3200" b="1"/>
              <a:t>of </a:t>
            </a:r>
            <a:r>
              <a:rPr lang="en-US" altLang="en-US" b="1"/>
              <a:t>odd length. </a:t>
            </a:r>
          </a:p>
          <a:p>
            <a:pPr>
              <a:buFont typeface="Monotype Sorts" pitchFamily="2" charset="2"/>
              <a:buNone/>
            </a:pPr>
            <a:endParaRPr lang="en-US" altLang="en-US" b="1"/>
          </a:p>
          <a:p>
            <a:pPr>
              <a:buFont typeface="Monotype Sorts" pitchFamily="2" charset="2"/>
              <a:buNone/>
            </a:pPr>
            <a:endParaRPr lang="en-US" altLang="en-US" b="1"/>
          </a:p>
          <a:p>
            <a:pPr>
              <a:buFont typeface="Monotype Sorts" pitchFamily="2" charset="2"/>
              <a:buNone/>
            </a:pPr>
            <a:endParaRPr lang="el-GR" alt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98B9B0F-E5B3-C359-BC10-6D5C1E2ECEF0}"/>
              </a:ext>
            </a:extLst>
          </p:cNvPr>
          <p:cNvSpPr>
            <a:spLocks noGrp="1"/>
          </p:cNvSpPr>
          <p:nvPr>
            <p:ph type="sldNum" sz="quarter" idx="12"/>
          </p:nvPr>
        </p:nvSpPr>
        <p:spPr/>
        <p:txBody>
          <a:bodyPr/>
          <a:lstStyle/>
          <a:p>
            <a:fld id="{AB8241DD-01BC-4ECA-B54E-565401D9D84C}" type="slidenum">
              <a:rPr lang="en-US" altLang="en-US"/>
              <a:pPr/>
              <a:t>10</a:t>
            </a:fld>
            <a:endParaRPr lang="en-US" altLang="en-US"/>
          </a:p>
        </p:txBody>
      </p:sp>
      <p:sp>
        <p:nvSpPr>
          <p:cNvPr id="420866" name="Rectangle 2">
            <a:extLst>
              <a:ext uri="{FF2B5EF4-FFF2-40B4-BE49-F238E27FC236}">
                <a16:creationId xmlns:a16="http://schemas.microsoft.com/office/drawing/2014/main" id="{DA4C04C5-B06C-3AE6-83CC-F16F05517EFF}"/>
              </a:ext>
            </a:extLst>
          </p:cNvPr>
          <p:cNvSpPr>
            <a:spLocks noGrp="1" noChangeArrowheads="1"/>
          </p:cNvSpPr>
          <p:nvPr>
            <p:ph type="title"/>
          </p:nvPr>
        </p:nvSpPr>
        <p:spPr/>
        <p:txBody>
          <a:bodyPr/>
          <a:lstStyle/>
          <a:p>
            <a:pPr algn="ctr"/>
            <a:r>
              <a:rPr lang="en-US" altLang="en-US"/>
              <a:t>Solution of Task</a:t>
            </a:r>
          </a:p>
        </p:txBody>
      </p:sp>
      <p:sp>
        <p:nvSpPr>
          <p:cNvPr id="420867" name="Rectangle 3">
            <a:extLst>
              <a:ext uri="{FF2B5EF4-FFF2-40B4-BE49-F238E27FC236}">
                <a16:creationId xmlns:a16="http://schemas.microsoft.com/office/drawing/2014/main" id="{B19A94D2-2A03-B667-2477-B3409BEEEAFA}"/>
              </a:ext>
            </a:extLst>
          </p:cNvPr>
          <p:cNvSpPr>
            <a:spLocks noGrp="1" noChangeArrowheads="1"/>
          </p:cNvSpPr>
          <p:nvPr>
            <p:ph type="body" idx="1"/>
          </p:nvPr>
        </p:nvSpPr>
        <p:spPr/>
        <p:txBody>
          <a:bodyPr/>
          <a:lstStyle/>
          <a:p>
            <a:pPr>
              <a:buFont typeface="Monotype Sorts" pitchFamily="2" charset="2"/>
              <a:buNone/>
            </a:pPr>
            <a:endParaRPr lang="en-US" altLang="en-US"/>
          </a:p>
        </p:txBody>
      </p:sp>
      <p:grpSp>
        <p:nvGrpSpPr>
          <p:cNvPr id="420868" name="Group 4">
            <a:extLst>
              <a:ext uri="{FF2B5EF4-FFF2-40B4-BE49-F238E27FC236}">
                <a16:creationId xmlns:a16="http://schemas.microsoft.com/office/drawing/2014/main" id="{4B00AD3D-37EB-8C53-E1C0-CEDF8DD9F76C}"/>
              </a:ext>
            </a:extLst>
          </p:cNvPr>
          <p:cNvGrpSpPr>
            <a:grpSpLocks/>
          </p:cNvGrpSpPr>
          <p:nvPr/>
        </p:nvGrpSpPr>
        <p:grpSpPr bwMode="auto">
          <a:xfrm>
            <a:off x="3101976" y="2819400"/>
            <a:ext cx="4708525" cy="1962150"/>
            <a:chOff x="994" y="2052"/>
            <a:chExt cx="2966" cy="1236"/>
          </a:xfrm>
        </p:grpSpPr>
        <p:sp>
          <p:nvSpPr>
            <p:cNvPr id="420869" name="Oval 5">
              <a:extLst>
                <a:ext uri="{FF2B5EF4-FFF2-40B4-BE49-F238E27FC236}">
                  <a16:creationId xmlns:a16="http://schemas.microsoft.com/office/drawing/2014/main" id="{780414F5-C29A-D098-3168-EAE6FC0676E4}"/>
                </a:ext>
              </a:extLst>
            </p:cNvPr>
            <p:cNvSpPr>
              <a:spLocks noChangeArrowheads="1"/>
            </p:cNvSpPr>
            <p:nvPr/>
          </p:nvSpPr>
          <p:spPr bwMode="auto">
            <a:xfrm>
              <a:off x="3454" y="2487"/>
              <a:ext cx="374" cy="374"/>
            </a:xfrm>
            <a:prstGeom prst="ellipse">
              <a:avLst/>
            </a:prstGeom>
            <a:solidFill>
              <a:srgbClr val="FFFFFF"/>
            </a:solidFill>
            <a:ln w="9525">
              <a:solidFill>
                <a:srgbClr val="000000"/>
              </a:solidFill>
              <a:round/>
              <a:headEnd/>
              <a:tailEnd/>
            </a:ln>
          </p:spPr>
          <p:txBody>
            <a:bodyPr/>
            <a:lstStyle/>
            <a:p>
              <a:endParaRPr lang="en-US"/>
            </a:p>
          </p:txBody>
        </p:sp>
        <p:sp>
          <p:nvSpPr>
            <p:cNvPr id="420870" name="Text Box 6">
              <a:extLst>
                <a:ext uri="{FF2B5EF4-FFF2-40B4-BE49-F238E27FC236}">
                  <a16:creationId xmlns:a16="http://schemas.microsoft.com/office/drawing/2014/main" id="{AB3CB4B6-3EF4-4898-6EDB-24C25B619899}"/>
                </a:ext>
              </a:extLst>
            </p:cNvPr>
            <p:cNvSpPr txBox="1">
              <a:spLocks noChangeArrowheads="1"/>
            </p:cNvSpPr>
            <p:nvPr/>
          </p:nvSpPr>
          <p:spPr bwMode="auto">
            <a:xfrm>
              <a:off x="3394" y="2433"/>
              <a:ext cx="566"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100">
                  <a:solidFill>
                    <a:srgbClr val="000000"/>
                  </a:solidFill>
                </a:rPr>
                <a:t>      </a:t>
              </a:r>
              <a:r>
                <a:rPr lang="en-US" altLang="en-US" sz="2100">
                  <a:solidFill>
                    <a:srgbClr val="000000"/>
                  </a:solidFill>
                </a:rPr>
                <a:t>+</a:t>
              </a:r>
              <a:endParaRPr lang="en-US" altLang="en-US" sz="4400"/>
            </a:p>
          </p:txBody>
        </p:sp>
        <p:sp>
          <p:nvSpPr>
            <p:cNvPr id="420871" name="Text Box 7">
              <a:extLst>
                <a:ext uri="{FF2B5EF4-FFF2-40B4-BE49-F238E27FC236}">
                  <a16:creationId xmlns:a16="http://schemas.microsoft.com/office/drawing/2014/main" id="{A66E5D57-639E-3025-8D74-0F84AEDE56B3}"/>
                </a:ext>
              </a:extLst>
            </p:cNvPr>
            <p:cNvSpPr txBox="1">
              <a:spLocks noChangeArrowheads="1"/>
            </p:cNvSpPr>
            <p:nvPr/>
          </p:nvSpPr>
          <p:spPr bwMode="auto">
            <a:xfrm>
              <a:off x="2346" y="3024"/>
              <a:ext cx="31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a,b</a:t>
              </a:r>
              <a:endParaRPr lang="en-US" altLang="en-US" sz="4400"/>
            </a:p>
          </p:txBody>
        </p:sp>
        <p:sp>
          <p:nvSpPr>
            <p:cNvPr id="420872" name="Oval 8">
              <a:extLst>
                <a:ext uri="{FF2B5EF4-FFF2-40B4-BE49-F238E27FC236}">
                  <a16:creationId xmlns:a16="http://schemas.microsoft.com/office/drawing/2014/main" id="{52AD1763-EADA-309C-C765-EDA466963DBF}"/>
                </a:ext>
              </a:extLst>
            </p:cNvPr>
            <p:cNvSpPr>
              <a:spLocks noChangeArrowheads="1"/>
            </p:cNvSpPr>
            <p:nvPr/>
          </p:nvSpPr>
          <p:spPr bwMode="auto">
            <a:xfrm>
              <a:off x="1008" y="246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420873" name="Text Box 9">
              <a:extLst>
                <a:ext uri="{FF2B5EF4-FFF2-40B4-BE49-F238E27FC236}">
                  <a16:creationId xmlns:a16="http://schemas.microsoft.com/office/drawing/2014/main" id="{E3EE48B5-81B2-F72A-8858-8F9C9EDA0947}"/>
                </a:ext>
              </a:extLst>
            </p:cNvPr>
            <p:cNvSpPr txBox="1">
              <a:spLocks noChangeArrowheads="1"/>
            </p:cNvSpPr>
            <p:nvPr/>
          </p:nvSpPr>
          <p:spPr bwMode="auto">
            <a:xfrm>
              <a:off x="994" y="242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300">
                  <a:solidFill>
                    <a:srgbClr val="000000"/>
                  </a:solidFill>
                </a:rPr>
                <a:t>     </a:t>
              </a:r>
              <a:r>
                <a:rPr lang="en-US" altLang="en-US" sz="2100">
                  <a:solidFill>
                    <a:srgbClr val="000000"/>
                  </a:solidFill>
                  <a:cs typeface="Times New Roman" panose="02020603050405020304" pitchFamily="18" charset="0"/>
                </a:rPr>
                <a:t>–</a:t>
              </a:r>
              <a:r>
                <a:rPr lang="en-US" altLang="en-US" sz="2100">
                  <a:solidFill>
                    <a:srgbClr val="000000"/>
                  </a:solidFill>
                </a:rPr>
                <a:t> </a:t>
              </a:r>
              <a:r>
                <a:rPr lang="en-US" altLang="en-US" sz="1100">
                  <a:solidFill>
                    <a:srgbClr val="000000"/>
                  </a:solidFill>
                </a:rPr>
                <a:t>	</a:t>
              </a:r>
            </a:p>
          </p:txBody>
        </p:sp>
        <p:sp>
          <p:nvSpPr>
            <p:cNvPr id="420874" name="Freeform 10">
              <a:extLst>
                <a:ext uri="{FF2B5EF4-FFF2-40B4-BE49-F238E27FC236}">
                  <a16:creationId xmlns:a16="http://schemas.microsoft.com/office/drawing/2014/main" id="{D3FE452B-56B4-6E9E-EFD6-E269B23BE7D0}"/>
                </a:ext>
              </a:extLst>
            </p:cNvPr>
            <p:cNvSpPr>
              <a:spLocks/>
            </p:cNvSpPr>
            <p:nvPr/>
          </p:nvSpPr>
          <p:spPr bwMode="auto">
            <a:xfrm>
              <a:off x="1350" y="2184"/>
              <a:ext cx="2176" cy="336"/>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875" name="Freeform 11">
              <a:extLst>
                <a:ext uri="{FF2B5EF4-FFF2-40B4-BE49-F238E27FC236}">
                  <a16:creationId xmlns:a16="http://schemas.microsoft.com/office/drawing/2014/main" id="{41A7D75F-6379-8DC0-9169-7FE858990704}"/>
                </a:ext>
              </a:extLst>
            </p:cNvPr>
            <p:cNvSpPr>
              <a:spLocks/>
            </p:cNvSpPr>
            <p:nvPr/>
          </p:nvSpPr>
          <p:spPr bwMode="auto">
            <a:xfrm flipH="1" flipV="1">
              <a:off x="1344" y="2826"/>
              <a:ext cx="2176" cy="336"/>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876" name="Text Box 12">
              <a:extLst>
                <a:ext uri="{FF2B5EF4-FFF2-40B4-BE49-F238E27FC236}">
                  <a16:creationId xmlns:a16="http://schemas.microsoft.com/office/drawing/2014/main" id="{BF3756E1-2340-4295-7B9C-DD76F0FD2D20}"/>
                </a:ext>
              </a:extLst>
            </p:cNvPr>
            <p:cNvSpPr txBox="1">
              <a:spLocks noChangeArrowheads="1"/>
            </p:cNvSpPr>
            <p:nvPr/>
          </p:nvSpPr>
          <p:spPr bwMode="auto">
            <a:xfrm>
              <a:off x="2340" y="2052"/>
              <a:ext cx="31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a,b</a:t>
              </a:r>
              <a:endParaRPr lang="en-US" altLang="en-US" sz="440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1D71D03-AD05-33C1-5CD3-EE83EE0402A9}"/>
              </a:ext>
            </a:extLst>
          </p:cNvPr>
          <p:cNvSpPr>
            <a:spLocks noGrp="1"/>
          </p:cNvSpPr>
          <p:nvPr>
            <p:ph type="sldNum" sz="quarter" idx="12"/>
          </p:nvPr>
        </p:nvSpPr>
        <p:spPr/>
        <p:txBody>
          <a:bodyPr/>
          <a:lstStyle/>
          <a:p>
            <a:fld id="{08630206-6593-453D-8145-0E238741F230}" type="slidenum">
              <a:rPr lang="en-US" altLang="en-US"/>
              <a:pPr/>
              <a:t>11</a:t>
            </a:fld>
            <a:endParaRPr lang="en-US" altLang="en-US"/>
          </a:p>
        </p:txBody>
      </p:sp>
      <p:sp>
        <p:nvSpPr>
          <p:cNvPr id="235522" name="Rectangle 2">
            <a:extLst>
              <a:ext uri="{FF2B5EF4-FFF2-40B4-BE49-F238E27FC236}">
                <a16:creationId xmlns:a16="http://schemas.microsoft.com/office/drawing/2014/main" id="{0C844321-6CD4-D626-53E2-1E0457A42B2D}"/>
              </a:ext>
            </a:extLst>
          </p:cNvPr>
          <p:cNvSpPr>
            <a:spLocks noGrp="1" noChangeArrowheads="1"/>
          </p:cNvSpPr>
          <p:nvPr>
            <p:ph type="title"/>
          </p:nvPr>
        </p:nvSpPr>
        <p:spPr/>
        <p:txBody>
          <a:bodyPr/>
          <a:lstStyle/>
          <a:p>
            <a:pPr algn="ctr"/>
            <a:endParaRPr lang="en-US" altLang="en-US"/>
          </a:p>
        </p:txBody>
      </p:sp>
      <p:sp>
        <p:nvSpPr>
          <p:cNvPr id="235523" name="Rectangle 3">
            <a:extLst>
              <a:ext uri="{FF2B5EF4-FFF2-40B4-BE49-F238E27FC236}">
                <a16:creationId xmlns:a16="http://schemas.microsoft.com/office/drawing/2014/main" id="{FE082E2B-E019-897E-C280-5797F24EDF68}"/>
              </a:ext>
            </a:extLst>
          </p:cNvPr>
          <p:cNvSpPr>
            <a:spLocks noGrp="1" noChangeArrowheads="1"/>
          </p:cNvSpPr>
          <p:nvPr>
            <p:ph type="body" idx="1"/>
          </p:nvPr>
        </p:nvSpPr>
        <p:spPr>
          <a:xfrm>
            <a:off x="1981200" y="1885950"/>
            <a:ext cx="8178800" cy="4743450"/>
          </a:xfrm>
        </p:spPr>
        <p:txBody>
          <a:bodyPr/>
          <a:lstStyle/>
          <a:p>
            <a:pPr>
              <a:buFont typeface="Monotype Sorts" pitchFamily="2" charset="2"/>
              <a:buNone/>
            </a:pPr>
            <a:r>
              <a:rPr lang="en-US" altLang="en-US" b="1"/>
              <a:t>Example: </a:t>
            </a:r>
            <a:r>
              <a:rPr lang="en-US" altLang="en-US"/>
              <a:t>Consider the language L of strings, defined over </a:t>
            </a:r>
            <a:r>
              <a:rPr lang="el-GR" altLang="en-US" sz="3000"/>
              <a:t>Σ</a:t>
            </a:r>
            <a:r>
              <a:rPr lang="en-US" altLang="en-US" sz="3000"/>
              <a:t>={a, b},</a:t>
            </a:r>
            <a:r>
              <a:rPr lang="en-US" altLang="en-US"/>
              <a:t> </a:t>
            </a:r>
            <a:r>
              <a:rPr lang="en-US" altLang="en-US" b="1"/>
              <a:t>starting with b. </a:t>
            </a:r>
            <a:r>
              <a:rPr lang="en-US" altLang="en-US"/>
              <a:t>The language L may be expressed by RE  b(a + b)</a:t>
            </a:r>
            <a:r>
              <a:rPr lang="en-US" altLang="en-US" baseline="40000"/>
              <a:t>* </a:t>
            </a:r>
            <a:r>
              <a:rPr lang="en-US" altLang="en-US"/>
              <a:t>, may be accepted by the following FA</a:t>
            </a:r>
            <a:r>
              <a:rPr lang="en-US" altLang="en-US" baseline="40000"/>
              <a:t> </a:t>
            </a:r>
            <a:endParaRPr lang="en-US" altLang="en-US"/>
          </a:p>
          <a:p>
            <a:pPr>
              <a:buFont typeface="Monotype Sorts" pitchFamily="2" charset="2"/>
              <a:buNone/>
            </a:pPr>
            <a:endParaRPr lang="en-US" altLang="en-US" baseline="40000"/>
          </a:p>
          <a:p>
            <a:pPr>
              <a:buFont typeface="Monotype Sorts" pitchFamily="2" charset="2"/>
              <a:buNone/>
            </a:pPr>
            <a:endParaRPr lang="el-GR" altLang="en-US" baseline="40000"/>
          </a:p>
          <a:p>
            <a:pPr>
              <a:buFont typeface="Monotype Sorts" pitchFamily="2" charset="2"/>
              <a:buNone/>
            </a:pPr>
            <a:r>
              <a:rPr lang="en-US" altLang="en-US"/>
              <a:t>    </a:t>
            </a:r>
          </a:p>
        </p:txBody>
      </p:sp>
      <p:sp>
        <p:nvSpPr>
          <p:cNvPr id="279569" name="Text Box 17">
            <a:extLst>
              <a:ext uri="{FF2B5EF4-FFF2-40B4-BE49-F238E27FC236}">
                <a16:creationId xmlns:a16="http://schemas.microsoft.com/office/drawing/2014/main" id="{5C128BC6-5A67-C8D7-28A2-C800375B676A}"/>
              </a:ext>
            </a:extLst>
          </p:cNvPr>
          <p:cNvSpPr txBox="1">
            <a:spLocks noChangeArrowheads="1"/>
          </p:cNvSpPr>
          <p:nvPr/>
        </p:nvSpPr>
        <p:spPr bwMode="auto">
          <a:xfrm>
            <a:off x="5600701" y="6076951"/>
            <a:ext cx="89852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endParaRPr lang="en-US" altLang="en-US" sz="1100">
              <a:solidFill>
                <a:srgbClr val="000000"/>
              </a:solidFill>
            </a:endParaRPr>
          </a:p>
        </p:txBody>
      </p:sp>
      <p:grpSp>
        <p:nvGrpSpPr>
          <p:cNvPr id="279598" name="Group 46">
            <a:extLst>
              <a:ext uri="{FF2B5EF4-FFF2-40B4-BE49-F238E27FC236}">
                <a16:creationId xmlns:a16="http://schemas.microsoft.com/office/drawing/2014/main" id="{0B1B5B02-CE97-0654-50AA-CC326A40CDD5}"/>
              </a:ext>
            </a:extLst>
          </p:cNvPr>
          <p:cNvGrpSpPr>
            <a:grpSpLocks/>
          </p:cNvGrpSpPr>
          <p:nvPr/>
        </p:nvGrpSpPr>
        <p:grpSpPr bwMode="auto">
          <a:xfrm>
            <a:off x="7959726" y="5133976"/>
            <a:ext cx="1374775" cy="1400175"/>
            <a:chOff x="2304" y="3054"/>
            <a:chExt cx="866" cy="882"/>
          </a:xfrm>
        </p:grpSpPr>
        <p:sp>
          <p:nvSpPr>
            <p:cNvPr id="235539" name="Text Box 19">
              <a:extLst>
                <a:ext uri="{FF2B5EF4-FFF2-40B4-BE49-F238E27FC236}">
                  <a16:creationId xmlns:a16="http://schemas.microsoft.com/office/drawing/2014/main" id="{D50BB61B-203A-19D1-713F-990E04249848}"/>
                </a:ext>
              </a:extLst>
            </p:cNvPr>
            <p:cNvSpPr txBox="1">
              <a:spLocks noChangeArrowheads="1"/>
            </p:cNvSpPr>
            <p:nvPr/>
          </p:nvSpPr>
          <p:spPr bwMode="auto">
            <a:xfrm>
              <a:off x="2379" y="3054"/>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a,b</a:t>
              </a:r>
              <a:endParaRPr lang="en-US" altLang="en-US"/>
            </a:p>
          </p:txBody>
        </p:sp>
        <p:grpSp>
          <p:nvGrpSpPr>
            <p:cNvPr id="279583" name="Group 31">
              <a:extLst>
                <a:ext uri="{FF2B5EF4-FFF2-40B4-BE49-F238E27FC236}">
                  <a16:creationId xmlns:a16="http://schemas.microsoft.com/office/drawing/2014/main" id="{113E4BD9-A77F-EE1C-C291-5A3AB9B6CB58}"/>
                </a:ext>
              </a:extLst>
            </p:cNvPr>
            <p:cNvGrpSpPr>
              <a:grpSpLocks/>
            </p:cNvGrpSpPr>
            <p:nvPr/>
          </p:nvGrpSpPr>
          <p:grpSpPr bwMode="auto">
            <a:xfrm>
              <a:off x="2304" y="3174"/>
              <a:ext cx="469" cy="762"/>
              <a:chOff x="2190" y="3289"/>
              <a:chExt cx="469" cy="762"/>
            </a:xfrm>
          </p:grpSpPr>
          <p:sp>
            <p:nvSpPr>
              <p:cNvPr id="279568" name="Oval 16">
                <a:extLst>
                  <a:ext uri="{FF2B5EF4-FFF2-40B4-BE49-F238E27FC236}">
                    <a16:creationId xmlns:a16="http://schemas.microsoft.com/office/drawing/2014/main" id="{E3755714-3D99-1303-EC57-C75D0B81CEE0}"/>
                  </a:ext>
                </a:extLst>
              </p:cNvPr>
              <p:cNvSpPr>
                <a:spLocks noChangeArrowheads="1"/>
              </p:cNvSpPr>
              <p:nvPr/>
            </p:nvSpPr>
            <p:spPr bwMode="auto">
              <a:xfrm>
                <a:off x="2256" y="3648"/>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grpSp>
            <p:nvGrpSpPr>
              <p:cNvPr id="279574" name="Group 22">
                <a:extLst>
                  <a:ext uri="{FF2B5EF4-FFF2-40B4-BE49-F238E27FC236}">
                    <a16:creationId xmlns:a16="http://schemas.microsoft.com/office/drawing/2014/main" id="{6AEC7458-CDC3-DC1B-8E7B-0D00437B4EFD}"/>
                  </a:ext>
                </a:extLst>
              </p:cNvPr>
              <p:cNvGrpSpPr>
                <a:grpSpLocks/>
              </p:cNvGrpSpPr>
              <p:nvPr/>
            </p:nvGrpSpPr>
            <p:grpSpPr bwMode="auto">
              <a:xfrm rot="21300000">
                <a:off x="2190" y="3289"/>
                <a:ext cx="432" cy="374"/>
                <a:chOff x="2880" y="3312"/>
                <a:chExt cx="408" cy="336"/>
              </a:xfrm>
            </p:grpSpPr>
            <p:sp>
              <p:nvSpPr>
                <p:cNvPr id="279570" name="Freeform 18">
                  <a:extLst>
                    <a:ext uri="{FF2B5EF4-FFF2-40B4-BE49-F238E27FC236}">
                      <a16:creationId xmlns:a16="http://schemas.microsoft.com/office/drawing/2014/main" id="{503042F0-F489-C16D-F1BC-37689F8E8420}"/>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9572" name="Freeform 20">
                  <a:extLst>
                    <a:ext uri="{FF2B5EF4-FFF2-40B4-BE49-F238E27FC236}">
                      <a16:creationId xmlns:a16="http://schemas.microsoft.com/office/drawing/2014/main" id="{B7A1E98A-7603-C875-2B83-1AC879E54E20}"/>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9573" name="Freeform 21">
                  <a:extLst>
                    <a:ext uri="{FF2B5EF4-FFF2-40B4-BE49-F238E27FC236}">
                      <a16:creationId xmlns:a16="http://schemas.microsoft.com/office/drawing/2014/main" id="{8B74904C-3FEF-EEBF-E86B-2E3A8231D31D}"/>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235529" name="Text Box 9">
            <a:extLst>
              <a:ext uri="{FF2B5EF4-FFF2-40B4-BE49-F238E27FC236}">
                <a16:creationId xmlns:a16="http://schemas.microsoft.com/office/drawing/2014/main" id="{A296298B-A2EE-4007-364D-2EAB9FC309B4}"/>
              </a:ext>
            </a:extLst>
          </p:cNvPr>
          <p:cNvSpPr txBox="1">
            <a:spLocks noChangeArrowheads="1"/>
          </p:cNvSpPr>
          <p:nvPr/>
        </p:nvSpPr>
        <p:spPr bwMode="auto">
          <a:xfrm>
            <a:off x="8139113" y="3505200"/>
            <a:ext cx="12557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a,b</a:t>
            </a:r>
            <a:endParaRPr lang="en-US" altLang="en-US"/>
          </a:p>
        </p:txBody>
      </p:sp>
      <p:sp>
        <p:nvSpPr>
          <p:cNvPr id="279556" name="Text Box 4">
            <a:extLst>
              <a:ext uri="{FF2B5EF4-FFF2-40B4-BE49-F238E27FC236}">
                <a16:creationId xmlns:a16="http://schemas.microsoft.com/office/drawing/2014/main" id="{D09F5B07-2027-7951-EECA-1DDBCD956A98}"/>
              </a:ext>
            </a:extLst>
          </p:cNvPr>
          <p:cNvSpPr txBox="1">
            <a:spLocks noChangeArrowheads="1"/>
          </p:cNvSpPr>
          <p:nvPr/>
        </p:nvSpPr>
        <p:spPr bwMode="auto">
          <a:xfrm>
            <a:off x="3905251" y="4210050"/>
            <a:ext cx="12557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n-US" altLang="en-US"/>
          </a:p>
        </p:txBody>
      </p:sp>
      <p:sp>
        <p:nvSpPr>
          <p:cNvPr id="235532" name="Line 12">
            <a:extLst>
              <a:ext uri="{FF2B5EF4-FFF2-40B4-BE49-F238E27FC236}">
                <a16:creationId xmlns:a16="http://schemas.microsoft.com/office/drawing/2014/main" id="{D78E02B7-3A70-8DDD-F9E8-186BE8EE56FD}"/>
              </a:ext>
            </a:extLst>
          </p:cNvPr>
          <p:cNvSpPr>
            <a:spLocks noChangeShapeType="1"/>
          </p:cNvSpPr>
          <p:nvPr/>
        </p:nvSpPr>
        <p:spPr bwMode="auto">
          <a:xfrm>
            <a:off x="4291014" y="4584700"/>
            <a:ext cx="3767137" cy="0"/>
          </a:xfrm>
          <a:prstGeom prst="line">
            <a:avLst/>
          </a:prstGeom>
          <a:noFill/>
          <a:ln w="9525">
            <a:solidFill>
              <a:srgbClr val="000000"/>
            </a:solidFill>
            <a:round/>
            <a:headEnd/>
            <a:tailEnd type="arrow" w="lg" len="lg"/>
          </a:ln>
          <a:extLst>
            <a:ext uri="{909E8E84-426E-40DD-AFC4-6F175D3DCCD1}">
              <a14:hiddenFill xmlns:a14="http://schemas.microsoft.com/office/drawing/2010/main">
                <a:noFill/>
              </a14:hiddenFill>
            </a:ext>
          </a:extLst>
        </p:spPr>
        <p:txBody>
          <a:bodyPr/>
          <a:lstStyle/>
          <a:p>
            <a:endParaRPr lang="en-US"/>
          </a:p>
        </p:txBody>
      </p:sp>
      <p:sp>
        <p:nvSpPr>
          <p:cNvPr id="235533" name="Text Box 13">
            <a:extLst>
              <a:ext uri="{FF2B5EF4-FFF2-40B4-BE49-F238E27FC236}">
                <a16:creationId xmlns:a16="http://schemas.microsoft.com/office/drawing/2014/main" id="{DE86F707-8908-DFF8-B183-7F347C83C619}"/>
              </a:ext>
            </a:extLst>
          </p:cNvPr>
          <p:cNvSpPr txBox="1">
            <a:spLocks noChangeArrowheads="1"/>
          </p:cNvSpPr>
          <p:nvPr/>
        </p:nvSpPr>
        <p:spPr bwMode="auto">
          <a:xfrm>
            <a:off x="6032501" y="4216400"/>
            <a:ext cx="12557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b</a:t>
            </a:r>
            <a:endParaRPr lang="en-US" altLang="en-US"/>
          </a:p>
        </p:txBody>
      </p:sp>
      <p:sp>
        <p:nvSpPr>
          <p:cNvPr id="235536" name="Freeform 16">
            <a:extLst>
              <a:ext uri="{FF2B5EF4-FFF2-40B4-BE49-F238E27FC236}">
                <a16:creationId xmlns:a16="http://schemas.microsoft.com/office/drawing/2014/main" id="{72671570-0413-7EEC-C871-5A64C0ED1741}"/>
              </a:ext>
            </a:extLst>
          </p:cNvPr>
          <p:cNvSpPr>
            <a:spLocks/>
          </p:cNvSpPr>
          <p:nvPr/>
        </p:nvSpPr>
        <p:spPr bwMode="auto">
          <a:xfrm>
            <a:off x="4241800" y="4743450"/>
            <a:ext cx="3816350" cy="1409700"/>
          </a:xfrm>
          <a:custGeom>
            <a:avLst/>
            <a:gdLst>
              <a:gd name="T0" fmla="*/ 0 w 2404"/>
              <a:gd name="T1" fmla="*/ 0 h 888"/>
              <a:gd name="T2" fmla="*/ 2404 w 2404"/>
              <a:gd name="T3" fmla="*/ 888 h 888"/>
            </a:gdLst>
            <a:ahLst/>
            <a:cxnLst>
              <a:cxn ang="0">
                <a:pos x="T0" y="T1"/>
              </a:cxn>
              <a:cxn ang="0">
                <a:pos x="T2" y="T3"/>
              </a:cxn>
            </a:cxnLst>
            <a:rect l="0" t="0" r="r" b="b"/>
            <a:pathLst>
              <a:path w="2404" h="888">
                <a:moveTo>
                  <a:pt x="0" y="0"/>
                </a:moveTo>
                <a:lnTo>
                  <a:pt x="2404" y="888"/>
                </a:ln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5537" name="Text Box 17">
            <a:extLst>
              <a:ext uri="{FF2B5EF4-FFF2-40B4-BE49-F238E27FC236}">
                <a16:creationId xmlns:a16="http://schemas.microsoft.com/office/drawing/2014/main" id="{3B542C08-0C25-4111-8451-B5FEAC2DCFC0}"/>
              </a:ext>
            </a:extLst>
          </p:cNvPr>
          <p:cNvSpPr txBox="1">
            <a:spLocks noChangeArrowheads="1"/>
          </p:cNvSpPr>
          <p:nvPr/>
        </p:nvSpPr>
        <p:spPr bwMode="auto">
          <a:xfrm>
            <a:off x="6078538" y="5416550"/>
            <a:ext cx="12557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a:t>
            </a:r>
            <a:endParaRPr lang="en-US" altLang="en-US"/>
          </a:p>
        </p:txBody>
      </p:sp>
      <p:grpSp>
        <p:nvGrpSpPr>
          <p:cNvPr id="279563" name="Group 11">
            <a:extLst>
              <a:ext uri="{FF2B5EF4-FFF2-40B4-BE49-F238E27FC236}">
                <a16:creationId xmlns:a16="http://schemas.microsoft.com/office/drawing/2014/main" id="{A3C600BD-377A-E89D-E3BD-F3288D4DE5A9}"/>
              </a:ext>
            </a:extLst>
          </p:cNvPr>
          <p:cNvGrpSpPr>
            <a:grpSpLocks/>
          </p:cNvGrpSpPr>
          <p:nvPr/>
        </p:nvGrpSpPr>
        <p:grpSpPr bwMode="auto">
          <a:xfrm>
            <a:off x="3505201" y="4238625"/>
            <a:ext cx="898525" cy="655638"/>
            <a:chOff x="726" y="2634"/>
            <a:chExt cx="566" cy="413"/>
          </a:xfrm>
        </p:grpSpPr>
        <p:sp>
          <p:nvSpPr>
            <p:cNvPr id="279561" name="Oval 9">
              <a:extLst>
                <a:ext uri="{FF2B5EF4-FFF2-40B4-BE49-F238E27FC236}">
                  <a16:creationId xmlns:a16="http://schemas.microsoft.com/office/drawing/2014/main" id="{75D59FF0-3B6B-80BC-F915-E7F5E2382769}"/>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279562" name="Text Box 10">
              <a:extLst>
                <a:ext uri="{FF2B5EF4-FFF2-40B4-BE49-F238E27FC236}">
                  <a16:creationId xmlns:a16="http://schemas.microsoft.com/office/drawing/2014/main" id="{A54F907F-A804-4A95-315B-1CDB7FCE5709}"/>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279564" name="Group 12">
            <a:extLst>
              <a:ext uri="{FF2B5EF4-FFF2-40B4-BE49-F238E27FC236}">
                <a16:creationId xmlns:a16="http://schemas.microsoft.com/office/drawing/2014/main" id="{7E8F2E43-E915-F1F9-3E60-086FF15609A5}"/>
              </a:ext>
            </a:extLst>
          </p:cNvPr>
          <p:cNvGrpSpPr>
            <a:grpSpLocks/>
          </p:cNvGrpSpPr>
          <p:nvPr/>
        </p:nvGrpSpPr>
        <p:grpSpPr bwMode="auto">
          <a:xfrm>
            <a:off x="7947026" y="4248150"/>
            <a:ext cx="898525" cy="655638"/>
            <a:chOff x="726" y="2634"/>
            <a:chExt cx="566" cy="413"/>
          </a:xfrm>
        </p:grpSpPr>
        <p:sp>
          <p:nvSpPr>
            <p:cNvPr id="279565" name="Oval 13">
              <a:extLst>
                <a:ext uri="{FF2B5EF4-FFF2-40B4-BE49-F238E27FC236}">
                  <a16:creationId xmlns:a16="http://schemas.microsoft.com/office/drawing/2014/main" id="{377CBEC7-0EBF-C6FD-7F87-CD5BC9F5708C}"/>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279566" name="Text Box 14">
              <a:extLst>
                <a:ext uri="{FF2B5EF4-FFF2-40B4-BE49-F238E27FC236}">
                  <a16:creationId xmlns:a16="http://schemas.microsoft.com/office/drawing/2014/main" id="{D580EF4E-D9E6-DA00-F60E-DB51B9B4AC60}"/>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279575" name="Group 23">
            <a:extLst>
              <a:ext uri="{FF2B5EF4-FFF2-40B4-BE49-F238E27FC236}">
                <a16:creationId xmlns:a16="http://schemas.microsoft.com/office/drawing/2014/main" id="{B70E9F33-AD50-DE16-1928-49CEC19EB624}"/>
              </a:ext>
            </a:extLst>
          </p:cNvPr>
          <p:cNvGrpSpPr>
            <a:grpSpLocks/>
          </p:cNvGrpSpPr>
          <p:nvPr/>
        </p:nvGrpSpPr>
        <p:grpSpPr bwMode="auto">
          <a:xfrm rot="21300000">
            <a:off x="8004175" y="3695701"/>
            <a:ext cx="685800" cy="593725"/>
            <a:chOff x="2880" y="3312"/>
            <a:chExt cx="408" cy="336"/>
          </a:xfrm>
        </p:grpSpPr>
        <p:sp>
          <p:nvSpPr>
            <p:cNvPr id="279576" name="Freeform 24">
              <a:extLst>
                <a:ext uri="{FF2B5EF4-FFF2-40B4-BE49-F238E27FC236}">
                  <a16:creationId xmlns:a16="http://schemas.microsoft.com/office/drawing/2014/main" id="{3EC7C141-ACD2-D3C0-AF4C-908C92AD59F1}"/>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9577" name="Freeform 25">
              <a:extLst>
                <a:ext uri="{FF2B5EF4-FFF2-40B4-BE49-F238E27FC236}">
                  <a16:creationId xmlns:a16="http://schemas.microsoft.com/office/drawing/2014/main" id="{06AE4883-5D52-298C-F1BC-E4E59BCC0BB8}"/>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9578" name="Freeform 26">
              <a:extLst>
                <a:ext uri="{FF2B5EF4-FFF2-40B4-BE49-F238E27FC236}">
                  <a16:creationId xmlns:a16="http://schemas.microsoft.com/office/drawing/2014/main" id="{D371DB18-0574-05B9-6213-DC1B695B9738}"/>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79603" name="Text Box 51">
            <a:extLst>
              <a:ext uri="{FF2B5EF4-FFF2-40B4-BE49-F238E27FC236}">
                <a16:creationId xmlns:a16="http://schemas.microsoft.com/office/drawing/2014/main" id="{2B9B6D9E-921E-2C15-DB0D-D87B9A18CDA8}"/>
              </a:ext>
            </a:extLst>
          </p:cNvPr>
          <p:cNvSpPr txBox="1">
            <a:spLocks noChangeArrowheads="1"/>
          </p:cNvSpPr>
          <p:nvPr/>
        </p:nvSpPr>
        <p:spPr bwMode="auto">
          <a:xfrm>
            <a:off x="8153401" y="6019800"/>
            <a:ext cx="12557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a:t>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89B0E5A-D201-3BB3-3E7F-757A16763080}"/>
              </a:ext>
            </a:extLst>
          </p:cNvPr>
          <p:cNvSpPr>
            <a:spLocks noGrp="1"/>
          </p:cNvSpPr>
          <p:nvPr>
            <p:ph type="sldNum" sz="quarter" idx="12"/>
          </p:nvPr>
        </p:nvSpPr>
        <p:spPr/>
        <p:txBody>
          <a:bodyPr/>
          <a:lstStyle/>
          <a:p>
            <a:fld id="{9C3E093E-1512-4FD6-995E-DFC344B8ECDB}" type="slidenum">
              <a:rPr lang="en-US" altLang="en-US"/>
              <a:pPr/>
              <a:t>12</a:t>
            </a:fld>
            <a:endParaRPr lang="en-US" altLang="en-US"/>
          </a:p>
        </p:txBody>
      </p:sp>
      <p:sp>
        <p:nvSpPr>
          <p:cNvPr id="258050" name="Rectangle 2">
            <a:extLst>
              <a:ext uri="{FF2B5EF4-FFF2-40B4-BE49-F238E27FC236}">
                <a16:creationId xmlns:a16="http://schemas.microsoft.com/office/drawing/2014/main" id="{A75497CC-FEB9-EF9F-9F70-FF434B872138}"/>
              </a:ext>
            </a:extLst>
          </p:cNvPr>
          <p:cNvSpPr>
            <a:spLocks noGrp="1" noChangeArrowheads="1"/>
          </p:cNvSpPr>
          <p:nvPr>
            <p:ph type="title"/>
          </p:nvPr>
        </p:nvSpPr>
        <p:spPr/>
        <p:txBody>
          <a:bodyPr/>
          <a:lstStyle/>
          <a:p>
            <a:pPr algn="ctr"/>
            <a:endParaRPr lang="en-US" altLang="en-US"/>
          </a:p>
        </p:txBody>
      </p:sp>
      <p:sp>
        <p:nvSpPr>
          <p:cNvPr id="258051" name="Rectangle 3">
            <a:extLst>
              <a:ext uri="{FF2B5EF4-FFF2-40B4-BE49-F238E27FC236}">
                <a16:creationId xmlns:a16="http://schemas.microsoft.com/office/drawing/2014/main" id="{25AC6A1F-0251-1083-7F32-333373ACCA4C}"/>
              </a:ext>
            </a:extLst>
          </p:cNvPr>
          <p:cNvSpPr>
            <a:spLocks noGrp="1" noChangeArrowheads="1"/>
          </p:cNvSpPr>
          <p:nvPr>
            <p:ph type="body" idx="1"/>
          </p:nvPr>
        </p:nvSpPr>
        <p:spPr/>
        <p:txBody>
          <a:bodyPr/>
          <a:lstStyle/>
          <a:p>
            <a:r>
              <a:rPr lang="en-US" altLang="en-US" b="1"/>
              <a:t>Example:</a:t>
            </a:r>
          </a:p>
          <a:p>
            <a:pPr lvl="1">
              <a:buFont typeface="Monotype Sorts" pitchFamily="2" charset="2"/>
              <a:buNone/>
            </a:pPr>
            <a:r>
              <a:rPr lang="en-US" altLang="en-US" sz="2800"/>
              <a:t>	Consider the language L of strings, defined over </a:t>
            </a:r>
            <a:r>
              <a:rPr lang="el-GR" altLang="en-US" sz="2800"/>
              <a:t>Σ</a:t>
            </a:r>
            <a:r>
              <a:rPr lang="en-US" altLang="en-US" sz="2800"/>
              <a:t>={a, b}, </a:t>
            </a:r>
            <a:r>
              <a:rPr lang="en-US" altLang="en-US" sz="2800" b="1"/>
              <a:t>ending in a. T</a:t>
            </a:r>
            <a:r>
              <a:rPr lang="en-US" altLang="en-US" sz="2800"/>
              <a:t>he language L may be expressed by RE   			</a:t>
            </a:r>
          </a:p>
          <a:p>
            <a:pPr>
              <a:buFont typeface="Monotype Sorts" pitchFamily="2" charset="2"/>
              <a:buNone/>
            </a:pPr>
            <a:r>
              <a:rPr lang="en-US" altLang="en-US"/>
              <a:t>			 (a+b)</a:t>
            </a:r>
            <a:r>
              <a:rPr lang="en-US" altLang="en-US" baseline="40000"/>
              <a:t>*</a:t>
            </a:r>
            <a:r>
              <a:rPr lang="en-US" altLang="en-US"/>
              <a:t>a</a:t>
            </a:r>
            <a:endParaRPr lang="en-US" altLang="en-US" baseline="40000"/>
          </a:p>
          <a:p>
            <a:pPr>
              <a:buFont typeface="Monotype Sorts" pitchFamily="2" charset="2"/>
              <a:buNone/>
            </a:pPr>
            <a:r>
              <a:rPr lang="en-US" altLang="en-US"/>
              <a:t>	This language may be accepted by the following FA</a:t>
            </a:r>
          </a:p>
          <a:p>
            <a:pPr>
              <a:buFont typeface="Monotype Sorts" pitchFamily="2" charset="2"/>
              <a:buNone/>
            </a:pPr>
            <a:endParaRPr lang="en-US" altLang="en-US"/>
          </a:p>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0946442-A3B9-D891-27BB-8D3A7B166C9B}"/>
              </a:ext>
            </a:extLst>
          </p:cNvPr>
          <p:cNvSpPr>
            <a:spLocks noGrp="1"/>
          </p:cNvSpPr>
          <p:nvPr>
            <p:ph type="sldNum" sz="quarter" idx="12"/>
          </p:nvPr>
        </p:nvSpPr>
        <p:spPr/>
        <p:txBody>
          <a:bodyPr/>
          <a:lstStyle/>
          <a:p>
            <a:fld id="{BD79CE24-5A65-4723-93AF-FF402C451CE4}" type="slidenum">
              <a:rPr lang="en-US" altLang="en-US"/>
              <a:pPr/>
              <a:t>13</a:t>
            </a:fld>
            <a:endParaRPr lang="en-US" altLang="en-US"/>
          </a:p>
        </p:txBody>
      </p:sp>
      <p:sp>
        <p:nvSpPr>
          <p:cNvPr id="259074" name="Rectangle 2">
            <a:extLst>
              <a:ext uri="{FF2B5EF4-FFF2-40B4-BE49-F238E27FC236}">
                <a16:creationId xmlns:a16="http://schemas.microsoft.com/office/drawing/2014/main" id="{E72E3776-65A7-9988-9E4D-8F2AA8AAEB84}"/>
              </a:ext>
            </a:extLst>
          </p:cNvPr>
          <p:cNvSpPr>
            <a:spLocks noGrp="1" noChangeArrowheads="1"/>
          </p:cNvSpPr>
          <p:nvPr>
            <p:ph type="title"/>
          </p:nvPr>
        </p:nvSpPr>
        <p:spPr/>
        <p:txBody>
          <a:bodyPr/>
          <a:lstStyle/>
          <a:p>
            <a:pPr algn="ctr"/>
            <a:r>
              <a:rPr lang="en-US" altLang="en-US"/>
              <a:t>Example Continued …</a:t>
            </a:r>
          </a:p>
        </p:txBody>
      </p:sp>
      <p:sp>
        <p:nvSpPr>
          <p:cNvPr id="259075" name="Rectangle 3">
            <a:extLst>
              <a:ext uri="{FF2B5EF4-FFF2-40B4-BE49-F238E27FC236}">
                <a16:creationId xmlns:a16="http://schemas.microsoft.com/office/drawing/2014/main" id="{9035D3BE-974D-CA70-4E69-663FC33661BB}"/>
              </a:ext>
            </a:extLst>
          </p:cNvPr>
          <p:cNvSpPr>
            <a:spLocks noGrp="1" noChangeArrowheads="1"/>
          </p:cNvSpPr>
          <p:nvPr>
            <p:ph type="body" idx="1"/>
          </p:nvPr>
        </p:nvSpPr>
        <p:spPr>
          <a:xfrm>
            <a:off x="1981200" y="1905000"/>
            <a:ext cx="8178800" cy="4171950"/>
          </a:xfrm>
        </p:spPr>
        <p:txBody>
          <a:bodyPr>
            <a:normAutofit lnSpcReduction="10000"/>
          </a:bodyPr>
          <a:lstStyle/>
          <a:p>
            <a:pPr>
              <a:lnSpc>
                <a:spcPct val="90000"/>
              </a:lnSpc>
              <a:buFont typeface="Monotype Sorts" pitchFamily="2" charset="2"/>
              <a:buNone/>
            </a:pPr>
            <a:endParaRPr lang="en-US" altLang="en-US"/>
          </a:p>
          <a:p>
            <a:pPr>
              <a:lnSpc>
                <a:spcPct val="90000"/>
              </a:lnSpc>
              <a:buFont typeface="Monotype Sorts" pitchFamily="2" charset="2"/>
              <a:buNone/>
            </a:pPr>
            <a:endParaRPr lang="en-US" altLang="en-US"/>
          </a:p>
          <a:p>
            <a:pPr>
              <a:lnSpc>
                <a:spcPct val="90000"/>
              </a:lnSpc>
              <a:buFont typeface="Monotype Sorts" pitchFamily="2" charset="2"/>
              <a:buNone/>
            </a:pPr>
            <a:endParaRPr lang="en-US" altLang="en-US"/>
          </a:p>
          <a:p>
            <a:pPr>
              <a:lnSpc>
                <a:spcPct val="90000"/>
              </a:lnSpc>
              <a:buFont typeface="Monotype Sorts" pitchFamily="2" charset="2"/>
              <a:buNone/>
            </a:pPr>
            <a:endParaRPr lang="en-US" altLang="en-US"/>
          </a:p>
          <a:p>
            <a:pPr>
              <a:lnSpc>
                <a:spcPct val="90000"/>
              </a:lnSpc>
              <a:buFont typeface="Monotype Sorts" pitchFamily="2" charset="2"/>
              <a:buNone/>
            </a:pPr>
            <a:endParaRPr lang="en-US" altLang="en-US"/>
          </a:p>
          <a:p>
            <a:pPr>
              <a:lnSpc>
                <a:spcPct val="90000"/>
              </a:lnSpc>
              <a:buFont typeface="Monotype Sorts" pitchFamily="2" charset="2"/>
              <a:buNone/>
            </a:pPr>
            <a:endParaRPr lang="en-US" altLang="en-US"/>
          </a:p>
          <a:p>
            <a:pPr>
              <a:lnSpc>
                <a:spcPct val="90000"/>
              </a:lnSpc>
              <a:buFont typeface="Monotype Sorts" pitchFamily="2" charset="2"/>
              <a:buNone/>
            </a:pPr>
            <a:endParaRPr lang="en-US" altLang="en-US"/>
          </a:p>
          <a:p>
            <a:pPr>
              <a:lnSpc>
                <a:spcPct val="90000"/>
              </a:lnSpc>
              <a:buFont typeface="Monotype Sorts" pitchFamily="2" charset="2"/>
              <a:buNone/>
            </a:pPr>
            <a:r>
              <a:rPr lang="en-US" altLang="en-US"/>
              <a:t>There may be another FA corresponding to the given language.</a:t>
            </a:r>
          </a:p>
        </p:txBody>
      </p:sp>
      <p:grpSp>
        <p:nvGrpSpPr>
          <p:cNvPr id="273431" name="Group 23">
            <a:extLst>
              <a:ext uri="{FF2B5EF4-FFF2-40B4-BE49-F238E27FC236}">
                <a16:creationId xmlns:a16="http://schemas.microsoft.com/office/drawing/2014/main" id="{9805E207-1B66-9CBC-07E8-B33E95F7A42C}"/>
              </a:ext>
            </a:extLst>
          </p:cNvPr>
          <p:cNvGrpSpPr>
            <a:grpSpLocks/>
          </p:cNvGrpSpPr>
          <p:nvPr/>
        </p:nvGrpSpPr>
        <p:grpSpPr bwMode="auto">
          <a:xfrm>
            <a:off x="3200401" y="2286000"/>
            <a:ext cx="4924425" cy="2057400"/>
            <a:chOff x="1056" y="1440"/>
            <a:chExt cx="3102" cy="1296"/>
          </a:xfrm>
        </p:grpSpPr>
        <p:sp>
          <p:nvSpPr>
            <p:cNvPr id="259096" name="Text Box 24">
              <a:extLst>
                <a:ext uri="{FF2B5EF4-FFF2-40B4-BE49-F238E27FC236}">
                  <a16:creationId xmlns:a16="http://schemas.microsoft.com/office/drawing/2014/main" id="{B4AC452F-A2EC-03D5-4B70-5A7F77A0805A}"/>
                </a:ext>
              </a:extLst>
            </p:cNvPr>
            <p:cNvSpPr txBox="1">
              <a:spLocks noChangeArrowheads="1"/>
            </p:cNvSpPr>
            <p:nvPr/>
          </p:nvSpPr>
          <p:spPr bwMode="auto">
            <a:xfrm>
              <a:off x="3672" y="1453"/>
              <a:ext cx="48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sp>
          <p:nvSpPr>
            <p:cNvPr id="259097" name="Text Box 25">
              <a:extLst>
                <a:ext uri="{FF2B5EF4-FFF2-40B4-BE49-F238E27FC236}">
                  <a16:creationId xmlns:a16="http://schemas.microsoft.com/office/drawing/2014/main" id="{0696FC19-2C38-9707-3BDB-4F4583EA13C3}"/>
                </a:ext>
              </a:extLst>
            </p:cNvPr>
            <p:cNvSpPr txBox="1">
              <a:spLocks noChangeArrowheads="1"/>
            </p:cNvSpPr>
            <p:nvPr/>
          </p:nvSpPr>
          <p:spPr bwMode="auto">
            <a:xfrm>
              <a:off x="1188" y="1440"/>
              <a:ext cx="48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sp>
          <p:nvSpPr>
            <p:cNvPr id="273411" name="Oval 3">
              <a:extLst>
                <a:ext uri="{FF2B5EF4-FFF2-40B4-BE49-F238E27FC236}">
                  <a16:creationId xmlns:a16="http://schemas.microsoft.com/office/drawing/2014/main" id="{4D0F077B-04FA-87F0-DD20-58CAC45F9980}"/>
                </a:ext>
              </a:extLst>
            </p:cNvPr>
            <p:cNvSpPr>
              <a:spLocks noChangeArrowheads="1"/>
            </p:cNvSpPr>
            <p:nvPr/>
          </p:nvSpPr>
          <p:spPr bwMode="auto">
            <a:xfrm>
              <a:off x="3574" y="1935"/>
              <a:ext cx="374" cy="374"/>
            </a:xfrm>
            <a:prstGeom prst="ellipse">
              <a:avLst/>
            </a:prstGeom>
            <a:solidFill>
              <a:srgbClr val="FFFFFF"/>
            </a:solidFill>
            <a:ln w="9525">
              <a:solidFill>
                <a:srgbClr val="000000"/>
              </a:solidFill>
              <a:round/>
              <a:headEnd/>
              <a:tailEnd/>
            </a:ln>
          </p:spPr>
          <p:txBody>
            <a:bodyPr/>
            <a:lstStyle/>
            <a:p>
              <a:endParaRPr lang="en-US"/>
            </a:p>
          </p:txBody>
        </p:sp>
        <p:sp>
          <p:nvSpPr>
            <p:cNvPr id="273412" name="Text Box 4">
              <a:extLst>
                <a:ext uri="{FF2B5EF4-FFF2-40B4-BE49-F238E27FC236}">
                  <a16:creationId xmlns:a16="http://schemas.microsoft.com/office/drawing/2014/main" id="{81917A58-9549-D2BD-E234-675FB4022A71}"/>
                </a:ext>
              </a:extLst>
            </p:cNvPr>
            <p:cNvSpPr txBox="1">
              <a:spLocks noChangeArrowheads="1"/>
            </p:cNvSpPr>
            <p:nvPr/>
          </p:nvSpPr>
          <p:spPr bwMode="auto">
            <a:xfrm>
              <a:off x="3514" y="1881"/>
              <a:ext cx="566"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100">
                  <a:solidFill>
                    <a:srgbClr val="000000"/>
                  </a:solidFill>
                </a:rPr>
                <a:t>      </a:t>
              </a:r>
              <a:r>
                <a:rPr lang="en-US" altLang="en-US" sz="2100">
                  <a:solidFill>
                    <a:srgbClr val="000000"/>
                  </a:solidFill>
                </a:rPr>
                <a:t>+</a:t>
              </a:r>
              <a:endParaRPr lang="en-US" altLang="en-US" sz="4400"/>
            </a:p>
          </p:txBody>
        </p:sp>
        <p:sp>
          <p:nvSpPr>
            <p:cNvPr id="273413" name="Text Box 5">
              <a:extLst>
                <a:ext uri="{FF2B5EF4-FFF2-40B4-BE49-F238E27FC236}">
                  <a16:creationId xmlns:a16="http://schemas.microsoft.com/office/drawing/2014/main" id="{10FD890A-AF71-0016-7B6D-85B73794BD18}"/>
                </a:ext>
              </a:extLst>
            </p:cNvPr>
            <p:cNvSpPr txBox="1">
              <a:spLocks noChangeArrowheads="1"/>
            </p:cNvSpPr>
            <p:nvPr/>
          </p:nvSpPr>
          <p:spPr bwMode="auto">
            <a:xfrm>
              <a:off x="2466" y="2472"/>
              <a:ext cx="22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b</a:t>
              </a:r>
              <a:endParaRPr lang="en-US" altLang="en-US" sz="4400"/>
            </a:p>
          </p:txBody>
        </p:sp>
        <p:sp>
          <p:nvSpPr>
            <p:cNvPr id="273415" name="Oval 7">
              <a:extLst>
                <a:ext uri="{FF2B5EF4-FFF2-40B4-BE49-F238E27FC236}">
                  <a16:creationId xmlns:a16="http://schemas.microsoft.com/office/drawing/2014/main" id="{DECB08AD-DF09-F971-023E-61C83AC2407E}"/>
                </a:ext>
              </a:extLst>
            </p:cNvPr>
            <p:cNvSpPr>
              <a:spLocks noChangeArrowheads="1"/>
            </p:cNvSpPr>
            <p:nvPr/>
          </p:nvSpPr>
          <p:spPr bwMode="auto">
            <a:xfrm>
              <a:off x="1128" y="1912"/>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273416" name="Text Box 8">
              <a:extLst>
                <a:ext uri="{FF2B5EF4-FFF2-40B4-BE49-F238E27FC236}">
                  <a16:creationId xmlns:a16="http://schemas.microsoft.com/office/drawing/2014/main" id="{11AEA68E-2437-42C2-23F1-D16A6FA6CCB3}"/>
                </a:ext>
              </a:extLst>
            </p:cNvPr>
            <p:cNvSpPr txBox="1">
              <a:spLocks noChangeArrowheads="1"/>
            </p:cNvSpPr>
            <p:nvPr/>
          </p:nvSpPr>
          <p:spPr bwMode="auto">
            <a:xfrm>
              <a:off x="1114" y="1872"/>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pPr algn="l"/>
              <a:r>
                <a:rPr lang="en-US" altLang="en-US" sz="1300">
                  <a:solidFill>
                    <a:srgbClr val="000000"/>
                  </a:solidFill>
                </a:rPr>
                <a:t>     </a:t>
              </a:r>
              <a:r>
                <a:rPr lang="en-US" altLang="en-US" sz="2100">
                  <a:solidFill>
                    <a:srgbClr val="000000"/>
                  </a:solidFill>
                  <a:cs typeface="Times New Roman" panose="02020603050405020304" pitchFamily="18" charset="0"/>
                </a:rPr>
                <a:t>–</a:t>
              </a:r>
              <a:r>
                <a:rPr lang="en-US" altLang="en-US" sz="2100">
                  <a:solidFill>
                    <a:srgbClr val="000000"/>
                  </a:solidFill>
                </a:rPr>
                <a:t> </a:t>
              </a:r>
              <a:r>
                <a:rPr lang="en-US" altLang="en-US" sz="1100">
                  <a:solidFill>
                    <a:srgbClr val="000000"/>
                  </a:solidFill>
                </a:rPr>
                <a:t>	</a:t>
              </a:r>
            </a:p>
          </p:txBody>
        </p:sp>
        <p:sp>
          <p:nvSpPr>
            <p:cNvPr id="273417" name="Freeform 9">
              <a:extLst>
                <a:ext uri="{FF2B5EF4-FFF2-40B4-BE49-F238E27FC236}">
                  <a16:creationId xmlns:a16="http://schemas.microsoft.com/office/drawing/2014/main" id="{FE439409-1D5C-CF14-0896-09A2D99A1F8C}"/>
                </a:ext>
              </a:extLst>
            </p:cNvPr>
            <p:cNvSpPr>
              <a:spLocks/>
            </p:cNvSpPr>
            <p:nvPr/>
          </p:nvSpPr>
          <p:spPr bwMode="auto">
            <a:xfrm>
              <a:off x="1470" y="1632"/>
              <a:ext cx="2176" cy="336"/>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3418" name="Text Box 10">
              <a:extLst>
                <a:ext uri="{FF2B5EF4-FFF2-40B4-BE49-F238E27FC236}">
                  <a16:creationId xmlns:a16="http://schemas.microsoft.com/office/drawing/2014/main" id="{1E899655-A923-4DDF-BC24-F83831282A58}"/>
                </a:ext>
              </a:extLst>
            </p:cNvPr>
            <p:cNvSpPr txBox="1">
              <a:spLocks noChangeArrowheads="1"/>
            </p:cNvSpPr>
            <p:nvPr/>
          </p:nvSpPr>
          <p:spPr bwMode="auto">
            <a:xfrm>
              <a:off x="2460" y="15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a:t>
              </a:r>
              <a:endParaRPr lang="en-US" altLang="en-US" sz="4400"/>
            </a:p>
          </p:txBody>
        </p:sp>
        <p:sp>
          <p:nvSpPr>
            <p:cNvPr id="273419" name="Freeform 11">
              <a:extLst>
                <a:ext uri="{FF2B5EF4-FFF2-40B4-BE49-F238E27FC236}">
                  <a16:creationId xmlns:a16="http://schemas.microsoft.com/office/drawing/2014/main" id="{E3CB58C5-3314-4F30-2F25-E4A5AE21265F}"/>
                </a:ext>
              </a:extLst>
            </p:cNvPr>
            <p:cNvSpPr>
              <a:spLocks/>
            </p:cNvSpPr>
            <p:nvPr/>
          </p:nvSpPr>
          <p:spPr bwMode="auto">
            <a:xfrm flipH="1" flipV="1">
              <a:off x="1464" y="2274"/>
              <a:ext cx="2176" cy="336"/>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73420" name="Group 12">
              <a:extLst>
                <a:ext uri="{FF2B5EF4-FFF2-40B4-BE49-F238E27FC236}">
                  <a16:creationId xmlns:a16="http://schemas.microsoft.com/office/drawing/2014/main" id="{22722ADE-9467-1F2E-725F-7A18ED0AD3EF}"/>
                </a:ext>
              </a:extLst>
            </p:cNvPr>
            <p:cNvGrpSpPr>
              <a:grpSpLocks/>
            </p:cNvGrpSpPr>
            <p:nvPr/>
          </p:nvGrpSpPr>
          <p:grpSpPr bwMode="auto">
            <a:xfrm rot="21300000">
              <a:off x="3520" y="1576"/>
              <a:ext cx="432" cy="374"/>
              <a:chOff x="2880" y="3312"/>
              <a:chExt cx="408" cy="336"/>
            </a:xfrm>
          </p:grpSpPr>
          <p:sp>
            <p:nvSpPr>
              <p:cNvPr id="273421" name="Freeform 13">
                <a:extLst>
                  <a:ext uri="{FF2B5EF4-FFF2-40B4-BE49-F238E27FC236}">
                    <a16:creationId xmlns:a16="http://schemas.microsoft.com/office/drawing/2014/main" id="{882427FD-9D50-F21F-0D9C-FF01397AE8BE}"/>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2" name="Freeform 14">
                <a:extLst>
                  <a:ext uri="{FF2B5EF4-FFF2-40B4-BE49-F238E27FC236}">
                    <a16:creationId xmlns:a16="http://schemas.microsoft.com/office/drawing/2014/main" id="{5B11998F-6589-8E21-BA45-228761307DA5}"/>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3" name="Freeform 15">
                <a:extLst>
                  <a:ext uri="{FF2B5EF4-FFF2-40B4-BE49-F238E27FC236}">
                    <a16:creationId xmlns:a16="http://schemas.microsoft.com/office/drawing/2014/main" id="{6ABE7C37-D31E-402B-9E21-28E670A21488}"/>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73424" name="Group 16">
              <a:extLst>
                <a:ext uri="{FF2B5EF4-FFF2-40B4-BE49-F238E27FC236}">
                  <a16:creationId xmlns:a16="http://schemas.microsoft.com/office/drawing/2014/main" id="{8FCB0121-4DCE-F6D1-C128-8A443B34D82A}"/>
                </a:ext>
              </a:extLst>
            </p:cNvPr>
            <p:cNvGrpSpPr>
              <a:grpSpLocks/>
            </p:cNvGrpSpPr>
            <p:nvPr/>
          </p:nvGrpSpPr>
          <p:grpSpPr bwMode="auto">
            <a:xfrm rot="21240000">
              <a:off x="1056" y="1548"/>
              <a:ext cx="432" cy="374"/>
              <a:chOff x="2880" y="3312"/>
              <a:chExt cx="408" cy="336"/>
            </a:xfrm>
          </p:grpSpPr>
          <p:sp>
            <p:nvSpPr>
              <p:cNvPr id="273425" name="Freeform 17">
                <a:extLst>
                  <a:ext uri="{FF2B5EF4-FFF2-40B4-BE49-F238E27FC236}">
                    <a16:creationId xmlns:a16="http://schemas.microsoft.com/office/drawing/2014/main" id="{9B0A5C8E-43E2-AE8C-CA1B-01456CFD4F91}"/>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6" name="Freeform 18">
                <a:extLst>
                  <a:ext uri="{FF2B5EF4-FFF2-40B4-BE49-F238E27FC236}">
                    <a16:creationId xmlns:a16="http://schemas.microsoft.com/office/drawing/2014/main" id="{C147ADE0-EC6B-4448-EC66-2F2551750116}"/>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7" name="Freeform 19">
                <a:extLst>
                  <a:ext uri="{FF2B5EF4-FFF2-40B4-BE49-F238E27FC236}">
                    <a16:creationId xmlns:a16="http://schemas.microsoft.com/office/drawing/2014/main" id="{D8737D83-5B53-D029-B8DD-379932F0A86C}"/>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316B456-3318-4ADB-E411-9BA02E9916F0}"/>
              </a:ext>
            </a:extLst>
          </p:cNvPr>
          <p:cNvSpPr>
            <a:spLocks noGrp="1"/>
          </p:cNvSpPr>
          <p:nvPr>
            <p:ph type="sldNum" sz="quarter" idx="12"/>
          </p:nvPr>
        </p:nvSpPr>
        <p:spPr/>
        <p:txBody>
          <a:bodyPr/>
          <a:lstStyle/>
          <a:p>
            <a:fld id="{2FB8D04D-03B6-4A82-9E2B-9C91663CA8EF}" type="slidenum">
              <a:rPr lang="en-US" altLang="en-US"/>
              <a:pPr/>
              <a:t>14</a:t>
            </a:fld>
            <a:endParaRPr lang="en-US" altLang="en-US"/>
          </a:p>
        </p:txBody>
      </p:sp>
      <p:sp>
        <p:nvSpPr>
          <p:cNvPr id="262146" name="Rectangle 2">
            <a:extLst>
              <a:ext uri="{FF2B5EF4-FFF2-40B4-BE49-F238E27FC236}">
                <a16:creationId xmlns:a16="http://schemas.microsoft.com/office/drawing/2014/main" id="{53CA4FD8-DF05-34B7-8750-0BF309671626}"/>
              </a:ext>
            </a:extLst>
          </p:cNvPr>
          <p:cNvSpPr>
            <a:spLocks noGrp="1" noChangeArrowheads="1"/>
          </p:cNvSpPr>
          <p:nvPr>
            <p:ph type="title"/>
          </p:nvPr>
        </p:nvSpPr>
        <p:spPr/>
        <p:txBody>
          <a:bodyPr/>
          <a:lstStyle/>
          <a:p>
            <a:pPr algn="ctr"/>
            <a:r>
              <a:rPr lang="en-US" altLang="en-US"/>
              <a:t>Example continued …</a:t>
            </a:r>
          </a:p>
        </p:txBody>
      </p:sp>
      <p:sp>
        <p:nvSpPr>
          <p:cNvPr id="272388" name="Text Box 4">
            <a:extLst>
              <a:ext uri="{FF2B5EF4-FFF2-40B4-BE49-F238E27FC236}">
                <a16:creationId xmlns:a16="http://schemas.microsoft.com/office/drawing/2014/main" id="{A71EA2CA-EAE0-7DA6-FC57-A15AB503CECF}"/>
              </a:ext>
            </a:extLst>
          </p:cNvPr>
          <p:cNvSpPr txBox="1">
            <a:spLocks noChangeArrowheads="1"/>
          </p:cNvSpPr>
          <p:nvPr/>
        </p:nvSpPr>
        <p:spPr bwMode="auto">
          <a:xfrm>
            <a:off x="6305550" y="533400"/>
            <a:ext cx="4000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n-US" altLang="en-US" sz="4000"/>
          </a:p>
        </p:txBody>
      </p:sp>
      <p:grpSp>
        <p:nvGrpSpPr>
          <p:cNvPr id="272437" name="Group 53">
            <a:extLst>
              <a:ext uri="{FF2B5EF4-FFF2-40B4-BE49-F238E27FC236}">
                <a16:creationId xmlns:a16="http://schemas.microsoft.com/office/drawing/2014/main" id="{4029944B-4E60-0C67-7DD8-A585E3395462}"/>
              </a:ext>
            </a:extLst>
          </p:cNvPr>
          <p:cNvGrpSpPr>
            <a:grpSpLocks/>
          </p:cNvGrpSpPr>
          <p:nvPr/>
        </p:nvGrpSpPr>
        <p:grpSpPr bwMode="auto">
          <a:xfrm>
            <a:off x="4038600" y="2057400"/>
            <a:ext cx="4040188" cy="3562350"/>
            <a:chOff x="1199" y="972"/>
            <a:chExt cx="2545" cy="2244"/>
          </a:xfrm>
        </p:grpSpPr>
        <p:sp>
          <p:nvSpPr>
            <p:cNvPr id="272391" name="Text Box 7">
              <a:extLst>
                <a:ext uri="{FF2B5EF4-FFF2-40B4-BE49-F238E27FC236}">
                  <a16:creationId xmlns:a16="http://schemas.microsoft.com/office/drawing/2014/main" id="{03406A42-7A03-9650-4B68-C04E1113076F}"/>
                </a:ext>
              </a:extLst>
            </p:cNvPr>
            <p:cNvSpPr txBox="1">
              <a:spLocks noChangeArrowheads="1"/>
            </p:cNvSpPr>
            <p:nvPr/>
          </p:nvSpPr>
          <p:spPr bwMode="auto">
            <a:xfrm>
              <a:off x="3179" y="972"/>
              <a:ext cx="5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grpSp>
          <p:nvGrpSpPr>
            <p:cNvPr id="272436" name="Group 52">
              <a:extLst>
                <a:ext uri="{FF2B5EF4-FFF2-40B4-BE49-F238E27FC236}">
                  <a16:creationId xmlns:a16="http://schemas.microsoft.com/office/drawing/2014/main" id="{4E9962A0-EDD7-C1B0-E936-B4DC1E5BEF0B}"/>
                </a:ext>
              </a:extLst>
            </p:cNvPr>
            <p:cNvGrpSpPr>
              <a:grpSpLocks/>
            </p:cNvGrpSpPr>
            <p:nvPr/>
          </p:nvGrpSpPr>
          <p:grpSpPr bwMode="auto">
            <a:xfrm>
              <a:off x="1199" y="1008"/>
              <a:ext cx="2448" cy="2208"/>
              <a:chOff x="1199" y="1008"/>
              <a:chExt cx="2448" cy="2208"/>
            </a:xfrm>
          </p:grpSpPr>
          <p:sp>
            <p:nvSpPr>
              <p:cNvPr id="272392" name="Text Box 8">
                <a:extLst>
                  <a:ext uri="{FF2B5EF4-FFF2-40B4-BE49-F238E27FC236}">
                    <a16:creationId xmlns:a16="http://schemas.microsoft.com/office/drawing/2014/main" id="{B8D2FC48-2A72-1470-EE55-45904619EDBE}"/>
                  </a:ext>
                </a:extLst>
              </p:cNvPr>
              <p:cNvSpPr txBox="1">
                <a:spLocks noChangeArrowheads="1"/>
              </p:cNvSpPr>
              <p:nvPr/>
            </p:nvSpPr>
            <p:spPr bwMode="auto">
              <a:xfrm flipH="1">
                <a:off x="2035" y="2064"/>
                <a:ext cx="39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sp>
            <p:nvSpPr>
              <p:cNvPr id="272393" name="Freeform 9">
                <a:extLst>
                  <a:ext uri="{FF2B5EF4-FFF2-40B4-BE49-F238E27FC236}">
                    <a16:creationId xmlns:a16="http://schemas.microsoft.com/office/drawing/2014/main" id="{65DF057F-22B0-DCE0-1E66-DAF58860C08C}"/>
                  </a:ext>
                </a:extLst>
              </p:cNvPr>
              <p:cNvSpPr>
                <a:spLocks/>
              </p:cNvSpPr>
              <p:nvPr/>
            </p:nvSpPr>
            <p:spPr bwMode="auto">
              <a:xfrm>
                <a:off x="1541" y="1722"/>
                <a:ext cx="1404" cy="900"/>
              </a:xfrm>
              <a:custGeom>
                <a:avLst/>
                <a:gdLst>
                  <a:gd name="T0" fmla="*/ 0 w 1386"/>
                  <a:gd name="T1" fmla="*/ 0 h 900"/>
                  <a:gd name="T2" fmla="*/ 1386 w 1386"/>
                  <a:gd name="T3" fmla="*/ 900 h 900"/>
                </a:gdLst>
                <a:ahLst/>
                <a:cxnLst>
                  <a:cxn ang="0">
                    <a:pos x="T0" y="T1"/>
                  </a:cxn>
                  <a:cxn ang="0">
                    <a:pos x="T2" y="T3"/>
                  </a:cxn>
                </a:cxnLst>
                <a:rect l="0" t="0" r="r" b="b"/>
                <a:pathLst>
                  <a:path w="1386" h="900">
                    <a:moveTo>
                      <a:pt x="0" y="0"/>
                    </a:moveTo>
                    <a:lnTo>
                      <a:pt x="1386" y="900"/>
                    </a:ln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2398" name="Text Box 14">
                <a:extLst>
                  <a:ext uri="{FF2B5EF4-FFF2-40B4-BE49-F238E27FC236}">
                    <a16:creationId xmlns:a16="http://schemas.microsoft.com/office/drawing/2014/main" id="{DE8370FC-7F25-8F37-93FF-42DB48B6F4B2}"/>
                  </a:ext>
                </a:extLst>
              </p:cNvPr>
              <p:cNvSpPr txBox="1">
                <a:spLocks noChangeArrowheads="1"/>
              </p:cNvSpPr>
              <p:nvPr/>
            </p:nvSpPr>
            <p:spPr bwMode="auto">
              <a:xfrm>
                <a:off x="3211" y="2928"/>
                <a:ext cx="3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sp>
            <p:nvSpPr>
              <p:cNvPr id="272399" name="Text Box 15">
                <a:extLst>
                  <a:ext uri="{FF2B5EF4-FFF2-40B4-BE49-F238E27FC236}">
                    <a16:creationId xmlns:a16="http://schemas.microsoft.com/office/drawing/2014/main" id="{165C9A39-E064-11B6-EA8B-35895FD2423A}"/>
                  </a:ext>
                </a:extLst>
              </p:cNvPr>
              <p:cNvSpPr txBox="1">
                <a:spLocks noChangeArrowheads="1"/>
              </p:cNvSpPr>
              <p:nvPr/>
            </p:nvSpPr>
            <p:spPr bwMode="auto">
              <a:xfrm>
                <a:off x="3365" y="1939"/>
                <a:ext cx="2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sp>
            <p:nvSpPr>
              <p:cNvPr id="272400" name="Text Box 16">
                <a:extLst>
                  <a:ext uri="{FF2B5EF4-FFF2-40B4-BE49-F238E27FC236}">
                    <a16:creationId xmlns:a16="http://schemas.microsoft.com/office/drawing/2014/main" id="{18797303-43B2-580D-8ABF-1C4072922683}"/>
                  </a:ext>
                </a:extLst>
              </p:cNvPr>
              <p:cNvSpPr txBox="1">
                <a:spLocks noChangeArrowheads="1"/>
              </p:cNvSpPr>
              <p:nvPr/>
            </p:nvSpPr>
            <p:spPr bwMode="auto">
              <a:xfrm>
                <a:off x="2770" y="1920"/>
                <a:ext cx="5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grpSp>
            <p:nvGrpSpPr>
              <p:cNvPr id="272407" name="Group 23">
                <a:extLst>
                  <a:ext uri="{FF2B5EF4-FFF2-40B4-BE49-F238E27FC236}">
                    <a16:creationId xmlns:a16="http://schemas.microsoft.com/office/drawing/2014/main" id="{0F3C6307-1A72-F6A4-D030-493DF80A28A9}"/>
                  </a:ext>
                </a:extLst>
              </p:cNvPr>
              <p:cNvGrpSpPr>
                <a:grpSpLocks/>
              </p:cNvGrpSpPr>
              <p:nvPr/>
            </p:nvGrpSpPr>
            <p:grpSpPr bwMode="auto">
              <a:xfrm>
                <a:off x="2867" y="1334"/>
                <a:ext cx="530" cy="387"/>
                <a:chOff x="726" y="2634"/>
                <a:chExt cx="566" cy="413"/>
              </a:xfrm>
            </p:grpSpPr>
            <p:sp>
              <p:nvSpPr>
                <p:cNvPr id="272408" name="Oval 24">
                  <a:extLst>
                    <a:ext uri="{FF2B5EF4-FFF2-40B4-BE49-F238E27FC236}">
                      <a16:creationId xmlns:a16="http://schemas.microsoft.com/office/drawing/2014/main" id="{D7AEB030-C828-BBA2-D56E-96CA0E57FA8C}"/>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272409" name="Text Box 25">
                  <a:extLst>
                    <a:ext uri="{FF2B5EF4-FFF2-40B4-BE49-F238E27FC236}">
                      <a16:creationId xmlns:a16="http://schemas.microsoft.com/office/drawing/2014/main" id="{34D0F62F-B021-0590-56EE-597A3B6730B0}"/>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272410" name="Group 26">
                <a:extLst>
                  <a:ext uri="{FF2B5EF4-FFF2-40B4-BE49-F238E27FC236}">
                    <a16:creationId xmlns:a16="http://schemas.microsoft.com/office/drawing/2014/main" id="{7FFB16CF-325F-4ABE-A461-9CBC3D09A8EF}"/>
                  </a:ext>
                </a:extLst>
              </p:cNvPr>
              <p:cNvGrpSpPr>
                <a:grpSpLocks/>
              </p:cNvGrpSpPr>
              <p:nvPr/>
            </p:nvGrpSpPr>
            <p:grpSpPr bwMode="auto">
              <a:xfrm rot="21300000">
                <a:off x="2901" y="1008"/>
                <a:ext cx="404" cy="350"/>
                <a:chOff x="2880" y="3312"/>
                <a:chExt cx="408" cy="336"/>
              </a:xfrm>
            </p:grpSpPr>
            <p:sp>
              <p:nvSpPr>
                <p:cNvPr id="272411" name="Freeform 27">
                  <a:extLst>
                    <a:ext uri="{FF2B5EF4-FFF2-40B4-BE49-F238E27FC236}">
                      <a16:creationId xmlns:a16="http://schemas.microsoft.com/office/drawing/2014/main" id="{F6F3F80E-17B0-294D-7CFE-1DC5D90C1ACD}"/>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2412" name="Freeform 28">
                  <a:extLst>
                    <a:ext uri="{FF2B5EF4-FFF2-40B4-BE49-F238E27FC236}">
                      <a16:creationId xmlns:a16="http://schemas.microsoft.com/office/drawing/2014/main" id="{81F49AE6-E856-4411-BD72-7E8004B9AC63}"/>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2413" name="Freeform 29">
                  <a:extLst>
                    <a:ext uri="{FF2B5EF4-FFF2-40B4-BE49-F238E27FC236}">
                      <a16:creationId xmlns:a16="http://schemas.microsoft.com/office/drawing/2014/main" id="{A4174D1C-9777-6FC5-7F30-C0384172F0B4}"/>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72415" name="Freeform 31">
                <a:extLst>
                  <a:ext uri="{FF2B5EF4-FFF2-40B4-BE49-F238E27FC236}">
                    <a16:creationId xmlns:a16="http://schemas.microsoft.com/office/drawing/2014/main" id="{4069736C-EA6F-2D86-36F3-7CF3A846905F}"/>
                  </a:ext>
                </a:extLst>
              </p:cNvPr>
              <p:cNvSpPr>
                <a:spLocks/>
              </p:cNvSpPr>
              <p:nvPr/>
            </p:nvSpPr>
            <p:spPr bwMode="auto">
              <a:xfrm>
                <a:off x="3227" y="1714"/>
                <a:ext cx="184" cy="806"/>
              </a:xfrm>
              <a:custGeom>
                <a:avLst/>
                <a:gdLst>
                  <a:gd name="T0" fmla="*/ 0 w 376"/>
                  <a:gd name="T1" fmla="*/ 0 h 2280"/>
                  <a:gd name="T2" fmla="*/ 0 w 376"/>
                  <a:gd name="T3" fmla="*/ 2280 h 2280"/>
                </a:gdLst>
                <a:ahLst/>
                <a:cxnLst>
                  <a:cxn ang="0">
                    <a:pos x="T0" y="T1"/>
                  </a:cxn>
                  <a:cxn ang="0">
                    <a:pos x="T2" y="T3"/>
                  </a:cxn>
                </a:cxnLst>
                <a:rect l="0" t="0" r="r" b="b"/>
                <a:pathLst>
                  <a:path w="376" h="2280">
                    <a:moveTo>
                      <a:pt x="0" y="0"/>
                    </a:moveTo>
                    <a:cubicBezTo>
                      <a:pt x="376" y="648"/>
                      <a:pt x="376" y="1544"/>
                      <a:pt x="0" y="2280"/>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2416" name="Freeform 32">
                <a:extLst>
                  <a:ext uri="{FF2B5EF4-FFF2-40B4-BE49-F238E27FC236}">
                    <a16:creationId xmlns:a16="http://schemas.microsoft.com/office/drawing/2014/main" id="{171753AB-3F56-B7CE-3A05-1A24B0CD7C8C}"/>
                  </a:ext>
                </a:extLst>
              </p:cNvPr>
              <p:cNvSpPr>
                <a:spLocks/>
              </p:cNvSpPr>
              <p:nvPr/>
            </p:nvSpPr>
            <p:spPr bwMode="auto">
              <a:xfrm rot="10800000">
                <a:off x="2915" y="1728"/>
                <a:ext cx="184" cy="806"/>
              </a:xfrm>
              <a:custGeom>
                <a:avLst/>
                <a:gdLst>
                  <a:gd name="T0" fmla="*/ 0 w 376"/>
                  <a:gd name="T1" fmla="*/ 0 h 2280"/>
                  <a:gd name="T2" fmla="*/ 0 w 376"/>
                  <a:gd name="T3" fmla="*/ 2280 h 2280"/>
                </a:gdLst>
                <a:ahLst/>
                <a:cxnLst>
                  <a:cxn ang="0">
                    <a:pos x="T0" y="T1"/>
                  </a:cxn>
                  <a:cxn ang="0">
                    <a:pos x="T2" y="T3"/>
                  </a:cxn>
                </a:cxnLst>
                <a:rect l="0" t="0" r="r" b="b"/>
                <a:pathLst>
                  <a:path w="376" h="2280">
                    <a:moveTo>
                      <a:pt x="0" y="0"/>
                    </a:moveTo>
                    <a:cubicBezTo>
                      <a:pt x="376" y="648"/>
                      <a:pt x="376" y="1544"/>
                      <a:pt x="0" y="2280"/>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72425" name="Group 41">
                <a:extLst>
                  <a:ext uri="{FF2B5EF4-FFF2-40B4-BE49-F238E27FC236}">
                    <a16:creationId xmlns:a16="http://schemas.microsoft.com/office/drawing/2014/main" id="{61E9D8A6-652B-184C-6E1F-8DBC07C33A73}"/>
                  </a:ext>
                </a:extLst>
              </p:cNvPr>
              <p:cNvGrpSpPr>
                <a:grpSpLocks/>
              </p:cNvGrpSpPr>
              <p:nvPr/>
            </p:nvGrpSpPr>
            <p:grpSpPr bwMode="auto">
              <a:xfrm>
                <a:off x="2867" y="2502"/>
                <a:ext cx="530" cy="714"/>
                <a:chOff x="-888" y="3143"/>
                <a:chExt cx="566" cy="761"/>
              </a:xfrm>
            </p:grpSpPr>
            <p:grpSp>
              <p:nvGrpSpPr>
                <p:cNvPr id="272418" name="Group 34">
                  <a:extLst>
                    <a:ext uri="{FF2B5EF4-FFF2-40B4-BE49-F238E27FC236}">
                      <a16:creationId xmlns:a16="http://schemas.microsoft.com/office/drawing/2014/main" id="{4BF15DB6-75C3-730A-1A72-95FF99E7375C}"/>
                    </a:ext>
                  </a:extLst>
                </p:cNvPr>
                <p:cNvGrpSpPr>
                  <a:grpSpLocks/>
                </p:cNvGrpSpPr>
                <p:nvPr/>
              </p:nvGrpSpPr>
              <p:grpSpPr bwMode="auto">
                <a:xfrm flipV="1">
                  <a:off x="-888" y="3143"/>
                  <a:ext cx="566" cy="413"/>
                  <a:chOff x="726" y="2634"/>
                  <a:chExt cx="566" cy="413"/>
                </a:xfrm>
              </p:grpSpPr>
              <p:sp>
                <p:nvSpPr>
                  <p:cNvPr id="272419" name="Oval 35">
                    <a:extLst>
                      <a:ext uri="{FF2B5EF4-FFF2-40B4-BE49-F238E27FC236}">
                        <a16:creationId xmlns:a16="http://schemas.microsoft.com/office/drawing/2014/main" id="{2B731EB6-0E5D-AF01-58E7-21429DC12B3C}"/>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a:lstStyle/>
                  <a:p>
                    <a:endParaRPr lang="en-US" altLang="en-US" sz="2100">
                      <a:solidFill>
                        <a:srgbClr val="000000"/>
                      </a:solidFill>
                    </a:endParaRPr>
                  </a:p>
                </p:txBody>
              </p:sp>
              <p:sp>
                <p:nvSpPr>
                  <p:cNvPr id="272420" name="Text Box 36">
                    <a:extLst>
                      <a:ext uri="{FF2B5EF4-FFF2-40B4-BE49-F238E27FC236}">
                        <a16:creationId xmlns:a16="http://schemas.microsoft.com/office/drawing/2014/main" id="{5968400B-3860-C066-DE76-64E7B12ED452}"/>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endParaRPr lang="en-US" altLang="en-US" sz="1100">
                      <a:solidFill>
                        <a:srgbClr val="000000"/>
                      </a:solidFill>
                    </a:endParaRPr>
                  </a:p>
                </p:txBody>
              </p:sp>
            </p:grpSp>
            <p:grpSp>
              <p:nvGrpSpPr>
                <p:cNvPr id="272421" name="Group 37">
                  <a:extLst>
                    <a:ext uri="{FF2B5EF4-FFF2-40B4-BE49-F238E27FC236}">
                      <a16:creationId xmlns:a16="http://schemas.microsoft.com/office/drawing/2014/main" id="{BA7467C3-834E-3136-E3F2-85CAEE55684E}"/>
                    </a:ext>
                  </a:extLst>
                </p:cNvPr>
                <p:cNvGrpSpPr>
                  <a:grpSpLocks/>
                </p:cNvGrpSpPr>
                <p:nvPr/>
              </p:nvGrpSpPr>
              <p:grpSpPr bwMode="auto">
                <a:xfrm rot="21300000" flipH="1" flipV="1">
                  <a:off x="-788" y="3530"/>
                  <a:ext cx="432" cy="374"/>
                  <a:chOff x="2880" y="3312"/>
                  <a:chExt cx="408" cy="336"/>
                </a:xfrm>
              </p:grpSpPr>
              <p:sp>
                <p:nvSpPr>
                  <p:cNvPr id="272422" name="Freeform 38">
                    <a:extLst>
                      <a:ext uri="{FF2B5EF4-FFF2-40B4-BE49-F238E27FC236}">
                        <a16:creationId xmlns:a16="http://schemas.microsoft.com/office/drawing/2014/main" id="{1A92FEDD-1C14-3D1F-5A7E-FEE1E77F9E82}"/>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2423" name="Freeform 39">
                    <a:extLst>
                      <a:ext uri="{FF2B5EF4-FFF2-40B4-BE49-F238E27FC236}">
                        <a16:creationId xmlns:a16="http://schemas.microsoft.com/office/drawing/2014/main" id="{3DF09AB6-0277-DD1B-767A-A69CAE3A608B}"/>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2424" name="Freeform 40">
                    <a:extLst>
                      <a:ext uri="{FF2B5EF4-FFF2-40B4-BE49-F238E27FC236}">
                        <a16:creationId xmlns:a16="http://schemas.microsoft.com/office/drawing/2014/main" id="{0E296273-8116-BD9D-D59A-1C5EE83DC033}"/>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72426" name="Freeform 42">
                <a:extLst>
                  <a:ext uri="{FF2B5EF4-FFF2-40B4-BE49-F238E27FC236}">
                    <a16:creationId xmlns:a16="http://schemas.microsoft.com/office/drawing/2014/main" id="{8B78C9CA-450F-48F8-DE6F-C516C7B346FE}"/>
                  </a:ext>
                </a:extLst>
              </p:cNvPr>
              <p:cNvSpPr>
                <a:spLocks/>
              </p:cNvSpPr>
              <p:nvPr/>
            </p:nvSpPr>
            <p:spPr bwMode="auto">
              <a:xfrm>
                <a:off x="1655" y="1548"/>
                <a:ext cx="1273" cy="1"/>
              </a:xfrm>
              <a:custGeom>
                <a:avLst/>
                <a:gdLst>
                  <a:gd name="T0" fmla="*/ 0 w 1321"/>
                  <a:gd name="T1" fmla="*/ 0 h 12"/>
                  <a:gd name="T2" fmla="*/ 1321 w 1321"/>
                  <a:gd name="T3" fmla="*/ 12 h 12"/>
                </a:gdLst>
                <a:ahLst/>
                <a:cxnLst>
                  <a:cxn ang="0">
                    <a:pos x="T0" y="T1"/>
                  </a:cxn>
                  <a:cxn ang="0">
                    <a:pos x="T2" y="T3"/>
                  </a:cxn>
                </a:cxnLst>
                <a:rect l="0" t="0" r="r" b="b"/>
                <a:pathLst>
                  <a:path w="1321" h="12">
                    <a:moveTo>
                      <a:pt x="0" y="0"/>
                    </a:moveTo>
                    <a:lnTo>
                      <a:pt x="1321" y="12"/>
                    </a:ln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2427" name="Text Box 43">
                <a:extLst>
                  <a:ext uri="{FF2B5EF4-FFF2-40B4-BE49-F238E27FC236}">
                    <a16:creationId xmlns:a16="http://schemas.microsoft.com/office/drawing/2014/main" id="{223CFE85-F4D2-8FD5-00A5-ADE1319DFD0D}"/>
                  </a:ext>
                </a:extLst>
              </p:cNvPr>
              <p:cNvSpPr txBox="1">
                <a:spLocks noChangeArrowheads="1"/>
              </p:cNvSpPr>
              <p:nvPr/>
            </p:nvSpPr>
            <p:spPr bwMode="auto">
              <a:xfrm flipH="1">
                <a:off x="2135" y="1308"/>
                <a:ext cx="23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grpSp>
            <p:nvGrpSpPr>
              <p:cNvPr id="272429" name="Group 45">
                <a:extLst>
                  <a:ext uri="{FF2B5EF4-FFF2-40B4-BE49-F238E27FC236}">
                    <a16:creationId xmlns:a16="http://schemas.microsoft.com/office/drawing/2014/main" id="{ECAADED3-A6AD-05F3-8AAA-742389A98CF8}"/>
                  </a:ext>
                </a:extLst>
              </p:cNvPr>
              <p:cNvGrpSpPr>
                <a:grpSpLocks/>
              </p:cNvGrpSpPr>
              <p:nvPr/>
            </p:nvGrpSpPr>
            <p:grpSpPr bwMode="auto">
              <a:xfrm>
                <a:off x="1199" y="1344"/>
                <a:ext cx="566" cy="413"/>
                <a:chOff x="726" y="2634"/>
                <a:chExt cx="566" cy="413"/>
              </a:xfrm>
            </p:grpSpPr>
            <p:sp>
              <p:nvSpPr>
                <p:cNvPr id="272430" name="Oval 46">
                  <a:extLst>
                    <a:ext uri="{FF2B5EF4-FFF2-40B4-BE49-F238E27FC236}">
                      <a16:creationId xmlns:a16="http://schemas.microsoft.com/office/drawing/2014/main" id="{5F3CC363-45A5-1727-4C51-6822C46203B3}"/>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272431" name="Text Box 47">
                  <a:extLst>
                    <a:ext uri="{FF2B5EF4-FFF2-40B4-BE49-F238E27FC236}">
                      <a16:creationId xmlns:a16="http://schemas.microsoft.com/office/drawing/2014/main" id="{3857877F-7087-6B8D-3BCB-4C3015C3E989}"/>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877669B-C2F5-1CAE-57CC-A0C4141F59AC}"/>
              </a:ext>
            </a:extLst>
          </p:cNvPr>
          <p:cNvSpPr>
            <a:spLocks noGrp="1"/>
          </p:cNvSpPr>
          <p:nvPr>
            <p:ph type="sldNum" sz="quarter" idx="12"/>
          </p:nvPr>
        </p:nvSpPr>
        <p:spPr/>
        <p:txBody>
          <a:bodyPr/>
          <a:lstStyle/>
          <a:p>
            <a:fld id="{79B47B5D-1F16-4C8D-96FD-CB6D022EC7E3}" type="slidenum">
              <a:rPr lang="en-US" altLang="en-US"/>
              <a:pPr/>
              <a:t>15</a:t>
            </a:fld>
            <a:endParaRPr lang="en-US" altLang="en-US"/>
          </a:p>
        </p:txBody>
      </p:sp>
      <p:sp>
        <p:nvSpPr>
          <p:cNvPr id="302082" name="Rectangle 2">
            <a:extLst>
              <a:ext uri="{FF2B5EF4-FFF2-40B4-BE49-F238E27FC236}">
                <a16:creationId xmlns:a16="http://schemas.microsoft.com/office/drawing/2014/main" id="{9F13D18D-62A3-6620-9160-E8BA70A71D50}"/>
              </a:ext>
            </a:extLst>
          </p:cNvPr>
          <p:cNvSpPr>
            <a:spLocks noGrp="1" noChangeArrowheads="1"/>
          </p:cNvSpPr>
          <p:nvPr>
            <p:ph type="title"/>
          </p:nvPr>
        </p:nvSpPr>
        <p:spPr/>
        <p:txBody>
          <a:bodyPr/>
          <a:lstStyle/>
          <a:p>
            <a:pPr algn="ctr"/>
            <a:r>
              <a:rPr lang="en-US" altLang="en-US"/>
              <a:t>Note</a:t>
            </a:r>
          </a:p>
        </p:txBody>
      </p:sp>
      <p:sp>
        <p:nvSpPr>
          <p:cNvPr id="302083" name="Rectangle 3">
            <a:extLst>
              <a:ext uri="{FF2B5EF4-FFF2-40B4-BE49-F238E27FC236}">
                <a16:creationId xmlns:a16="http://schemas.microsoft.com/office/drawing/2014/main" id="{A680657C-6699-DCC6-E6D3-5A895F5A0A4B}"/>
              </a:ext>
            </a:extLst>
          </p:cNvPr>
          <p:cNvSpPr>
            <a:spLocks noGrp="1" noChangeArrowheads="1"/>
          </p:cNvSpPr>
          <p:nvPr>
            <p:ph type="body" idx="1"/>
          </p:nvPr>
        </p:nvSpPr>
        <p:spPr/>
        <p:txBody>
          <a:bodyPr/>
          <a:lstStyle/>
          <a:p>
            <a:endParaRPr lang="en-US" altLang="en-US"/>
          </a:p>
          <a:p>
            <a:endParaRPr lang="en-US" altLang="en-US"/>
          </a:p>
          <a:p>
            <a:r>
              <a:rPr lang="en-US" altLang="en-US"/>
              <a:t>It may be noted that corresponding to a given language there may be more than one FA accepting that language, but for a given FA there is a unique language accepted by that FA.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A409AC4-128E-8176-2A7C-D4628A951576}"/>
              </a:ext>
            </a:extLst>
          </p:cNvPr>
          <p:cNvSpPr>
            <a:spLocks noGrp="1"/>
          </p:cNvSpPr>
          <p:nvPr>
            <p:ph type="sldNum" sz="quarter" idx="12"/>
          </p:nvPr>
        </p:nvSpPr>
        <p:spPr/>
        <p:txBody>
          <a:bodyPr/>
          <a:lstStyle/>
          <a:p>
            <a:fld id="{58054C59-D8AC-4B86-BC8B-02FA80508E92}" type="slidenum">
              <a:rPr lang="en-US" altLang="en-US"/>
              <a:pPr/>
              <a:t>16</a:t>
            </a:fld>
            <a:endParaRPr lang="en-US" altLang="en-US"/>
          </a:p>
        </p:txBody>
      </p:sp>
      <p:sp>
        <p:nvSpPr>
          <p:cNvPr id="311298" name="Rectangle 2">
            <a:extLst>
              <a:ext uri="{FF2B5EF4-FFF2-40B4-BE49-F238E27FC236}">
                <a16:creationId xmlns:a16="http://schemas.microsoft.com/office/drawing/2014/main" id="{F91202E2-15ED-EB00-CAC1-A75FE9DCAE64}"/>
              </a:ext>
            </a:extLst>
          </p:cNvPr>
          <p:cNvSpPr>
            <a:spLocks noGrp="1" noChangeArrowheads="1"/>
          </p:cNvSpPr>
          <p:nvPr>
            <p:ph type="title"/>
          </p:nvPr>
        </p:nvSpPr>
        <p:spPr>
          <a:xfrm>
            <a:off x="1930400" y="152400"/>
            <a:ext cx="7772400" cy="1143000"/>
          </a:xfrm>
        </p:spPr>
        <p:txBody>
          <a:bodyPr/>
          <a:lstStyle/>
          <a:p>
            <a:pPr algn="ctr"/>
            <a:r>
              <a:rPr lang="en-US" altLang="en-US"/>
              <a:t>Note</a:t>
            </a:r>
          </a:p>
        </p:txBody>
      </p:sp>
      <p:sp>
        <p:nvSpPr>
          <p:cNvPr id="311299" name="Rectangle 3">
            <a:extLst>
              <a:ext uri="{FF2B5EF4-FFF2-40B4-BE49-F238E27FC236}">
                <a16:creationId xmlns:a16="http://schemas.microsoft.com/office/drawing/2014/main" id="{EDF35750-9F45-0715-E62C-C9304145950E}"/>
              </a:ext>
            </a:extLst>
          </p:cNvPr>
          <p:cNvSpPr>
            <a:spLocks noGrp="1" noChangeArrowheads="1"/>
          </p:cNvSpPr>
          <p:nvPr>
            <p:ph type="body" idx="1"/>
          </p:nvPr>
        </p:nvSpPr>
        <p:spPr/>
        <p:txBody>
          <a:bodyPr/>
          <a:lstStyle/>
          <a:p>
            <a:pPr>
              <a:lnSpc>
                <a:spcPct val="90000"/>
              </a:lnSpc>
            </a:pPr>
            <a:r>
              <a:rPr lang="en-US" altLang="en-US"/>
              <a:t>It is to be noted that given the languages L</a:t>
            </a:r>
            <a:r>
              <a:rPr lang="en-US" altLang="en-US" baseline="-30000"/>
              <a:t>1 </a:t>
            </a:r>
            <a:r>
              <a:rPr lang="en-US" altLang="en-US"/>
              <a:t>and L</a:t>
            </a:r>
            <a:r>
              <a:rPr lang="en-US" altLang="en-US" baseline="-30000"/>
              <a:t>2 </a:t>
            </a:r>
            <a:r>
              <a:rPr lang="en-US" altLang="en-US"/>
              <a:t>,where</a:t>
            </a:r>
          </a:p>
          <a:p>
            <a:pPr>
              <a:lnSpc>
                <a:spcPct val="90000"/>
              </a:lnSpc>
              <a:buFont typeface="Monotype Sorts" pitchFamily="2" charset="2"/>
              <a:buNone/>
            </a:pPr>
            <a:r>
              <a:rPr lang="en-US" altLang="en-US"/>
              <a:t>L</a:t>
            </a:r>
            <a:r>
              <a:rPr lang="en-US" altLang="en-US" baseline="-30000"/>
              <a:t>1</a:t>
            </a:r>
            <a:r>
              <a:rPr lang="en-US" altLang="en-US"/>
              <a:t> = The language of strings, defined over  	</a:t>
            </a:r>
            <a:r>
              <a:rPr lang="el-GR" altLang="en-US"/>
              <a:t>Σ</a:t>
            </a:r>
            <a:r>
              <a:rPr lang="en-US" altLang="en-US"/>
              <a:t>={a, b},  </a:t>
            </a:r>
            <a:r>
              <a:rPr lang="en-US" altLang="en-US" b="1"/>
              <a:t>beginning with a</a:t>
            </a:r>
            <a:endParaRPr lang="en-US" altLang="en-US"/>
          </a:p>
          <a:p>
            <a:pPr>
              <a:lnSpc>
                <a:spcPct val="90000"/>
              </a:lnSpc>
              <a:buFont typeface="Monotype Sorts" pitchFamily="2" charset="2"/>
              <a:buNone/>
            </a:pPr>
            <a:r>
              <a:rPr lang="en-US" altLang="en-US"/>
              <a:t>L</a:t>
            </a:r>
            <a:r>
              <a:rPr lang="en-US" altLang="en-US" baseline="-30000"/>
              <a:t>2</a:t>
            </a:r>
            <a:r>
              <a:rPr lang="en-US" altLang="en-US"/>
              <a:t> = The language of strings, defined over       	</a:t>
            </a:r>
            <a:r>
              <a:rPr lang="el-GR" altLang="en-US"/>
              <a:t>Σ</a:t>
            </a:r>
            <a:r>
              <a:rPr lang="en-US" altLang="en-US"/>
              <a:t>={a, b}, 	</a:t>
            </a:r>
            <a:r>
              <a:rPr lang="en-US" altLang="en-US" b="1"/>
              <a:t>not beginning with b</a:t>
            </a:r>
            <a:endParaRPr lang="en-US" altLang="en-US"/>
          </a:p>
          <a:p>
            <a:pPr>
              <a:lnSpc>
                <a:spcPct val="90000"/>
              </a:lnSpc>
              <a:buFont typeface="Monotype Sorts" pitchFamily="2" charset="2"/>
              <a:buNone/>
            </a:pPr>
            <a:r>
              <a:rPr lang="en-US" altLang="en-US"/>
              <a:t>The </a:t>
            </a:r>
            <a:r>
              <a:rPr lang="en-US" altLang="en-US">
                <a:sym typeface="Symbol" panose="05050102010706020507" pitchFamily="18" charset="2"/>
              </a:rPr>
              <a:t></a:t>
            </a:r>
            <a:r>
              <a:rPr lang="en-US" altLang="en-US"/>
              <a:t> does not belong to L</a:t>
            </a:r>
            <a:r>
              <a:rPr lang="en-US" altLang="en-US" baseline="-30000"/>
              <a:t>1 </a:t>
            </a:r>
            <a:r>
              <a:rPr lang="en-US" altLang="en-US"/>
              <a:t>while it does belong to L</a:t>
            </a:r>
            <a:r>
              <a:rPr lang="en-US" altLang="en-US" baseline="-30000"/>
              <a:t>2 </a:t>
            </a:r>
            <a:r>
              <a:rPr lang="en-US" altLang="en-US"/>
              <a:t>. This fact may be depicted by the corresponding transition diagrams of L</a:t>
            </a:r>
            <a:r>
              <a:rPr lang="en-US" altLang="en-US" baseline="-30000"/>
              <a:t>1 </a:t>
            </a:r>
            <a:r>
              <a:rPr lang="en-US" altLang="en-US"/>
              <a:t>and L</a:t>
            </a:r>
            <a:r>
              <a:rPr lang="en-US" altLang="en-US" baseline="-30000"/>
              <a:t>2</a:t>
            </a:r>
            <a:r>
              <a:rPr lang="en-US" altLang="en-US"/>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9BE30F2-48A3-5B1C-0A7E-97108609580B}"/>
              </a:ext>
            </a:extLst>
          </p:cNvPr>
          <p:cNvSpPr>
            <a:spLocks noGrp="1"/>
          </p:cNvSpPr>
          <p:nvPr>
            <p:ph type="sldNum" sz="quarter" idx="12"/>
          </p:nvPr>
        </p:nvSpPr>
        <p:spPr/>
        <p:txBody>
          <a:bodyPr/>
          <a:lstStyle/>
          <a:p>
            <a:fld id="{1D7F68E5-12E4-4F2F-A432-E7A4893F014B}" type="slidenum">
              <a:rPr lang="en-US" altLang="en-US"/>
              <a:pPr/>
              <a:t>17</a:t>
            </a:fld>
            <a:endParaRPr lang="en-US" altLang="en-US"/>
          </a:p>
        </p:txBody>
      </p:sp>
      <p:sp>
        <p:nvSpPr>
          <p:cNvPr id="312369" name="Rectangle 49">
            <a:extLst>
              <a:ext uri="{FF2B5EF4-FFF2-40B4-BE49-F238E27FC236}">
                <a16:creationId xmlns:a16="http://schemas.microsoft.com/office/drawing/2014/main" id="{9DC9BE57-6E3D-2567-C9E9-342941BD2845}"/>
              </a:ext>
            </a:extLst>
          </p:cNvPr>
          <p:cNvSpPr>
            <a:spLocks noGrp="1" noChangeArrowheads="1"/>
          </p:cNvSpPr>
          <p:nvPr>
            <p:ph type="title"/>
          </p:nvPr>
        </p:nvSpPr>
        <p:spPr/>
        <p:txBody>
          <a:bodyPr/>
          <a:lstStyle/>
          <a:p>
            <a:pPr algn="ctr"/>
            <a:r>
              <a:rPr lang="en-US" altLang="en-US"/>
              <a:t>FA</a:t>
            </a:r>
            <a:r>
              <a:rPr lang="en-US" altLang="en-US" baseline="-40000"/>
              <a:t>1 </a:t>
            </a:r>
            <a:r>
              <a:rPr lang="en-US" altLang="en-US"/>
              <a:t>  Corresponding to L</a:t>
            </a:r>
            <a:r>
              <a:rPr lang="en-US" altLang="en-US" baseline="-40000"/>
              <a:t>1</a:t>
            </a:r>
            <a:r>
              <a:rPr lang="en-US" altLang="en-US"/>
              <a:t>  </a:t>
            </a:r>
          </a:p>
        </p:txBody>
      </p:sp>
      <p:sp>
        <p:nvSpPr>
          <p:cNvPr id="312370" name="Rectangle 50">
            <a:extLst>
              <a:ext uri="{FF2B5EF4-FFF2-40B4-BE49-F238E27FC236}">
                <a16:creationId xmlns:a16="http://schemas.microsoft.com/office/drawing/2014/main" id="{20A8D463-A912-0EC4-FF50-4BFF0D31F17A}"/>
              </a:ext>
            </a:extLst>
          </p:cNvPr>
          <p:cNvSpPr>
            <a:spLocks noGrp="1" noChangeArrowheads="1"/>
          </p:cNvSpPr>
          <p:nvPr>
            <p:ph type="body" idx="1"/>
          </p:nvPr>
        </p:nvSpPr>
        <p:spPr/>
        <p:txBody>
          <a:bodyPr/>
          <a:lstStyle/>
          <a:p>
            <a:pPr>
              <a:lnSpc>
                <a:spcPct val="90000"/>
              </a:lnSpc>
            </a:pPr>
            <a:endParaRPr lang="en-US" altLang="en-US"/>
          </a:p>
          <a:p>
            <a:pPr>
              <a:lnSpc>
                <a:spcPct val="90000"/>
              </a:lnSpc>
            </a:pPr>
            <a:endParaRPr lang="en-US" altLang="en-US"/>
          </a:p>
          <a:p>
            <a:pPr>
              <a:lnSpc>
                <a:spcPct val="90000"/>
              </a:lnSpc>
            </a:pPr>
            <a:endParaRPr lang="en-US" altLang="en-US"/>
          </a:p>
          <a:p>
            <a:pPr>
              <a:lnSpc>
                <a:spcPct val="90000"/>
              </a:lnSpc>
            </a:pPr>
            <a:endParaRPr lang="en-US" altLang="en-US"/>
          </a:p>
          <a:p>
            <a:pPr>
              <a:lnSpc>
                <a:spcPct val="90000"/>
              </a:lnSpc>
            </a:pPr>
            <a:endParaRPr lang="en-US" altLang="en-US"/>
          </a:p>
          <a:p>
            <a:pPr>
              <a:lnSpc>
                <a:spcPct val="90000"/>
              </a:lnSpc>
            </a:pPr>
            <a:endParaRPr lang="en-US" altLang="en-US"/>
          </a:p>
          <a:p>
            <a:pPr>
              <a:lnSpc>
                <a:spcPct val="90000"/>
              </a:lnSpc>
            </a:pPr>
            <a:endParaRPr lang="en-US" altLang="en-US"/>
          </a:p>
          <a:p>
            <a:pPr>
              <a:lnSpc>
                <a:spcPct val="90000"/>
              </a:lnSpc>
            </a:pPr>
            <a:r>
              <a:rPr lang="en-US" altLang="en-US"/>
              <a:t>The language L</a:t>
            </a:r>
            <a:r>
              <a:rPr lang="en-US" altLang="en-US" baseline="-40000"/>
              <a:t>1</a:t>
            </a:r>
            <a:r>
              <a:rPr lang="en-US" altLang="en-US"/>
              <a:t> may be  expressed by the regular expression a(a + b)</a:t>
            </a:r>
            <a:r>
              <a:rPr lang="en-US" altLang="en-US" baseline="40000"/>
              <a:t>*</a:t>
            </a:r>
          </a:p>
        </p:txBody>
      </p:sp>
      <p:grpSp>
        <p:nvGrpSpPr>
          <p:cNvPr id="312368" name="Group 48">
            <a:extLst>
              <a:ext uri="{FF2B5EF4-FFF2-40B4-BE49-F238E27FC236}">
                <a16:creationId xmlns:a16="http://schemas.microsoft.com/office/drawing/2014/main" id="{1B084270-EE63-D542-F92D-3C49BED6BA89}"/>
              </a:ext>
            </a:extLst>
          </p:cNvPr>
          <p:cNvGrpSpPr>
            <a:grpSpLocks/>
          </p:cNvGrpSpPr>
          <p:nvPr/>
        </p:nvGrpSpPr>
        <p:grpSpPr bwMode="auto">
          <a:xfrm>
            <a:off x="3276601" y="1676400"/>
            <a:ext cx="5889625" cy="3505200"/>
            <a:chOff x="1056" y="1440"/>
            <a:chExt cx="3710" cy="2208"/>
          </a:xfrm>
        </p:grpSpPr>
        <p:sp>
          <p:nvSpPr>
            <p:cNvPr id="312341" name="Text Box 21">
              <a:extLst>
                <a:ext uri="{FF2B5EF4-FFF2-40B4-BE49-F238E27FC236}">
                  <a16:creationId xmlns:a16="http://schemas.microsoft.com/office/drawing/2014/main" id="{E5EDF2EE-20FF-4BB2-6916-048B67070491}"/>
                </a:ext>
              </a:extLst>
            </p:cNvPr>
            <p:cNvSpPr txBox="1">
              <a:spLocks noChangeArrowheads="1"/>
            </p:cNvSpPr>
            <p:nvPr/>
          </p:nvSpPr>
          <p:spPr bwMode="auto">
            <a:xfrm>
              <a:off x="3975" y="1440"/>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a,b</a:t>
              </a:r>
              <a:endParaRPr lang="en-US" altLang="en-US"/>
            </a:p>
          </p:txBody>
        </p:sp>
        <p:grpSp>
          <p:nvGrpSpPr>
            <p:cNvPr id="312367" name="Group 47">
              <a:extLst>
                <a:ext uri="{FF2B5EF4-FFF2-40B4-BE49-F238E27FC236}">
                  <a16:creationId xmlns:a16="http://schemas.microsoft.com/office/drawing/2014/main" id="{4B116702-6B49-6B16-8F05-C8DCF29D3707}"/>
                </a:ext>
              </a:extLst>
            </p:cNvPr>
            <p:cNvGrpSpPr>
              <a:grpSpLocks/>
            </p:cNvGrpSpPr>
            <p:nvPr/>
          </p:nvGrpSpPr>
          <p:grpSpPr bwMode="auto">
            <a:xfrm>
              <a:off x="1056" y="1560"/>
              <a:ext cx="3696" cy="2088"/>
              <a:chOff x="1056" y="1560"/>
              <a:chExt cx="3696" cy="2088"/>
            </a:xfrm>
          </p:grpSpPr>
          <p:sp>
            <p:nvSpPr>
              <p:cNvPr id="312343" name="Text Box 23">
                <a:extLst>
                  <a:ext uri="{FF2B5EF4-FFF2-40B4-BE49-F238E27FC236}">
                    <a16:creationId xmlns:a16="http://schemas.microsoft.com/office/drawing/2014/main" id="{2CDEF246-ECE6-F0F4-D541-F2AF775373E5}"/>
                  </a:ext>
                </a:extLst>
              </p:cNvPr>
              <p:cNvSpPr txBox="1">
                <a:spLocks noChangeArrowheads="1"/>
              </p:cNvSpPr>
              <p:nvPr/>
            </p:nvSpPr>
            <p:spPr bwMode="auto">
              <a:xfrm>
                <a:off x="1308" y="1884"/>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n-US" altLang="en-US"/>
              </a:p>
            </p:txBody>
          </p:sp>
          <p:sp>
            <p:nvSpPr>
              <p:cNvPr id="312344" name="Line 24">
                <a:extLst>
                  <a:ext uri="{FF2B5EF4-FFF2-40B4-BE49-F238E27FC236}">
                    <a16:creationId xmlns:a16="http://schemas.microsoft.com/office/drawing/2014/main" id="{90BF6E54-0596-E009-3441-852A9B0923AC}"/>
                  </a:ext>
                </a:extLst>
              </p:cNvPr>
              <p:cNvSpPr>
                <a:spLocks noChangeShapeType="1"/>
              </p:cNvSpPr>
              <p:nvPr/>
            </p:nvSpPr>
            <p:spPr bwMode="auto">
              <a:xfrm>
                <a:off x="1551" y="2120"/>
                <a:ext cx="2373" cy="0"/>
              </a:xfrm>
              <a:prstGeom prst="line">
                <a:avLst/>
              </a:prstGeom>
              <a:noFill/>
              <a:ln w="9525">
                <a:solidFill>
                  <a:srgbClr val="000000"/>
                </a:solidFill>
                <a:round/>
                <a:headEnd/>
                <a:tailEnd type="arrow" w="lg" len="lg"/>
              </a:ln>
              <a:extLst>
                <a:ext uri="{909E8E84-426E-40DD-AFC4-6F175D3DCCD1}">
                  <a14:hiddenFill xmlns:a14="http://schemas.microsoft.com/office/drawing/2010/main">
                    <a:noFill/>
                  </a14:hiddenFill>
                </a:ext>
              </a:extLst>
            </p:spPr>
            <p:txBody>
              <a:bodyPr/>
              <a:lstStyle/>
              <a:p>
                <a:endParaRPr lang="en-US"/>
              </a:p>
            </p:txBody>
          </p:sp>
          <p:sp>
            <p:nvSpPr>
              <p:cNvPr id="312345" name="Text Box 25">
                <a:extLst>
                  <a:ext uri="{FF2B5EF4-FFF2-40B4-BE49-F238E27FC236}">
                    <a16:creationId xmlns:a16="http://schemas.microsoft.com/office/drawing/2014/main" id="{59F87AEF-3449-400E-C942-0B140162D190}"/>
                  </a:ext>
                </a:extLst>
              </p:cNvPr>
              <p:cNvSpPr txBox="1">
                <a:spLocks noChangeArrowheads="1"/>
              </p:cNvSpPr>
              <p:nvPr/>
            </p:nvSpPr>
            <p:spPr bwMode="auto">
              <a:xfrm>
                <a:off x="2648" y="1888"/>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a:t>
                </a:r>
                <a:endParaRPr lang="en-US" altLang="en-US"/>
              </a:p>
            </p:txBody>
          </p:sp>
          <p:sp>
            <p:nvSpPr>
              <p:cNvPr id="312346" name="Line 26">
                <a:extLst>
                  <a:ext uri="{FF2B5EF4-FFF2-40B4-BE49-F238E27FC236}">
                    <a16:creationId xmlns:a16="http://schemas.microsoft.com/office/drawing/2014/main" id="{368F1CEE-C12A-8ADD-4F46-834E22181E38}"/>
                  </a:ext>
                </a:extLst>
              </p:cNvPr>
              <p:cNvSpPr>
                <a:spLocks noChangeShapeType="1"/>
              </p:cNvSpPr>
              <p:nvPr/>
            </p:nvSpPr>
            <p:spPr bwMode="auto">
              <a:xfrm>
                <a:off x="1520" y="2208"/>
                <a:ext cx="2416" cy="1200"/>
              </a:xfrm>
              <a:prstGeom prst="line">
                <a:avLst/>
              </a:prstGeom>
              <a:noFill/>
              <a:ln w="9525">
                <a:solidFill>
                  <a:srgbClr val="000000"/>
                </a:solidFill>
                <a:round/>
                <a:headEnd/>
                <a:tailEnd type="arrow" w="lg" len="lg"/>
              </a:ln>
              <a:extLst>
                <a:ext uri="{909E8E84-426E-40DD-AFC4-6F175D3DCCD1}">
                  <a14:hiddenFill xmlns:a14="http://schemas.microsoft.com/office/drawing/2010/main">
                    <a:noFill/>
                  </a14:hiddenFill>
                </a:ext>
              </a:extLst>
            </p:spPr>
            <p:txBody>
              <a:bodyPr/>
              <a:lstStyle/>
              <a:p>
                <a:endParaRPr lang="en-US"/>
              </a:p>
            </p:txBody>
          </p:sp>
          <p:sp>
            <p:nvSpPr>
              <p:cNvPr id="312347" name="Text Box 27">
                <a:extLst>
                  <a:ext uri="{FF2B5EF4-FFF2-40B4-BE49-F238E27FC236}">
                    <a16:creationId xmlns:a16="http://schemas.microsoft.com/office/drawing/2014/main" id="{E8057058-051A-A940-03A5-AADF4E0DE3D6}"/>
                  </a:ext>
                </a:extLst>
              </p:cNvPr>
              <p:cNvSpPr txBox="1">
                <a:spLocks noChangeArrowheads="1"/>
              </p:cNvSpPr>
              <p:nvPr/>
            </p:nvSpPr>
            <p:spPr bwMode="auto">
              <a:xfrm>
                <a:off x="2652" y="2788"/>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b</a:t>
                </a:r>
                <a:endParaRPr lang="en-US" altLang="en-US"/>
              </a:p>
            </p:txBody>
          </p:sp>
          <p:sp>
            <p:nvSpPr>
              <p:cNvPr id="312348" name="Text Box 28">
                <a:extLst>
                  <a:ext uri="{FF2B5EF4-FFF2-40B4-BE49-F238E27FC236}">
                    <a16:creationId xmlns:a16="http://schemas.microsoft.com/office/drawing/2014/main" id="{6681DFE8-3E69-98DE-F049-FE7D6B66C1BB}"/>
                  </a:ext>
                </a:extLst>
              </p:cNvPr>
              <p:cNvSpPr txBox="1">
                <a:spLocks noChangeArrowheads="1"/>
              </p:cNvSpPr>
              <p:nvPr/>
            </p:nvSpPr>
            <p:spPr bwMode="auto">
              <a:xfrm>
                <a:off x="3961" y="2748"/>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a,b</a:t>
                </a:r>
                <a:endParaRPr lang="en-US" altLang="en-US"/>
              </a:p>
            </p:txBody>
          </p:sp>
          <p:grpSp>
            <p:nvGrpSpPr>
              <p:cNvPr id="312349" name="Group 29">
                <a:extLst>
                  <a:ext uri="{FF2B5EF4-FFF2-40B4-BE49-F238E27FC236}">
                    <a16:creationId xmlns:a16="http://schemas.microsoft.com/office/drawing/2014/main" id="{3B2A2612-B5D3-3827-BDE2-1163B79BE750}"/>
                  </a:ext>
                </a:extLst>
              </p:cNvPr>
              <p:cNvGrpSpPr>
                <a:grpSpLocks/>
              </p:cNvGrpSpPr>
              <p:nvPr/>
            </p:nvGrpSpPr>
            <p:grpSpPr bwMode="auto">
              <a:xfrm>
                <a:off x="1056" y="1902"/>
                <a:ext cx="566" cy="413"/>
                <a:chOff x="726" y="2634"/>
                <a:chExt cx="566" cy="413"/>
              </a:xfrm>
            </p:grpSpPr>
            <p:sp>
              <p:nvSpPr>
                <p:cNvPr id="312350" name="Oval 30">
                  <a:extLst>
                    <a:ext uri="{FF2B5EF4-FFF2-40B4-BE49-F238E27FC236}">
                      <a16:creationId xmlns:a16="http://schemas.microsoft.com/office/drawing/2014/main" id="{4D4436EA-8F0C-9C66-7FDD-853395614BFF}"/>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2351" name="Text Box 31">
                  <a:extLst>
                    <a:ext uri="{FF2B5EF4-FFF2-40B4-BE49-F238E27FC236}">
                      <a16:creationId xmlns:a16="http://schemas.microsoft.com/office/drawing/2014/main" id="{63A689B8-58F8-2D98-0F1E-763316DE6667}"/>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312352" name="Group 32">
                <a:extLst>
                  <a:ext uri="{FF2B5EF4-FFF2-40B4-BE49-F238E27FC236}">
                    <a16:creationId xmlns:a16="http://schemas.microsoft.com/office/drawing/2014/main" id="{9C4121A5-368E-D2B2-6E8B-37938D33DE48}"/>
                  </a:ext>
                </a:extLst>
              </p:cNvPr>
              <p:cNvGrpSpPr>
                <a:grpSpLocks/>
              </p:cNvGrpSpPr>
              <p:nvPr/>
            </p:nvGrpSpPr>
            <p:grpSpPr bwMode="auto">
              <a:xfrm>
                <a:off x="3869" y="2886"/>
                <a:ext cx="469" cy="762"/>
                <a:chOff x="2190" y="3289"/>
                <a:chExt cx="469" cy="762"/>
              </a:xfrm>
            </p:grpSpPr>
            <p:sp>
              <p:nvSpPr>
                <p:cNvPr id="312353" name="Oval 33">
                  <a:extLst>
                    <a:ext uri="{FF2B5EF4-FFF2-40B4-BE49-F238E27FC236}">
                      <a16:creationId xmlns:a16="http://schemas.microsoft.com/office/drawing/2014/main" id="{0495F5E6-2A5D-20EE-EA0D-34DD137AE52D}"/>
                    </a:ext>
                  </a:extLst>
                </p:cNvPr>
                <p:cNvSpPr>
                  <a:spLocks noChangeArrowheads="1"/>
                </p:cNvSpPr>
                <p:nvPr/>
              </p:nvSpPr>
              <p:spPr bwMode="auto">
                <a:xfrm>
                  <a:off x="2256" y="3648"/>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grpSp>
              <p:nvGrpSpPr>
                <p:cNvPr id="312354" name="Group 34">
                  <a:extLst>
                    <a:ext uri="{FF2B5EF4-FFF2-40B4-BE49-F238E27FC236}">
                      <a16:creationId xmlns:a16="http://schemas.microsoft.com/office/drawing/2014/main" id="{19FB22F1-32DC-B83B-18D6-7EFD69F011F0}"/>
                    </a:ext>
                  </a:extLst>
                </p:cNvPr>
                <p:cNvGrpSpPr>
                  <a:grpSpLocks/>
                </p:cNvGrpSpPr>
                <p:nvPr/>
              </p:nvGrpSpPr>
              <p:grpSpPr bwMode="auto">
                <a:xfrm rot="21300000">
                  <a:off x="2190" y="3289"/>
                  <a:ext cx="432" cy="374"/>
                  <a:chOff x="2880" y="3312"/>
                  <a:chExt cx="408" cy="336"/>
                </a:xfrm>
              </p:grpSpPr>
              <p:sp>
                <p:nvSpPr>
                  <p:cNvPr id="312355" name="Freeform 35">
                    <a:extLst>
                      <a:ext uri="{FF2B5EF4-FFF2-40B4-BE49-F238E27FC236}">
                        <a16:creationId xmlns:a16="http://schemas.microsoft.com/office/drawing/2014/main" id="{3C91041D-450F-3749-35E6-071921B1904B}"/>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56" name="Freeform 36">
                    <a:extLst>
                      <a:ext uri="{FF2B5EF4-FFF2-40B4-BE49-F238E27FC236}">
                        <a16:creationId xmlns:a16="http://schemas.microsoft.com/office/drawing/2014/main" id="{B32D147D-A611-7658-0A0A-B74F28DE1F60}"/>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57" name="Freeform 37">
                    <a:extLst>
                      <a:ext uri="{FF2B5EF4-FFF2-40B4-BE49-F238E27FC236}">
                        <a16:creationId xmlns:a16="http://schemas.microsoft.com/office/drawing/2014/main" id="{011F8345-F8BB-9068-12DD-A296766CD01C}"/>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312358" name="Group 38">
                <a:extLst>
                  <a:ext uri="{FF2B5EF4-FFF2-40B4-BE49-F238E27FC236}">
                    <a16:creationId xmlns:a16="http://schemas.microsoft.com/office/drawing/2014/main" id="{BF12FECC-2CED-9692-6E6B-C7F2C2748468}"/>
                  </a:ext>
                </a:extLst>
              </p:cNvPr>
              <p:cNvGrpSpPr>
                <a:grpSpLocks/>
              </p:cNvGrpSpPr>
              <p:nvPr/>
            </p:nvGrpSpPr>
            <p:grpSpPr bwMode="auto">
              <a:xfrm>
                <a:off x="3854" y="1908"/>
                <a:ext cx="566" cy="413"/>
                <a:chOff x="726" y="2634"/>
                <a:chExt cx="566" cy="413"/>
              </a:xfrm>
            </p:grpSpPr>
            <p:sp>
              <p:nvSpPr>
                <p:cNvPr id="312359" name="Oval 39">
                  <a:extLst>
                    <a:ext uri="{FF2B5EF4-FFF2-40B4-BE49-F238E27FC236}">
                      <a16:creationId xmlns:a16="http://schemas.microsoft.com/office/drawing/2014/main" id="{35E402C2-3738-E9D4-7EFD-7C7B7C323B96}"/>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2360" name="Text Box 40">
                  <a:extLst>
                    <a:ext uri="{FF2B5EF4-FFF2-40B4-BE49-F238E27FC236}">
                      <a16:creationId xmlns:a16="http://schemas.microsoft.com/office/drawing/2014/main" id="{A0D0FA92-FEA6-1517-C387-39E610684788}"/>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312361" name="Group 41">
                <a:extLst>
                  <a:ext uri="{FF2B5EF4-FFF2-40B4-BE49-F238E27FC236}">
                    <a16:creationId xmlns:a16="http://schemas.microsoft.com/office/drawing/2014/main" id="{A267229A-8024-E768-8F4F-BD9BD6269301}"/>
                  </a:ext>
                </a:extLst>
              </p:cNvPr>
              <p:cNvGrpSpPr>
                <a:grpSpLocks/>
              </p:cNvGrpSpPr>
              <p:nvPr/>
            </p:nvGrpSpPr>
            <p:grpSpPr bwMode="auto">
              <a:xfrm rot="21300000">
                <a:off x="3890" y="1560"/>
                <a:ext cx="432" cy="374"/>
                <a:chOff x="2880" y="3312"/>
                <a:chExt cx="408" cy="336"/>
              </a:xfrm>
            </p:grpSpPr>
            <p:sp>
              <p:nvSpPr>
                <p:cNvPr id="312362" name="Freeform 42">
                  <a:extLst>
                    <a:ext uri="{FF2B5EF4-FFF2-40B4-BE49-F238E27FC236}">
                      <a16:creationId xmlns:a16="http://schemas.microsoft.com/office/drawing/2014/main" id="{DCE8638C-01D5-104F-47FE-915EA735414B}"/>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63" name="Freeform 43">
                  <a:extLst>
                    <a:ext uri="{FF2B5EF4-FFF2-40B4-BE49-F238E27FC236}">
                      <a16:creationId xmlns:a16="http://schemas.microsoft.com/office/drawing/2014/main" id="{8689C50F-E789-789E-CEE1-296072CD0683}"/>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64" name="Freeform 44">
                  <a:extLst>
                    <a:ext uri="{FF2B5EF4-FFF2-40B4-BE49-F238E27FC236}">
                      <a16:creationId xmlns:a16="http://schemas.microsoft.com/office/drawing/2014/main" id="{736E4D19-400B-C32D-0800-067262D4E121}"/>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2CCC0F5-D28F-FF7C-29DD-02E36349D74E}"/>
              </a:ext>
            </a:extLst>
          </p:cNvPr>
          <p:cNvSpPr>
            <a:spLocks noGrp="1"/>
          </p:cNvSpPr>
          <p:nvPr>
            <p:ph type="sldNum" sz="quarter" idx="12"/>
          </p:nvPr>
        </p:nvSpPr>
        <p:spPr/>
        <p:txBody>
          <a:bodyPr/>
          <a:lstStyle/>
          <a:p>
            <a:fld id="{E9B2D9F0-73B2-45A3-A953-B3ED24C6804F}" type="slidenum">
              <a:rPr lang="en-US" altLang="en-US"/>
              <a:pPr/>
              <a:t>18</a:t>
            </a:fld>
            <a:endParaRPr lang="en-US" altLang="en-US"/>
          </a:p>
        </p:txBody>
      </p:sp>
      <p:sp>
        <p:nvSpPr>
          <p:cNvPr id="313389" name="Rectangle 45">
            <a:extLst>
              <a:ext uri="{FF2B5EF4-FFF2-40B4-BE49-F238E27FC236}">
                <a16:creationId xmlns:a16="http://schemas.microsoft.com/office/drawing/2014/main" id="{BE5B5FC0-974D-D643-0436-30C92AA6581E}"/>
              </a:ext>
            </a:extLst>
          </p:cNvPr>
          <p:cNvSpPr>
            <a:spLocks noGrp="1" noChangeArrowheads="1"/>
          </p:cNvSpPr>
          <p:nvPr>
            <p:ph type="title"/>
          </p:nvPr>
        </p:nvSpPr>
        <p:spPr/>
        <p:txBody>
          <a:bodyPr/>
          <a:lstStyle/>
          <a:p>
            <a:pPr algn="ctr"/>
            <a:r>
              <a:rPr lang="en-US" altLang="en-US"/>
              <a:t>FA</a:t>
            </a:r>
            <a:r>
              <a:rPr lang="en-US" altLang="en-US" baseline="-40000"/>
              <a:t>2</a:t>
            </a:r>
            <a:r>
              <a:rPr lang="en-US" altLang="en-US"/>
              <a:t> Corresponding to L</a:t>
            </a:r>
            <a:r>
              <a:rPr lang="en-US" altLang="en-US" baseline="-40000"/>
              <a:t>2</a:t>
            </a:r>
          </a:p>
        </p:txBody>
      </p:sp>
      <p:sp>
        <p:nvSpPr>
          <p:cNvPr id="313390" name="Rectangle 46">
            <a:extLst>
              <a:ext uri="{FF2B5EF4-FFF2-40B4-BE49-F238E27FC236}">
                <a16:creationId xmlns:a16="http://schemas.microsoft.com/office/drawing/2014/main" id="{AA67117A-0E33-F2F3-296B-210538ED2964}"/>
              </a:ext>
            </a:extLst>
          </p:cNvPr>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r>
              <a:rPr lang="en-US" altLang="en-US"/>
              <a:t>The language L</a:t>
            </a:r>
            <a:r>
              <a:rPr lang="en-US" altLang="en-US" baseline="-40000"/>
              <a:t>2</a:t>
            </a:r>
            <a:r>
              <a:rPr lang="en-US" altLang="en-US"/>
              <a:t> may be  expressed by the regular expression a (a + b)</a:t>
            </a:r>
            <a:r>
              <a:rPr lang="en-US" altLang="en-US" baseline="40000"/>
              <a:t>* </a:t>
            </a:r>
            <a:r>
              <a:rPr lang="en-US" altLang="en-US"/>
              <a:t> + </a:t>
            </a:r>
            <a:r>
              <a:rPr lang="el-GR" altLang="en-US"/>
              <a:t>Λ</a:t>
            </a:r>
          </a:p>
          <a:p>
            <a:endParaRPr lang="en-US" altLang="en-US"/>
          </a:p>
        </p:txBody>
      </p:sp>
      <p:grpSp>
        <p:nvGrpSpPr>
          <p:cNvPr id="313387" name="Group 43">
            <a:extLst>
              <a:ext uri="{FF2B5EF4-FFF2-40B4-BE49-F238E27FC236}">
                <a16:creationId xmlns:a16="http://schemas.microsoft.com/office/drawing/2014/main" id="{82D25925-28F8-EFB4-346B-897CE8773A80}"/>
              </a:ext>
            </a:extLst>
          </p:cNvPr>
          <p:cNvGrpSpPr>
            <a:grpSpLocks/>
          </p:cNvGrpSpPr>
          <p:nvPr/>
        </p:nvGrpSpPr>
        <p:grpSpPr bwMode="auto">
          <a:xfrm>
            <a:off x="7086600" y="3124201"/>
            <a:ext cx="1354138" cy="1400175"/>
            <a:chOff x="2533" y="2370"/>
            <a:chExt cx="853" cy="882"/>
          </a:xfrm>
        </p:grpSpPr>
        <p:sp>
          <p:nvSpPr>
            <p:cNvPr id="313368" name="Text Box 24">
              <a:extLst>
                <a:ext uri="{FF2B5EF4-FFF2-40B4-BE49-F238E27FC236}">
                  <a16:creationId xmlns:a16="http://schemas.microsoft.com/office/drawing/2014/main" id="{88CE7D88-BD29-A312-7B5D-BB1D7AF9E80C}"/>
                </a:ext>
              </a:extLst>
            </p:cNvPr>
            <p:cNvSpPr txBox="1">
              <a:spLocks noChangeArrowheads="1"/>
            </p:cNvSpPr>
            <p:nvPr/>
          </p:nvSpPr>
          <p:spPr bwMode="auto">
            <a:xfrm>
              <a:off x="2595" y="2370"/>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a,b</a:t>
              </a:r>
              <a:endParaRPr lang="en-US" altLang="en-US"/>
            </a:p>
          </p:txBody>
        </p:sp>
        <p:grpSp>
          <p:nvGrpSpPr>
            <p:cNvPr id="313372" name="Group 28">
              <a:extLst>
                <a:ext uri="{FF2B5EF4-FFF2-40B4-BE49-F238E27FC236}">
                  <a16:creationId xmlns:a16="http://schemas.microsoft.com/office/drawing/2014/main" id="{3A6B9973-AA84-0B9D-EA2A-680D16F211C8}"/>
                </a:ext>
              </a:extLst>
            </p:cNvPr>
            <p:cNvGrpSpPr>
              <a:grpSpLocks/>
            </p:cNvGrpSpPr>
            <p:nvPr/>
          </p:nvGrpSpPr>
          <p:grpSpPr bwMode="auto">
            <a:xfrm>
              <a:off x="2533" y="2490"/>
              <a:ext cx="469" cy="762"/>
              <a:chOff x="2190" y="3289"/>
              <a:chExt cx="469" cy="762"/>
            </a:xfrm>
          </p:grpSpPr>
          <p:sp>
            <p:nvSpPr>
              <p:cNvPr id="313373" name="Oval 29">
                <a:extLst>
                  <a:ext uri="{FF2B5EF4-FFF2-40B4-BE49-F238E27FC236}">
                    <a16:creationId xmlns:a16="http://schemas.microsoft.com/office/drawing/2014/main" id="{A4EC96F0-1A48-B77D-537E-D51E6284F510}"/>
                  </a:ext>
                </a:extLst>
              </p:cNvPr>
              <p:cNvSpPr>
                <a:spLocks noChangeArrowheads="1"/>
              </p:cNvSpPr>
              <p:nvPr/>
            </p:nvSpPr>
            <p:spPr bwMode="auto">
              <a:xfrm>
                <a:off x="2256" y="3648"/>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grpSp>
            <p:nvGrpSpPr>
              <p:cNvPr id="313374" name="Group 30">
                <a:extLst>
                  <a:ext uri="{FF2B5EF4-FFF2-40B4-BE49-F238E27FC236}">
                    <a16:creationId xmlns:a16="http://schemas.microsoft.com/office/drawing/2014/main" id="{D59AE276-5940-1AA9-7154-D219A624BAB2}"/>
                  </a:ext>
                </a:extLst>
              </p:cNvPr>
              <p:cNvGrpSpPr>
                <a:grpSpLocks/>
              </p:cNvGrpSpPr>
              <p:nvPr/>
            </p:nvGrpSpPr>
            <p:grpSpPr bwMode="auto">
              <a:xfrm rot="21300000">
                <a:off x="2190" y="3289"/>
                <a:ext cx="432" cy="374"/>
                <a:chOff x="2880" y="3312"/>
                <a:chExt cx="408" cy="336"/>
              </a:xfrm>
            </p:grpSpPr>
            <p:sp>
              <p:nvSpPr>
                <p:cNvPr id="313375" name="Freeform 31">
                  <a:extLst>
                    <a:ext uri="{FF2B5EF4-FFF2-40B4-BE49-F238E27FC236}">
                      <a16:creationId xmlns:a16="http://schemas.microsoft.com/office/drawing/2014/main" id="{A34DDB12-9139-4F35-21E8-E53E71B11733}"/>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3376" name="Freeform 32">
                  <a:extLst>
                    <a:ext uri="{FF2B5EF4-FFF2-40B4-BE49-F238E27FC236}">
                      <a16:creationId xmlns:a16="http://schemas.microsoft.com/office/drawing/2014/main" id="{875D2A7B-F310-5A70-12A6-F17E2476B592}"/>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3377" name="Freeform 33">
                  <a:extLst>
                    <a:ext uri="{FF2B5EF4-FFF2-40B4-BE49-F238E27FC236}">
                      <a16:creationId xmlns:a16="http://schemas.microsoft.com/office/drawing/2014/main" id="{CA7DAE43-091F-C45D-9F53-5207F0FF977D}"/>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grpSp>
        <p:nvGrpSpPr>
          <p:cNvPr id="313388" name="Group 44">
            <a:extLst>
              <a:ext uri="{FF2B5EF4-FFF2-40B4-BE49-F238E27FC236}">
                <a16:creationId xmlns:a16="http://schemas.microsoft.com/office/drawing/2014/main" id="{D12F8B6A-56F6-BFB5-F773-E18DF17FC51E}"/>
              </a:ext>
            </a:extLst>
          </p:cNvPr>
          <p:cNvGrpSpPr>
            <a:grpSpLocks/>
          </p:cNvGrpSpPr>
          <p:nvPr/>
        </p:nvGrpSpPr>
        <p:grpSpPr bwMode="auto">
          <a:xfrm>
            <a:off x="2667001" y="1295400"/>
            <a:ext cx="5889625" cy="2819400"/>
            <a:chOff x="1056" y="1440"/>
            <a:chExt cx="3710" cy="1776"/>
          </a:xfrm>
        </p:grpSpPr>
        <p:sp>
          <p:nvSpPr>
            <p:cNvPr id="313361" name="Text Box 17">
              <a:extLst>
                <a:ext uri="{FF2B5EF4-FFF2-40B4-BE49-F238E27FC236}">
                  <a16:creationId xmlns:a16="http://schemas.microsoft.com/office/drawing/2014/main" id="{2547E0C1-FE76-CD98-7BA5-C51BF9226605}"/>
                </a:ext>
              </a:extLst>
            </p:cNvPr>
            <p:cNvSpPr txBox="1">
              <a:spLocks noChangeArrowheads="1"/>
            </p:cNvSpPr>
            <p:nvPr/>
          </p:nvSpPr>
          <p:spPr bwMode="auto">
            <a:xfrm>
              <a:off x="3975" y="1440"/>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a,b</a:t>
              </a:r>
              <a:endParaRPr lang="en-US" altLang="en-US"/>
            </a:p>
          </p:txBody>
        </p:sp>
        <p:sp>
          <p:nvSpPr>
            <p:cNvPr id="313363" name="Text Box 19">
              <a:extLst>
                <a:ext uri="{FF2B5EF4-FFF2-40B4-BE49-F238E27FC236}">
                  <a16:creationId xmlns:a16="http://schemas.microsoft.com/office/drawing/2014/main" id="{9FD03C10-27BF-6ED6-4FC2-6E3BDF5A9ABB}"/>
                </a:ext>
              </a:extLst>
            </p:cNvPr>
            <p:cNvSpPr txBox="1">
              <a:spLocks noChangeArrowheads="1"/>
            </p:cNvSpPr>
            <p:nvPr/>
          </p:nvSpPr>
          <p:spPr bwMode="auto">
            <a:xfrm>
              <a:off x="1308" y="1884"/>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n-US" altLang="en-US"/>
            </a:p>
          </p:txBody>
        </p:sp>
        <p:sp>
          <p:nvSpPr>
            <p:cNvPr id="313364" name="Line 20">
              <a:extLst>
                <a:ext uri="{FF2B5EF4-FFF2-40B4-BE49-F238E27FC236}">
                  <a16:creationId xmlns:a16="http://schemas.microsoft.com/office/drawing/2014/main" id="{4C0C2761-85B1-45F7-47FA-59207EAD8312}"/>
                </a:ext>
              </a:extLst>
            </p:cNvPr>
            <p:cNvSpPr>
              <a:spLocks noChangeShapeType="1"/>
            </p:cNvSpPr>
            <p:nvPr/>
          </p:nvSpPr>
          <p:spPr bwMode="auto">
            <a:xfrm>
              <a:off x="1551" y="2120"/>
              <a:ext cx="2373" cy="0"/>
            </a:xfrm>
            <a:prstGeom prst="line">
              <a:avLst/>
            </a:prstGeom>
            <a:noFill/>
            <a:ln w="9525">
              <a:solidFill>
                <a:srgbClr val="000000"/>
              </a:solidFill>
              <a:round/>
              <a:headEnd/>
              <a:tailEnd type="arrow" w="lg" len="lg"/>
            </a:ln>
            <a:extLst>
              <a:ext uri="{909E8E84-426E-40DD-AFC4-6F175D3DCCD1}">
                <a14:hiddenFill xmlns:a14="http://schemas.microsoft.com/office/drawing/2010/main">
                  <a:noFill/>
                </a14:hiddenFill>
              </a:ext>
            </a:extLst>
          </p:spPr>
          <p:txBody>
            <a:bodyPr/>
            <a:lstStyle/>
            <a:p>
              <a:endParaRPr lang="en-US"/>
            </a:p>
          </p:txBody>
        </p:sp>
        <p:sp>
          <p:nvSpPr>
            <p:cNvPr id="313365" name="Text Box 21">
              <a:extLst>
                <a:ext uri="{FF2B5EF4-FFF2-40B4-BE49-F238E27FC236}">
                  <a16:creationId xmlns:a16="http://schemas.microsoft.com/office/drawing/2014/main" id="{BBD89C3B-5BDB-E643-0BAE-A9D58AF08C2A}"/>
                </a:ext>
              </a:extLst>
            </p:cNvPr>
            <p:cNvSpPr txBox="1">
              <a:spLocks noChangeArrowheads="1"/>
            </p:cNvSpPr>
            <p:nvPr/>
          </p:nvSpPr>
          <p:spPr bwMode="auto">
            <a:xfrm>
              <a:off x="2648" y="1888"/>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a</a:t>
              </a:r>
              <a:endParaRPr lang="en-US" altLang="en-US"/>
            </a:p>
          </p:txBody>
        </p:sp>
        <p:sp>
          <p:nvSpPr>
            <p:cNvPr id="313366" name="Line 22">
              <a:extLst>
                <a:ext uri="{FF2B5EF4-FFF2-40B4-BE49-F238E27FC236}">
                  <a16:creationId xmlns:a16="http://schemas.microsoft.com/office/drawing/2014/main" id="{6C181167-C062-6B93-D0D4-A00CFA50BD72}"/>
                </a:ext>
              </a:extLst>
            </p:cNvPr>
            <p:cNvSpPr>
              <a:spLocks noChangeShapeType="1"/>
            </p:cNvSpPr>
            <p:nvPr/>
          </p:nvSpPr>
          <p:spPr bwMode="auto">
            <a:xfrm>
              <a:off x="1508" y="2208"/>
              <a:ext cx="2416" cy="1008"/>
            </a:xfrm>
            <a:prstGeom prst="line">
              <a:avLst/>
            </a:prstGeom>
            <a:noFill/>
            <a:ln w="9525">
              <a:solidFill>
                <a:srgbClr val="000000"/>
              </a:solidFill>
              <a:round/>
              <a:headEnd/>
              <a:tailEnd type="arrow" w="lg" len="lg"/>
            </a:ln>
            <a:extLst>
              <a:ext uri="{909E8E84-426E-40DD-AFC4-6F175D3DCCD1}">
                <a14:hiddenFill xmlns:a14="http://schemas.microsoft.com/office/drawing/2010/main">
                  <a:noFill/>
                </a14:hiddenFill>
              </a:ext>
            </a:extLst>
          </p:spPr>
          <p:txBody>
            <a:bodyPr/>
            <a:lstStyle/>
            <a:p>
              <a:endParaRPr lang="en-US"/>
            </a:p>
          </p:txBody>
        </p:sp>
        <p:sp>
          <p:nvSpPr>
            <p:cNvPr id="313367" name="Text Box 23">
              <a:extLst>
                <a:ext uri="{FF2B5EF4-FFF2-40B4-BE49-F238E27FC236}">
                  <a16:creationId xmlns:a16="http://schemas.microsoft.com/office/drawing/2014/main" id="{9770C4F1-53C9-6C06-A8AB-347957EC7BA7}"/>
                </a:ext>
              </a:extLst>
            </p:cNvPr>
            <p:cNvSpPr txBox="1">
              <a:spLocks noChangeArrowheads="1"/>
            </p:cNvSpPr>
            <p:nvPr/>
          </p:nvSpPr>
          <p:spPr bwMode="auto">
            <a:xfrm>
              <a:off x="2665" y="2700"/>
              <a:ext cx="7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solidFill>
                    <a:srgbClr val="000000"/>
                  </a:solidFill>
                </a:rPr>
                <a:t>b</a:t>
              </a:r>
              <a:endParaRPr lang="en-US" altLang="en-US"/>
            </a:p>
          </p:txBody>
        </p:sp>
        <p:sp>
          <p:nvSpPr>
            <p:cNvPr id="313370" name="Oval 26">
              <a:extLst>
                <a:ext uri="{FF2B5EF4-FFF2-40B4-BE49-F238E27FC236}">
                  <a16:creationId xmlns:a16="http://schemas.microsoft.com/office/drawing/2014/main" id="{75034D73-3D64-AE68-C03F-BF1E7CE5C9FE}"/>
                </a:ext>
              </a:extLst>
            </p:cNvPr>
            <p:cNvSpPr>
              <a:spLocks noChangeArrowheads="1"/>
            </p:cNvSpPr>
            <p:nvPr/>
          </p:nvSpPr>
          <p:spPr bwMode="auto">
            <a:xfrm>
              <a:off x="1134" y="1912"/>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3371" name="Text Box 27">
              <a:extLst>
                <a:ext uri="{FF2B5EF4-FFF2-40B4-BE49-F238E27FC236}">
                  <a16:creationId xmlns:a16="http://schemas.microsoft.com/office/drawing/2014/main" id="{72AE2C10-43F4-FE6E-49C5-05396E7526EA}"/>
                </a:ext>
              </a:extLst>
            </p:cNvPr>
            <p:cNvSpPr txBox="1">
              <a:spLocks noChangeArrowheads="1"/>
            </p:cNvSpPr>
            <p:nvPr/>
          </p:nvSpPr>
          <p:spPr bwMode="auto">
            <a:xfrm>
              <a:off x="1056" y="1860"/>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a:latin typeface="Tahoma" panose="020B0604030504040204" pitchFamily="34" charset="0"/>
                  <a:sym typeface="Symbol" panose="05050102010706020507" pitchFamily="18" charset="2"/>
                </a:rPr>
                <a:t></a:t>
              </a:r>
              <a:endParaRPr lang="en-US" altLang="en-US">
                <a:solidFill>
                  <a:srgbClr val="000000"/>
                </a:solidFill>
              </a:endParaRPr>
            </a:p>
          </p:txBody>
        </p:sp>
        <p:grpSp>
          <p:nvGrpSpPr>
            <p:cNvPr id="313378" name="Group 34">
              <a:extLst>
                <a:ext uri="{FF2B5EF4-FFF2-40B4-BE49-F238E27FC236}">
                  <a16:creationId xmlns:a16="http://schemas.microsoft.com/office/drawing/2014/main" id="{332DC13A-21BE-4817-5C50-88685407ABAC}"/>
                </a:ext>
              </a:extLst>
            </p:cNvPr>
            <p:cNvGrpSpPr>
              <a:grpSpLocks/>
            </p:cNvGrpSpPr>
            <p:nvPr/>
          </p:nvGrpSpPr>
          <p:grpSpPr bwMode="auto">
            <a:xfrm>
              <a:off x="3854" y="1908"/>
              <a:ext cx="566" cy="413"/>
              <a:chOff x="726" y="2634"/>
              <a:chExt cx="566" cy="413"/>
            </a:xfrm>
          </p:grpSpPr>
          <p:sp>
            <p:nvSpPr>
              <p:cNvPr id="313379" name="Oval 35">
                <a:extLst>
                  <a:ext uri="{FF2B5EF4-FFF2-40B4-BE49-F238E27FC236}">
                    <a16:creationId xmlns:a16="http://schemas.microsoft.com/office/drawing/2014/main" id="{932A1BEC-2B7D-AB1C-099E-5FCC1CEA22B7}"/>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3380" name="Text Box 36">
                <a:extLst>
                  <a:ext uri="{FF2B5EF4-FFF2-40B4-BE49-F238E27FC236}">
                    <a16:creationId xmlns:a16="http://schemas.microsoft.com/office/drawing/2014/main" id="{55BFED3E-7DD0-B637-EE19-1823DCBA64A7}"/>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313381" name="Group 37">
              <a:extLst>
                <a:ext uri="{FF2B5EF4-FFF2-40B4-BE49-F238E27FC236}">
                  <a16:creationId xmlns:a16="http://schemas.microsoft.com/office/drawing/2014/main" id="{3D73F164-019B-24AF-1766-F532CA98549D}"/>
                </a:ext>
              </a:extLst>
            </p:cNvPr>
            <p:cNvGrpSpPr>
              <a:grpSpLocks/>
            </p:cNvGrpSpPr>
            <p:nvPr/>
          </p:nvGrpSpPr>
          <p:grpSpPr bwMode="auto">
            <a:xfrm rot="21300000">
              <a:off x="3890" y="1560"/>
              <a:ext cx="432" cy="374"/>
              <a:chOff x="2880" y="3312"/>
              <a:chExt cx="408" cy="336"/>
            </a:xfrm>
          </p:grpSpPr>
          <p:sp>
            <p:nvSpPr>
              <p:cNvPr id="313382" name="Freeform 38">
                <a:extLst>
                  <a:ext uri="{FF2B5EF4-FFF2-40B4-BE49-F238E27FC236}">
                    <a16:creationId xmlns:a16="http://schemas.microsoft.com/office/drawing/2014/main" id="{21AEDE06-4E19-ABE7-B128-41E9C38D8F98}"/>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3383" name="Freeform 39">
                <a:extLst>
                  <a:ext uri="{FF2B5EF4-FFF2-40B4-BE49-F238E27FC236}">
                    <a16:creationId xmlns:a16="http://schemas.microsoft.com/office/drawing/2014/main" id="{21DEE260-136C-0E7A-6094-46F71AD67857}"/>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3384" name="Freeform 40">
                <a:extLst>
                  <a:ext uri="{FF2B5EF4-FFF2-40B4-BE49-F238E27FC236}">
                    <a16:creationId xmlns:a16="http://schemas.microsoft.com/office/drawing/2014/main" id="{7257A612-A933-E39D-2823-A13EF42BAFBB}"/>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5E5B026-D380-50EE-ED98-394AD4BB8396}"/>
              </a:ext>
            </a:extLst>
          </p:cNvPr>
          <p:cNvSpPr>
            <a:spLocks noGrp="1"/>
          </p:cNvSpPr>
          <p:nvPr>
            <p:ph type="sldNum" sz="quarter" idx="12"/>
          </p:nvPr>
        </p:nvSpPr>
        <p:spPr/>
        <p:txBody>
          <a:bodyPr/>
          <a:lstStyle/>
          <a:p>
            <a:fld id="{1587B7CA-68F9-4C46-9B66-A233AC87B9F8}" type="slidenum">
              <a:rPr lang="en-US" altLang="en-US"/>
              <a:pPr/>
              <a:t>19</a:t>
            </a:fld>
            <a:endParaRPr lang="en-US" altLang="en-US"/>
          </a:p>
        </p:txBody>
      </p:sp>
      <p:sp>
        <p:nvSpPr>
          <p:cNvPr id="316418" name="Rectangle 2">
            <a:extLst>
              <a:ext uri="{FF2B5EF4-FFF2-40B4-BE49-F238E27FC236}">
                <a16:creationId xmlns:a16="http://schemas.microsoft.com/office/drawing/2014/main" id="{A1148D91-FE52-7AA5-712D-7935BA099821}"/>
              </a:ext>
            </a:extLst>
          </p:cNvPr>
          <p:cNvSpPr>
            <a:spLocks noGrp="1" noChangeArrowheads="1"/>
          </p:cNvSpPr>
          <p:nvPr>
            <p:ph type="title"/>
          </p:nvPr>
        </p:nvSpPr>
        <p:spPr/>
        <p:txBody>
          <a:bodyPr/>
          <a:lstStyle/>
          <a:p>
            <a:pPr algn="ctr"/>
            <a:r>
              <a:rPr lang="en-US" altLang="en-US" sz="3600" b="1"/>
              <a:t>Example</a:t>
            </a:r>
          </a:p>
        </p:txBody>
      </p:sp>
      <p:sp>
        <p:nvSpPr>
          <p:cNvPr id="316419" name="Rectangle 3">
            <a:extLst>
              <a:ext uri="{FF2B5EF4-FFF2-40B4-BE49-F238E27FC236}">
                <a16:creationId xmlns:a16="http://schemas.microsoft.com/office/drawing/2014/main" id="{392EF58E-5A4E-4D35-D230-AF4BDE2ADF30}"/>
              </a:ext>
            </a:extLst>
          </p:cNvPr>
          <p:cNvSpPr>
            <a:spLocks noGrp="1" noChangeArrowheads="1"/>
          </p:cNvSpPr>
          <p:nvPr>
            <p:ph type="body" idx="1"/>
          </p:nvPr>
        </p:nvSpPr>
        <p:spPr>
          <a:xfrm>
            <a:off x="1981200" y="1676400"/>
            <a:ext cx="8178800" cy="3829050"/>
          </a:xfrm>
        </p:spPr>
        <p:txBody>
          <a:bodyPr>
            <a:normAutofit fontScale="92500" lnSpcReduction="10000"/>
          </a:bodyPr>
          <a:lstStyle/>
          <a:p>
            <a:pPr>
              <a:lnSpc>
                <a:spcPct val="90000"/>
              </a:lnSpc>
            </a:pPr>
            <a:r>
              <a:rPr lang="en-US" altLang="en-US"/>
              <a:t>Consider the Language L of Strings of </a:t>
            </a:r>
            <a:r>
              <a:rPr lang="en-US" altLang="en-US" b="1"/>
              <a:t>length two or more</a:t>
            </a:r>
            <a:r>
              <a:rPr lang="en-US" altLang="en-US"/>
              <a:t>, defined over </a:t>
            </a:r>
            <a:r>
              <a:rPr lang="el-GR" altLang="en-US"/>
              <a:t>Σ</a:t>
            </a:r>
            <a:r>
              <a:rPr lang="en-US" altLang="en-US"/>
              <a:t> = {a, b}, </a:t>
            </a:r>
            <a:r>
              <a:rPr lang="en-US" altLang="en-US" b="1"/>
              <a:t>beginning with and ending in same letters.</a:t>
            </a:r>
          </a:p>
          <a:p>
            <a:pPr>
              <a:lnSpc>
                <a:spcPct val="90000"/>
              </a:lnSpc>
              <a:buFont typeface="Monotype Sorts" pitchFamily="2" charset="2"/>
              <a:buNone/>
            </a:pPr>
            <a:r>
              <a:rPr lang="en-US" altLang="en-US"/>
              <a:t>	The language L may be expressed by the following regular expression</a:t>
            </a:r>
          </a:p>
          <a:p>
            <a:pPr>
              <a:lnSpc>
                <a:spcPct val="90000"/>
              </a:lnSpc>
              <a:buFont typeface="Monotype Sorts" pitchFamily="2" charset="2"/>
              <a:buNone/>
            </a:pPr>
            <a:r>
              <a:rPr lang="en-US" altLang="en-US"/>
              <a:t>			a (a + b)</a:t>
            </a:r>
            <a:r>
              <a:rPr lang="en-US" altLang="en-US" baseline="40000"/>
              <a:t>*</a:t>
            </a:r>
            <a:r>
              <a:rPr lang="en-US" altLang="en-US"/>
              <a:t> a + b (a + b)</a:t>
            </a:r>
            <a:r>
              <a:rPr lang="en-US" altLang="en-US" baseline="40000"/>
              <a:t>*</a:t>
            </a:r>
            <a:r>
              <a:rPr lang="en-US" altLang="en-US"/>
              <a:t> b</a:t>
            </a:r>
          </a:p>
          <a:p>
            <a:pPr>
              <a:lnSpc>
                <a:spcPct val="90000"/>
              </a:lnSpc>
              <a:buFont typeface="Monotype Sorts" pitchFamily="2" charset="2"/>
              <a:buNone/>
            </a:pPr>
            <a:r>
              <a:rPr lang="en-US" altLang="en-US"/>
              <a:t>	It is to be noted that if the condition on the length of string is not imposed in the above language then </a:t>
            </a:r>
            <a:r>
              <a:rPr lang="en-US" altLang="en-US" b="1"/>
              <a:t>the strings a and b will then belong to the language.</a:t>
            </a:r>
          </a:p>
          <a:p>
            <a:pPr>
              <a:lnSpc>
                <a:spcPct val="90000"/>
              </a:lnSpc>
              <a:buFont typeface="Monotype Sorts" pitchFamily="2" charset="2"/>
              <a:buNone/>
            </a:pPr>
            <a:r>
              <a:rPr lang="en-US" altLang="en-US"/>
              <a:t>	This language L may be accepted by the following FA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1DCAC9F-3B4D-5C52-42FD-CBF46754BA1E}"/>
              </a:ext>
            </a:extLst>
          </p:cNvPr>
          <p:cNvSpPr>
            <a:spLocks noGrp="1"/>
          </p:cNvSpPr>
          <p:nvPr>
            <p:ph type="sldNum" sz="quarter" idx="12"/>
          </p:nvPr>
        </p:nvSpPr>
        <p:spPr/>
        <p:txBody>
          <a:bodyPr/>
          <a:lstStyle/>
          <a:p>
            <a:fld id="{2F41E1B8-1B3B-4D5B-8B91-70063F268D08}" type="slidenum">
              <a:rPr lang="en-US" altLang="en-US"/>
              <a:pPr/>
              <a:t>20</a:t>
            </a:fld>
            <a:endParaRPr lang="en-US" altLang="en-US"/>
          </a:p>
        </p:txBody>
      </p:sp>
      <p:sp>
        <p:nvSpPr>
          <p:cNvPr id="319490" name="Rectangle 2">
            <a:extLst>
              <a:ext uri="{FF2B5EF4-FFF2-40B4-BE49-F238E27FC236}">
                <a16:creationId xmlns:a16="http://schemas.microsoft.com/office/drawing/2014/main" id="{7BCCEB70-27D2-684E-219C-B8E9E8A815D1}"/>
              </a:ext>
            </a:extLst>
          </p:cNvPr>
          <p:cNvSpPr>
            <a:spLocks noGrp="1" noChangeArrowheads="1"/>
          </p:cNvSpPr>
          <p:nvPr>
            <p:ph type="title"/>
          </p:nvPr>
        </p:nvSpPr>
        <p:spPr/>
        <p:txBody>
          <a:bodyPr/>
          <a:lstStyle/>
          <a:p>
            <a:pPr algn="ctr"/>
            <a:r>
              <a:rPr lang="en-US" altLang="en-US"/>
              <a:t>Example Continued …</a:t>
            </a:r>
          </a:p>
        </p:txBody>
      </p:sp>
      <p:sp>
        <p:nvSpPr>
          <p:cNvPr id="319491" name="Rectangle 3">
            <a:extLst>
              <a:ext uri="{FF2B5EF4-FFF2-40B4-BE49-F238E27FC236}">
                <a16:creationId xmlns:a16="http://schemas.microsoft.com/office/drawing/2014/main" id="{E54FE259-BFA8-4C8F-298A-7AC3510D4317}"/>
              </a:ext>
            </a:extLst>
          </p:cNvPr>
          <p:cNvSpPr>
            <a:spLocks noGrp="1" noChangeArrowheads="1"/>
          </p:cNvSpPr>
          <p:nvPr>
            <p:ph type="body" idx="1"/>
          </p:nvPr>
        </p:nvSpPr>
        <p:spPr/>
        <p:txBody>
          <a:bodyPr/>
          <a:lstStyle/>
          <a:p>
            <a:endParaRPr lang="en-US" altLang="en-US"/>
          </a:p>
        </p:txBody>
      </p:sp>
      <p:grpSp>
        <p:nvGrpSpPr>
          <p:cNvPr id="319492" name="Group 4">
            <a:extLst>
              <a:ext uri="{FF2B5EF4-FFF2-40B4-BE49-F238E27FC236}">
                <a16:creationId xmlns:a16="http://schemas.microsoft.com/office/drawing/2014/main" id="{29D29673-CBA0-C538-F525-FAAF599BC5C3}"/>
              </a:ext>
            </a:extLst>
          </p:cNvPr>
          <p:cNvGrpSpPr>
            <a:grpSpLocks/>
          </p:cNvGrpSpPr>
          <p:nvPr/>
        </p:nvGrpSpPr>
        <p:grpSpPr bwMode="auto">
          <a:xfrm>
            <a:off x="3124200" y="2362201"/>
            <a:ext cx="5640388" cy="3006725"/>
            <a:chOff x="816" y="1872"/>
            <a:chExt cx="3553" cy="1894"/>
          </a:xfrm>
        </p:grpSpPr>
        <p:grpSp>
          <p:nvGrpSpPr>
            <p:cNvPr id="319493" name="Group 5">
              <a:extLst>
                <a:ext uri="{FF2B5EF4-FFF2-40B4-BE49-F238E27FC236}">
                  <a16:creationId xmlns:a16="http://schemas.microsoft.com/office/drawing/2014/main" id="{8455BF9B-C88A-83D6-C57C-BB36E7B743DD}"/>
                </a:ext>
              </a:extLst>
            </p:cNvPr>
            <p:cNvGrpSpPr>
              <a:grpSpLocks/>
            </p:cNvGrpSpPr>
            <p:nvPr/>
          </p:nvGrpSpPr>
          <p:grpSpPr bwMode="auto">
            <a:xfrm>
              <a:off x="816" y="1872"/>
              <a:ext cx="3553" cy="1894"/>
              <a:chOff x="816" y="1872"/>
              <a:chExt cx="3553" cy="1894"/>
            </a:xfrm>
          </p:grpSpPr>
          <p:sp>
            <p:nvSpPr>
              <p:cNvPr id="319494" name="Text Box 6">
                <a:extLst>
                  <a:ext uri="{FF2B5EF4-FFF2-40B4-BE49-F238E27FC236}">
                    <a16:creationId xmlns:a16="http://schemas.microsoft.com/office/drawing/2014/main" id="{2FA4EAEB-1596-416B-1ED5-C823615E768B}"/>
                  </a:ext>
                </a:extLst>
              </p:cNvPr>
              <p:cNvSpPr txBox="1">
                <a:spLocks noChangeArrowheads="1"/>
              </p:cNvSpPr>
              <p:nvPr/>
            </p:nvSpPr>
            <p:spPr bwMode="auto">
              <a:xfrm>
                <a:off x="1360" y="3104"/>
                <a:ext cx="40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b</a:t>
                </a:r>
                <a:endParaRPr lang="en-US" altLang="en-US" sz="4400"/>
              </a:p>
            </p:txBody>
          </p:sp>
          <p:sp>
            <p:nvSpPr>
              <p:cNvPr id="319495" name="Text Box 7">
                <a:extLst>
                  <a:ext uri="{FF2B5EF4-FFF2-40B4-BE49-F238E27FC236}">
                    <a16:creationId xmlns:a16="http://schemas.microsoft.com/office/drawing/2014/main" id="{E4963755-00BF-26F5-C3A7-182F4D866ECD}"/>
                  </a:ext>
                </a:extLst>
              </p:cNvPr>
              <p:cNvSpPr txBox="1">
                <a:spLocks noChangeArrowheads="1"/>
              </p:cNvSpPr>
              <p:nvPr/>
            </p:nvSpPr>
            <p:spPr bwMode="auto">
              <a:xfrm>
                <a:off x="1384" y="2424"/>
                <a:ext cx="401"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100">
                    <a:solidFill>
                      <a:srgbClr val="000000"/>
                    </a:solidFill>
                  </a:rPr>
                  <a:t>a</a:t>
                </a:r>
                <a:endParaRPr lang="en-US" altLang="en-US" sz="4400"/>
              </a:p>
            </p:txBody>
          </p:sp>
          <p:sp>
            <p:nvSpPr>
              <p:cNvPr id="319496" name="Freeform 8">
                <a:extLst>
                  <a:ext uri="{FF2B5EF4-FFF2-40B4-BE49-F238E27FC236}">
                    <a16:creationId xmlns:a16="http://schemas.microsoft.com/office/drawing/2014/main" id="{44BF5038-3728-09C8-8A57-619642A35CB9}"/>
                  </a:ext>
                </a:extLst>
              </p:cNvPr>
              <p:cNvSpPr>
                <a:spLocks/>
              </p:cNvSpPr>
              <p:nvPr/>
            </p:nvSpPr>
            <p:spPr bwMode="auto">
              <a:xfrm>
                <a:off x="1244" y="2480"/>
                <a:ext cx="656" cy="296"/>
              </a:xfrm>
              <a:custGeom>
                <a:avLst/>
                <a:gdLst>
                  <a:gd name="T0" fmla="*/ 0 w 656"/>
                  <a:gd name="T1" fmla="*/ 296 h 296"/>
                  <a:gd name="T2" fmla="*/ 656 w 656"/>
                  <a:gd name="T3" fmla="*/ 0 h 296"/>
                </a:gdLst>
                <a:ahLst/>
                <a:cxnLst>
                  <a:cxn ang="0">
                    <a:pos x="T0" y="T1"/>
                  </a:cxn>
                  <a:cxn ang="0">
                    <a:pos x="T2" y="T3"/>
                  </a:cxn>
                </a:cxnLst>
                <a:rect l="0" t="0" r="r" b="b"/>
                <a:pathLst>
                  <a:path w="656" h="296">
                    <a:moveTo>
                      <a:pt x="0" y="296"/>
                    </a:moveTo>
                    <a:lnTo>
                      <a:pt x="656" y="0"/>
                    </a:ln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9497" name="Freeform 9">
                <a:extLst>
                  <a:ext uri="{FF2B5EF4-FFF2-40B4-BE49-F238E27FC236}">
                    <a16:creationId xmlns:a16="http://schemas.microsoft.com/office/drawing/2014/main" id="{4F53FC95-1727-1480-A3F1-F0B466070143}"/>
                  </a:ext>
                </a:extLst>
              </p:cNvPr>
              <p:cNvSpPr>
                <a:spLocks/>
              </p:cNvSpPr>
              <p:nvPr/>
            </p:nvSpPr>
            <p:spPr bwMode="auto">
              <a:xfrm>
                <a:off x="1208" y="3008"/>
                <a:ext cx="688" cy="368"/>
              </a:xfrm>
              <a:custGeom>
                <a:avLst/>
                <a:gdLst>
                  <a:gd name="T0" fmla="*/ 0 w 688"/>
                  <a:gd name="T1" fmla="*/ 0 h 368"/>
                  <a:gd name="T2" fmla="*/ 688 w 688"/>
                  <a:gd name="T3" fmla="*/ 368 h 368"/>
                </a:gdLst>
                <a:ahLst/>
                <a:cxnLst>
                  <a:cxn ang="0">
                    <a:pos x="T0" y="T1"/>
                  </a:cxn>
                  <a:cxn ang="0">
                    <a:pos x="T2" y="T3"/>
                  </a:cxn>
                </a:cxnLst>
                <a:rect l="0" t="0" r="r" b="b"/>
                <a:pathLst>
                  <a:path w="688" h="368">
                    <a:moveTo>
                      <a:pt x="0" y="0"/>
                    </a:moveTo>
                    <a:lnTo>
                      <a:pt x="688" y="368"/>
                    </a:ln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19498" name="Group 10">
                <a:extLst>
                  <a:ext uri="{FF2B5EF4-FFF2-40B4-BE49-F238E27FC236}">
                    <a16:creationId xmlns:a16="http://schemas.microsoft.com/office/drawing/2014/main" id="{4C81DA69-3326-7E85-43DE-550326586FC9}"/>
                  </a:ext>
                </a:extLst>
              </p:cNvPr>
              <p:cNvGrpSpPr>
                <a:grpSpLocks/>
              </p:cNvGrpSpPr>
              <p:nvPr/>
            </p:nvGrpSpPr>
            <p:grpSpPr bwMode="auto">
              <a:xfrm>
                <a:off x="1824" y="1872"/>
                <a:ext cx="2545" cy="954"/>
                <a:chOff x="1824" y="1872"/>
                <a:chExt cx="2545" cy="954"/>
              </a:xfrm>
            </p:grpSpPr>
            <p:sp>
              <p:nvSpPr>
                <p:cNvPr id="319499" name="Text Box 11">
                  <a:extLst>
                    <a:ext uri="{FF2B5EF4-FFF2-40B4-BE49-F238E27FC236}">
                      <a16:creationId xmlns:a16="http://schemas.microsoft.com/office/drawing/2014/main" id="{FEDD2193-9CB5-9795-24CE-44E63FFA9A56}"/>
                    </a:ext>
                  </a:extLst>
                </p:cNvPr>
                <p:cNvSpPr txBox="1">
                  <a:spLocks noChangeArrowheads="1"/>
                </p:cNvSpPr>
                <p:nvPr/>
              </p:nvSpPr>
              <p:spPr bwMode="auto">
                <a:xfrm>
                  <a:off x="3804" y="1872"/>
                  <a:ext cx="5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sp>
              <p:nvSpPr>
                <p:cNvPr id="319500" name="Text Box 12">
                  <a:extLst>
                    <a:ext uri="{FF2B5EF4-FFF2-40B4-BE49-F238E27FC236}">
                      <a16:creationId xmlns:a16="http://schemas.microsoft.com/office/drawing/2014/main" id="{3C52F416-DF45-BDC0-93AF-9D210AC8A21E}"/>
                    </a:ext>
                  </a:extLst>
                </p:cNvPr>
                <p:cNvSpPr txBox="1">
                  <a:spLocks noChangeArrowheads="1"/>
                </p:cNvSpPr>
                <p:nvPr/>
              </p:nvSpPr>
              <p:spPr bwMode="auto">
                <a:xfrm>
                  <a:off x="2830" y="2480"/>
                  <a:ext cx="2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grpSp>
              <p:nvGrpSpPr>
                <p:cNvPr id="319501" name="Group 13">
                  <a:extLst>
                    <a:ext uri="{FF2B5EF4-FFF2-40B4-BE49-F238E27FC236}">
                      <a16:creationId xmlns:a16="http://schemas.microsoft.com/office/drawing/2014/main" id="{9C669BED-BFD5-505A-D029-26CA21250ECB}"/>
                    </a:ext>
                  </a:extLst>
                </p:cNvPr>
                <p:cNvGrpSpPr>
                  <a:grpSpLocks/>
                </p:cNvGrpSpPr>
                <p:nvPr/>
              </p:nvGrpSpPr>
              <p:grpSpPr bwMode="auto">
                <a:xfrm>
                  <a:off x="3492" y="2234"/>
                  <a:ext cx="530" cy="387"/>
                  <a:chOff x="726" y="2634"/>
                  <a:chExt cx="566" cy="413"/>
                </a:xfrm>
              </p:grpSpPr>
              <p:sp>
                <p:nvSpPr>
                  <p:cNvPr id="319502" name="Oval 14">
                    <a:extLst>
                      <a:ext uri="{FF2B5EF4-FFF2-40B4-BE49-F238E27FC236}">
                        <a16:creationId xmlns:a16="http://schemas.microsoft.com/office/drawing/2014/main" id="{34580CC3-C1FE-5E81-3D49-F0BD523FEA45}"/>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9503" name="Text Box 15">
                    <a:extLst>
                      <a:ext uri="{FF2B5EF4-FFF2-40B4-BE49-F238E27FC236}">
                        <a16:creationId xmlns:a16="http://schemas.microsoft.com/office/drawing/2014/main" id="{B5B946C0-719A-E686-4EA6-8839F14B88A6}"/>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319504" name="Group 16">
                  <a:extLst>
                    <a:ext uri="{FF2B5EF4-FFF2-40B4-BE49-F238E27FC236}">
                      <a16:creationId xmlns:a16="http://schemas.microsoft.com/office/drawing/2014/main" id="{7EF01295-BDB8-22EB-52DB-A3131CA1A72E}"/>
                    </a:ext>
                  </a:extLst>
                </p:cNvPr>
                <p:cNvGrpSpPr>
                  <a:grpSpLocks/>
                </p:cNvGrpSpPr>
                <p:nvPr/>
              </p:nvGrpSpPr>
              <p:grpSpPr bwMode="auto">
                <a:xfrm rot="21300000">
                  <a:off x="3526" y="1908"/>
                  <a:ext cx="404" cy="350"/>
                  <a:chOff x="2880" y="3312"/>
                  <a:chExt cx="408" cy="336"/>
                </a:xfrm>
              </p:grpSpPr>
              <p:sp>
                <p:nvSpPr>
                  <p:cNvPr id="319505" name="Freeform 17">
                    <a:extLst>
                      <a:ext uri="{FF2B5EF4-FFF2-40B4-BE49-F238E27FC236}">
                        <a16:creationId xmlns:a16="http://schemas.microsoft.com/office/drawing/2014/main" id="{BE796CDA-D166-C6A8-BC38-2F7D8F1A9828}"/>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6" name="Freeform 18">
                    <a:extLst>
                      <a:ext uri="{FF2B5EF4-FFF2-40B4-BE49-F238E27FC236}">
                        <a16:creationId xmlns:a16="http://schemas.microsoft.com/office/drawing/2014/main" id="{27103699-8891-CC5D-98B5-FAD3AE2873AD}"/>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07" name="Freeform 19">
                    <a:extLst>
                      <a:ext uri="{FF2B5EF4-FFF2-40B4-BE49-F238E27FC236}">
                        <a16:creationId xmlns:a16="http://schemas.microsoft.com/office/drawing/2014/main" id="{4D30B5AE-1D0F-1A66-3D45-B469FFEE27ED}"/>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9508" name="Freeform 20">
                  <a:extLst>
                    <a:ext uri="{FF2B5EF4-FFF2-40B4-BE49-F238E27FC236}">
                      <a16:creationId xmlns:a16="http://schemas.microsoft.com/office/drawing/2014/main" id="{8D4E36BB-9C8C-51D0-3188-AD903E9C67AE}"/>
                    </a:ext>
                  </a:extLst>
                </p:cNvPr>
                <p:cNvSpPr>
                  <a:spLocks/>
                </p:cNvSpPr>
                <p:nvPr/>
              </p:nvSpPr>
              <p:spPr bwMode="auto">
                <a:xfrm flipH="1" flipV="1">
                  <a:off x="2296" y="2504"/>
                  <a:ext cx="1267" cy="322"/>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9509" name="Text Box 21">
                  <a:extLst>
                    <a:ext uri="{FF2B5EF4-FFF2-40B4-BE49-F238E27FC236}">
                      <a16:creationId xmlns:a16="http://schemas.microsoft.com/office/drawing/2014/main" id="{870A52B7-772D-A650-F07E-C34A94ACE5F9}"/>
                    </a:ext>
                  </a:extLst>
                </p:cNvPr>
                <p:cNvSpPr txBox="1">
                  <a:spLocks noChangeArrowheads="1"/>
                </p:cNvSpPr>
                <p:nvPr/>
              </p:nvSpPr>
              <p:spPr bwMode="auto">
                <a:xfrm flipH="1">
                  <a:off x="2817" y="1944"/>
                  <a:ext cx="23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grpSp>
              <p:nvGrpSpPr>
                <p:cNvPr id="319510" name="Group 22">
                  <a:extLst>
                    <a:ext uri="{FF2B5EF4-FFF2-40B4-BE49-F238E27FC236}">
                      <a16:creationId xmlns:a16="http://schemas.microsoft.com/office/drawing/2014/main" id="{61614D7F-10A5-EE25-6CFC-3DC4A026EB8F}"/>
                    </a:ext>
                  </a:extLst>
                </p:cNvPr>
                <p:cNvGrpSpPr>
                  <a:grpSpLocks/>
                </p:cNvGrpSpPr>
                <p:nvPr/>
              </p:nvGrpSpPr>
              <p:grpSpPr bwMode="auto">
                <a:xfrm>
                  <a:off x="1824" y="2244"/>
                  <a:ext cx="566" cy="413"/>
                  <a:chOff x="726" y="2634"/>
                  <a:chExt cx="566" cy="413"/>
                </a:xfrm>
              </p:grpSpPr>
              <p:sp>
                <p:nvSpPr>
                  <p:cNvPr id="319511" name="Oval 23">
                    <a:extLst>
                      <a:ext uri="{FF2B5EF4-FFF2-40B4-BE49-F238E27FC236}">
                        <a16:creationId xmlns:a16="http://schemas.microsoft.com/office/drawing/2014/main" id="{44AAC7CF-749A-F6E4-A972-15A908CFFF88}"/>
                      </a:ext>
                    </a:extLst>
                  </p:cNvPr>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9512" name="Text Box 24">
                    <a:extLst>
                      <a:ext uri="{FF2B5EF4-FFF2-40B4-BE49-F238E27FC236}">
                        <a16:creationId xmlns:a16="http://schemas.microsoft.com/office/drawing/2014/main" id="{CAA92B12-2C35-4022-144F-DDF686CB8239}"/>
                      </a:ext>
                    </a:extLst>
                  </p:cNvPr>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endParaRPr lang="en-US" altLang="en-US" sz="1100">
                      <a:solidFill>
                        <a:srgbClr val="000000"/>
                      </a:solidFill>
                    </a:endParaRPr>
                  </a:p>
                </p:txBody>
              </p:sp>
            </p:grpSp>
            <p:grpSp>
              <p:nvGrpSpPr>
                <p:cNvPr id="319513" name="Group 25">
                  <a:extLst>
                    <a:ext uri="{FF2B5EF4-FFF2-40B4-BE49-F238E27FC236}">
                      <a16:creationId xmlns:a16="http://schemas.microsoft.com/office/drawing/2014/main" id="{4B7AFA06-04EC-B149-6608-733F1602D871}"/>
                    </a:ext>
                  </a:extLst>
                </p:cNvPr>
                <p:cNvGrpSpPr>
                  <a:grpSpLocks/>
                </p:cNvGrpSpPr>
                <p:nvPr/>
              </p:nvGrpSpPr>
              <p:grpSpPr bwMode="auto">
                <a:xfrm rot="21300000">
                  <a:off x="1836" y="1920"/>
                  <a:ext cx="404" cy="350"/>
                  <a:chOff x="2880" y="3312"/>
                  <a:chExt cx="408" cy="336"/>
                </a:xfrm>
              </p:grpSpPr>
              <p:sp>
                <p:nvSpPr>
                  <p:cNvPr id="319514" name="Freeform 26">
                    <a:extLst>
                      <a:ext uri="{FF2B5EF4-FFF2-40B4-BE49-F238E27FC236}">
                        <a16:creationId xmlns:a16="http://schemas.microsoft.com/office/drawing/2014/main" id="{9F56065A-8AF6-C5DB-6DD2-0D0B0B945188}"/>
                      </a:ext>
                    </a:extLst>
                  </p:cNvPr>
                  <p:cNvSpPr>
                    <a:spLocks/>
                  </p:cNvSpPr>
                  <p:nvPr/>
                </p:nvSpPr>
                <p:spPr bwMode="auto">
                  <a:xfrm rot="600000">
                    <a:off x="2880" y="3312"/>
                    <a:ext cx="408" cy="328"/>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15" name="Freeform 27">
                    <a:extLst>
                      <a:ext uri="{FF2B5EF4-FFF2-40B4-BE49-F238E27FC236}">
                        <a16:creationId xmlns:a16="http://schemas.microsoft.com/office/drawing/2014/main" id="{AC02AFA4-3864-74C8-7042-E3047F9395BB}"/>
                      </a:ext>
                    </a:extLst>
                  </p:cNvPr>
                  <p:cNvSpPr>
                    <a:spLocks/>
                  </p:cNvSpPr>
                  <p:nvPr/>
                </p:nvSpPr>
                <p:spPr bwMode="auto">
                  <a:xfrm>
                    <a:off x="3156" y="3603"/>
                    <a:ext cx="36" cy="42"/>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16" name="Freeform 28">
                    <a:extLst>
                      <a:ext uri="{FF2B5EF4-FFF2-40B4-BE49-F238E27FC236}">
                        <a16:creationId xmlns:a16="http://schemas.microsoft.com/office/drawing/2014/main" id="{FB92C8C4-2269-5D4C-F589-6800E545639E}"/>
                      </a:ext>
                    </a:extLst>
                  </p:cNvPr>
                  <p:cNvSpPr>
                    <a:spLocks/>
                  </p:cNvSpPr>
                  <p:nvPr/>
                </p:nvSpPr>
                <p:spPr bwMode="auto">
                  <a:xfrm>
                    <a:off x="3150" y="3600"/>
                    <a:ext cx="3" cy="48"/>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9517" name="Text Box 29">
                  <a:extLst>
                    <a:ext uri="{FF2B5EF4-FFF2-40B4-BE49-F238E27FC236}">
                      <a16:creationId xmlns:a16="http://schemas.microsoft.com/office/drawing/2014/main" id="{167AE3D4-12F0-F65E-D6B1-274B3FD9E1FC}"/>
                    </a:ext>
                  </a:extLst>
                </p:cNvPr>
                <p:cNvSpPr txBox="1">
                  <a:spLocks noChangeArrowheads="1"/>
                </p:cNvSpPr>
                <p:nvPr/>
              </p:nvSpPr>
              <p:spPr bwMode="auto">
                <a:xfrm>
                  <a:off x="1827" y="1872"/>
                  <a:ext cx="5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grpSp>
          <p:sp>
            <p:nvSpPr>
              <p:cNvPr id="319518" name="Text Box 30">
                <a:extLst>
                  <a:ext uri="{FF2B5EF4-FFF2-40B4-BE49-F238E27FC236}">
                    <a16:creationId xmlns:a16="http://schemas.microsoft.com/office/drawing/2014/main" id="{F4D452B2-A56C-5C81-F364-E85D6037C5C8}"/>
                  </a:ext>
                </a:extLst>
              </p:cNvPr>
              <p:cNvSpPr txBox="1">
                <a:spLocks noChangeArrowheads="1"/>
              </p:cNvSpPr>
              <p:nvPr/>
            </p:nvSpPr>
            <p:spPr bwMode="auto">
              <a:xfrm>
                <a:off x="3803" y="2824"/>
                <a:ext cx="5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sp>
            <p:nvSpPr>
              <p:cNvPr id="319519" name="Text Box 31">
                <a:extLst>
                  <a:ext uri="{FF2B5EF4-FFF2-40B4-BE49-F238E27FC236}">
                    <a16:creationId xmlns:a16="http://schemas.microsoft.com/office/drawing/2014/main" id="{2ED39B18-0D14-01C3-3962-A4779BD76BB3}"/>
                  </a:ext>
                </a:extLst>
              </p:cNvPr>
              <p:cNvSpPr txBox="1">
                <a:spLocks noChangeArrowheads="1"/>
              </p:cNvSpPr>
              <p:nvPr/>
            </p:nvSpPr>
            <p:spPr bwMode="auto">
              <a:xfrm>
                <a:off x="2817" y="3420"/>
                <a:ext cx="2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grpSp>
            <p:nvGrpSpPr>
              <p:cNvPr id="319520" name="Group 32">
                <a:extLst>
                  <a:ext uri="{FF2B5EF4-FFF2-40B4-BE49-F238E27FC236}">
                    <a16:creationId xmlns:a16="http://schemas.microsoft.com/office/drawing/2014/main" id="{57230C1D-6385-F291-206F-FF1BE5D53C32}"/>
                  </a:ext>
                </a:extLst>
              </p:cNvPr>
              <p:cNvGrpSpPr>
                <a:grpSpLocks/>
              </p:cNvGrpSpPr>
              <p:nvPr/>
            </p:nvGrpSpPr>
            <p:grpSpPr bwMode="auto">
              <a:xfrm>
                <a:off x="3491" y="3186"/>
                <a:ext cx="530" cy="387"/>
                <a:chOff x="3491" y="3186"/>
                <a:chExt cx="530" cy="387"/>
              </a:xfrm>
            </p:grpSpPr>
            <p:sp>
              <p:nvSpPr>
                <p:cNvPr id="319521" name="Oval 33">
                  <a:extLst>
                    <a:ext uri="{FF2B5EF4-FFF2-40B4-BE49-F238E27FC236}">
                      <a16:creationId xmlns:a16="http://schemas.microsoft.com/office/drawing/2014/main" id="{0047BCD5-0B97-ECE2-1F3E-0D74CD270EDA}"/>
                    </a:ext>
                  </a:extLst>
                </p:cNvPr>
                <p:cNvSpPr>
                  <a:spLocks noChangeArrowheads="1"/>
                </p:cNvSpPr>
                <p:nvPr/>
              </p:nvSpPr>
              <p:spPr bwMode="auto">
                <a:xfrm>
                  <a:off x="3564" y="3195"/>
                  <a:ext cx="377" cy="378"/>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9522" name="Text Box 34">
                  <a:extLst>
                    <a:ext uri="{FF2B5EF4-FFF2-40B4-BE49-F238E27FC236}">
                      <a16:creationId xmlns:a16="http://schemas.microsoft.com/office/drawing/2014/main" id="{48DEFC4B-0432-56A3-F536-80C39151DCD7}"/>
                    </a:ext>
                  </a:extLst>
                </p:cNvPr>
                <p:cNvSpPr txBox="1">
                  <a:spLocks noChangeArrowheads="1"/>
                </p:cNvSpPr>
                <p:nvPr/>
              </p:nvSpPr>
              <p:spPr bwMode="auto">
                <a:xfrm>
                  <a:off x="3491" y="3186"/>
                  <a:ext cx="530"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nvGrpSpPr>
              <p:cNvPr id="319523" name="Group 35">
                <a:extLst>
                  <a:ext uri="{FF2B5EF4-FFF2-40B4-BE49-F238E27FC236}">
                    <a16:creationId xmlns:a16="http://schemas.microsoft.com/office/drawing/2014/main" id="{553F8F7A-782D-DC6E-5AEE-F2A31D403B61}"/>
                  </a:ext>
                </a:extLst>
              </p:cNvPr>
              <p:cNvGrpSpPr>
                <a:grpSpLocks/>
              </p:cNvGrpSpPr>
              <p:nvPr/>
            </p:nvGrpSpPr>
            <p:grpSpPr bwMode="auto">
              <a:xfrm>
                <a:off x="3524" y="2860"/>
                <a:ext cx="404" cy="343"/>
                <a:chOff x="3524" y="2860"/>
                <a:chExt cx="404" cy="343"/>
              </a:xfrm>
            </p:grpSpPr>
            <p:sp>
              <p:nvSpPr>
                <p:cNvPr id="319524" name="Freeform 36">
                  <a:extLst>
                    <a:ext uri="{FF2B5EF4-FFF2-40B4-BE49-F238E27FC236}">
                      <a16:creationId xmlns:a16="http://schemas.microsoft.com/office/drawing/2014/main" id="{DC3B25CC-8607-4EF8-66E9-7A1829447AC4}"/>
                    </a:ext>
                  </a:extLst>
                </p:cNvPr>
                <p:cNvSpPr>
                  <a:spLocks/>
                </p:cNvSpPr>
                <p:nvPr/>
              </p:nvSpPr>
              <p:spPr bwMode="auto">
                <a:xfrm rot="21900000">
                  <a:off x="3524" y="2860"/>
                  <a:ext cx="404" cy="342"/>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5" name="Freeform 37">
                  <a:extLst>
                    <a:ext uri="{FF2B5EF4-FFF2-40B4-BE49-F238E27FC236}">
                      <a16:creationId xmlns:a16="http://schemas.microsoft.com/office/drawing/2014/main" id="{A01930D0-1BD4-A4CA-E5EF-B7DFBA63304D}"/>
                    </a:ext>
                  </a:extLst>
                </p:cNvPr>
                <p:cNvSpPr>
                  <a:spLocks/>
                </p:cNvSpPr>
                <p:nvPr/>
              </p:nvSpPr>
              <p:spPr bwMode="auto">
                <a:xfrm rot="21300000">
                  <a:off x="3810" y="3154"/>
                  <a:ext cx="36" cy="44"/>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26" name="Freeform 38">
                  <a:extLst>
                    <a:ext uri="{FF2B5EF4-FFF2-40B4-BE49-F238E27FC236}">
                      <a16:creationId xmlns:a16="http://schemas.microsoft.com/office/drawing/2014/main" id="{0B674062-7ED6-A5AD-4F62-A987C1E83EB8}"/>
                    </a:ext>
                  </a:extLst>
                </p:cNvPr>
                <p:cNvSpPr>
                  <a:spLocks/>
                </p:cNvSpPr>
                <p:nvPr/>
              </p:nvSpPr>
              <p:spPr bwMode="auto">
                <a:xfrm rot="21300000">
                  <a:off x="3804" y="3153"/>
                  <a:ext cx="3" cy="50"/>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9527" name="Freeform 39">
                <a:extLst>
                  <a:ext uri="{FF2B5EF4-FFF2-40B4-BE49-F238E27FC236}">
                    <a16:creationId xmlns:a16="http://schemas.microsoft.com/office/drawing/2014/main" id="{7E35B573-B305-2F31-0463-C73D8C611F6A}"/>
                  </a:ext>
                </a:extLst>
              </p:cNvPr>
              <p:cNvSpPr>
                <a:spLocks/>
              </p:cNvSpPr>
              <p:nvPr/>
            </p:nvSpPr>
            <p:spPr bwMode="auto">
              <a:xfrm flipH="1" flipV="1">
                <a:off x="2297" y="3444"/>
                <a:ext cx="1267" cy="322"/>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9528" name="Text Box 40">
                <a:extLst>
                  <a:ext uri="{FF2B5EF4-FFF2-40B4-BE49-F238E27FC236}">
                    <a16:creationId xmlns:a16="http://schemas.microsoft.com/office/drawing/2014/main" id="{8BB4525B-3B74-DF9E-D792-380EE324D10F}"/>
                  </a:ext>
                </a:extLst>
              </p:cNvPr>
              <p:cNvSpPr txBox="1">
                <a:spLocks noChangeArrowheads="1"/>
              </p:cNvSpPr>
              <p:nvPr/>
            </p:nvSpPr>
            <p:spPr bwMode="auto">
              <a:xfrm flipH="1">
                <a:off x="2816" y="2916"/>
                <a:ext cx="23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b</a:t>
                </a:r>
                <a:endParaRPr lang="en-US" altLang="en-US"/>
              </a:p>
            </p:txBody>
          </p:sp>
          <p:grpSp>
            <p:nvGrpSpPr>
              <p:cNvPr id="319529" name="Group 41">
                <a:extLst>
                  <a:ext uri="{FF2B5EF4-FFF2-40B4-BE49-F238E27FC236}">
                    <a16:creationId xmlns:a16="http://schemas.microsoft.com/office/drawing/2014/main" id="{67B3928E-9CA4-AFB2-8252-C7A72CE93CE7}"/>
                  </a:ext>
                </a:extLst>
              </p:cNvPr>
              <p:cNvGrpSpPr>
                <a:grpSpLocks/>
              </p:cNvGrpSpPr>
              <p:nvPr/>
            </p:nvGrpSpPr>
            <p:grpSpPr bwMode="auto">
              <a:xfrm>
                <a:off x="1823" y="3196"/>
                <a:ext cx="566" cy="413"/>
                <a:chOff x="1823" y="3196"/>
                <a:chExt cx="566" cy="413"/>
              </a:xfrm>
            </p:grpSpPr>
            <p:sp>
              <p:nvSpPr>
                <p:cNvPr id="319530" name="Oval 42">
                  <a:extLst>
                    <a:ext uri="{FF2B5EF4-FFF2-40B4-BE49-F238E27FC236}">
                      <a16:creationId xmlns:a16="http://schemas.microsoft.com/office/drawing/2014/main" id="{12FE0459-45B8-36C8-937B-70D633AA48A4}"/>
                    </a:ext>
                  </a:extLst>
                </p:cNvPr>
                <p:cNvSpPr>
                  <a:spLocks noChangeArrowheads="1"/>
                </p:cNvSpPr>
                <p:nvPr/>
              </p:nvSpPr>
              <p:spPr bwMode="auto">
                <a:xfrm>
                  <a:off x="1901" y="3206"/>
                  <a:ext cx="403" cy="403"/>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9531" name="Text Box 43">
                  <a:extLst>
                    <a:ext uri="{FF2B5EF4-FFF2-40B4-BE49-F238E27FC236}">
                      <a16:creationId xmlns:a16="http://schemas.microsoft.com/office/drawing/2014/main" id="{1D33A6D0-60DD-29E2-C2DA-7828330ACF09}"/>
                    </a:ext>
                  </a:extLst>
                </p:cNvPr>
                <p:cNvSpPr txBox="1">
                  <a:spLocks noChangeArrowheads="1"/>
                </p:cNvSpPr>
                <p:nvPr/>
              </p:nvSpPr>
              <p:spPr bwMode="auto">
                <a:xfrm>
                  <a:off x="1823" y="3196"/>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endParaRPr lang="en-US" altLang="en-US" sz="1100">
                    <a:solidFill>
                      <a:srgbClr val="000000"/>
                    </a:solidFill>
                  </a:endParaRPr>
                </a:p>
              </p:txBody>
            </p:sp>
          </p:grpSp>
          <p:grpSp>
            <p:nvGrpSpPr>
              <p:cNvPr id="319532" name="Group 44">
                <a:extLst>
                  <a:ext uri="{FF2B5EF4-FFF2-40B4-BE49-F238E27FC236}">
                    <a16:creationId xmlns:a16="http://schemas.microsoft.com/office/drawing/2014/main" id="{6D4FDE98-26C3-BE06-560F-55D66007F4DB}"/>
                  </a:ext>
                </a:extLst>
              </p:cNvPr>
              <p:cNvGrpSpPr>
                <a:grpSpLocks/>
              </p:cNvGrpSpPr>
              <p:nvPr/>
            </p:nvGrpSpPr>
            <p:grpSpPr bwMode="auto">
              <a:xfrm>
                <a:off x="1834" y="2872"/>
                <a:ext cx="404" cy="343"/>
                <a:chOff x="1834" y="2872"/>
                <a:chExt cx="404" cy="343"/>
              </a:xfrm>
            </p:grpSpPr>
            <p:sp>
              <p:nvSpPr>
                <p:cNvPr id="319533" name="Freeform 45">
                  <a:extLst>
                    <a:ext uri="{FF2B5EF4-FFF2-40B4-BE49-F238E27FC236}">
                      <a16:creationId xmlns:a16="http://schemas.microsoft.com/office/drawing/2014/main" id="{DCD1523B-3C51-1941-1CBA-2433C95883DE}"/>
                    </a:ext>
                  </a:extLst>
                </p:cNvPr>
                <p:cNvSpPr>
                  <a:spLocks/>
                </p:cNvSpPr>
                <p:nvPr/>
              </p:nvSpPr>
              <p:spPr bwMode="auto">
                <a:xfrm rot="21900000">
                  <a:off x="1834" y="2872"/>
                  <a:ext cx="404" cy="342"/>
                </a:xfrm>
                <a:custGeom>
                  <a:avLst/>
                  <a:gdLst>
                    <a:gd name="T0" fmla="*/ 196 w 408"/>
                    <a:gd name="T1" fmla="*/ 378 h 378"/>
                    <a:gd name="T2" fmla="*/ 300 w 408"/>
                    <a:gd name="T3" fmla="*/ 370 h 378"/>
                  </a:gdLst>
                  <a:ahLst/>
                  <a:cxnLst>
                    <a:cxn ang="0">
                      <a:pos x="T0" y="T1"/>
                    </a:cxn>
                    <a:cxn ang="0">
                      <a:pos x="T2" y="T3"/>
                    </a:cxn>
                  </a:cxnLst>
                  <a:rect l="0" t="0" r="r" b="b"/>
                  <a:pathLst>
                    <a:path w="408" h="378">
                      <a:moveTo>
                        <a:pt x="196" y="378"/>
                      </a:moveTo>
                      <a:cubicBezTo>
                        <a:pt x="0" y="79"/>
                        <a:pt x="408" y="0"/>
                        <a:pt x="300" y="370"/>
                      </a:cubicBezTo>
                    </a:path>
                  </a:pathLst>
                </a:custGeom>
                <a:noFill/>
                <a:ln w="762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4" name="Freeform 46">
                  <a:extLst>
                    <a:ext uri="{FF2B5EF4-FFF2-40B4-BE49-F238E27FC236}">
                      <a16:creationId xmlns:a16="http://schemas.microsoft.com/office/drawing/2014/main" id="{C1289E07-F569-85D3-0D33-F2AF5B9A32AE}"/>
                    </a:ext>
                  </a:extLst>
                </p:cNvPr>
                <p:cNvSpPr>
                  <a:spLocks/>
                </p:cNvSpPr>
                <p:nvPr/>
              </p:nvSpPr>
              <p:spPr bwMode="auto">
                <a:xfrm rot="21300000">
                  <a:off x="2120" y="3166"/>
                  <a:ext cx="36" cy="44"/>
                </a:xfrm>
                <a:custGeom>
                  <a:avLst/>
                  <a:gdLst>
                    <a:gd name="T0" fmla="*/ 0 w 36"/>
                    <a:gd name="T1" fmla="*/ 42 h 42"/>
                    <a:gd name="T2" fmla="*/ 36 w 36"/>
                    <a:gd name="T3" fmla="*/ 0 h 42"/>
                  </a:gdLst>
                  <a:ahLst/>
                  <a:cxnLst>
                    <a:cxn ang="0">
                      <a:pos x="T0" y="T1"/>
                    </a:cxn>
                    <a:cxn ang="0">
                      <a:pos x="T2" y="T3"/>
                    </a:cxn>
                  </a:cxnLst>
                  <a:rect l="0" t="0" r="r" b="b"/>
                  <a:pathLst>
                    <a:path w="36" h="42">
                      <a:moveTo>
                        <a:pt x="0" y="42"/>
                      </a:moveTo>
                      <a:lnTo>
                        <a:pt x="36" y="0"/>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9535" name="Freeform 47">
                  <a:extLst>
                    <a:ext uri="{FF2B5EF4-FFF2-40B4-BE49-F238E27FC236}">
                      <a16:creationId xmlns:a16="http://schemas.microsoft.com/office/drawing/2014/main" id="{E58B52B4-5203-A777-BE4C-151D2C8CA48A}"/>
                    </a:ext>
                  </a:extLst>
                </p:cNvPr>
                <p:cNvSpPr>
                  <a:spLocks/>
                </p:cNvSpPr>
                <p:nvPr/>
              </p:nvSpPr>
              <p:spPr bwMode="auto">
                <a:xfrm rot="21300000">
                  <a:off x="2114" y="3165"/>
                  <a:ext cx="3" cy="50"/>
                </a:xfrm>
                <a:custGeom>
                  <a:avLst/>
                  <a:gdLst>
                    <a:gd name="T0" fmla="*/ 0 w 3"/>
                    <a:gd name="T1" fmla="*/ 0 h 48"/>
                    <a:gd name="T2" fmla="*/ 3 w 3"/>
                    <a:gd name="T3" fmla="*/ 48 h 48"/>
                  </a:gdLst>
                  <a:ahLst/>
                  <a:cxnLst>
                    <a:cxn ang="0">
                      <a:pos x="T0" y="T1"/>
                    </a:cxn>
                    <a:cxn ang="0">
                      <a:pos x="T2" y="T3"/>
                    </a:cxn>
                  </a:cxnLst>
                  <a:rect l="0" t="0" r="r" b="b"/>
                  <a:pathLst>
                    <a:path w="3" h="48">
                      <a:moveTo>
                        <a:pt x="0" y="0"/>
                      </a:moveTo>
                      <a:lnTo>
                        <a:pt x="3" y="48"/>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9536" name="Text Box 48">
                <a:extLst>
                  <a:ext uri="{FF2B5EF4-FFF2-40B4-BE49-F238E27FC236}">
                    <a16:creationId xmlns:a16="http://schemas.microsoft.com/office/drawing/2014/main" id="{A735AAFD-30BE-CB06-8778-3D42045FCC59}"/>
                  </a:ext>
                </a:extLst>
              </p:cNvPr>
              <p:cNvSpPr txBox="1">
                <a:spLocks noChangeArrowheads="1"/>
              </p:cNvSpPr>
              <p:nvPr/>
            </p:nvSpPr>
            <p:spPr bwMode="auto">
              <a:xfrm>
                <a:off x="1826" y="2824"/>
                <a:ext cx="5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2200"/>
                  <a:t>a</a:t>
                </a:r>
                <a:endParaRPr lang="en-US" altLang="en-US"/>
              </a:p>
            </p:txBody>
          </p:sp>
          <p:grpSp>
            <p:nvGrpSpPr>
              <p:cNvPr id="319537" name="Group 49">
                <a:extLst>
                  <a:ext uri="{FF2B5EF4-FFF2-40B4-BE49-F238E27FC236}">
                    <a16:creationId xmlns:a16="http://schemas.microsoft.com/office/drawing/2014/main" id="{BF525CC9-A269-0819-0DD2-1E8D6E64F9C1}"/>
                  </a:ext>
                </a:extLst>
              </p:cNvPr>
              <p:cNvGrpSpPr>
                <a:grpSpLocks/>
              </p:cNvGrpSpPr>
              <p:nvPr/>
            </p:nvGrpSpPr>
            <p:grpSpPr bwMode="auto">
              <a:xfrm>
                <a:off x="816" y="2680"/>
                <a:ext cx="530" cy="387"/>
                <a:chOff x="816" y="2680"/>
                <a:chExt cx="530" cy="387"/>
              </a:xfrm>
            </p:grpSpPr>
            <p:sp>
              <p:nvSpPr>
                <p:cNvPr id="319538" name="Oval 50">
                  <a:extLst>
                    <a:ext uri="{FF2B5EF4-FFF2-40B4-BE49-F238E27FC236}">
                      <a16:creationId xmlns:a16="http://schemas.microsoft.com/office/drawing/2014/main" id="{58E25C77-A1E0-24B5-F870-74B04A0550F7}"/>
                    </a:ext>
                  </a:extLst>
                </p:cNvPr>
                <p:cNvSpPr>
                  <a:spLocks noChangeArrowheads="1"/>
                </p:cNvSpPr>
                <p:nvPr/>
              </p:nvSpPr>
              <p:spPr bwMode="auto">
                <a:xfrm>
                  <a:off x="889" y="2689"/>
                  <a:ext cx="377" cy="378"/>
                </a:xfrm>
                <a:prstGeom prst="ellipse">
                  <a:avLst/>
                </a:prstGeom>
                <a:solidFill>
                  <a:srgbClr val="FFFFFF"/>
                </a:solidFill>
                <a:ln w="9525">
                  <a:solidFill>
                    <a:srgbClr val="000000"/>
                  </a:solidFill>
                  <a:round/>
                  <a:headEnd/>
                  <a:tailEnd/>
                </a:ln>
              </p:spPr>
              <p:txBody>
                <a:bodyPr/>
                <a:lstStyle/>
                <a:p>
                  <a:endParaRPr lang="en-US" altLang="en-US" sz="2100">
                    <a:solidFill>
                      <a:srgbClr val="000000"/>
                    </a:solidFill>
                  </a:endParaRPr>
                </a:p>
              </p:txBody>
            </p:sp>
            <p:sp>
              <p:nvSpPr>
                <p:cNvPr id="319539" name="Text Box 51">
                  <a:extLst>
                    <a:ext uri="{FF2B5EF4-FFF2-40B4-BE49-F238E27FC236}">
                      <a16:creationId xmlns:a16="http://schemas.microsoft.com/office/drawing/2014/main" id="{3AB26A6A-0CDE-6655-8CA3-6BDB86D01FEB}"/>
                    </a:ext>
                  </a:extLst>
                </p:cNvPr>
                <p:cNvSpPr txBox="1">
                  <a:spLocks noChangeArrowheads="1"/>
                </p:cNvSpPr>
                <p:nvPr/>
              </p:nvSpPr>
              <p:spPr bwMode="auto">
                <a:xfrm>
                  <a:off x="816" y="2680"/>
                  <a:ext cx="530"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en-US" sz="1100">
                      <a:solidFill>
                        <a:srgbClr val="000000"/>
                      </a:solidFill>
                    </a:rPr>
                    <a:t>    </a:t>
                  </a:r>
                </a:p>
                <a:p>
                  <a:r>
                    <a:rPr kumimoji="1" lang="en-US" altLang="en-US" sz="1600">
                      <a:latin typeface="Tahoma" panose="020B0604030504040204" pitchFamily="34" charset="0"/>
                      <a:sym typeface="Symbol" panose="05050102010706020507" pitchFamily="18" charset="2"/>
                    </a:rPr>
                    <a:t>–</a:t>
                  </a:r>
                  <a:endParaRPr lang="en-US" altLang="en-US" sz="1100">
                    <a:solidFill>
                      <a:srgbClr val="000000"/>
                    </a:solidFill>
                  </a:endParaRPr>
                </a:p>
              </p:txBody>
            </p:sp>
          </p:grpSp>
        </p:grpSp>
        <p:sp>
          <p:nvSpPr>
            <p:cNvPr id="319540" name="Freeform 52">
              <a:extLst>
                <a:ext uri="{FF2B5EF4-FFF2-40B4-BE49-F238E27FC236}">
                  <a16:creationId xmlns:a16="http://schemas.microsoft.com/office/drawing/2014/main" id="{00F85826-1520-A2A6-4B00-D05170DA91A9}"/>
                </a:ext>
              </a:extLst>
            </p:cNvPr>
            <p:cNvSpPr>
              <a:spLocks/>
            </p:cNvSpPr>
            <p:nvPr/>
          </p:nvSpPr>
          <p:spPr bwMode="auto">
            <a:xfrm>
              <a:off x="2304" y="2076"/>
              <a:ext cx="1267" cy="322"/>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9541" name="Freeform 53">
              <a:extLst>
                <a:ext uri="{FF2B5EF4-FFF2-40B4-BE49-F238E27FC236}">
                  <a16:creationId xmlns:a16="http://schemas.microsoft.com/office/drawing/2014/main" id="{8457123A-89F6-D1F9-D831-4B1A57B8DAB5}"/>
                </a:ext>
              </a:extLst>
            </p:cNvPr>
            <p:cNvSpPr>
              <a:spLocks/>
            </p:cNvSpPr>
            <p:nvPr/>
          </p:nvSpPr>
          <p:spPr bwMode="auto">
            <a:xfrm>
              <a:off x="2292" y="3048"/>
              <a:ext cx="1267" cy="322"/>
            </a:xfrm>
            <a:custGeom>
              <a:avLst/>
              <a:gdLst>
                <a:gd name="T0" fmla="*/ 0 w 2176"/>
                <a:gd name="T1" fmla="*/ 336 h 336"/>
                <a:gd name="T2" fmla="*/ 2176 w 2176"/>
                <a:gd name="T3" fmla="*/ 336 h 336"/>
              </a:gdLst>
              <a:ahLst/>
              <a:cxnLst>
                <a:cxn ang="0">
                  <a:pos x="T0" y="T1"/>
                </a:cxn>
                <a:cxn ang="0">
                  <a:pos x="T2" y="T3"/>
                </a:cxn>
              </a:cxnLst>
              <a:rect l="0" t="0" r="r" b="b"/>
              <a:pathLst>
                <a:path w="2176" h="336">
                  <a:moveTo>
                    <a:pt x="0" y="336"/>
                  </a:moveTo>
                  <a:cubicBezTo>
                    <a:pt x="558" y="66"/>
                    <a:pt x="1458" y="0"/>
                    <a:pt x="2176" y="336"/>
                  </a:cubicBezTo>
                </a:path>
              </a:pathLst>
            </a:custGeom>
            <a:noFill/>
            <a:ln w="9525">
              <a:solidFill>
                <a:srgbClr val="000000"/>
              </a:solidFill>
              <a:round/>
              <a:headEnd type="none" w="med" len="med"/>
              <a:tailEnd type="arrow" w="lg" len="lg"/>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CE66C5F-2722-8C14-EB2B-78EC63A72F2A}"/>
              </a:ext>
            </a:extLst>
          </p:cNvPr>
          <p:cNvSpPr>
            <a:spLocks noGrp="1"/>
          </p:cNvSpPr>
          <p:nvPr>
            <p:ph type="sldNum" sz="quarter" idx="12"/>
          </p:nvPr>
        </p:nvSpPr>
        <p:spPr/>
        <p:txBody>
          <a:bodyPr/>
          <a:lstStyle/>
          <a:p>
            <a:fld id="{0B8B0574-B26F-43F3-B2FF-1BAEAE5C7C26}" type="slidenum">
              <a:rPr lang="en-US" altLang="en-US"/>
              <a:pPr/>
              <a:t>21</a:t>
            </a:fld>
            <a:endParaRPr lang="en-US" altLang="en-US"/>
          </a:p>
        </p:txBody>
      </p:sp>
      <p:sp>
        <p:nvSpPr>
          <p:cNvPr id="438274" name="Rectangle 2">
            <a:extLst>
              <a:ext uri="{FF2B5EF4-FFF2-40B4-BE49-F238E27FC236}">
                <a16:creationId xmlns:a16="http://schemas.microsoft.com/office/drawing/2014/main" id="{C710343B-3529-25C6-9354-E522ED5C849F}"/>
              </a:ext>
            </a:extLst>
          </p:cNvPr>
          <p:cNvSpPr>
            <a:spLocks noGrp="1" noChangeArrowheads="1"/>
          </p:cNvSpPr>
          <p:nvPr>
            <p:ph type="title"/>
          </p:nvPr>
        </p:nvSpPr>
        <p:spPr/>
        <p:txBody>
          <a:bodyPr/>
          <a:lstStyle/>
          <a:p>
            <a:pPr algn="ctr"/>
            <a:r>
              <a:rPr lang="en-US" altLang="en-US" sz="3600" b="1"/>
              <a:t>Task </a:t>
            </a:r>
          </a:p>
        </p:txBody>
      </p:sp>
      <p:sp>
        <p:nvSpPr>
          <p:cNvPr id="438275" name="Rectangle 3">
            <a:extLst>
              <a:ext uri="{FF2B5EF4-FFF2-40B4-BE49-F238E27FC236}">
                <a16:creationId xmlns:a16="http://schemas.microsoft.com/office/drawing/2014/main" id="{FB70CD30-2CC8-A927-A827-41EF68C624AB}"/>
              </a:ext>
            </a:extLst>
          </p:cNvPr>
          <p:cNvSpPr>
            <a:spLocks noGrp="1" noChangeArrowheads="1"/>
          </p:cNvSpPr>
          <p:nvPr>
            <p:ph type="body" idx="1"/>
          </p:nvPr>
        </p:nvSpPr>
        <p:spPr>
          <a:xfrm>
            <a:off x="1981200" y="1676400"/>
            <a:ext cx="8178800" cy="3829050"/>
          </a:xfrm>
        </p:spPr>
        <p:txBody>
          <a:bodyPr/>
          <a:lstStyle/>
          <a:p>
            <a:endParaRPr lang="en-US" altLang="en-US"/>
          </a:p>
          <a:p>
            <a:endParaRPr lang="en-US" altLang="en-US"/>
          </a:p>
          <a:p>
            <a:r>
              <a:rPr lang="en-US" altLang="en-US"/>
              <a:t>Build an FA accepting the Language L of Strings, defined over </a:t>
            </a:r>
            <a:r>
              <a:rPr lang="el-GR" altLang="en-US"/>
              <a:t>Σ</a:t>
            </a:r>
            <a:r>
              <a:rPr lang="en-US" altLang="en-US"/>
              <a:t> = {a, b}, </a:t>
            </a:r>
            <a:r>
              <a:rPr lang="en-US" altLang="en-US" b="1"/>
              <a:t>beginning with and ending in same letters.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07-03-2024 at 10.54 AM"/>
          <p:cNvPicPr>
            <a:picLocks noGrp="1" noChangeAspect="1"/>
          </p:cNvPicPr>
          <p:nvPr>
            <p:ph idx="1"/>
          </p:nvPr>
        </p:nvPicPr>
        <p:blipFill>
          <a:blip r:embed="rId2"/>
          <a:stretch>
            <a:fillRect/>
          </a:stretch>
        </p:blipFill>
        <p:spPr>
          <a:xfrm>
            <a:off x="838200" y="445135"/>
            <a:ext cx="10515600" cy="2931795"/>
          </a:xfrm>
          <a:prstGeom prst="rect">
            <a:avLst/>
          </a:prstGeom>
        </p:spPr>
      </p:pic>
      <p:pic>
        <p:nvPicPr>
          <p:cNvPr id="5" name="Picture 4" descr="Image 07-03-2024 at 10.55 AM"/>
          <p:cNvPicPr>
            <a:picLocks noChangeAspect="1"/>
          </p:cNvPicPr>
          <p:nvPr/>
        </p:nvPicPr>
        <p:blipFill>
          <a:blip r:embed="rId3"/>
          <a:stretch>
            <a:fillRect/>
          </a:stretch>
        </p:blipFill>
        <p:spPr>
          <a:xfrm>
            <a:off x="0" y="4109085"/>
            <a:ext cx="12192000" cy="187388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07-03-2024 at 10.56 AM"/>
          <p:cNvPicPr>
            <a:picLocks noGrp="1" noChangeAspect="1"/>
          </p:cNvPicPr>
          <p:nvPr>
            <p:ph idx="1"/>
          </p:nvPr>
        </p:nvPicPr>
        <p:blipFill>
          <a:blip r:embed="rId2"/>
          <a:stretch>
            <a:fillRect/>
          </a:stretch>
        </p:blipFill>
        <p:spPr>
          <a:xfrm>
            <a:off x="838200" y="470535"/>
            <a:ext cx="10515600" cy="3319145"/>
          </a:xfrm>
          <a:prstGeom prst="rect">
            <a:avLst/>
          </a:prstGeom>
        </p:spPr>
      </p:pic>
      <p:pic>
        <p:nvPicPr>
          <p:cNvPr id="5" name="Picture 4" descr="Image 07-03-2024 at 10.57 AM"/>
          <p:cNvPicPr>
            <a:picLocks noChangeAspect="1"/>
          </p:cNvPicPr>
          <p:nvPr/>
        </p:nvPicPr>
        <p:blipFill>
          <a:blip r:embed="rId3"/>
          <a:stretch>
            <a:fillRect/>
          </a:stretch>
        </p:blipFill>
        <p:spPr>
          <a:xfrm>
            <a:off x="144780" y="3613150"/>
            <a:ext cx="11902440" cy="21031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7220"/>
          </a:xfrm>
        </p:spPr>
        <p:txBody>
          <a:bodyPr>
            <a:normAutofit fontScale="90000"/>
          </a:bodyPr>
          <a:lstStyle/>
          <a:p>
            <a:r>
              <a:rPr lang="en-US"/>
              <a:t>Disconnected Graph</a:t>
            </a:r>
          </a:p>
        </p:txBody>
      </p:sp>
      <p:pic>
        <p:nvPicPr>
          <p:cNvPr id="4" name="Content Placeholder 3" descr="Image 07-03-2024 at 10.59 AM"/>
          <p:cNvPicPr>
            <a:picLocks noGrp="1" noChangeAspect="1"/>
          </p:cNvPicPr>
          <p:nvPr>
            <p:ph idx="1"/>
          </p:nvPr>
        </p:nvPicPr>
        <p:blipFill>
          <a:blip r:embed="rId2"/>
          <a:stretch>
            <a:fillRect/>
          </a:stretch>
        </p:blipFill>
        <p:spPr>
          <a:xfrm>
            <a:off x="1826260" y="1189355"/>
            <a:ext cx="8157210" cy="55511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08-03-2024 at 9.25 AM"/>
          <p:cNvPicPr>
            <a:picLocks noGrp="1" noChangeAspect="1"/>
          </p:cNvPicPr>
          <p:nvPr>
            <p:ph idx="1"/>
          </p:nvPr>
        </p:nvPicPr>
        <p:blipFill>
          <a:blip r:embed="rId2"/>
          <a:stretch>
            <a:fillRect/>
          </a:stretch>
        </p:blipFill>
        <p:spPr>
          <a:xfrm>
            <a:off x="838200" y="1560830"/>
            <a:ext cx="10515600" cy="31007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2490"/>
          </a:xfrm>
        </p:spPr>
        <p:txBody>
          <a:bodyPr/>
          <a:lstStyle/>
          <a:p>
            <a:r>
              <a:rPr lang="en-US"/>
              <a:t>Solution 1</a:t>
            </a:r>
          </a:p>
        </p:txBody>
      </p:sp>
      <p:pic>
        <p:nvPicPr>
          <p:cNvPr id="4" name="Content Placeholder 3" descr="Image 08-03-2024 at 9.26 AM"/>
          <p:cNvPicPr>
            <a:picLocks noGrp="1" noChangeAspect="1"/>
          </p:cNvPicPr>
          <p:nvPr>
            <p:ph idx="1"/>
          </p:nvPr>
        </p:nvPicPr>
        <p:blipFill>
          <a:blip r:embed="rId2"/>
          <a:stretch>
            <a:fillRect/>
          </a:stretch>
        </p:blipFill>
        <p:spPr>
          <a:xfrm>
            <a:off x="1141095" y="1237615"/>
            <a:ext cx="9909810" cy="52666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3440"/>
          </a:xfrm>
        </p:spPr>
        <p:txBody>
          <a:bodyPr>
            <a:normAutofit/>
          </a:bodyPr>
          <a:lstStyle/>
          <a:p>
            <a:r>
              <a:rPr lang="en-US"/>
              <a:t>Second Solution </a:t>
            </a:r>
          </a:p>
        </p:txBody>
      </p:sp>
      <p:pic>
        <p:nvPicPr>
          <p:cNvPr id="4" name="Content Placeholder 3" descr="Image 08-03-2024 at 9.27 AM"/>
          <p:cNvPicPr>
            <a:picLocks noGrp="1" noChangeAspect="1"/>
          </p:cNvPicPr>
          <p:nvPr>
            <p:ph idx="1"/>
          </p:nvPr>
        </p:nvPicPr>
        <p:blipFill>
          <a:blip r:embed="rId2"/>
          <a:stretch>
            <a:fillRect/>
          </a:stretch>
        </p:blipFill>
        <p:spPr>
          <a:xfrm>
            <a:off x="838200" y="1531620"/>
            <a:ext cx="10515600" cy="46297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Third Solution</a:t>
            </a:r>
          </a:p>
        </p:txBody>
      </p:sp>
      <p:pic>
        <p:nvPicPr>
          <p:cNvPr id="4" name="Content Placeholder 3" descr="Image 08-03-2024 at 9.29 AM"/>
          <p:cNvPicPr>
            <a:picLocks noGrp="1" noChangeAspect="1"/>
          </p:cNvPicPr>
          <p:nvPr>
            <p:ph idx="1"/>
          </p:nvPr>
        </p:nvPicPr>
        <p:blipFill>
          <a:blip r:embed="rId2"/>
          <a:stretch>
            <a:fillRect/>
          </a:stretch>
        </p:blipFill>
        <p:spPr>
          <a:xfrm>
            <a:off x="1340485" y="1825625"/>
            <a:ext cx="9437370" cy="43516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08-03-2024 at 10.13 AM"/>
          <p:cNvPicPr>
            <a:picLocks noGrp="1" noChangeAspect="1"/>
          </p:cNvPicPr>
          <p:nvPr>
            <p:ph idx="1"/>
          </p:nvPr>
        </p:nvPicPr>
        <p:blipFill>
          <a:blip r:embed="rId2"/>
          <a:stretch>
            <a:fillRect/>
          </a:stretch>
        </p:blipFill>
        <p:spPr>
          <a:xfrm>
            <a:off x="1112520" y="1252855"/>
            <a:ext cx="9966960" cy="435165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6440"/>
          </a:xfrm>
        </p:spPr>
        <p:txBody>
          <a:bodyPr>
            <a:normAutofit/>
          </a:bodyPr>
          <a:lstStyle/>
          <a:p>
            <a:r>
              <a:rPr lang="en-US"/>
              <a:t>Example</a:t>
            </a:r>
          </a:p>
        </p:txBody>
      </p:sp>
      <p:pic>
        <p:nvPicPr>
          <p:cNvPr id="4" name="Content Placeholder 3" descr="Image 08-03-2024 at 10.19 AM"/>
          <p:cNvPicPr>
            <a:picLocks noGrp="1" noChangeAspect="1"/>
          </p:cNvPicPr>
          <p:nvPr>
            <p:ph idx="1"/>
          </p:nvPr>
        </p:nvPicPr>
        <p:blipFill>
          <a:blip r:embed="rId2"/>
          <a:stretch>
            <a:fillRect/>
          </a:stretch>
        </p:blipFill>
        <p:spPr>
          <a:xfrm>
            <a:off x="1412240" y="1273810"/>
            <a:ext cx="9941560" cy="52959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9660"/>
          </a:xfrm>
        </p:spPr>
        <p:txBody>
          <a:bodyPr>
            <a:normAutofit/>
          </a:bodyPr>
          <a:lstStyle/>
          <a:p>
            <a:r>
              <a:rPr lang="en-US"/>
              <a:t>Same example - with different input string</a:t>
            </a:r>
          </a:p>
        </p:txBody>
      </p:sp>
      <p:pic>
        <p:nvPicPr>
          <p:cNvPr id="4" name="Content Placeholder 3" descr="Image 08-03-2024 at 10.22 AM"/>
          <p:cNvPicPr>
            <a:picLocks noGrp="1" noChangeAspect="1"/>
          </p:cNvPicPr>
          <p:nvPr>
            <p:ph idx="1"/>
          </p:nvPr>
        </p:nvPicPr>
        <p:blipFill>
          <a:blip r:embed="rId2"/>
          <a:stretch>
            <a:fillRect/>
          </a:stretch>
        </p:blipFill>
        <p:spPr>
          <a:xfrm>
            <a:off x="838200" y="2064385"/>
            <a:ext cx="10515600" cy="200215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030220" cy="581660"/>
          </a:xfrm>
        </p:spPr>
        <p:txBody>
          <a:bodyPr>
            <a:normAutofit fontScale="90000"/>
          </a:bodyPr>
          <a:lstStyle/>
          <a:p>
            <a:r>
              <a:rPr lang="en-US"/>
              <a:t>Explaination</a:t>
            </a:r>
          </a:p>
        </p:txBody>
      </p:sp>
      <p:pic>
        <p:nvPicPr>
          <p:cNvPr id="4" name="Content Placeholder 3" descr="Image 08-03-2024 at 10.26 AM"/>
          <p:cNvPicPr>
            <a:picLocks noGrp="1" noChangeAspect="1"/>
          </p:cNvPicPr>
          <p:nvPr>
            <p:ph idx="1"/>
          </p:nvPr>
        </p:nvPicPr>
        <p:blipFill>
          <a:blip r:embed="rId2"/>
          <a:stretch>
            <a:fillRect/>
          </a:stretch>
        </p:blipFill>
        <p:spPr>
          <a:xfrm>
            <a:off x="2204085" y="946785"/>
            <a:ext cx="8110855" cy="574738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8085" y="2772410"/>
            <a:ext cx="5715635" cy="793115"/>
          </a:xfrm>
        </p:spPr>
        <p:txBody>
          <a:bodyPr/>
          <a:lstStyle/>
          <a:p>
            <a:pPr marL="0" indent="0" algn="ctr">
              <a:buNone/>
            </a:pPr>
            <a:r>
              <a:rPr lang="en-US" sz="3600" b="1"/>
              <a:t>End of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835</Words>
  <Application>Microsoft Office PowerPoint</Application>
  <PresentationFormat>Widescreen</PresentationFormat>
  <Paragraphs>195</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Monotype Sorts</vt:lpstr>
      <vt:lpstr>Symbol</vt:lpstr>
      <vt:lpstr>Tahoma</vt:lpstr>
      <vt:lpstr>Times New Roman</vt:lpstr>
      <vt:lpstr>Office Theme</vt:lpstr>
      <vt:lpstr> Theory of Automata (CSC- 402)  Semester : Spring 2026  Credit Hours: 3 </vt:lpstr>
      <vt:lpstr> Theory of Automata Course</vt:lpstr>
      <vt:lpstr>PowerPoint Presentation</vt:lpstr>
      <vt:lpstr>Note</vt:lpstr>
      <vt:lpstr>Example </vt:lpstr>
      <vt:lpstr>Example Continued …</vt:lpstr>
      <vt:lpstr>Example Continued …</vt:lpstr>
      <vt:lpstr>Example Continued …</vt:lpstr>
      <vt:lpstr>TASK </vt:lpstr>
      <vt:lpstr>Solution of Task</vt:lpstr>
      <vt:lpstr>PowerPoint Presentation</vt:lpstr>
      <vt:lpstr>PowerPoint Presentation</vt:lpstr>
      <vt:lpstr>Example Continued …</vt:lpstr>
      <vt:lpstr>Example continued …</vt:lpstr>
      <vt:lpstr>Note</vt:lpstr>
      <vt:lpstr>Note</vt:lpstr>
      <vt:lpstr>FA1   Corresponding to L1  </vt:lpstr>
      <vt:lpstr>FA2 Corresponding to L2</vt:lpstr>
      <vt:lpstr>Example</vt:lpstr>
      <vt:lpstr>Example Continued …</vt:lpstr>
      <vt:lpstr>Task </vt:lpstr>
      <vt:lpstr>PowerPoint Presentation</vt:lpstr>
      <vt:lpstr>PowerPoint Presentation</vt:lpstr>
      <vt:lpstr>Disconnected Graph</vt:lpstr>
      <vt:lpstr>PowerPoint Presentation</vt:lpstr>
      <vt:lpstr>Solution 1</vt:lpstr>
      <vt:lpstr>Second Solution </vt:lpstr>
      <vt:lpstr>Third Solution</vt:lpstr>
      <vt:lpstr>PowerPoint Presentation</vt:lpstr>
      <vt:lpstr>Example</vt:lpstr>
      <vt:lpstr>Same example - with different input string</vt:lpstr>
      <vt:lpstr>Explaination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to Z</dc:creator>
  <cp:lastModifiedBy>Sheeza Batool</cp:lastModifiedBy>
  <cp:revision>404</cp:revision>
  <dcterms:created xsi:type="dcterms:W3CDTF">2026-02-11T10:59:11Z</dcterms:created>
  <dcterms:modified xsi:type="dcterms:W3CDTF">2026-03-29T09:56:30Z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