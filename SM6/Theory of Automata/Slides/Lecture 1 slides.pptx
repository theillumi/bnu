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324" r:id="rId2"/>
    <p:sldId id="293" r:id="rId3"/>
    <p:sldId id="325" r:id="rId4"/>
    <p:sldId id="326" r:id="rId5"/>
    <p:sldId id="327" r:id="rId6"/>
    <p:sldId id="295" r:id="rId7"/>
    <p:sldId id="345" r:id="rId8"/>
    <p:sldId id="256" r:id="rId9"/>
    <p:sldId id="257" r:id="rId10"/>
    <p:sldId id="350" r:id="rId11"/>
    <p:sldId id="351" r:id="rId12"/>
    <p:sldId id="384" r:id="rId13"/>
    <p:sldId id="385" r:id="rId14"/>
    <p:sldId id="386" r:id="rId15"/>
    <p:sldId id="388" r:id="rId16"/>
    <p:sldId id="264" r:id="rId17"/>
    <p:sldId id="321" r:id="rId18"/>
    <p:sldId id="307" r:id="rId19"/>
    <p:sldId id="387" r:id="rId20"/>
    <p:sldId id="389" r:id="rId21"/>
    <p:sldId id="390" r:id="rId22"/>
    <p:sldId id="391" r:id="rId23"/>
    <p:sldId id="392" r:id="rId24"/>
    <p:sldId id="393" r:id="rId25"/>
    <p:sldId id="394" r:id="rId26"/>
    <p:sldId id="398" r:id="rId27"/>
    <p:sldId id="395" r:id="rId28"/>
    <p:sldId id="399" r:id="rId29"/>
    <p:sldId id="39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1-29T23:24:09.066"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79CEE-7766-467A-AD48-D068D9C9E519}"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0D8A8-3AA1-4FF6-BE16-2FE515242F3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5A18B4-2029-423F-AF07-FF085EF6276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A18B4-2029-423F-AF07-FF085EF6276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E5A18B4-2029-423F-AF07-FF085EF6276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5A18B4-2029-423F-AF07-FF085EF6276F}"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5A18B4-2029-423F-AF07-FF085EF6276F}"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5A18B4-2029-423F-AF07-FF085EF6276F}"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5A18B4-2029-423F-AF07-FF085EF6276F}"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5A18B4-2029-423F-AF07-FF085EF6276F}"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5A18B4-2029-423F-AF07-FF085EF6276F}"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A18B4-2029-423F-AF07-FF085EF6276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5A18B4-2029-423F-AF07-FF085EF6276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7D74C9-42A5-4070-BA50-12D3E3C7E19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5A18B4-2029-423F-AF07-FF085EF6276F}" type="datetimeFigureOut">
              <a:rPr lang="en-US" smtClean="0"/>
              <a:t>2/12/2026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7D74C9-42A5-4070-BA50-12D3E3C7E19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Sheeza.batool@bnu.edu.p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7234"/>
            <a:ext cx="10515600" cy="2335237"/>
          </a:xfrm>
        </p:spPr>
        <p:txBody>
          <a:bodyPr>
            <a:normAutofit fontScale="90000"/>
          </a:bodyPr>
          <a:lstStyle/>
          <a:p>
            <a:pPr algn="ctr"/>
            <a:r>
              <a:rPr lang="en-US" b="1" dirty="0">
                <a:solidFill>
                  <a:schemeClr val="accent2">
                    <a:lumMod val="75000"/>
                  </a:schemeClr>
                </a:solidFill>
              </a:rPr>
              <a:t> Theory of Automata (CSC- 402)	</a:t>
            </a:r>
            <a:br>
              <a:rPr lang="en-US" b="1" dirty="0">
                <a:solidFill>
                  <a:schemeClr val="accent2">
                    <a:lumMod val="75000"/>
                  </a:schemeClr>
                </a:solidFill>
              </a:rPr>
            </a:br>
            <a:r>
              <a:rPr lang="en-US" b="1" dirty="0">
                <a:solidFill>
                  <a:schemeClr val="accent2">
                    <a:lumMod val="75000"/>
                  </a:schemeClr>
                </a:solidFill>
                <a:sym typeface="+mn-ea"/>
              </a:rPr>
              <a:t>Semester : Spring 2026</a:t>
            </a:r>
            <a:br>
              <a:rPr lang="en-US" b="1" dirty="0">
                <a:solidFill>
                  <a:schemeClr val="accent2">
                    <a:lumMod val="75000"/>
                  </a:schemeClr>
                </a:solidFill>
              </a:rPr>
            </a:br>
            <a:r>
              <a:rPr lang="en-US" b="1" dirty="0">
                <a:solidFill>
                  <a:schemeClr val="accent2">
                    <a:lumMod val="75000"/>
                  </a:schemeClr>
                </a:solidFill>
                <a:sym typeface="+mn-ea"/>
              </a:rPr>
              <a:t>Credit Hours: 3</a:t>
            </a:r>
            <a:br>
              <a:rPr lang="en-US" b="1" dirty="0">
                <a:solidFill>
                  <a:schemeClr val="accent2">
                    <a:lumMod val="75000"/>
                  </a:schemeClr>
                </a:solidFill>
                <a:sym typeface="+mn-ea"/>
              </a:rPr>
            </a:br>
            <a:endParaRPr lang="en-US" b="1" dirty="0">
              <a:solidFill>
                <a:schemeClr val="accent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6659"/>
            <a:ext cx="10515600" cy="714626"/>
          </a:xfrm>
        </p:spPr>
        <p:txBody>
          <a:bodyPr/>
          <a:lstStyle/>
          <a:p>
            <a:r>
              <a:rPr lang="en-US" b="1" dirty="0">
                <a:solidFill>
                  <a:schemeClr val="accent2">
                    <a:lumMod val="75000"/>
                  </a:schemeClr>
                </a:solidFill>
              </a:rPr>
              <a:t>Course Objective</a:t>
            </a:r>
            <a:endParaRPr lang="en-US" dirty="0">
              <a:solidFill>
                <a:schemeClr val="accent2">
                  <a:lumMod val="75000"/>
                </a:schemeClr>
              </a:solidFill>
            </a:endParaRPr>
          </a:p>
        </p:txBody>
      </p:sp>
      <p:sp>
        <p:nvSpPr>
          <p:cNvPr id="3" name="Content Placeholder 2"/>
          <p:cNvSpPr>
            <a:spLocks noGrp="1"/>
          </p:cNvSpPr>
          <p:nvPr>
            <p:ph idx="1"/>
          </p:nvPr>
        </p:nvSpPr>
        <p:spPr>
          <a:xfrm>
            <a:off x="838200" y="1434906"/>
            <a:ext cx="10387818" cy="4886436"/>
          </a:xfrm>
        </p:spPr>
        <p:txBody>
          <a:bodyPr>
            <a:normAutofit/>
          </a:bodyPr>
          <a:lstStyle/>
          <a:p>
            <a:pPr marL="0" lvl="0" indent="0" algn="just">
              <a:buNone/>
            </a:pPr>
            <a:r>
              <a:rPr lang="en-US" sz="2400" dirty="0"/>
              <a:t>The objective of this course is to introduce the theory of automata through a set of abstract machines that serve as models for computation including finite automata, pushdown automata, and Turing machines. The course also examines the relationship between these automata and formal languages. In addition, the relation between theory and practical applications is also explored.   </a:t>
            </a:r>
          </a:p>
          <a:p>
            <a:pPr marL="0" lvl="0" indent="0" algn="just">
              <a:buFont typeface="+mj-lt"/>
              <a:buNone/>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3200" dirty="0"/>
              <a:t>My Email ID : </a:t>
            </a:r>
            <a:r>
              <a:rPr lang="en-US" sz="3200" dirty="0">
                <a:hlinkClick r:id="rId2"/>
              </a:rPr>
              <a:t>Sheeza.batool@bnu.edu.pk</a:t>
            </a:r>
            <a:endParaRPr lang="en-US" sz="3200" dirty="0"/>
          </a:p>
          <a:p>
            <a:pPr marL="0" indent="0" algn="ctr">
              <a:buNone/>
            </a:pPr>
            <a:endParaRPr lang="en-US" sz="3200" dirty="0"/>
          </a:p>
          <a:p>
            <a:pPr marL="0" indent="0" algn="ctr">
              <a:buNone/>
            </a:pPr>
            <a:r>
              <a:rPr lang="en-US" sz="3200" dirty="0"/>
              <a:t>Google Classroom Code : iwi3mqe7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9103"/>
          </a:xfrm>
        </p:spPr>
        <p:txBody>
          <a:bodyPr/>
          <a:lstStyle/>
          <a:p>
            <a:r>
              <a:rPr lang="en-US" b="1" dirty="0">
                <a:solidFill>
                  <a:schemeClr val="accent2">
                    <a:lumMod val="75000"/>
                  </a:schemeClr>
                </a:solidFill>
              </a:rPr>
              <a:t>General Rules</a:t>
            </a:r>
            <a:endParaRPr lang="en-US" dirty="0"/>
          </a:p>
        </p:txBody>
      </p:sp>
      <p:sp>
        <p:nvSpPr>
          <p:cNvPr id="3" name="Content Placeholder 2"/>
          <p:cNvSpPr>
            <a:spLocks noGrp="1"/>
          </p:cNvSpPr>
          <p:nvPr>
            <p:ph idx="1"/>
          </p:nvPr>
        </p:nvSpPr>
        <p:spPr/>
        <p:txBody>
          <a:bodyPr/>
          <a:lstStyle/>
          <a:p>
            <a:pPr algn="just"/>
            <a:r>
              <a:rPr lang="en-US" dirty="0"/>
              <a:t>Keep account of your attendance </a:t>
            </a:r>
          </a:p>
          <a:p>
            <a:pPr algn="just"/>
            <a:r>
              <a:rPr lang="en-US" dirty="0"/>
              <a:t>No Makeup for an announced quiz and assignments</a:t>
            </a:r>
          </a:p>
          <a:p>
            <a:pPr algn="just"/>
            <a:r>
              <a:rPr lang="en-US" dirty="0"/>
              <a:t>Late assignments will not be accepted</a:t>
            </a:r>
          </a:p>
          <a:p>
            <a:pPr algn="just"/>
            <a:r>
              <a:rPr lang="en-US" dirty="0"/>
              <a:t>No updating possible once the attendance is marked </a:t>
            </a:r>
          </a:p>
          <a:p>
            <a:pPr algn="just"/>
            <a:r>
              <a:rPr lang="en-US" dirty="0"/>
              <a:t>Zero tolerance towards cheating and plagiarism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4697"/>
          </a:xfrm>
        </p:spPr>
        <p:txBody>
          <a:bodyPr/>
          <a:lstStyle/>
          <a:p>
            <a:r>
              <a:rPr lang="en-US" b="1" dirty="0">
                <a:solidFill>
                  <a:schemeClr val="accent2">
                    <a:lumMod val="75000"/>
                  </a:schemeClr>
                </a:solidFill>
              </a:rPr>
              <a:t>Division of Marks</a:t>
            </a:r>
            <a:endParaRPr lang="en-US" dirty="0"/>
          </a:p>
        </p:txBody>
      </p:sp>
      <p:sp>
        <p:nvSpPr>
          <p:cNvPr id="3" name="Content Placeholder 2"/>
          <p:cNvSpPr>
            <a:spLocks noGrp="1"/>
          </p:cNvSpPr>
          <p:nvPr>
            <p:ph idx="1"/>
          </p:nvPr>
        </p:nvSpPr>
        <p:spPr>
          <a:xfrm>
            <a:off x="838200" y="1209822"/>
            <a:ext cx="10515600" cy="4967141"/>
          </a:xfrm>
        </p:spPr>
        <p:txBody>
          <a:bodyPr/>
          <a:lstStyle/>
          <a:p>
            <a:pPr marL="0" indent="0">
              <a:buNone/>
            </a:pPr>
            <a:r>
              <a:rPr lang="en-US" dirty="0"/>
              <a:t>Class Tests (3-4)                                                   15 </a:t>
            </a:r>
          </a:p>
          <a:p>
            <a:pPr marL="0" indent="0">
              <a:buNone/>
            </a:pPr>
            <a:r>
              <a:rPr lang="en-US" dirty="0"/>
              <a:t>Assignments                                                         10                                            </a:t>
            </a:r>
            <a:r>
              <a:rPr lang="en-US" sz="2400" dirty="0"/>
              <a:t>(</a:t>
            </a:r>
            <a:r>
              <a:rPr lang="en-US" sz="2400" dirty="0" err="1"/>
              <a:t>Takehome</a:t>
            </a:r>
            <a:r>
              <a:rPr lang="en-US" sz="2400" dirty="0"/>
              <a:t>/</a:t>
            </a:r>
            <a:r>
              <a:rPr lang="en-US" sz="2400" dirty="0" err="1"/>
              <a:t>InClass</a:t>
            </a:r>
            <a:r>
              <a:rPr lang="en-US" sz="2400" dirty="0"/>
              <a:t>) </a:t>
            </a:r>
          </a:p>
          <a:p>
            <a:pPr marL="0" indent="0">
              <a:buNone/>
            </a:pPr>
            <a:r>
              <a:rPr lang="en-US" dirty="0"/>
              <a:t>Project                     				             05</a:t>
            </a:r>
          </a:p>
          <a:p>
            <a:pPr marL="0" indent="0">
              <a:buNone/>
            </a:pPr>
            <a:r>
              <a:rPr lang="en-US" dirty="0"/>
              <a:t>Mid Term Test                                                      25 </a:t>
            </a:r>
          </a:p>
          <a:p>
            <a:pPr marL="0" indent="0">
              <a:buNone/>
            </a:pPr>
            <a:r>
              <a:rPr lang="en-US" dirty="0"/>
              <a:t>Final Exam                                                           45</a:t>
            </a:r>
          </a:p>
          <a:p>
            <a:pPr marL="0" indent="0">
              <a:buNone/>
            </a:pPr>
            <a:r>
              <a:rPr lang="en-US" dirty="0">
                <a:solidFill>
                  <a:srgbClr val="C00000"/>
                </a:solidFill>
              </a:rPr>
              <a:t>Total                                                                    100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1378"/>
            <a:ext cx="10515600" cy="838033"/>
          </a:xfrm>
        </p:spPr>
        <p:txBody>
          <a:bodyPr/>
          <a:lstStyle/>
          <a:p>
            <a:r>
              <a:rPr lang="en-US" b="1" dirty="0">
                <a:solidFill>
                  <a:schemeClr val="accent2">
                    <a:lumMod val="75000"/>
                  </a:schemeClr>
                </a:solidFill>
              </a:rPr>
              <a:t>Books</a:t>
            </a:r>
            <a:r>
              <a:rPr lang="en-US" dirty="0">
                <a:solidFill>
                  <a:schemeClr val="accent2">
                    <a:lumMod val="75000"/>
                  </a:schemeClr>
                </a:solidFill>
              </a:rPr>
              <a:t> </a:t>
            </a:r>
          </a:p>
        </p:txBody>
      </p:sp>
      <p:sp>
        <p:nvSpPr>
          <p:cNvPr id="3" name="Content Placeholder 2"/>
          <p:cNvSpPr>
            <a:spLocks noGrp="1"/>
          </p:cNvSpPr>
          <p:nvPr>
            <p:ph idx="1"/>
          </p:nvPr>
        </p:nvSpPr>
        <p:spPr>
          <a:xfrm>
            <a:off x="838200" y="1636295"/>
            <a:ext cx="10050194" cy="4540668"/>
          </a:xfrm>
        </p:spPr>
        <p:txBody>
          <a:bodyPr>
            <a:normAutofit/>
          </a:bodyPr>
          <a:lstStyle/>
          <a:p>
            <a:pPr marL="0" indent="0" algn="just">
              <a:buNone/>
            </a:pPr>
            <a:r>
              <a:rPr lang="en-US" b="1" dirty="0"/>
              <a:t>Course Textbook</a:t>
            </a:r>
            <a:endParaRPr lang="en-US" dirty="0"/>
          </a:p>
          <a:p>
            <a:pPr marL="0" indent="0" algn="just">
              <a:lnSpc>
                <a:spcPct val="100000"/>
              </a:lnSpc>
              <a:buNone/>
            </a:pPr>
            <a:r>
              <a:rPr lang="en-US" dirty="0"/>
              <a:t>[A]. Introduction to Computer Theory by Daniel I.A. Cohen, 2nd Edition, Wiley.</a:t>
            </a:r>
          </a:p>
          <a:p>
            <a:pPr marL="0" indent="0" algn="just">
              <a:lnSpc>
                <a:spcPct val="100000"/>
              </a:lnSpc>
              <a:buNone/>
            </a:pPr>
            <a:r>
              <a:rPr lang="en-US" dirty="0"/>
              <a:t>[B]. Introduction to Languages and Theory of Computation by J. C. Martin, 4th Edition, y McGraw-Hill.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6659"/>
            <a:ext cx="10515600" cy="714626"/>
          </a:xfrm>
        </p:spPr>
        <p:txBody>
          <a:bodyPr/>
          <a:lstStyle/>
          <a:p>
            <a:r>
              <a:rPr lang="en-US" b="1" dirty="0">
                <a:solidFill>
                  <a:schemeClr val="accent2">
                    <a:lumMod val="75000"/>
                  </a:schemeClr>
                </a:solidFill>
              </a:rPr>
              <a:t>Course Objective</a:t>
            </a:r>
            <a:endParaRPr lang="en-US" dirty="0">
              <a:solidFill>
                <a:schemeClr val="accent2">
                  <a:lumMod val="75000"/>
                </a:schemeClr>
              </a:solidFill>
            </a:endParaRPr>
          </a:p>
        </p:txBody>
      </p:sp>
      <p:sp>
        <p:nvSpPr>
          <p:cNvPr id="3" name="Content Placeholder 2"/>
          <p:cNvSpPr>
            <a:spLocks noGrp="1"/>
          </p:cNvSpPr>
          <p:nvPr>
            <p:ph idx="1"/>
          </p:nvPr>
        </p:nvSpPr>
        <p:spPr>
          <a:xfrm>
            <a:off x="838200" y="1435100"/>
            <a:ext cx="10088245" cy="4886325"/>
          </a:xfrm>
        </p:spPr>
        <p:txBody>
          <a:bodyPr>
            <a:normAutofit/>
          </a:bodyPr>
          <a:lstStyle/>
          <a:p>
            <a:pPr algn="just"/>
            <a:r>
              <a:rPr lang="en-US" dirty="0"/>
              <a:t>To have a clear understanding of automata theory concepts.</a:t>
            </a:r>
          </a:p>
          <a:p>
            <a:pPr algn="just"/>
            <a:r>
              <a:rPr lang="en-US" dirty="0"/>
              <a:t>To understand that regular and context free languages are useful models for many important kinds of hardware and software.</a:t>
            </a:r>
          </a:p>
          <a:p>
            <a:pPr algn="just"/>
            <a:r>
              <a:rPr lang="en-US" dirty="0"/>
              <a:t>To be able to understand the use of regular and context free languages in solving problems such as lexical analysis, text processing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 </a:t>
            </a:r>
            <a:r>
              <a:rPr lang="en-US" dirty="0">
                <a:sym typeface="+mn-ea"/>
              </a:rPr>
              <a:t>Theory of Automata</a:t>
            </a:r>
            <a:r>
              <a:rPr lang="en-US" dirty="0"/>
              <a:t> Course</a:t>
            </a:r>
          </a:p>
        </p:txBody>
      </p:sp>
      <p:sp>
        <p:nvSpPr>
          <p:cNvPr id="3" name="Subtitle 2"/>
          <p:cNvSpPr>
            <a:spLocks noGrp="1"/>
          </p:cNvSpPr>
          <p:nvPr>
            <p:ph type="subTitle" idx="1"/>
          </p:nvPr>
        </p:nvSpPr>
        <p:spPr/>
        <p:txBody>
          <a:bodyPr/>
          <a:lstStyle/>
          <a:p>
            <a:r>
              <a:rPr lang="en-US" dirty="0"/>
              <a:t>Lecture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39815"/>
            <a:ext cx="10515600" cy="3376247"/>
          </a:xfrm>
        </p:spPr>
        <p:txBody>
          <a:bodyPr/>
          <a:lstStyle/>
          <a:p>
            <a:pPr marL="0" indent="0" algn="ctr">
              <a:buNone/>
            </a:pPr>
            <a:r>
              <a:rPr lang="en-US" sz="5400" dirty="0">
                <a:latin typeface="Algerian" panose="04020705040A02060702" pitchFamily="82" charset="0"/>
              </a:rPr>
              <a:t>CHAPTER 1</a:t>
            </a:r>
          </a:p>
          <a:p>
            <a:pPr marL="0" indent="0" algn="ctr">
              <a:buNone/>
            </a:pPr>
            <a:r>
              <a:rPr lang="en-US" sz="3200"/>
              <a:t>Overview</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buClrTx/>
              <a:buSzTx/>
              <a:buFontTx/>
            </a:pPr>
            <a:r>
              <a:rPr lang="en-US" b="1" dirty="0">
                <a:solidFill>
                  <a:schemeClr val="accent2">
                    <a:lumMod val="75000"/>
                  </a:schemeClr>
                </a:solidFill>
              </a:rPr>
              <a:t>Introduction </a:t>
            </a:r>
            <a:r>
              <a:rPr lang="en-US" sz="2000" b="1" dirty="0">
                <a:solidFill>
                  <a:schemeClr val="tx1"/>
                </a:solidFill>
                <a:effectLst>
                  <a:outerShdw blurRad="38100" dist="19050" dir="2700000" algn="tl" rotWithShape="0">
                    <a:schemeClr val="dk1">
                      <a:alpha val="40000"/>
                      <a:alpha val="40000"/>
                    </a:schemeClr>
                  </a:outerShdw>
                </a:effectLst>
              </a:rPr>
              <a:t>(Theory of Computation)</a:t>
            </a:r>
          </a:p>
        </p:txBody>
      </p:sp>
      <p:sp>
        <p:nvSpPr>
          <p:cNvPr id="3" name="Content Placeholder 2"/>
          <p:cNvSpPr>
            <a:spLocks noGrp="1"/>
          </p:cNvSpPr>
          <p:nvPr>
            <p:ph idx="1"/>
          </p:nvPr>
        </p:nvSpPr>
        <p:spPr>
          <a:xfrm>
            <a:off x="1311910" y="1825625"/>
            <a:ext cx="8858250" cy="4351655"/>
          </a:xfrm>
        </p:spPr>
        <p:txBody>
          <a:bodyPr/>
          <a:lstStyle/>
          <a:p>
            <a:pPr algn="just"/>
            <a:r>
              <a:rPr lang="en-US" sz="2600" dirty="0"/>
              <a:t>One of the most fundamental courses of computer science</a:t>
            </a:r>
          </a:p>
          <a:p>
            <a:pPr algn="just"/>
            <a:r>
              <a:rPr lang="en-US" sz="2600" dirty="0"/>
              <a:t>It is mainly about what kind of things you can really compute mechnaically, how fast and how much space does it take to do so</a:t>
            </a:r>
          </a:p>
          <a:p>
            <a:pPr algn="just"/>
            <a:r>
              <a:rPr lang="en-US" sz="2600" dirty="0"/>
              <a:t>For example, Consider a binary string that ends with 0</a:t>
            </a:r>
          </a:p>
          <a:p>
            <a:pPr marL="0" indent="0" algn="just">
              <a:buNone/>
            </a:pPr>
            <a:r>
              <a:rPr lang="en-US" sz="2600" dirty="0"/>
              <a:t>11010110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2832"/>
          </a:xfrm>
        </p:spPr>
        <p:txBody>
          <a:bodyPr>
            <a:normAutofit fontScale="90000"/>
          </a:bodyPr>
          <a:lstStyle/>
          <a:p>
            <a:br>
              <a:rPr lang="en-US" b="1" dirty="0">
                <a:solidFill>
                  <a:schemeClr val="accent2">
                    <a:lumMod val="75000"/>
                  </a:schemeClr>
                </a:solidFill>
              </a:rPr>
            </a:br>
            <a:r>
              <a:rPr lang="en-US" b="1" dirty="0">
                <a:solidFill>
                  <a:schemeClr val="accent2">
                    <a:lumMod val="75000"/>
                  </a:schemeClr>
                </a:solidFill>
              </a:rPr>
              <a:t>Introduction</a:t>
            </a:r>
            <a:br>
              <a:rPr lang="en-US" b="1" i="0" dirty="0">
                <a:solidFill>
                  <a:srgbClr val="273239"/>
                </a:solidFill>
                <a:effectLst/>
                <a:latin typeface="Nunito" pitchFamily="2" charset="0"/>
              </a:rPr>
            </a:br>
            <a:endParaRPr lang="en-US" dirty="0"/>
          </a:p>
        </p:txBody>
      </p:sp>
      <p:pic>
        <p:nvPicPr>
          <p:cNvPr id="4" name="Content Placeholder 3" descr="Image 29-01-2024 at 11.13 PM"/>
          <p:cNvPicPr>
            <a:picLocks noGrp="1" noChangeAspect="1"/>
          </p:cNvPicPr>
          <p:nvPr>
            <p:ph idx="1"/>
          </p:nvPr>
        </p:nvPicPr>
        <p:blipFill>
          <a:blip r:embed="rId2"/>
          <a:stretch>
            <a:fillRect/>
          </a:stretch>
        </p:blipFill>
        <p:spPr>
          <a:xfrm>
            <a:off x="838200" y="1933575"/>
            <a:ext cx="10683240" cy="17106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915"/>
            <a:ext cx="10515600" cy="770255"/>
          </a:xfrm>
        </p:spPr>
        <p:txBody>
          <a:bodyPr>
            <a:normAutofit fontScale="90000"/>
          </a:bodyPr>
          <a:lstStyle/>
          <a:p>
            <a:br>
              <a:rPr lang="en-US" b="1" dirty="0">
                <a:solidFill>
                  <a:schemeClr val="accent2">
                    <a:lumMod val="75000"/>
                  </a:schemeClr>
                </a:solidFill>
                <a:sym typeface="+mn-ea"/>
              </a:rPr>
            </a:br>
            <a:r>
              <a:rPr lang="en-US" b="1" dirty="0">
                <a:solidFill>
                  <a:schemeClr val="accent2">
                    <a:lumMod val="75000"/>
                  </a:schemeClr>
                </a:solidFill>
                <a:sym typeface="+mn-ea"/>
              </a:rPr>
              <a:t>Introduction</a:t>
            </a:r>
            <a:br>
              <a:rPr lang="en-US" b="1" dirty="0">
                <a:solidFill>
                  <a:srgbClr val="273239"/>
                </a:solidFill>
                <a:effectLst/>
                <a:latin typeface="Nunito" pitchFamily="2" charset="0"/>
                <a:sym typeface="+mn-ea"/>
              </a:rPr>
            </a:br>
            <a:endParaRPr lang="en-US"/>
          </a:p>
        </p:txBody>
      </p:sp>
      <p:pic>
        <p:nvPicPr>
          <p:cNvPr id="4" name="Content Placeholder 3" descr="Image 29-01-2024 at 11.14 PM"/>
          <p:cNvPicPr>
            <a:picLocks noGrp="1" noChangeAspect="1"/>
          </p:cNvPicPr>
          <p:nvPr>
            <p:ph idx="1"/>
          </p:nvPr>
        </p:nvPicPr>
        <p:blipFill>
          <a:blip r:embed="rId2"/>
          <a:stretch>
            <a:fillRect/>
          </a:stretch>
        </p:blipFill>
        <p:spPr>
          <a:xfrm>
            <a:off x="838200" y="2508250"/>
            <a:ext cx="10515600" cy="28225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lumMod val="75000"/>
                  </a:schemeClr>
                </a:solidFill>
              </a:rPr>
              <a:t>Why to Study?</a:t>
            </a:r>
          </a:p>
        </p:txBody>
      </p:sp>
      <p:pic>
        <p:nvPicPr>
          <p:cNvPr id="4" name="Content Placeholder 3" descr="Image 29-01-2024 at 11.15 PM"/>
          <p:cNvPicPr>
            <a:picLocks noGrp="1" noChangeAspect="1"/>
          </p:cNvPicPr>
          <p:nvPr>
            <p:ph idx="1"/>
          </p:nvPr>
        </p:nvPicPr>
        <p:blipFill>
          <a:blip r:embed="rId2"/>
          <a:stretch>
            <a:fillRect/>
          </a:stretch>
        </p:blipFill>
        <p:spPr>
          <a:xfrm>
            <a:off x="967740" y="1858645"/>
            <a:ext cx="7921625" cy="4841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lumMod val="75000"/>
                  </a:schemeClr>
                </a:solidFill>
              </a:rPr>
              <a:t>States</a:t>
            </a:r>
          </a:p>
        </p:txBody>
      </p:sp>
      <p:pic>
        <p:nvPicPr>
          <p:cNvPr id="4" name="Content Placeholder 3" descr="Image 29-01-2024 at 11.15 PM"/>
          <p:cNvPicPr>
            <a:picLocks noGrp="1" noChangeAspect="1"/>
          </p:cNvPicPr>
          <p:nvPr>
            <p:ph idx="1"/>
          </p:nvPr>
        </p:nvPicPr>
        <p:blipFill>
          <a:blip r:embed="rId2"/>
          <a:stretch>
            <a:fillRect/>
          </a:stretch>
        </p:blipFill>
        <p:spPr>
          <a:xfrm>
            <a:off x="1885315" y="1691005"/>
            <a:ext cx="9271000" cy="1712595"/>
          </a:xfrm>
          <a:prstGeom prst="rect">
            <a:avLst/>
          </a:prstGeom>
        </p:spPr>
      </p:pic>
      <p:pic>
        <p:nvPicPr>
          <p:cNvPr id="5" name="Picture 4" descr="Image 29-01-2024 at 11.21 PM"/>
          <p:cNvPicPr>
            <a:picLocks noChangeAspect="1"/>
          </p:cNvPicPr>
          <p:nvPr/>
        </p:nvPicPr>
        <p:blipFill>
          <a:blip r:embed="rId3"/>
          <a:stretch>
            <a:fillRect/>
          </a:stretch>
        </p:blipFill>
        <p:spPr>
          <a:xfrm>
            <a:off x="130175" y="3851275"/>
            <a:ext cx="11402060" cy="1711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7390"/>
            <a:ext cx="10515600" cy="477520"/>
          </a:xfrm>
        </p:spPr>
        <p:txBody>
          <a:bodyPr>
            <a:normAutofit fontScale="90000"/>
          </a:bodyPr>
          <a:lstStyle/>
          <a:p>
            <a:br>
              <a:rPr lang="en-US" b="1" dirty="0">
                <a:solidFill>
                  <a:schemeClr val="accent2">
                    <a:lumMod val="75000"/>
                  </a:schemeClr>
                </a:solidFill>
                <a:sym typeface="+mn-ea"/>
              </a:rPr>
            </a:br>
            <a:r>
              <a:rPr lang="en-US" b="1" dirty="0">
                <a:solidFill>
                  <a:schemeClr val="accent2">
                    <a:lumMod val="75000"/>
                  </a:schemeClr>
                </a:solidFill>
                <a:sym typeface="+mn-ea"/>
              </a:rPr>
              <a:t>Introduction</a:t>
            </a:r>
            <a:br>
              <a:rPr lang="en-US" b="1" dirty="0">
                <a:solidFill>
                  <a:srgbClr val="273239"/>
                </a:solidFill>
                <a:effectLst/>
                <a:latin typeface="Nunito" pitchFamily="2" charset="0"/>
                <a:sym typeface="+mn-ea"/>
              </a:rPr>
            </a:br>
            <a:endParaRPr lang="en-US"/>
          </a:p>
        </p:txBody>
      </p:sp>
      <p:sp>
        <p:nvSpPr>
          <p:cNvPr id="5" name="Text Box 4"/>
          <p:cNvSpPr txBox="1"/>
          <p:nvPr/>
        </p:nvSpPr>
        <p:spPr>
          <a:xfrm>
            <a:off x="846455" y="1664970"/>
            <a:ext cx="5404485" cy="3969385"/>
          </a:xfrm>
          <a:prstGeom prst="rect">
            <a:avLst/>
          </a:prstGeom>
          <a:noFill/>
        </p:spPr>
        <p:txBody>
          <a:bodyPr wrap="square" rtlCol="0">
            <a:spAutoFit/>
          </a:bodyPr>
          <a:lstStyle/>
          <a:p>
            <a:r>
              <a:rPr lang="en-US" sz="2000" b="1"/>
              <a:t>Different names</a:t>
            </a:r>
          </a:p>
          <a:p>
            <a:endParaRPr lang="en-US" sz="2000"/>
          </a:p>
          <a:p>
            <a:pPr marL="342900" indent="-342900">
              <a:buFont typeface="Arial" panose="020B0604020202020204" pitchFamily="34" charset="0"/>
              <a:buChar char="•"/>
            </a:pPr>
            <a:r>
              <a:rPr lang="en-US" sz="2000"/>
              <a:t>Theory of Automata</a:t>
            </a:r>
          </a:p>
          <a:p>
            <a:pPr marL="342900" indent="-342900">
              <a:buFont typeface="Arial" panose="020B0604020202020204" pitchFamily="34" charset="0"/>
              <a:buChar char="•"/>
            </a:pPr>
            <a:r>
              <a:rPr lang="en-US" sz="2000"/>
              <a:t>Automata  Theory</a:t>
            </a:r>
          </a:p>
          <a:p>
            <a:pPr marL="342900" indent="-342900">
              <a:buFont typeface="Arial" panose="020B0604020202020204" pitchFamily="34" charset="0"/>
              <a:buChar char="•"/>
            </a:pPr>
            <a:r>
              <a:rPr lang="en-US" sz="2000"/>
              <a:t>TTheory of Computer Science</a:t>
            </a:r>
          </a:p>
          <a:p>
            <a:pPr marL="342900" indent="-342900">
              <a:buFont typeface="Arial" panose="020B0604020202020204" pitchFamily="34" charset="0"/>
              <a:buChar char="•"/>
            </a:pPr>
            <a:r>
              <a:rPr lang="en-US" sz="2000"/>
              <a:t>Theory of Computation</a:t>
            </a:r>
          </a:p>
          <a:p>
            <a:pPr marL="342900" indent="-342900">
              <a:buFont typeface="Arial" panose="020B0604020202020204" pitchFamily="34" charset="0"/>
              <a:buChar char="•"/>
            </a:pPr>
            <a:r>
              <a:rPr lang="en-US" sz="2000"/>
              <a:t>Computer Theory</a:t>
            </a:r>
          </a:p>
          <a:p>
            <a:endParaRPr lang="en-US" sz="2000"/>
          </a:p>
          <a:p>
            <a:endParaRPr lang="en-US" sz="2000"/>
          </a:p>
          <a:p>
            <a:endParaRPr lang="en-US"/>
          </a:p>
          <a:p>
            <a:endParaRPr lang="en-US"/>
          </a:p>
          <a:p>
            <a:endParaRPr lang="en-US"/>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209800" y="304800"/>
            <a:ext cx="7772400" cy="838200"/>
          </a:xfrm>
        </p:spPr>
        <p:txBody>
          <a:bodyPr/>
          <a:lstStyle/>
          <a:p>
            <a:r>
              <a:rPr lang="en-US" altLang="en-US" dirty="0"/>
              <a:t>Let’s get started with...</a:t>
            </a:r>
            <a:endParaRPr lang="en-CA" altLang="en-US" dirty="0"/>
          </a:p>
        </p:txBody>
      </p:sp>
      <p:sp>
        <p:nvSpPr>
          <p:cNvPr id="12291" name="Rectangle 3"/>
          <p:cNvSpPr>
            <a:spLocks noGrp="1" noChangeArrowheads="1"/>
          </p:cNvSpPr>
          <p:nvPr>
            <p:ph type="body" idx="1"/>
          </p:nvPr>
        </p:nvSpPr>
        <p:spPr>
          <a:xfrm>
            <a:off x="2057400" y="1676400"/>
            <a:ext cx="8153400" cy="2248486"/>
          </a:xfrm>
        </p:spPr>
        <p:txBody>
          <a:bodyPr/>
          <a:lstStyle/>
          <a:p>
            <a:pPr marL="0" indent="0" algn="ctr">
              <a:buNone/>
            </a:pPr>
            <a:r>
              <a:rPr lang="en-US" altLang="en-US" sz="5400" dirty="0">
                <a:solidFill>
                  <a:srgbClr val="C00000"/>
                </a:solidFill>
              </a:rPr>
              <a:t>Layers</a:t>
            </a:r>
          </a:p>
          <a:p>
            <a:pPr algn="ct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500" fill="hold"/>
                                        <p:tgtEl>
                                          <p:spTgt spid="12291"/>
                                        </p:tgtEl>
                                        <p:attrNameLst>
                                          <p:attrName>ppt_w</p:attrName>
                                        </p:attrNameLst>
                                      </p:cBhvr>
                                      <p:tavLst>
                                        <p:tav tm="0">
                                          <p:val>
                                            <p:fltVal val="0"/>
                                          </p:val>
                                        </p:tav>
                                        <p:tav tm="100000">
                                          <p:val>
                                            <p:strVal val="#ppt_w"/>
                                          </p:val>
                                        </p:tav>
                                      </p:tavLst>
                                    </p:anim>
                                    <p:anim calcmode="lin" valueType="num">
                                      <p:cBhvr>
                                        <p:cTn id="8" dur="500" fill="hold"/>
                                        <p:tgtEl>
                                          <p:spTgt spid="1229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1167618" y="290732"/>
            <a:ext cx="7772400" cy="685800"/>
          </a:xfrm>
        </p:spPr>
        <p:txBody>
          <a:bodyPr>
            <a:normAutofit fontScale="90000"/>
          </a:bodyPr>
          <a:lstStyle/>
          <a:p>
            <a:r>
              <a:rPr lang="en-US" altLang="en-US" b="1" dirty="0">
                <a:solidFill>
                  <a:schemeClr val="accent2">
                    <a:lumMod val="75000"/>
                  </a:schemeClr>
                </a:solidFill>
              </a:rPr>
              <a:t>Logic</a:t>
            </a:r>
            <a:endParaRPr lang="en-CA" altLang="en-US" dirty="0"/>
          </a:p>
        </p:txBody>
      </p:sp>
      <p:sp>
        <p:nvSpPr>
          <p:cNvPr id="125955" name="Rectangle 3"/>
          <p:cNvSpPr>
            <a:spLocks noGrp="1" noChangeArrowheads="1"/>
          </p:cNvSpPr>
          <p:nvPr>
            <p:ph type="body" idx="1"/>
          </p:nvPr>
        </p:nvSpPr>
        <p:spPr>
          <a:xfrm>
            <a:off x="1167618" y="1219199"/>
            <a:ext cx="9636370" cy="4787705"/>
          </a:xfrm>
        </p:spPr>
        <p:txBody>
          <a:bodyPr>
            <a:normAutofit/>
          </a:bodyPr>
          <a:lstStyle/>
          <a:p>
            <a:pPr algn="just">
              <a:lnSpc>
                <a:spcPct val="90000"/>
              </a:lnSpc>
              <a:buFontTx/>
              <a:buChar char="•"/>
            </a:pPr>
            <a:endParaRPr lang="en-US" altLang="en-US" dirty="0"/>
          </a:p>
          <a:p>
            <a:pPr algn="just">
              <a:lnSpc>
                <a:spcPct val="90000"/>
              </a:lnSpc>
              <a:buFontTx/>
              <a:buChar char="•"/>
            </a:pPr>
            <a:endParaRPr lang="en-US" altLang="en-US" dirty="0"/>
          </a:p>
          <a:p>
            <a:pPr algn="just">
              <a:lnSpc>
                <a:spcPct val="90000"/>
              </a:lnSpc>
              <a:buFontTx/>
              <a:buChar char="•"/>
            </a:pPr>
            <a:endParaRPr lang="en-US" altLang="en-US" dirty="0"/>
          </a:p>
          <a:p>
            <a:pPr algn="just">
              <a:lnSpc>
                <a:spcPct val="90000"/>
              </a:lnSpc>
              <a:buFontTx/>
              <a:buChar char="•"/>
            </a:pPr>
            <a:endParaRPr lang="en-US" altLang="en-US" dirty="0"/>
          </a:p>
        </p:txBody>
      </p:sp>
      <p:sp>
        <p:nvSpPr>
          <p:cNvPr id="2" name="Oval 1"/>
          <p:cNvSpPr/>
          <p:nvPr/>
        </p:nvSpPr>
        <p:spPr>
          <a:xfrm>
            <a:off x="3616960" y="1530985"/>
            <a:ext cx="5323205" cy="41643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Undecidable</a:t>
            </a:r>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sz="2000" b="1"/>
          </a:p>
          <a:p>
            <a:pPr algn="ctr"/>
            <a:endParaRPr lang="en-US"/>
          </a:p>
          <a:p>
            <a:pPr algn="ctr"/>
            <a:endParaRPr lang="en-US"/>
          </a:p>
          <a:p>
            <a:pPr algn="ctr"/>
            <a:endParaRPr lang="en-US"/>
          </a:p>
          <a:p>
            <a:pPr algn="ctr"/>
            <a:endParaRPr lang="en-US"/>
          </a:p>
          <a:p>
            <a:pPr algn="ctr"/>
            <a:endParaRPr lang="en-US"/>
          </a:p>
          <a:p>
            <a:pPr algn="ctr"/>
            <a:endParaRPr lang="en-US"/>
          </a:p>
        </p:txBody>
      </p:sp>
      <p:sp>
        <p:nvSpPr>
          <p:cNvPr id="3" name="Oval 2"/>
          <p:cNvSpPr/>
          <p:nvPr/>
        </p:nvSpPr>
        <p:spPr>
          <a:xfrm>
            <a:off x="4197350" y="2040890"/>
            <a:ext cx="4163060" cy="336359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b="1"/>
          </a:p>
          <a:p>
            <a:pPr algn="ctr"/>
            <a:r>
              <a:rPr lang="en-US" sz="2000" b="1"/>
              <a:t>Turing Machine</a:t>
            </a:r>
          </a:p>
          <a:p>
            <a:pPr algn="ctr"/>
            <a:endParaRPr lang="en-US" sz="2000" b="1"/>
          </a:p>
          <a:p>
            <a:pPr algn="ctr"/>
            <a:endParaRPr lang="en-US" sz="2000" b="1"/>
          </a:p>
          <a:p>
            <a:pPr algn="ctr"/>
            <a:endParaRPr lang="en-US" sz="2000" b="1"/>
          </a:p>
          <a:p>
            <a:pPr algn="ctr"/>
            <a:endParaRPr lang="en-US" sz="2000" b="1"/>
          </a:p>
          <a:p>
            <a:pPr algn="ctr"/>
            <a:endParaRPr lang="en-US" sz="2000" b="1"/>
          </a:p>
          <a:p>
            <a:pPr algn="ctr"/>
            <a:endParaRPr lang="en-US" sz="2000" b="1"/>
          </a:p>
          <a:p>
            <a:pPr algn="ctr"/>
            <a:endParaRPr lang="en-US" sz="2000" b="1"/>
          </a:p>
          <a:p>
            <a:pPr algn="ctr"/>
            <a:endParaRPr lang="en-US" sz="2000" b="1"/>
          </a:p>
          <a:p>
            <a:pPr algn="ctr"/>
            <a:endParaRPr lang="en-US" sz="2000" b="1"/>
          </a:p>
        </p:txBody>
      </p:sp>
      <p:sp>
        <p:nvSpPr>
          <p:cNvPr id="4" name="Oval 3"/>
          <p:cNvSpPr/>
          <p:nvPr/>
        </p:nvSpPr>
        <p:spPr>
          <a:xfrm>
            <a:off x="4838065" y="2840990"/>
            <a:ext cx="2971800" cy="21386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CFL</a:t>
            </a:r>
          </a:p>
          <a:p>
            <a:pPr algn="ctr"/>
            <a:endParaRPr lang="en-US" sz="2000" b="1"/>
          </a:p>
          <a:p>
            <a:pPr algn="ctr"/>
            <a:endParaRPr lang="en-US" sz="2000" b="1"/>
          </a:p>
          <a:p>
            <a:pPr algn="ctr"/>
            <a:endParaRPr lang="en-US" sz="2000" b="1"/>
          </a:p>
          <a:p>
            <a:pPr algn="ctr"/>
            <a:endParaRPr lang="en-US" sz="2000" b="1"/>
          </a:p>
        </p:txBody>
      </p:sp>
      <p:sp>
        <p:nvSpPr>
          <p:cNvPr id="5" name="Oval 4"/>
          <p:cNvSpPr/>
          <p:nvPr/>
        </p:nvSpPr>
        <p:spPr>
          <a:xfrm>
            <a:off x="5605145" y="3608705"/>
            <a:ext cx="1470025" cy="115887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FSM</a:t>
            </a:r>
          </a:p>
        </p:txBody>
      </p:sp>
      <p:cxnSp>
        <p:nvCxnSpPr>
          <p:cNvPr id="6" name="Straight Arrow Connector 5"/>
          <p:cNvCxnSpPr>
            <a:stCxn id="5" idx="6"/>
          </p:cNvCxnSpPr>
          <p:nvPr/>
        </p:nvCxnSpPr>
        <p:spPr>
          <a:xfrm>
            <a:off x="7075170" y="4188460"/>
            <a:ext cx="24815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Text Box 6"/>
          <p:cNvSpPr txBox="1"/>
          <p:nvPr/>
        </p:nvSpPr>
        <p:spPr>
          <a:xfrm>
            <a:off x="9589770" y="4004310"/>
            <a:ext cx="2318385" cy="368300"/>
          </a:xfrm>
          <a:prstGeom prst="rect">
            <a:avLst/>
          </a:prstGeom>
          <a:noFill/>
        </p:spPr>
        <p:txBody>
          <a:bodyPr wrap="square" rtlCol="0">
            <a:spAutoFit/>
          </a:bodyPr>
          <a:lstStyle/>
          <a:p>
            <a:r>
              <a:rPr lang="en-US"/>
              <a:t>Finite state machine</a:t>
            </a:r>
          </a:p>
        </p:txBody>
      </p:sp>
      <p:cxnSp>
        <p:nvCxnSpPr>
          <p:cNvPr id="8" name="Straight Arrow Connector 7"/>
          <p:cNvCxnSpPr/>
          <p:nvPr/>
        </p:nvCxnSpPr>
        <p:spPr>
          <a:xfrm>
            <a:off x="6781800" y="3319780"/>
            <a:ext cx="24815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 Box 8"/>
          <p:cNvSpPr txBox="1"/>
          <p:nvPr/>
        </p:nvSpPr>
        <p:spPr>
          <a:xfrm>
            <a:off x="9263380" y="3135630"/>
            <a:ext cx="2928620" cy="368300"/>
          </a:xfrm>
          <a:prstGeom prst="rect">
            <a:avLst/>
          </a:prstGeom>
          <a:noFill/>
        </p:spPr>
        <p:txBody>
          <a:bodyPr wrap="square" rtlCol="0">
            <a:spAutoFit/>
          </a:bodyPr>
          <a:lstStyle/>
          <a:p>
            <a:r>
              <a:rPr lang="en-US"/>
              <a:t>Context Free Language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25955"/>
                                        </p:tgtEl>
                                        <p:attrNameLst>
                                          <p:attrName>style.visibility</p:attrName>
                                        </p:attrNameLst>
                                      </p:cBhvr>
                                      <p:to>
                                        <p:strVal val="visible"/>
                                      </p:to>
                                    </p:set>
                                    <p:anim calcmode="lin" valueType="num">
                                      <p:cBhvr>
                                        <p:cTn id="7" dur="500" fill="hold"/>
                                        <p:tgtEl>
                                          <p:spTgt spid="125955"/>
                                        </p:tgtEl>
                                        <p:attrNameLst>
                                          <p:attrName>ppt_w</p:attrName>
                                        </p:attrNameLst>
                                      </p:cBhvr>
                                      <p:tavLst>
                                        <p:tav tm="0">
                                          <p:val>
                                            <p:fltVal val="0"/>
                                          </p:val>
                                        </p:tav>
                                        <p:tav tm="100000">
                                          <p:val>
                                            <p:strVal val="#ppt_w"/>
                                          </p:val>
                                        </p:tav>
                                      </p:tavLst>
                                    </p:anim>
                                    <p:anim calcmode="lin" valueType="num">
                                      <p:cBhvr>
                                        <p:cTn id="8" dur="500" fill="hold"/>
                                        <p:tgtEl>
                                          <p:spTgt spid="12595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2">
            <a:extLst>
              <a:ext uri="{FF2B5EF4-FFF2-40B4-BE49-F238E27FC236}">
                <a16:creationId xmlns:a16="http://schemas.microsoft.com/office/drawing/2014/main" id="{19BDAB58-9DF4-D133-5F22-AD1D71CD2ED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F1397C4-9F66-4B2B-8187-7192B0EA91C2}" type="slidenum">
              <a:rPr lang="en-US" altLang="en-US" sz="1400"/>
              <a:pPr>
                <a:spcBef>
                  <a:spcPct val="0"/>
                </a:spcBef>
                <a:buFontTx/>
                <a:buNone/>
              </a:pPr>
              <a:t>18</a:t>
            </a:fld>
            <a:endParaRPr lang="en-US" altLang="en-US" sz="1400"/>
          </a:p>
        </p:txBody>
      </p:sp>
      <p:sp>
        <p:nvSpPr>
          <p:cNvPr id="26627" name="Text Box 2">
            <a:extLst>
              <a:ext uri="{FF2B5EF4-FFF2-40B4-BE49-F238E27FC236}">
                <a16:creationId xmlns:a16="http://schemas.microsoft.com/office/drawing/2014/main" id="{C0F787E2-E31C-7E6B-7715-C7191275A196}"/>
              </a:ext>
            </a:extLst>
          </p:cNvPr>
          <p:cNvSpPr txBox="1">
            <a:spLocks noChangeArrowheads="1"/>
          </p:cNvSpPr>
          <p:nvPr/>
        </p:nvSpPr>
        <p:spPr bwMode="auto">
          <a:xfrm>
            <a:off x="1752601" y="2209801"/>
            <a:ext cx="1793875"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solidFill>
                  <a:schemeClr val="accent2"/>
                </a:solidFill>
                <a:latin typeface="Comic Sans MS" panose="030F0702030302020204" pitchFamily="66" charset="0"/>
              </a:rPr>
              <a:t>Finite </a:t>
            </a:r>
          </a:p>
          <a:p>
            <a:pPr>
              <a:spcBef>
                <a:spcPct val="50000"/>
              </a:spcBef>
              <a:buFontTx/>
              <a:buNone/>
            </a:pPr>
            <a:r>
              <a:rPr lang="en-US" altLang="en-US" sz="2800">
                <a:solidFill>
                  <a:schemeClr val="accent2"/>
                </a:solidFill>
                <a:latin typeface="Comic Sans MS" panose="030F0702030302020204" pitchFamily="66" charset="0"/>
              </a:rPr>
              <a:t>Automata</a:t>
            </a:r>
          </a:p>
        </p:txBody>
      </p:sp>
      <p:sp>
        <p:nvSpPr>
          <p:cNvPr id="26628" name="Text Box 3">
            <a:extLst>
              <a:ext uri="{FF2B5EF4-FFF2-40B4-BE49-F238E27FC236}">
                <a16:creationId xmlns:a16="http://schemas.microsoft.com/office/drawing/2014/main" id="{B724374A-AECE-CB5C-2F0E-1B7DF168520A}"/>
              </a:ext>
            </a:extLst>
          </p:cNvPr>
          <p:cNvSpPr txBox="1">
            <a:spLocks noChangeArrowheads="1"/>
          </p:cNvSpPr>
          <p:nvPr/>
        </p:nvSpPr>
        <p:spPr bwMode="auto">
          <a:xfrm>
            <a:off x="5181601" y="2286001"/>
            <a:ext cx="1793875"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solidFill>
                  <a:schemeClr val="accent2"/>
                </a:solidFill>
                <a:latin typeface="Comic Sans MS" panose="030F0702030302020204" pitchFamily="66" charset="0"/>
              </a:rPr>
              <a:t>Pushdown</a:t>
            </a:r>
          </a:p>
          <a:p>
            <a:pPr>
              <a:spcBef>
                <a:spcPct val="50000"/>
              </a:spcBef>
              <a:buFontTx/>
              <a:buNone/>
            </a:pPr>
            <a:r>
              <a:rPr lang="en-US" altLang="en-US" sz="2800">
                <a:solidFill>
                  <a:schemeClr val="accent2"/>
                </a:solidFill>
                <a:latin typeface="Comic Sans MS" panose="030F0702030302020204" pitchFamily="66" charset="0"/>
              </a:rPr>
              <a:t>Automata</a:t>
            </a:r>
          </a:p>
        </p:txBody>
      </p:sp>
      <p:sp>
        <p:nvSpPr>
          <p:cNvPr id="26629" name="Text Box 4">
            <a:extLst>
              <a:ext uri="{FF2B5EF4-FFF2-40B4-BE49-F238E27FC236}">
                <a16:creationId xmlns:a16="http://schemas.microsoft.com/office/drawing/2014/main" id="{DAE07EEC-494F-E112-D863-704E82D0222B}"/>
              </a:ext>
            </a:extLst>
          </p:cNvPr>
          <p:cNvSpPr txBox="1">
            <a:spLocks noChangeArrowheads="1"/>
          </p:cNvSpPr>
          <p:nvPr/>
        </p:nvSpPr>
        <p:spPr bwMode="auto">
          <a:xfrm>
            <a:off x="8458200" y="2362201"/>
            <a:ext cx="15494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solidFill>
                  <a:schemeClr val="accent2"/>
                </a:solidFill>
                <a:latin typeface="Comic Sans MS" panose="030F0702030302020204" pitchFamily="66" charset="0"/>
              </a:rPr>
              <a:t>Turing</a:t>
            </a:r>
          </a:p>
          <a:p>
            <a:pPr>
              <a:spcBef>
                <a:spcPct val="50000"/>
              </a:spcBef>
              <a:buFontTx/>
              <a:buNone/>
            </a:pPr>
            <a:r>
              <a:rPr lang="en-US" altLang="en-US" sz="2800">
                <a:solidFill>
                  <a:schemeClr val="accent2"/>
                </a:solidFill>
                <a:latin typeface="Comic Sans MS" panose="030F0702030302020204" pitchFamily="66" charset="0"/>
              </a:rPr>
              <a:t>Machine</a:t>
            </a:r>
          </a:p>
        </p:txBody>
      </p:sp>
      <p:sp>
        <p:nvSpPr>
          <p:cNvPr id="26630" name="Line 5">
            <a:extLst>
              <a:ext uri="{FF2B5EF4-FFF2-40B4-BE49-F238E27FC236}">
                <a16:creationId xmlns:a16="http://schemas.microsoft.com/office/drawing/2014/main" id="{FC4FAA8A-5DC2-27BA-D5ED-9AA04C95BEE4}"/>
              </a:ext>
            </a:extLst>
          </p:cNvPr>
          <p:cNvSpPr>
            <a:spLocks noChangeShapeType="1"/>
          </p:cNvSpPr>
          <p:nvPr/>
        </p:nvSpPr>
        <p:spPr bwMode="auto">
          <a:xfrm flipH="1">
            <a:off x="4191000" y="2362200"/>
            <a:ext cx="5334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6631" name="Line 6">
            <a:extLst>
              <a:ext uri="{FF2B5EF4-FFF2-40B4-BE49-F238E27FC236}">
                <a16:creationId xmlns:a16="http://schemas.microsoft.com/office/drawing/2014/main" id="{F24EDEFA-E81F-05BA-3893-590605631CBA}"/>
              </a:ext>
            </a:extLst>
          </p:cNvPr>
          <p:cNvSpPr>
            <a:spLocks noChangeShapeType="1"/>
          </p:cNvSpPr>
          <p:nvPr/>
        </p:nvSpPr>
        <p:spPr bwMode="auto">
          <a:xfrm>
            <a:off x="4191000" y="2971800"/>
            <a:ext cx="5334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6632" name="Line 7">
            <a:extLst>
              <a:ext uri="{FF2B5EF4-FFF2-40B4-BE49-F238E27FC236}">
                <a16:creationId xmlns:a16="http://schemas.microsoft.com/office/drawing/2014/main" id="{F008FAA0-718E-CEC5-A348-AAF0768ED67B}"/>
              </a:ext>
            </a:extLst>
          </p:cNvPr>
          <p:cNvSpPr>
            <a:spLocks noChangeShapeType="1"/>
          </p:cNvSpPr>
          <p:nvPr/>
        </p:nvSpPr>
        <p:spPr bwMode="auto">
          <a:xfrm flipH="1">
            <a:off x="7391400" y="2362200"/>
            <a:ext cx="5334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6633" name="Line 8">
            <a:extLst>
              <a:ext uri="{FF2B5EF4-FFF2-40B4-BE49-F238E27FC236}">
                <a16:creationId xmlns:a16="http://schemas.microsoft.com/office/drawing/2014/main" id="{E280BECB-0132-69C9-203E-6F729D528AB6}"/>
              </a:ext>
            </a:extLst>
          </p:cNvPr>
          <p:cNvSpPr>
            <a:spLocks noChangeShapeType="1"/>
          </p:cNvSpPr>
          <p:nvPr/>
        </p:nvSpPr>
        <p:spPr bwMode="auto">
          <a:xfrm>
            <a:off x="7391400" y="2971800"/>
            <a:ext cx="5334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6634" name="Text Box 9">
            <a:extLst>
              <a:ext uri="{FF2B5EF4-FFF2-40B4-BE49-F238E27FC236}">
                <a16:creationId xmlns:a16="http://schemas.microsoft.com/office/drawing/2014/main" id="{21368351-0CAB-4954-5696-B979D31E1329}"/>
              </a:ext>
            </a:extLst>
          </p:cNvPr>
          <p:cNvSpPr txBox="1">
            <a:spLocks noChangeArrowheads="1"/>
          </p:cNvSpPr>
          <p:nvPr/>
        </p:nvSpPr>
        <p:spPr bwMode="auto">
          <a:xfrm>
            <a:off x="4114800" y="228600"/>
            <a:ext cx="4256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3600">
                <a:latin typeface="Comic Sans MS" panose="030F0702030302020204" pitchFamily="66" charset="0"/>
              </a:rPr>
              <a:t>Power of Automata</a:t>
            </a:r>
          </a:p>
        </p:txBody>
      </p:sp>
      <p:sp>
        <p:nvSpPr>
          <p:cNvPr id="26635" name="Line 10">
            <a:extLst>
              <a:ext uri="{FF2B5EF4-FFF2-40B4-BE49-F238E27FC236}">
                <a16:creationId xmlns:a16="http://schemas.microsoft.com/office/drawing/2014/main" id="{54029F5C-FB82-AAA6-DEF4-00DD02040DA0}"/>
              </a:ext>
            </a:extLst>
          </p:cNvPr>
          <p:cNvSpPr>
            <a:spLocks noChangeShapeType="1"/>
          </p:cNvSpPr>
          <p:nvPr/>
        </p:nvSpPr>
        <p:spPr bwMode="auto">
          <a:xfrm>
            <a:off x="4419600" y="4876800"/>
            <a:ext cx="320040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en-US"/>
          </a:p>
        </p:txBody>
      </p:sp>
      <p:sp>
        <p:nvSpPr>
          <p:cNvPr id="26636" name="Text Box 11">
            <a:extLst>
              <a:ext uri="{FF2B5EF4-FFF2-40B4-BE49-F238E27FC236}">
                <a16:creationId xmlns:a16="http://schemas.microsoft.com/office/drawing/2014/main" id="{4CB816BC-9CFC-9D8B-2CA1-172F4A03E304}"/>
              </a:ext>
            </a:extLst>
          </p:cNvPr>
          <p:cNvSpPr txBox="1">
            <a:spLocks noChangeArrowheads="1"/>
          </p:cNvSpPr>
          <p:nvPr/>
        </p:nvSpPr>
        <p:spPr bwMode="auto">
          <a:xfrm>
            <a:off x="1752600" y="4572001"/>
            <a:ext cx="2014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solidFill>
                  <a:schemeClr val="accent2"/>
                </a:solidFill>
                <a:latin typeface="Comic Sans MS" panose="030F0702030302020204" pitchFamily="66" charset="0"/>
              </a:rPr>
              <a:t>Less power</a:t>
            </a:r>
          </a:p>
        </p:txBody>
      </p:sp>
      <p:sp>
        <p:nvSpPr>
          <p:cNvPr id="26637" name="Text Box 12">
            <a:extLst>
              <a:ext uri="{FF2B5EF4-FFF2-40B4-BE49-F238E27FC236}">
                <a16:creationId xmlns:a16="http://schemas.microsoft.com/office/drawing/2014/main" id="{C5CCA567-DEED-3A73-8D4C-774A49845D0E}"/>
              </a:ext>
            </a:extLst>
          </p:cNvPr>
          <p:cNvSpPr txBox="1">
            <a:spLocks noChangeArrowheads="1"/>
          </p:cNvSpPr>
          <p:nvPr/>
        </p:nvSpPr>
        <p:spPr bwMode="auto">
          <a:xfrm>
            <a:off x="7924800" y="4572001"/>
            <a:ext cx="2146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solidFill>
                  <a:schemeClr val="accent2"/>
                </a:solidFill>
                <a:latin typeface="Comic Sans MS" panose="030F0702030302020204" pitchFamily="66" charset="0"/>
              </a:rPr>
              <a:t>More power</a:t>
            </a:r>
          </a:p>
        </p:txBody>
      </p:sp>
      <p:sp>
        <p:nvSpPr>
          <p:cNvPr id="26638" name="Text Box 14">
            <a:extLst>
              <a:ext uri="{FF2B5EF4-FFF2-40B4-BE49-F238E27FC236}">
                <a16:creationId xmlns:a16="http://schemas.microsoft.com/office/drawing/2014/main" id="{9958F15F-6C95-273C-8FAC-89322799D4E8}"/>
              </a:ext>
            </a:extLst>
          </p:cNvPr>
          <p:cNvSpPr txBox="1">
            <a:spLocks noChangeArrowheads="1"/>
          </p:cNvSpPr>
          <p:nvPr/>
        </p:nvSpPr>
        <p:spPr bwMode="auto">
          <a:xfrm>
            <a:off x="6096000" y="5105401"/>
            <a:ext cx="408463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solidFill>
                  <a:schemeClr val="accent2"/>
                </a:solidFill>
                <a:latin typeface="Comic Sans MS" panose="030F0702030302020204" pitchFamily="66" charset="0"/>
              </a:rPr>
              <a:t>Solve more </a:t>
            </a:r>
          </a:p>
          <a:p>
            <a:pPr>
              <a:spcBef>
                <a:spcPct val="50000"/>
              </a:spcBef>
              <a:buFontTx/>
              <a:buNone/>
            </a:pPr>
            <a:r>
              <a:rPr lang="en-US" altLang="en-US" sz="2800">
                <a:solidFill>
                  <a:schemeClr val="accent2"/>
                </a:solidFill>
                <a:latin typeface="Comic Sans MS" panose="030F0702030302020204" pitchFamily="66" charset="0"/>
              </a:rPr>
              <a:t>computational problems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9490"/>
          </a:xfrm>
        </p:spPr>
        <p:txBody>
          <a:bodyPr/>
          <a:lstStyle/>
          <a:p>
            <a:r>
              <a:rPr lang="en-US" altLang="en-US" b="1" dirty="0">
                <a:solidFill>
                  <a:schemeClr val="accent2">
                    <a:lumMod val="75000"/>
                  </a:schemeClr>
                </a:solidFill>
                <a:sym typeface="+mn-ea"/>
              </a:rPr>
              <a:t>Language</a:t>
            </a:r>
            <a:endParaRPr lang="en-US"/>
          </a:p>
        </p:txBody>
      </p:sp>
      <p:sp>
        <p:nvSpPr>
          <p:cNvPr id="3" name="Content Placeholder 2"/>
          <p:cNvSpPr>
            <a:spLocks noGrp="1"/>
          </p:cNvSpPr>
          <p:nvPr>
            <p:ph idx="1"/>
          </p:nvPr>
        </p:nvSpPr>
        <p:spPr>
          <a:xfrm>
            <a:off x="838200" y="1466850"/>
            <a:ext cx="10515600" cy="4710430"/>
          </a:xfrm>
        </p:spPr>
        <p:txBody>
          <a:bodyPr/>
          <a:lstStyle/>
          <a:p>
            <a:r>
              <a:rPr lang="en-US"/>
              <a:t>Alphabet</a:t>
            </a:r>
          </a:p>
          <a:p>
            <a:r>
              <a:rPr lang="en-US"/>
              <a:t>String</a:t>
            </a:r>
          </a:p>
          <a:p>
            <a:r>
              <a:rPr lang="en-US"/>
              <a:t>Word</a:t>
            </a:r>
          </a:p>
          <a:p>
            <a:r>
              <a:rPr lang="en-US"/>
              <a:t>Language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3430"/>
            <a:ext cx="10515600" cy="591820"/>
          </a:xfrm>
        </p:spPr>
        <p:txBody>
          <a:bodyPr>
            <a:normAutofit fontScale="90000"/>
          </a:bodyPr>
          <a:lstStyle/>
          <a:p>
            <a:r>
              <a:rPr lang="en-US" altLang="en-US" b="1" dirty="0">
                <a:solidFill>
                  <a:schemeClr val="accent2">
                    <a:lumMod val="75000"/>
                  </a:schemeClr>
                </a:solidFill>
                <a:sym typeface="+mn-ea"/>
              </a:rPr>
              <a:t>Language</a:t>
            </a:r>
            <a:endParaRPr lang="en-US" dirty="0"/>
          </a:p>
        </p:txBody>
      </p:sp>
      <p:pic>
        <p:nvPicPr>
          <p:cNvPr id="4" name="Content Placeholder 3" descr="Image 29-01-2024 at 11.28 PM"/>
          <p:cNvPicPr>
            <a:picLocks noGrp="1" noChangeAspect="1"/>
          </p:cNvPicPr>
          <p:nvPr>
            <p:ph idx="1"/>
          </p:nvPr>
        </p:nvPicPr>
        <p:blipFill>
          <a:blip r:embed="rId2"/>
          <a:stretch>
            <a:fillRect/>
          </a:stretch>
        </p:blipFill>
        <p:spPr>
          <a:xfrm>
            <a:off x="838200" y="1936115"/>
            <a:ext cx="10515600" cy="2074545"/>
          </a:xfrm>
          <a:prstGeom prst="rect">
            <a:avLst/>
          </a:prstGeom>
        </p:spPr>
      </p:pic>
      <p:sp>
        <p:nvSpPr>
          <p:cNvPr id="3" name="TextBox 2">
            <a:extLst>
              <a:ext uri="{FF2B5EF4-FFF2-40B4-BE49-F238E27FC236}">
                <a16:creationId xmlns:a16="http://schemas.microsoft.com/office/drawing/2014/main" id="{F1B940E6-3819-9D3F-5F49-4A690F1B4556}"/>
              </a:ext>
            </a:extLst>
          </p:cNvPr>
          <p:cNvSpPr txBox="1"/>
          <p:nvPr/>
        </p:nvSpPr>
        <p:spPr>
          <a:xfrm>
            <a:off x="0" y="1936115"/>
            <a:ext cx="1164999" cy="400110"/>
          </a:xfrm>
          <a:prstGeom prst="rect">
            <a:avLst/>
          </a:prstGeom>
          <a:noFill/>
        </p:spPr>
        <p:txBody>
          <a:bodyPr wrap="none" rtlCol="0">
            <a:spAutoFit/>
          </a:bodyPr>
          <a:lstStyle/>
          <a:p>
            <a:r>
              <a:rPr lang="en-US" sz="2000" b="1" dirty="0"/>
              <a:t>symbols/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1985"/>
            <a:ext cx="10515600" cy="527050"/>
          </a:xfrm>
        </p:spPr>
        <p:txBody>
          <a:bodyPr>
            <a:normAutofit fontScale="90000"/>
          </a:bodyPr>
          <a:lstStyle/>
          <a:p>
            <a:r>
              <a:rPr lang="en-US" altLang="en-US" b="1" dirty="0">
                <a:solidFill>
                  <a:schemeClr val="accent2">
                    <a:lumMod val="75000"/>
                  </a:schemeClr>
                </a:solidFill>
                <a:sym typeface="+mn-ea"/>
              </a:rPr>
              <a:t>Language</a:t>
            </a:r>
            <a:endParaRPr lang="en-US"/>
          </a:p>
        </p:txBody>
      </p:sp>
      <p:pic>
        <p:nvPicPr>
          <p:cNvPr id="4" name="Content Placeholder 3" descr="Image 29-01-2024 at 11.29 PM"/>
          <p:cNvPicPr>
            <a:picLocks noGrp="1" noChangeAspect="1"/>
          </p:cNvPicPr>
          <p:nvPr>
            <p:ph idx="1"/>
          </p:nvPr>
        </p:nvPicPr>
        <p:blipFill>
          <a:blip r:embed="rId2"/>
          <a:stretch>
            <a:fillRect/>
          </a:stretch>
        </p:blipFill>
        <p:spPr>
          <a:xfrm>
            <a:off x="838200" y="1777365"/>
            <a:ext cx="10678795" cy="28314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0705"/>
            <a:ext cx="10515600" cy="591185"/>
          </a:xfrm>
        </p:spPr>
        <p:txBody>
          <a:bodyPr>
            <a:normAutofit fontScale="90000"/>
          </a:bodyPr>
          <a:lstStyle/>
          <a:p>
            <a:r>
              <a:rPr lang="en-US" altLang="en-US" b="1" dirty="0">
                <a:solidFill>
                  <a:schemeClr val="accent2">
                    <a:lumMod val="75000"/>
                  </a:schemeClr>
                </a:solidFill>
              </a:rPr>
              <a:t>Empty String</a:t>
            </a:r>
          </a:p>
        </p:txBody>
      </p:sp>
      <p:sp>
        <p:nvSpPr>
          <p:cNvPr id="3" name="Content Placeholder 2"/>
          <p:cNvSpPr>
            <a:spLocks noGrp="1"/>
          </p:cNvSpPr>
          <p:nvPr>
            <p:ph idx="1"/>
          </p:nvPr>
        </p:nvSpPr>
        <p:spPr>
          <a:xfrm>
            <a:off x="838200" y="1450340"/>
            <a:ext cx="10515600" cy="4726940"/>
          </a:xfrm>
        </p:spPr>
        <p:txBody>
          <a:bodyPr/>
          <a:lstStyle/>
          <a:p>
            <a:r>
              <a:rPr lang="en-US" dirty="0"/>
              <a:t>String that has no symbol is an empty string. </a:t>
            </a:r>
          </a:p>
          <a:p>
            <a:r>
              <a:rPr lang="en-US" dirty="0"/>
              <a:t>It is also known as Null String</a:t>
            </a:r>
          </a:p>
          <a:p>
            <a:r>
              <a:rPr lang="en-US" dirty="0"/>
              <a:t>It is denoted by</a:t>
            </a:r>
          </a:p>
          <a:p>
            <a:r>
              <a:rPr lang="en-US" dirty="0"/>
              <a:t>Its length is zero(0) </a:t>
            </a:r>
          </a:p>
        </p:txBody>
      </p:sp>
      <p:pic>
        <p:nvPicPr>
          <p:cNvPr id="4" name="Picture 3" descr="Image 29-01-2024 at 11.37 PM"/>
          <p:cNvPicPr>
            <a:picLocks noChangeAspect="1"/>
          </p:cNvPicPr>
          <p:nvPr/>
        </p:nvPicPr>
        <p:blipFill>
          <a:blip r:embed="rId2"/>
          <a:stretch>
            <a:fillRect/>
          </a:stretch>
        </p:blipFill>
        <p:spPr>
          <a:xfrm>
            <a:off x="3631565" y="2426335"/>
            <a:ext cx="1955800" cy="5905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1175"/>
            <a:ext cx="10515600" cy="560070"/>
          </a:xfrm>
        </p:spPr>
        <p:txBody>
          <a:bodyPr>
            <a:normAutofit fontScale="90000"/>
          </a:bodyPr>
          <a:lstStyle/>
          <a:p>
            <a:br>
              <a:rPr lang="en-US" altLang="en-US" b="1" dirty="0">
                <a:solidFill>
                  <a:schemeClr val="accent2">
                    <a:lumMod val="75000"/>
                  </a:schemeClr>
                </a:solidFill>
                <a:sym typeface="+mn-ea"/>
              </a:rPr>
            </a:br>
            <a:r>
              <a:rPr lang="en-US" altLang="en-US" b="1" dirty="0">
                <a:solidFill>
                  <a:schemeClr val="accent2">
                    <a:lumMod val="75000"/>
                  </a:schemeClr>
                </a:solidFill>
                <a:sym typeface="+mn-ea"/>
              </a:rPr>
              <a:t>Length of a String</a:t>
            </a:r>
            <a:br>
              <a:rPr lang="en-US" altLang="en-US" b="1" dirty="0">
                <a:solidFill>
                  <a:schemeClr val="accent2">
                    <a:lumMod val="75000"/>
                  </a:schemeClr>
                </a:solidFill>
              </a:rPr>
            </a:br>
            <a:endParaRPr lang="en-US"/>
          </a:p>
        </p:txBody>
      </p:sp>
      <p:sp>
        <p:nvSpPr>
          <p:cNvPr id="3" name="Content Placeholder 2"/>
          <p:cNvSpPr>
            <a:spLocks noGrp="1"/>
          </p:cNvSpPr>
          <p:nvPr>
            <p:ph idx="1"/>
          </p:nvPr>
        </p:nvSpPr>
        <p:spPr>
          <a:xfrm>
            <a:off x="838200" y="1287145"/>
            <a:ext cx="10515600" cy="4890135"/>
          </a:xfrm>
        </p:spPr>
        <p:txBody>
          <a:bodyPr/>
          <a:lstStyle/>
          <a:p>
            <a:r>
              <a:rPr lang="en-US" dirty="0"/>
              <a:t>It is the number of symbols in a string</a:t>
            </a:r>
          </a:p>
          <a:p>
            <a:r>
              <a:rPr lang="en-US" dirty="0"/>
              <a:t>It  is denoted by |s|</a:t>
            </a:r>
          </a:p>
          <a:p>
            <a:endParaRPr lang="en-US" dirty="0"/>
          </a:p>
        </p:txBody>
      </p:sp>
      <p:pic>
        <p:nvPicPr>
          <p:cNvPr id="4" name="Picture 3" descr="Image 29-01-2024 at 11.39 PM"/>
          <p:cNvPicPr>
            <a:picLocks noChangeAspect="1"/>
          </p:cNvPicPr>
          <p:nvPr/>
        </p:nvPicPr>
        <p:blipFill>
          <a:blip r:embed="rId2"/>
          <a:stretch>
            <a:fillRect/>
          </a:stretch>
        </p:blipFill>
        <p:spPr>
          <a:xfrm>
            <a:off x="374650" y="2809875"/>
            <a:ext cx="11442065" cy="8451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3910"/>
          </a:xfrm>
        </p:spPr>
        <p:txBody>
          <a:bodyPr>
            <a:normAutofit fontScale="90000"/>
          </a:bodyPr>
          <a:lstStyle/>
          <a:p>
            <a:br>
              <a:rPr lang="en-US" altLang="en-US" b="1" dirty="0">
                <a:solidFill>
                  <a:schemeClr val="accent2">
                    <a:lumMod val="75000"/>
                  </a:schemeClr>
                </a:solidFill>
                <a:sym typeface="+mn-ea"/>
              </a:rPr>
            </a:br>
            <a:r>
              <a:rPr lang="en-US" altLang="en-US" b="1" dirty="0">
                <a:solidFill>
                  <a:schemeClr val="accent2">
                    <a:lumMod val="75000"/>
                  </a:schemeClr>
                </a:solidFill>
                <a:sym typeface="+mn-ea"/>
              </a:rPr>
              <a:t>Reverse of String</a:t>
            </a:r>
            <a:br>
              <a:rPr lang="en-US" altLang="en-US" b="1" dirty="0">
                <a:solidFill>
                  <a:schemeClr val="accent2">
                    <a:lumMod val="75000"/>
                  </a:schemeClr>
                </a:solidFill>
                <a:sym typeface="+mn-ea"/>
              </a:rPr>
            </a:br>
            <a:endParaRPr lang="en-US"/>
          </a:p>
        </p:txBody>
      </p:sp>
      <p:sp>
        <p:nvSpPr>
          <p:cNvPr id="3" name="Content Placeholder 2"/>
          <p:cNvSpPr>
            <a:spLocks noGrp="1"/>
          </p:cNvSpPr>
          <p:nvPr>
            <p:ph idx="1"/>
          </p:nvPr>
        </p:nvSpPr>
        <p:spPr>
          <a:xfrm>
            <a:off x="838200" y="1287145"/>
            <a:ext cx="10515600" cy="4890135"/>
          </a:xfrm>
        </p:spPr>
        <p:txBody>
          <a:bodyPr/>
          <a:lstStyle/>
          <a:p>
            <a:r>
              <a:rPr lang="en-US" dirty="0"/>
              <a:t>It is obtained by writing symbols of string in  reverse order</a:t>
            </a:r>
          </a:p>
          <a:p>
            <a:r>
              <a:rPr lang="en-US" dirty="0"/>
              <a:t>It is denoted by Rev(s) or S</a:t>
            </a:r>
            <a:r>
              <a:rPr lang="en-US" baseline="30000" dirty="0"/>
              <a:t>r </a:t>
            </a:r>
            <a:r>
              <a:rPr lang="en-US" dirty="0">
                <a:sym typeface="+mn-ea"/>
              </a:rPr>
              <a:t>or Reverse(s)</a:t>
            </a:r>
          </a:p>
          <a:p>
            <a:r>
              <a:rPr lang="en-US" dirty="0">
                <a:sym typeface="+mn-ea"/>
              </a:rPr>
              <a:t>Example : s= </a:t>
            </a:r>
            <a:r>
              <a:rPr lang="en-US" dirty="0" err="1">
                <a:sym typeface="+mn-ea"/>
              </a:rPr>
              <a:t>abab</a:t>
            </a:r>
            <a:r>
              <a:rPr lang="en-US" dirty="0">
                <a:sym typeface="+mn-ea"/>
              </a:rPr>
              <a:t>		</a:t>
            </a:r>
          </a:p>
          <a:p>
            <a:endParaRPr lang="en-US" b="1" dirty="0">
              <a:sym typeface="+mn-ea"/>
            </a:endParaRPr>
          </a:p>
          <a:p>
            <a:r>
              <a:rPr lang="en-US" b="1" dirty="0">
                <a:sym typeface="+mn-ea"/>
              </a:rPr>
              <a:t>What is the reverse of a string? </a:t>
            </a:r>
          </a:p>
          <a:p>
            <a:pPr marL="0" indent="0">
              <a:buNone/>
            </a:pPr>
            <a:r>
              <a:rPr lang="en-US" b="1" dirty="0">
                <a:sym typeface="+mn-ea"/>
              </a:rPr>
              <a:t> </a:t>
            </a:r>
            <a:r>
              <a:rPr lang="en-US" dirty="0">
                <a:sym typeface="+mn-ea"/>
              </a:rPr>
              <a:t>Rev(s)=baba</a:t>
            </a:r>
          </a:p>
          <a:p>
            <a:pPr marL="0" indent="0">
              <a:buNone/>
            </a:pPr>
            <a:endParaRPr lang="en-US" baseline="30000" dirty="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0705"/>
            <a:ext cx="10515600" cy="559435"/>
          </a:xfrm>
        </p:spPr>
        <p:txBody>
          <a:bodyPr>
            <a:normAutofit fontScale="90000"/>
          </a:bodyPr>
          <a:lstStyle/>
          <a:p>
            <a:br>
              <a:rPr lang="en-US" altLang="en-US" b="1" dirty="0">
                <a:solidFill>
                  <a:schemeClr val="accent2">
                    <a:lumMod val="75000"/>
                  </a:schemeClr>
                </a:solidFill>
                <a:sym typeface="+mn-ea"/>
              </a:rPr>
            </a:br>
            <a:r>
              <a:rPr lang="en-US" altLang="en-US" b="1" dirty="0">
                <a:solidFill>
                  <a:schemeClr val="accent2">
                    <a:lumMod val="75000"/>
                  </a:schemeClr>
                </a:solidFill>
                <a:sym typeface="+mn-ea"/>
              </a:rPr>
              <a:t>Power of Alphabet</a:t>
            </a:r>
            <a:br>
              <a:rPr lang="en-US" altLang="en-US" b="1" dirty="0">
                <a:solidFill>
                  <a:schemeClr val="accent2">
                    <a:lumMod val="75000"/>
                  </a:schemeClr>
                </a:solidFill>
                <a:sym typeface="+mn-ea"/>
              </a:rPr>
            </a:br>
            <a:endParaRPr lang="en-US"/>
          </a:p>
        </p:txBody>
      </p:sp>
      <p:sp>
        <p:nvSpPr>
          <p:cNvPr id="3" name="Content Placeholder 2"/>
          <p:cNvSpPr>
            <a:spLocks noGrp="1"/>
          </p:cNvSpPr>
          <p:nvPr>
            <p:ph idx="1"/>
          </p:nvPr>
        </p:nvSpPr>
        <p:spPr>
          <a:xfrm>
            <a:off x="838200" y="1320165"/>
            <a:ext cx="10515600" cy="4857115"/>
          </a:xfrm>
        </p:spPr>
        <p:txBody>
          <a:bodyPr/>
          <a:lstStyle/>
          <a:p>
            <a:r>
              <a:rPr lang="en-US"/>
              <a:t>It determines that the strings made from alphabet will be of length equal to power of alphabet	</a:t>
            </a:r>
          </a:p>
          <a:p>
            <a:pPr marL="0" indent="0">
              <a:buNone/>
            </a:pPr>
            <a:endParaRPr lang="en-US"/>
          </a:p>
        </p:txBody>
      </p:sp>
      <p:pic>
        <p:nvPicPr>
          <p:cNvPr id="4" name="Picture 3" descr="Image 29-01-2024 at 11.49 PM"/>
          <p:cNvPicPr>
            <a:picLocks noChangeAspect="1"/>
          </p:cNvPicPr>
          <p:nvPr/>
        </p:nvPicPr>
        <p:blipFill>
          <a:blip r:embed="rId2"/>
          <a:stretch>
            <a:fillRect/>
          </a:stretch>
        </p:blipFill>
        <p:spPr>
          <a:xfrm>
            <a:off x="1751330" y="4211320"/>
            <a:ext cx="8282940" cy="1219200"/>
          </a:xfrm>
          <a:prstGeom prst="rect">
            <a:avLst/>
          </a:prstGeom>
        </p:spPr>
      </p:pic>
      <p:pic>
        <p:nvPicPr>
          <p:cNvPr id="5" name="Picture 4" descr="Image 29-01-2024 at 11.48 PM"/>
          <p:cNvPicPr>
            <a:picLocks noChangeAspect="1"/>
          </p:cNvPicPr>
          <p:nvPr/>
        </p:nvPicPr>
        <p:blipFill>
          <a:blip r:embed="rId3"/>
          <a:stretch>
            <a:fillRect/>
          </a:stretch>
        </p:blipFill>
        <p:spPr>
          <a:xfrm>
            <a:off x="342900" y="2689860"/>
            <a:ext cx="11703050" cy="10452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3F9C-CDD6-1AAB-A543-BD20E1897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A2284-94A6-1826-44EC-4928A8326E8E}"/>
              </a:ext>
            </a:extLst>
          </p:cNvPr>
          <p:cNvSpPr>
            <a:spLocks noGrp="1"/>
          </p:cNvSpPr>
          <p:nvPr>
            <p:ph type="title"/>
          </p:nvPr>
        </p:nvSpPr>
        <p:spPr>
          <a:xfrm>
            <a:off x="838200" y="560705"/>
            <a:ext cx="10515600" cy="559435"/>
          </a:xfrm>
        </p:spPr>
        <p:txBody>
          <a:bodyPr>
            <a:normAutofit fontScale="90000"/>
          </a:bodyPr>
          <a:lstStyle/>
          <a:p>
            <a:br>
              <a:rPr lang="en-US" altLang="en-US" b="1" dirty="0">
                <a:solidFill>
                  <a:schemeClr val="accent2">
                    <a:lumMod val="75000"/>
                  </a:schemeClr>
                </a:solidFill>
                <a:sym typeface="+mn-ea"/>
              </a:rPr>
            </a:br>
            <a:r>
              <a:rPr lang="en-US" altLang="en-US" b="1" dirty="0">
                <a:solidFill>
                  <a:schemeClr val="accent2">
                    <a:lumMod val="75000"/>
                  </a:schemeClr>
                </a:solidFill>
                <a:sym typeface="+mn-ea"/>
              </a:rPr>
              <a:t>Power of Alphabet</a:t>
            </a:r>
            <a:br>
              <a:rPr lang="en-US" altLang="en-US" b="1" dirty="0">
                <a:solidFill>
                  <a:schemeClr val="accent2">
                    <a:lumMod val="75000"/>
                  </a:schemeClr>
                </a:solidFill>
                <a:sym typeface="+mn-ea"/>
              </a:rPr>
            </a:br>
            <a:endParaRPr lang="en-US"/>
          </a:p>
        </p:txBody>
      </p:sp>
      <p:sp>
        <p:nvSpPr>
          <p:cNvPr id="3" name="Content Placeholder 2">
            <a:extLst>
              <a:ext uri="{FF2B5EF4-FFF2-40B4-BE49-F238E27FC236}">
                <a16:creationId xmlns:a16="http://schemas.microsoft.com/office/drawing/2014/main" id="{7D2CE3FC-9B90-19DD-D91F-574A4C2A6212}"/>
              </a:ext>
            </a:extLst>
          </p:cNvPr>
          <p:cNvSpPr>
            <a:spLocks noGrp="1"/>
          </p:cNvSpPr>
          <p:nvPr>
            <p:ph idx="1"/>
          </p:nvPr>
        </p:nvSpPr>
        <p:spPr>
          <a:xfrm>
            <a:off x="838200" y="1320165"/>
            <a:ext cx="10515600" cy="4857115"/>
          </a:xfrm>
        </p:spPr>
        <p:txBody>
          <a:bodyPr/>
          <a:lstStyle/>
          <a:p>
            <a:r>
              <a:rPr lang="en-US" dirty="0"/>
              <a:t>Explain carefully:</a:t>
            </a:r>
          </a:p>
          <a:p>
            <a:r>
              <a:rPr lang="el-GR" dirty="0"/>
              <a:t>Σ² = </a:t>
            </a:r>
            <a:r>
              <a:rPr lang="en-US" dirty="0"/>
              <a:t>all strings of length 2.</a:t>
            </a:r>
          </a:p>
          <a:p>
            <a:r>
              <a:rPr lang="en-US" dirty="0"/>
              <a:t>If </a:t>
            </a:r>
            <a:r>
              <a:rPr lang="el-GR" dirty="0"/>
              <a:t>Σ = {</a:t>
            </a:r>
            <a:r>
              <a:rPr lang="en-US" dirty="0" err="1"/>
              <a:t>a,b</a:t>
            </a:r>
            <a:r>
              <a:rPr lang="en-US" dirty="0"/>
              <a:t>}</a:t>
            </a:r>
          </a:p>
          <a:p>
            <a:r>
              <a:rPr lang="el-GR" dirty="0"/>
              <a:t>Σ¹ = {</a:t>
            </a:r>
            <a:r>
              <a:rPr lang="en-US" dirty="0" err="1"/>
              <a:t>a,b</a:t>
            </a:r>
            <a:r>
              <a:rPr lang="en-US" dirty="0"/>
              <a:t>}</a:t>
            </a:r>
            <a:br>
              <a:rPr lang="en-US" dirty="0"/>
            </a:br>
            <a:r>
              <a:rPr lang="el-GR" dirty="0"/>
              <a:t>Σ² = {</a:t>
            </a:r>
            <a:r>
              <a:rPr lang="en-US" dirty="0"/>
              <a:t>aa, ab, </a:t>
            </a:r>
            <a:r>
              <a:rPr lang="en-US" dirty="0" err="1"/>
              <a:t>ba</a:t>
            </a:r>
            <a:r>
              <a:rPr lang="en-US" dirty="0"/>
              <a:t>, bb}</a:t>
            </a:r>
            <a:br>
              <a:rPr lang="en-US" dirty="0"/>
            </a:br>
            <a:r>
              <a:rPr lang="el-GR" dirty="0"/>
              <a:t>Σ³ = {</a:t>
            </a:r>
            <a:r>
              <a:rPr lang="en-US" dirty="0" err="1"/>
              <a:t>aaa</a:t>
            </a:r>
            <a:r>
              <a:rPr lang="en-US" dirty="0"/>
              <a:t>, </a:t>
            </a:r>
            <a:r>
              <a:rPr lang="en-US" dirty="0" err="1"/>
              <a:t>aab</a:t>
            </a:r>
            <a:r>
              <a:rPr lang="en-US" dirty="0"/>
              <a:t>, aba, abb, baa, </a:t>
            </a:r>
            <a:r>
              <a:rPr lang="en-US" dirty="0" err="1"/>
              <a:t>bab</a:t>
            </a:r>
            <a:r>
              <a:rPr lang="en-US" dirty="0"/>
              <a:t>, </a:t>
            </a:r>
            <a:r>
              <a:rPr lang="en-US" dirty="0" err="1"/>
              <a:t>bba</a:t>
            </a:r>
            <a:r>
              <a:rPr lang="en-US" dirty="0"/>
              <a:t>, </a:t>
            </a:r>
            <a:r>
              <a:rPr lang="en-US" dirty="0" err="1"/>
              <a:t>bbb</a:t>
            </a:r>
            <a:r>
              <a:rPr lang="en-US" dirty="0"/>
              <a:t>}</a:t>
            </a:r>
          </a:p>
          <a:p>
            <a:r>
              <a:rPr lang="en-US" dirty="0"/>
              <a:t>Formula:</a:t>
            </a:r>
            <a:br>
              <a:rPr lang="en-US" dirty="0"/>
            </a:br>
            <a:r>
              <a:rPr lang="en-US" dirty="0"/>
              <a:t>If |</a:t>
            </a:r>
            <a:r>
              <a:rPr lang="el-GR" dirty="0"/>
              <a:t>Σ| = </a:t>
            </a:r>
            <a:r>
              <a:rPr lang="en-US" dirty="0"/>
              <a:t>k</a:t>
            </a:r>
            <a:br>
              <a:rPr lang="en-US" dirty="0"/>
            </a:br>
            <a:r>
              <a:rPr lang="en-US" dirty="0"/>
              <a:t>Then |</a:t>
            </a:r>
            <a:r>
              <a:rPr lang="el-GR" dirty="0"/>
              <a:t>Σ</a:t>
            </a:r>
            <a:r>
              <a:rPr lang="en-US" dirty="0"/>
              <a:t>ⁿ| = kⁿ</a:t>
            </a:r>
          </a:p>
          <a:p>
            <a:pPr marL="0" indent="0">
              <a:buNone/>
            </a:pPr>
            <a:endParaRPr lang="en-US" dirty="0"/>
          </a:p>
        </p:txBody>
      </p:sp>
    </p:spTree>
    <p:extLst>
      <p:ext uri="{BB962C8B-B14F-4D97-AF65-F5344CB8AC3E}">
        <p14:creationId xmlns:p14="http://schemas.microsoft.com/office/powerpoint/2010/main" val="1678171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9140"/>
          </a:xfrm>
        </p:spPr>
        <p:txBody>
          <a:bodyPr>
            <a:normAutofit fontScale="90000"/>
          </a:bodyPr>
          <a:lstStyle/>
          <a:p>
            <a:br>
              <a:rPr lang="en-US" altLang="en-US" b="1" dirty="0">
                <a:solidFill>
                  <a:schemeClr val="accent2">
                    <a:lumMod val="75000"/>
                  </a:schemeClr>
                </a:solidFill>
                <a:sym typeface="+mn-ea"/>
              </a:rPr>
            </a:br>
            <a:r>
              <a:rPr lang="en-US" altLang="en-US" b="1" dirty="0">
                <a:solidFill>
                  <a:schemeClr val="accent2">
                    <a:lumMod val="75000"/>
                  </a:schemeClr>
                </a:solidFill>
                <a:sym typeface="+mn-ea"/>
              </a:rPr>
              <a:t>Power of String</a:t>
            </a:r>
            <a:br>
              <a:rPr lang="en-US" altLang="en-US" b="1" dirty="0">
                <a:solidFill>
                  <a:schemeClr val="accent2">
                    <a:lumMod val="75000"/>
                  </a:schemeClr>
                </a:solidFill>
                <a:sym typeface="+mn-ea"/>
              </a:rPr>
            </a:br>
            <a:endParaRPr lang="en-US"/>
          </a:p>
        </p:txBody>
      </p:sp>
      <p:sp>
        <p:nvSpPr>
          <p:cNvPr id="3" name="Content Placeholder 2"/>
          <p:cNvSpPr>
            <a:spLocks noGrp="1"/>
          </p:cNvSpPr>
          <p:nvPr>
            <p:ph idx="1"/>
          </p:nvPr>
        </p:nvSpPr>
        <p:spPr>
          <a:xfrm>
            <a:off x="838200" y="1270635"/>
            <a:ext cx="10515600" cy="4906645"/>
          </a:xfrm>
        </p:spPr>
        <p:txBody>
          <a:bodyPr/>
          <a:lstStyle/>
          <a:p>
            <a:r>
              <a:rPr lang="en-US" dirty="0"/>
              <a:t>It determines the length of the string</a:t>
            </a:r>
          </a:p>
          <a:p>
            <a:endParaRPr lang="en-US" dirty="0"/>
          </a:p>
        </p:txBody>
      </p:sp>
      <p:pic>
        <p:nvPicPr>
          <p:cNvPr id="4" name="Picture 3" descr="Image 29-01-2024 at 11.51 PM"/>
          <p:cNvPicPr>
            <a:picLocks noChangeAspect="1"/>
          </p:cNvPicPr>
          <p:nvPr/>
        </p:nvPicPr>
        <p:blipFill>
          <a:blip r:embed="rId2"/>
          <a:stretch>
            <a:fillRect/>
          </a:stretch>
        </p:blipFill>
        <p:spPr>
          <a:xfrm>
            <a:off x="3289300" y="2311400"/>
            <a:ext cx="5613400" cy="2235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E61D0-4417-2D9B-8805-E3CAE7CCB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3BDD1-DCFB-E223-AFDB-BD70B293A76C}"/>
              </a:ext>
            </a:extLst>
          </p:cNvPr>
          <p:cNvSpPr>
            <a:spLocks noGrp="1"/>
          </p:cNvSpPr>
          <p:nvPr>
            <p:ph type="title"/>
          </p:nvPr>
        </p:nvSpPr>
        <p:spPr>
          <a:xfrm>
            <a:off x="838200" y="365125"/>
            <a:ext cx="10515600" cy="739140"/>
          </a:xfrm>
        </p:spPr>
        <p:txBody>
          <a:bodyPr>
            <a:normAutofit fontScale="90000"/>
          </a:bodyPr>
          <a:lstStyle/>
          <a:p>
            <a:br>
              <a:rPr lang="en-US" altLang="en-US" b="1" dirty="0">
                <a:solidFill>
                  <a:schemeClr val="accent2">
                    <a:lumMod val="75000"/>
                  </a:schemeClr>
                </a:solidFill>
                <a:sym typeface="+mn-ea"/>
              </a:rPr>
            </a:br>
            <a:r>
              <a:rPr lang="en-US" altLang="en-US" b="1" dirty="0">
                <a:solidFill>
                  <a:schemeClr val="accent2">
                    <a:lumMod val="75000"/>
                  </a:schemeClr>
                </a:solidFill>
                <a:sym typeface="+mn-ea"/>
              </a:rPr>
              <a:t>Power of String</a:t>
            </a:r>
            <a:br>
              <a:rPr lang="en-US" altLang="en-US" b="1" dirty="0">
                <a:solidFill>
                  <a:schemeClr val="accent2">
                    <a:lumMod val="75000"/>
                  </a:schemeClr>
                </a:solidFill>
                <a:sym typeface="+mn-ea"/>
              </a:rPr>
            </a:br>
            <a:endParaRPr lang="en-US"/>
          </a:p>
        </p:txBody>
      </p:sp>
      <p:sp>
        <p:nvSpPr>
          <p:cNvPr id="3" name="Content Placeholder 2">
            <a:extLst>
              <a:ext uri="{FF2B5EF4-FFF2-40B4-BE49-F238E27FC236}">
                <a16:creationId xmlns:a16="http://schemas.microsoft.com/office/drawing/2014/main" id="{5227F522-0BD2-952E-D065-36B6486F85EA}"/>
              </a:ext>
            </a:extLst>
          </p:cNvPr>
          <p:cNvSpPr>
            <a:spLocks noGrp="1"/>
          </p:cNvSpPr>
          <p:nvPr>
            <p:ph idx="1"/>
          </p:nvPr>
        </p:nvSpPr>
        <p:spPr>
          <a:xfrm>
            <a:off x="838200" y="1270635"/>
            <a:ext cx="10515600" cy="4906645"/>
          </a:xfrm>
        </p:spPr>
        <p:txBody>
          <a:bodyPr/>
          <a:lstStyle/>
          <a:p>
            <a:r>
              <a:rPr lang="en-US" dirty="0"/>
              <a:t>It determines the length of the string</a:t>
            </a:r>
          </a:p>
          <a:p>
            <a:r>
              <a:rPr lang="en-US" dirty="0"/>
              <a:t>If s = ab</a:t>
            </a:r>
          </a:p>
          <a:p>
            <a:r>
              <a:rPr lang="en-US" dirty="0"/>
              <a:t>s² = </a:t>
            </a:r>
            <a:r>
              <a:rPr lang="en-US" dirty="0" err="1"/>
              <a:t>abab</a:t>
            </a:r>
            <a:br>
              <a:rPr lang="en-US" dirty="0"/>
            </a:br>
            <a:r>
              <a:rPr lang="en-US" dirty="0"/>
              <a:t>s³ = </a:t>
            </a:r>
            <a:r>
              <a:rPr lang="en-US" dirty="0" err="1"/>
              <a:t>ababab</a:t>
            </a:r>
            <a:br>
              <a:rPr lang="en-US" dirty="0"/>
            </a:br>
            <a:r>
              <a:rPr lang="en-US" dirty="0"/>
              <a:t>s⁰ = ε</a:t>
            </a:r>
          </a:p>
          <a:p>
            <a:r>
              <a:rPr lang="en-US" dirty="0"/>
              <a:t>Important:</a:t>
            </a:r>
            <a:br>
              <a:rPr lang="en-US" dirty="0"/>
            </a:br>
            <a:r>
              <a:rPr lang="en-US" dirty="0"/>
              <a:t>Any string power 0 = ε</a:t>
            </a:r>
          </a:p>
          <a:p>
            <a:endParaRPr lang="en-US" dirty="0"/>
          </a:p>
        </p:txBody>
      </p:sp>
    </p:spTree>
    <p:extLst>
      <p:ext uri="{BB962C8B-B14F-4D97-AF65-F5344CB8AC3E}">
        <p14:creationId xmlns:p14="http://schemas.microsoft.com/office/powerpoint/2010/main" val="1073240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8085" y="2772410"/>
            <a:ext cx="5715635" cy="793115"/>
          </a:xfrm>
        </p:spPr>
        <p:txBody>
          <a:bodyPr/>
          <a:lstStyle/>
          <a:p>
            <a:pPr marL="0" indent="0" algn="ctr">
              <a:buNone/>
            </a:pPr>
            <a:r>
              <a:rPr lang="en-US" sz="3600" b="1"/>
              <a:t>End of Lecture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TotalTime>82</TotalTime>
  <Words>669</Words>
  <Application>Microsoft Office PowerPoint</Application>
  <PresentationFormat>Widescreen</PresentationFormat>
  <Paragraphs>135</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Algerian</vt:lpstr>
      <vt:lpstr>Arial</vt:lpstr>
      <vt:lpstr>Calibri</vt:lpstr>
      <vt:lpstr>Calibri Light</vt:lpstr>
      <vt:lpstr>Comic Sans MS</vt:lpstr>
      <vt:lpstr>Nunito</vt:lpstr>
      <vt:lpstr>Office Theme</vt:lpstr>
      <vt:lpstr> Theory of Automata (CSC- 402)  Semester : Spring 2026 Credit Hours: 3 </vt:lpstr>
      <vt:lpstr>Course Objective</vt:lpstr>
      <vt:lpstr>PowerPoint Presentation</vt:lpstr>
      <vt:lpstr>General Rules</vt:lpstr>
      <vt:lpstr>Division of Marks</vt:lpstr>
      <vt:lpstr>Books </vt:lpstr>
      <vt:lpstr>Course Objective</vt:lpstr>
      <vt:lpstr> Theory of Automata Course</vt:lpstr>
      <vt:lpstr>PowerPoint Presentation</vt:lpstr>
      <vt:lpstr>Introduction (Theory of Computation)</vt:lpstr>
      <vt:lpstr> Introduction </vt:lpstr>
      <vt:lpstr> Introduction </vt:lpstr>
      <vt:lpstr>Why to Study?</vt:lpstr>
      <vt:lpstr>States</vt:lpstr>
      <vt:lpstr> Introduction </vt:lpstr>
      <vt:lpstr>Let’s get started with...</vt:lpstr>
      <vt:lpstr>Logic</vt:lpstr>
      <vt:lpstr>PowerPoint Presentation</vt:lpstr>
      <vt:lpstr>Language</vt:lpstr>
      <vt:lpstr>Language</vt:lpstr>
      <vt:lpstr>Language</vt:lpstr>
      <vt:lpstr>Empty String</vt:lpstr>
      <vt:lpstr> Length of a String </vt:lpstr>
      <vt:lpstr> Reverse of String </vt:lpstr>
      <vt:lpstr> Power of Alphabet </vt:lpstr>
      <vt:lpstr> Power of Alphabet </vt:lpstr>
      <vt:lpstr> Power of String </vt:lpstr>
      <vt:lpstr> Power of String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to Z</dc:creator>
  <cp:lastModifiedBy>Sheeza Batool</cp:lastModifiedBy>
  <cp:revision>270</cp:revision>
  <dcterms:created xsi:type="dcterms:W3CDTF">2026-02-09T16:46:40Z</dcterms:created>
  <dcterms:modified xsi:type="dcterms:W3CDTF">2026-02-12T05:34:26Z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