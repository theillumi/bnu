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324" r:id="rId2"/>
    <p:sldId id="256" r:id="rId3"/>
    <p:sldId id="431" r:id="rId4"/>
    <p:sldId id="429" r:id="rId5"/>
    <p:sldId id="458" r:id="rId6"/>
    <p:sldId id="460" r:id="rId7"/>
    <p:sldId id="461" r:id="rId8"/>
    <p:sldId id="462" r:id="rId9"/>
    <p:sldId id="464" r:id="rId10"/>
    <p:sldId id="402" r:id="rId11"/>
    <p:sldId id="307" r:id="rId12"/>
    <p:sldId id="308" r:id="rId13"/>
    <p:sldId id="405" r:id="rId14"/>
    <p:sldId id="406" r:id="rId15"/>
    <p:sldId id="310" r:id="rId16"/>
    <p:sldId id="311" r:id="rId17"/>
    <p:sldId id="465" r:id="rId18"/>
    <p:sldId id="466" r:id="rId19"/>
    <p:sldId id="467" r:id="rId20"/>
    <p:sldId id="468" r:id="rId21"/>
    <p:sldId id="469" r:id="rId22"/>
    <p:sldId id="470" r:id="rId23"/>
    <p:sldId id="472" r:id="rId24"/>
    <p:sldId id="473" r:id="rId25"/>
    <p:sldId id="403" r:id="rId26"/>
    <p:sldId id="404" r:id="rId27"/>
    <p:sldId id="474" r:id="rId28"/>
    <p:sldId id="475" r:id="rId29"/>
    <p:sldId id="39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79CEE-7766-467A-AD48-D068D9C9E519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0D8A8-3AA1-4FF6-BE16-2FE515242F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A18B4-2029-423F-AF07-FF085EF6276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D74C9-42A5-4070-BA50-12D3E3C7E19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7234"/>
            <a:ext cx="10515600" cy="23352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Theory of Automata (CSC- 402)	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Semester : Spring 2026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Credit Hours: 3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ym typeface="+mn-ea"/>
              </a:rPr>
              <a:t>Theory of Automata</a:t>
            </a:r>
            <a:r>
              <a:rPr lang="en-US" dirty="0"/>
              <a:t>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97760"/>
            <a:ext cx="10515600" cy="301815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Algerian" panose="04020705040A02060702" pitchFamily="82" charset="0"/>
              </a:rPr>
              <a:t>CHAPTER 3 - Recursive Definations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ym typeface="+mn-ea"/>
              </a:rPr>
              <a:t>Recursive Defination in Automata</a:t>
            </a:r>
            <a:br>
              <a:rPr lang="en-US" b="1"/>
            </a:br>
            <a:endParaRPr lang="en-US"/>
          </a:p>
        </p:txBody>
      </p:sp>
      <p:pic>
        <p:nvPicPr>
          <p:cNvPr id="4" name="Content Placeholder 3" descr="Image 13-02-2024 at 10.50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405" y="1536700"/>
            <a:ext cx="10653395" cy="280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460"/>
          </a:xfrm>
        </p:spPr>
        <p:txBody>
          <a:bodyPr/>
          <a:lstStyle/>
          <a:p>
            <a:r>
              <a:rPr lang="en-US" sz="3200"/>
              <a:t>PALINDROME</a:t>
            </a:r>
          </a:p>
        </p:txBody>
      </p:sp>
      <p:pic>
        <p:nvPicPr>
          <p:cNvPr id="4" name="Content Placeholder 3" descr="Image 15-02-2024 at 10.4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5115"/>
            <a:ext cx="10515600" cy="29660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550"/>
          </a:xfrm>
        </p:spPr>
        <p:txBody>
          <a:bodyPr/>
          <a:lstStyle/>
          <a:p>
            <a:r>
              <a:rPr lang="en-US">
                <a:sym typeface="+mn-ea"/>
              </a:rPr>
              <a:t>Explaination</a:t>
            </a:r>
            <a:endParaRPr lang="en-US"/>
          </a:p>
        </p:txBody>
      </p:sp>
      <p:pic>
        <p:nvPicPr>
          <p:cNvPr id="4" name="Content Placeholder 3" descr="Image 15-02-2024 at 10.5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58265"/>
            <a:ext cx="10516235" cy="49980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98805"/>
            <a:ext cx="10515600" cy="721360"/>
          </a:xfrm>
        </p:spPr>
        <p:txBody>
          <a:bodyPr>
            <a:normAutofit fontScale="90000"/>
          </a:bodyPr>
          <a:lstStyle/>
          <a:p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Explaination</a:t>
            </a:r>
            <a:br>
              <a:rPr lang="en-US"/>
            </a:br>
            <a:endParaRPr lang="en-US"/>
          </a:p>
        </p:txBody>
      </p:sp>
      <p:pic>
        <p:nvPicPr>
          <p:cNvPr id="4" name="Content Placeholder 3" descr="Image 15-02-2024 at 10.58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605" y="1864995"/>
            <a:ext cx="10638790" cy="2934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practise Problems</a:t>
            </a:r>
          </a:p>
        </p:txBody>
      </p:sp>
      <p:pic>
        <p:nvPicPr>
          <p:cNvPr id="4" name="Content Placeholder 3" descr="Image 15-02-2024 at 11.01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2625"/>
            <a:ext cx="10515600" cy="4096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0-02-2024 at 9.57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7305" y="450215"/>
            <a:ext cx="6728460" cy="5712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A6076-72E1-CACB-2FB1-2298C7D9B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79229-E981-415F-ADD3-BC9E84D2B96E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75810" name="Rectangle 2">
            <a:extLst>
              <a:ext uri="{FF2B5EF4-FFF2-40B4-BE49-F238E27FC236}">
                <a16:creationId xmlns:a16="http://schemas.microsoft.com/office/drawing/2014/main" id="{2072A1C6-ED79-E3AE-2697-97AF434922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b="1"/>
              <a:t>Recursive definition of Regular Expression(RE)</a:t>
            </a:r>
            <a:endParaRPr lang="en-US" altLang="en-US" sz="3000"/>
          </a:p>
        </p:txBody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36F46985-AD0B-C07D-3E04-629F860873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600" dirty="0"/>
              <a:t>	</a:t>
            </a:r>
            <a:r>
              <a:rPr lang="en-US" altLang="en-US" sz="2600" u="sng" dirty="0"/>
              <a:t>Step 1:</a:t>
            </a:r>
            <a:r>
              <a:rPr lang="en-US" altLang="en-US" sz="2600" dirty="0"/>
              <a:t> Every letter of </a:t>
            </a:r>
            <a:r>
              <a:rPr lang="el-GR" altLang="en-US" sz="2600" dirty="0"/>
              <a:t>Σ</a:t>
            </a:r>
            <a:r>
              <a:rPr lang="en-US" altLang="en-US" sz="2600" dirty="0"/>
              <a:t> including </a:t>
            </a:r>
            <a:r>
              <a:rPr lang="el-GR" altLang="en-US" sz="2600" dirty="0"/>
              <a:t>Λ</a:t>
            </a:r>
            <a:r>
              <a:rPr lang="en-US" altLang="en-US" sz="2600" dirty="0"/>
              <a:t> is a 	regular expression.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600" dirty="0"/>
              <a:t>	</a:t>
            </a:r>
            <a:r>
              <a:rPr lang="en-US" altLang="en-US" sz="2600" u="sng" dirty="0"/>
              <a:t>Step 2:</a:t>
            </a:r>
            <a:r>
              <a:rPr lang="en-US" altLang="en-US" sz="2600" dirty="0"/>
              <a:t> If r</a:t>
            </a:r>
            <a:r>
              <a:rPr lang="en-US" altLang="en-US" sz="2600" baseline="-30000" dirty="0"/>
              <a:t>1</a:t>
            </a:r>
            <a:r>
              <a:rPr lang="en-US" altLang="en-US" sz="2600" dirty="0"/>
              <a:t> and r2 are regular expressions then </a:t>
            </a:r>
          </a:p>
          <a:p>
            <a:pPr lvl="1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en-US" altLang="en-US" sz="2600" dirty="0"/>
              <a:t>(r</a:t>
            </a:r>
            <a:r>
              <a:rPr lang="en-US" altLang="en-US" sz="2600" baseline="-30000" dirty="0"/>
              <a:t>1</a:t>
            </a:r>
            <a:r>
              <a:rPr lang="en-US" altLang="en-US" sz="2600" dirty="0"/>
              <a:t>)</a:t>
            </a:r>
          </a:p>
          <a:p>
            <a:pPr lvl="1">
              <a:lnSpc>
                <a:spcPct val="80000"/>
              </a:lnSpc>
              <a:buFont typeface="Monotype Sorts" pitchFamily="2" charset="2"/>
              <a:buAutoNum type="arabicPeriod"/>
            </a:pPr>
            <a:endParaRPr lang="en-US" altLang="en-US" sz="2600" dirty="0"/>
          </a:p>
          <a:p>
            <a:pPr lvl="1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en-US" altLang="en-US" sz="2600" dirty="0"/>
              <a:t>r</a:t>
            </a:r>
            <a:r>
              <a:rPr lang="en-US" altLang="en-US" sz="2600" baseline="-30000" dirty="0"/>
              <a:t>1</a:t>
            </a:r>
            <a:r>
              <a:rPr lang="en-US" altLang="en-US" sz="2600" dirty="0"/>
              <a:t> r</a:t>
            </a:r>
            <a:r>
              <a:rPr lang="en-US" altLang="en-US" sz="2600" baseline="-30000" dirty="0"/>
              <a:t>2</a:t>
            </a:r>
          </a:p>
          <a:p>
            <a:pPr lvl="1">
              <a:lnSpc>
                <a:spcPct val="80000"/>
              </a:lnSpc>
              <a:buFont typeface="Monotype Sorts" pitchFamily="2" charset="2"/>
              <a:buAutoNum type="arabicPeriod"/>
            </a:pPr>
            <a:endParaRPr lang="en-US" altLang="en-US" sz="2600" dirty="0"/>
          </a:p>
          <a:p>
            <a:pPr lvl="1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en-US" altLang="en-US" sz="2600" dirty="0"/>
              <a:t>r</a:t>
            </a:r>
            <a:r>
              <a:rPr lang="en-US" altLang="en-US" sz="2600" baseline="-30000" dirty="0"/>
              <a:t>1</a:t>
            </a:r>
            <a:r>
              <a:rPr lang="en-US" altLang="en-US" sz="2600" dirty="0"/>
              <a:t> + r</a:t>
            </a:r>
            <a:r>
              <a:rPr lang="en-US" altLang="en-US" sz="2600" baseline="-30000" dirty="0"/>
              <a:t>2</a:t>
            </a:r>
            <a:r>
              <a:rPr lang="en-US" altLang="en-US" sz="2600" dirty="0"/>
              <a:t> and</a:t>
            </a:r>
          </a:p>
          <a:p>
            <a:pPr lvl="1">
              <a:lnSpc>
                <a:spcPct val="80000"/>
              </a:lnSpc>
              <a:buFont typeface="Monotype Sorts" pitchFamily="2" charset="2"/>
              <a:buAutoNum type="arabicPeriod"/>
            </a:pPr>
            <a:endParaRPr lang="en-US" altLang="en-US" sz="2600" dirty="0"/>
          </a:p>
          <a:p>
            <a:pPr lvl="1">
              <a:lnSpc>
                <a:spcPct val="80000"/>
              </a:lnSpc>
              <a:buFont typeface="Monotype Sorts" pitchFamily="2" charset="2"/>
              <a:buAutoNum type="arabicPeriod"/>
            </a:pPr>
            <a:r>
              <a:rPr lang="en-US" altLang="en-US" sz="2600" dirty="0"/>
              <a:t> r</a:t>
            </a:r>
            <a:r>
              <a:rPr lang="en-US" altLang="en-US" sz="2600" baseline="-30000" dirty="0"/>
              <a:t>1</a:t>
            </a:r>
            <a:r>
              <a:rPr lang="en-US" altLang="en-US" sz="2600" baseline="40000" dirty="0"/>
              <a:t>*</a:t>
            </a:r>
          </a:p>
          <a:p>
            <a:pPr lvl="1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600" dirty="0"/>
              <a:t>are also regular expressions.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altLang="en-US" sz="2600" dirty="0"/>
              <a:t>   </a:t>
            </a:r>
            <a:r>
              <a:rPr lang="en-US" altLang="en-US" sz="2600" u="sng" dirty="0"/>
              <a:t>Step 3:</a:t>
            </a:r>
            <a:r>
              <a:rPr lang="en-US" altLang="en-US" sz="2600" dirty="0"/>
              <a:t> Nothing else is a regular expression.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DD160-84AD-1B8E-3751-1C27AF8A5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D4A2-D7D9-4E12-BE24-A03AFEFEAD3D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23234" name="Rectangle 2">
            <a:extLst>
              <a:ext uri="{FF2B5EF4-FFF2-40B4-BE49-F238E27FC236}">
                <a16:creationId xmlns:a16="http://schemas.microsoft.com/office/drawing/2014/main" id="{13602147-3EB3-4445-5C36-AC232C28C3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Defining Languages (continued)…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3A514533-9E8F-F7DF-2490-8CDDF2DC6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Method 3 (Regular Expressions)</a:t>
            </a:r>
          </a:p>
          <a:p>
            <a:pPr lvl="1">
              <a:lnSpc>
                <a:spcPct val="90000"/>
              </a:lnSpc>
            </a:pPr>
            <a:r>
              <a:rPr lang="en-US" altLang="en-US" sz="2800"/>
              <a:t>Consider the language  L={</a:t>
            </a:r>
            <a:r>
              <a:rPr lang="el-GR" altLang="en-US" sz="2800"/>
              <a:t>Λ</a:t>
            </a:r>
            <a:r>
              <a:rPr lang="en-US" altLang="en-US" sz="2800"/>
              <a:t>, x, xx, xxx,…} of strings, defined over </a:t>
            </a:r>
            <a:r>
              <a:rPr lang="el-GR" altLang="en-US" sz="2800"/>
              <a:t>Σ</a:t>
            </a:r>
            <a:r>
              <a:rPr lang="en-US" altLang="en-US" sz="2800"/>
              <a:t> = {x}.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/>
              <a:t>	We can write this language as the Kleene star closure of alphabet </a:t>
            </a:r>
            <a:r>
              <a:rPr lang="el-GR" altLang="en-US" sz="2800"/>
              <a:t>Σ</a:t>
            </a:r>
            <a:r>
              <a:rPr lang="en-US" altLang="en-US" sz="2800"/>
              <a:t> or L=</a:t>
            </a:r>
            <a:r>
              <a:rPr lang="el-GR" altLang="en-US" sz="2800"/>
              <a:t>Σ</a:t>
            </a:r>
            <a:r>
              <a:rPr lang="en-US" altLang="en-US" sz="2800" baseline="40000"/>
              <a:t>*</a:t>
            </a:r>
            <a:r>
              <a:rPr lang="en-US" altLang="en-US" sz="2800"/>
              <a:t>={x}</a:t>
            </a:r>
            <a:r>
              <a:rPr lang="en-US" altLang="en-US" sz="2800" baseline="40000"/>
              <a:t>*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 baseline="40000"/>
              <a:t>	</a:t>
            </a:r>
            <a:r>
              <a:rPr lang="en-US" altLang="en-US" sz="2800"/>
              <a:t>this language can also be expressed by the regular expression x</a:t>
            </a:r>
            <a:r>
              <a:rPr lang="en-US" altLang="en-US" sz="2800" baseline="40000"/>
              <a:t>*</a:t>
            </a:r>
            <a:r>
              <a:rPr lang="en-US" altLang="en-US" sz="280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sz="2800"/>
              <a:t>Similarly the language  L={x, xx, xxx,…}, defined over </a:t>
            </a:r>
            <a:r>
              <a:rPr lang="el-GR" altLang="en-US" sz="2800"/>
              <a:t>Σ</a:t>
            </a:r>
            <a:r>
              <a:rPr lang="en-US" altLang="en-US" sz="2800"/>
              <a:t> = {x}, can be expressed by the regular expression x</a:t>
            </a:r>
            <a:r>
              <a:rPr lang="en-US" altLang="en-US" sz="2800" baseline="40000"/>
              <a:t>+</a:t>
            </a:r>
            <a:r>
              <a:rPr lang="en-US" altLang="en-US" sz="2800"/>
              <a:t>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/>
              <a:t>	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D0CA0-85B1-9968-2E77-E966B4EE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4CBB9-A7F1-4D4E-B5A3-7C59291673AB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24258" name="Rectangle 2">
            <a:extLst>
              <a:ext uri="{FF2B5EF4-FFF2-40B4-BE49-F238E27FC236}">
                <a16:creationId xmlns:a16="http://schemas.microsoft.com/office/drawing/2014/main" id="{F80FE522-DB18-0D1E-6E3D-E252EE5DF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Cont.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4F054715-AEE2-A67D-40B0-3B384D044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US" sz="2800" dirty="0"/>
              <a:t>Now consider another language L, consisting of all possible strings, defined over </a:t>
            </a:r>
            <a:r>
              <a:rPr lang="el-GR" altLang="en-US" sz="2800" dirty="0"/>
              <a:t>Σ</a:t>
            </a:r>
            <a:r>
              <a:rPr lang="en-US" altLang="en-US" sz="2800" dirty="0"/>
              <a:t> = {a, b}. This language can also be expressed by the regular expression 	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 dirty="0"/>
              <a:t>		       (a + b)</a:t>
            </a:r>
            <a:r>
              <a:rPr lang="en-US" altLang="en-US" sz="2800" baseline="40000" dirty="0"/>
              <a:t>*</a:t>
            </a:r>
            <a:r>
              <a:rPr lang="en-US" altLang="en-US" sz="28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sz="2800" dirty="0"/>
              <a:t> Now consider another language L, of strings having exactly double a, defined over </a:t>
            </a:r>
            <a:r>
              <a:rPr lang="el-GR" altLang="en-US" sz="2800" dirty="0"/>
              <a:t>Σ</a:t>
            </a:r>
            <a:r>
              <a:rPr lang="en-US" altLang="en-US" sz="2800" dirty="0"/>
              <a:t> = {a, b}, then it’s regular expression may be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 dirty="0"/>
              <a:t>			b</a:t>
            </a:r>
            <a:r>
              <a:rPr lang="en-US" altLang="en-US" sz="2800" baseline="40000" dirty="0"/>
              <a:t>*</a:t>
            </a:r>
            <a:r>
              <a:rPr lang="en-US" altLang="en-US" sz="2800" dirty="0" err="1"/>
              <a:t>aab</a:t>
            </a:r>
            <a:r>
              <a:rPr lang="en-US" altLang="en-US" sz="2800" baseline="40000" dirty="0"/>
              <a:t>*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509BC-C039-BB18-BD8A-7CA127B3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1A0F-4E9B-4BF9-AF99-BAC33E43B072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78882" name="Rectangle 2">
            <a:extLst>
              <a:ext uri="{FF2B5EF4-FFF2-40B4-BE49-F238E27FC236}">
                <a16:creationId xmlns:a16="http://schemas.microsoft.com/office/drawing/2014/main" id="{52913901-6E3F-9AAD-C870-29388B0EA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Cont.</a:t>
            </a:r>
          </a:p>
        </p:txBody>
      </p:sp>
      <p:sp>
        <p:nvSpPr>
          <p:cNvPr id="378883" name="Rectangle 3">
            <a:extLst>
              <a:ext uri="{FF2B5EF4-FFF2-40B4-BE49-F238E27FC236}">
                <a16:creationId xmlns:a16="http://schemas.microsoft.com/office/drawing/2014/main" id="{AC57F7C7-8E49-881F-4650-FC3E586C4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US" sz="2800"/>
              <a:t>Now consider another language L, of even length, defined over </a:t>
            </a:r>
            <a:r>
              <a:rPr lang="el-GR" altLang="en-US" sz="2800"/>
              <a:t>Σ</a:t>
            </a:r>
            <a:r>
              <a:rPr lang="en-US" altLang="en-US" sz="2800"/>
              <a:t> = {a, b}, then it’s regular expression may be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/>
              <a:t>			((a+b)(a+b))</a:t>
            </a:r>
            <a:r>
              <a:rPr lang="en-US" altLang="en-US" sz="2800" baseline="40000"/>
              <a:t>*</a:t>
            </a:r>
          </a:p>
          <a:p>
            <a:pPr lvl="1">
              <a:lnSpc>
                <a:spcPct val="90000"/>
              </a:lnSpc>
            </a:pPr>
            <a:r>
              <a:rPr lang="en-US" altLang="en-US" sz="2800"/>
              <a:t>Now consider another language L, of odd length, defined over </a:t>
            </a:r>
            <a:r>
              <a:rPr lang="el-GR" altLang="en-US" sz="2800"/>
              <a:t>Σ</a:t>
            </a:r>
            <a:r>
              <a:rPr lang="en-US" altLang="en-US" sz="2800"/>
              <a:t> = {a, b}, then it’s regular expression may be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/>
              <a:t>			(a+b)((a+b)(a+b))</a:t>
            </a:r>
            <a:r>
              <a:rPr lang="en-US" altLang="en-US" sz="2800" baseline="40000"/>
              <a:t>* </a:t>
            </a:r>
            <a:r>
              <a:rPr lang="en-US" altLang="en-US" sz="2800"/>
              <a:t>or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/>
              <a:t>			 ((a+b)(a+b))</a:t>
            </a:r>
            <a:r>
              <a:rPr lang="en-US" altLang="en-US" sz="2800" baseline="40000"/>
              <a:t>*</a:t>
            </a:r>
            <a:r>
              <a:rPr lang="en-US" altLang="en-US" sz="2800"/>
              <a:t>(a+b)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21E4D-71D8-1A0C-BF18-FC873622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102C7-7842-4A7C-B193-CD1DF086CA0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F78ECC6B-A331-9149-3D4B-4C1607765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Remark</a:t>
            </a:r>
          </a:p>
        </p:txBody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EDD616E8-4B55-36D8-5FED-040D764B3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It may be noted that a language may be expressed by more than one regular expressions, while given a regular expression there exist a unique language generated by that regular expression.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59281-A939-DA14-64BB-DE5DDB72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690B0-234C-4093-99C7-F6DDF26B004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26306" name="Rectangle 2">
            <a:extLst>
              <a:ext uri="{FF2B5EF4-FFF2-40B4-BE49-F238E27FC236}">
                <a16:creationId xmlns:a16="http://schemas.microsoft.com/office/drawing/2014/main" id="{3EC57F43-248C-1D04-CC7A-96AE819E0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Cont.</a:t>
            </a: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9197A25F-E343-A7EC-9CEA-B130DB252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85950"/>
            <a:ext cx="10733314" cy="47434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000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3000" dirty="0"/>
              <a:t>Consider the language, defined over </a:t>
            </a:r>
            <a:r>
              <a:rPr lang="el-GR" altLang="en-US" sz="3000" dirty="0"/>
              <a:t>Σ</a:t>
            </a:r>
            <a:r>
              <a:rPr lang="en-US" altLang="en-US" sz="3000" dirty="0"/>
              <a:t>={a ,  b} of words having at least one a, may be expressed by a  regular expression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	(</a:t>
            </a:r>
            <a:r>
              <a:rPr lang="en-US" altLang="en-US" sz="3000" dirty="0" err="1"/>
              <a:t>a+b</a:t>
            </a:r>
            <a:r>
              <a:rPr lang="en-US" altLang="en-US" sz="3000" dirty="0"/>
              <a:t>)</a:t>
            </a:r>
            <a:r>
              <a:rPr lang="en-US" altLang="en-US" sz="3000" baseline="40000" dirty="0"/>
              <a:t>*</a:t>
            </a:r>
            <a:r>
              <a:rPr lang="en-US" altLang="en-US" sz="3000" dirty="0"/>
              <a:t>a(</a:t>
            </a:r>
            <a:r>
              <a:rPr lang="en-US" altLang="en-US" sz="3000" dirty="0" err="1"/>
              <a:t>a+b</a:t>
            </a:r>
            <a:r>
              <a:rPr lang="en-US" altLang="en-US" sz="3000" dirty="0"/>
              <a:t>)</a:t>
            </a:r>
            <a:r>
              <a:rPr lang="en-US" altLang="en-US" sz="3000" baseline="40000" dirty="0"/>
              <a:t>*</a:t>
            </a:r>
            <a:r>
              <a:rPr lang="en-US" altLang="en-US" sz="3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sz="3000" dirty="0"/>
              <a:t>Consider the language, defined over </a:t>
            </a:r>
            <a:r>
              <a:rPr lang="el-GR" altLang="en-US" sz="3000" dirty="0"/>
              <a:t>Σ</a:t>
            </a:r>
            <a:r>
              <a:rPr lang="en-US" altLang="en-US" sz="3000" dirty="0"/>
              <a:t> = {a, b} of words having at least one a and one b, may be expressed by a  regular expression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600" dirty="0"/>
              <a:t>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a(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b(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+ 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b(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a(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30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8B645-D591-10E9-88C3-A020A3C4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0575-C818-4A22-9858-F76E9B8C5012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27330" name="Rectangle 2">
            <a:extLst>
              <a:ext uri="{FF2B5EF4-FFF2-40B4-BE49-F238E27FC236}">
                <a16:creationId xmlns:a16="http://schemas.microsoft.com/office/drawing/2014/main" id="{636A6DB9-7154-C7EC-6CCF-0A328CB79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Cont.</a:t>
            </a:r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4D11CDD6-73E3-05E7-F0F3-596BFE504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10842171" cy="417195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US" sz="3000" dirty="0"/>
              <a:t>Consider the language, defined over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  </a:t>
            </a:r>
            <a:r>
              <a:rPr lang="el-GR" altLang="en-US" sz="3000" dirty="0"/>
              <a:t>Σ</a:t>
            </a:r>
            <a:r>
              <a:rPr lang="en-US" altLang="en-US" sz="3000" dirty="0"/>
              <a:t>={a, b}, of words starting with double a and ending in double b then its regular expression may be  aa(</a:t>
            </a:r>
            <a:r>
              <a:rPr lang="en-US" altLang="en-US" sz="3000" dirty="0" err="1"/>
              <a:t>a+b</a:t>
            </a:r>
            <a:r>
              <a:rPr lang="en-US" altLang="en-US" sz="3000" dirty="0"/>
              <a:t>)</a:t>
            </a:r>
            <a:r>
              <a:rPr lang="en-US" altLang="en-US" sz="3000" baseline="40000" dirty="0"/>
              <a:t>*</a:t>
            </a:r>
            <a:r>
              <a:rPr lang="en-US" altLang="en-US" sz="3000" dirty="0"/>
              <a:t>bb</a:t>
            </a:r>
          </a:p>
          <a:p>
            <a:pPr lvl="1">
              <a:lnSpc>
                <a:spcPct val="90000"/>
              </a:lnSpc>
            </a:pPr>
            <a:r>
              <a:rPr lang="en-US" altLang="en-US" sz="3000" dirty="0"/>
              <a:t>Consider the language, defined over 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3000" dirty="0"/>
              <a:t>  </a:t>
            </a:r>
            <a:r>
              <a:rPr lang="el-GR" altLang="en-US" sz="3000" dirty="0"/>
              <a:t>Σ</a:t>
            </a:r>
            <a:r>
              <a:rPr lang="en-US" altLang="en-US" sz="3000" dirty="0"/>
              <a:t>={a, b} of words starting with a  and ending in b	OR starting with b and ending in a, then its regular expression may be  a(</a:t>
            </a:r>
            <a:r>
              <a:rPr lang="en-US" altLang="en-US" sz="3000" dirty="0" err="1"/>
              <a:t>a+b</a:t>
            </a:r>
            <a:r>
              <a:rPr lang="en-US" altLang="en-US" sz="3000" dirty="0"/>
              <a:t>)</a:t>
            </a:r>
            <a:r>
              <a:rPr lang="en-US" altLang="en-US" sz="3000" baseline="40000" dirty="0"/>
              <a:t>*</a:t>
            </a:r>
            <a:r>
              <a:rPr lang="en-US" altLang="en-US" sz="3000" dirty="0" err="1"/>
              <a:t>b+b</a:t>
            </a:r>
            <a:r>
              <a:rPr lang="en-US" altLang="en-US" sz="3000" dirty="0"/>
              <a:t>(</a:t>
            </a:r>
            <a:r>
              <a:rPr lang="en-US" altLang="en-US" sz="3000" dirty="0" err="1"/>
              <a:t>a+b</a:t>
            </a:r>
            <a:r>
              <a:rPr lang="en-US" altLang="en-US" sz="3000" dirty="0"/>
              <a:t>)</a:t>
            </a:r>
            <a:r>
              <a:rPr lang="en-US" altLang="en-US" sz="3000" baseline="40000" dirty="0"/>
              <a:t>*</a:t>
            </a:r>
            <a:r>
              <a:rPr lang="en-US" altLang="en-US" sz="3000" dirty="0"/>
              <a:t>a</a:t>
            </a:r>
            <a:endParaRPr lang="el-GR" alt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635"/>
          </a:xfrm>
        </p:spPr>
        <p:txBody>
          <a:bodyPr/>
          <a:lstStyle/>
          <a:p>
            <a:r>
              <a:rPr lang="en-US" sz="2400"/>
              <a:t>Regular Expressions</a:t>
            </a:r>
          </a:p>
        </p:txBody>
      </p:sp>
      <p:pic>
        <p:nvPicPr>
          <p:cNvPr id="4" name="Content Placeholder 3" descr="Image 20-02-2024 at 10.11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815" y="1127760"/>
            <a:ext cx="802513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1980"/>
            <a:ext cx="10515600" cy="853440"/>
          </a:xfrm>
        </p:spPr>
        <p:txBody>
          <a:bodyPr/>
          <a:lstStyle/>
          <a:p>
            <a:r>
              <a:rPr lang="en-US"/>
              <a:t>Regular Expression</a:t>
            </a:r>
          </a:p>
        </p:txBody>
      </p:sp>
      <p:pic>
        <p:nvPicPr>
          <p:cNvPr id="4" name="Content Placeholder 3" descr="Image 20-02-2024 at 10.19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6155"/>
            <a:ext cx="10515600" cy="17316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1670"/>
          </a:xfrm>
        </p:spPr>
        <p:txBody>
          <a:bodyPr>
            <a:normAutofit fontScale="90000"/>
          </a:bodyPr>
          <a:lstStyle/>
          <a:p>
            <a:br>
              <a:rPr lang="en-US" sz="3110">
                <a:sym typeface="+mn-ea"/>
              </a:rPr>
            </a:br>
            <a:r>
              <a:rPr lang="en-US" sz="3110">
                <a:sym typeface="+mn-ea"/>
              </a:rPr>
              <a:t>Regular Expression</a:t>
            </a:r>
            <a:br>
              <a:rPr lang="en-US"/>
            </a:br>
            <a:endParaRPr lang="en-US"/>
          </a:p>
        </p:txBody>
      </p:sp>
      <p:pic>
        <p:nvPicPr>
          <p:cNvPr id="4" name="Content Placeholder 3" descr="Image 20-02-2024 at 10.3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7270" y="1026160"/>
            <a:ext cx="8532495" cy="5683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0-02-2024 at 10.39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2970" y="332105"/>
            <a:ext cx="7608570" cy="62884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20-02-2024 at 10.42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7575" y="1149985"/>
            <a:ext cx="10356850" cy="45580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045"/>
          </a:xfrm>
        </p:spPr>
        <p:txBody>
          <a:bodyPr/>
          <a:lstStyle/>
          <a:p>
            <a:r>
              <a:rPr lang="en-US" sz="3600"/>
              <a:t>More examples</a:t>
            </a:r>
          </a:p>
        </p:txBody>
      </p:sp>
      <p:pic>
        <p:nvPicPr>
          <p:cNvPr id="6" name="Content Placeholder 5" descr="Image 20-02-2024 at 10.45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605" y="1515110"/>
            <a:ext cx="10323195" cy="47948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8045"/>
          </a:xfrm>
        </p:spPr>
        <p:txBody>
          <a:bodyPr/>
          <a:lstStyle/>
          <a:p>
            <a:r>
              <a:rPr lang="en-US" sz="3600"/>
              <a:t>More examples</a:t>
            </a:r>
          </a:p>
        </p:txBody>
      </p:sp>
      <p:pic>
        <p:nvPicPr>
          <p:cNvPr id="4" name="Content Placeholder 3" descr="Image 20-02-2024 at 10.43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550" y="1326515"/>
            <a:ext cx="10515600" cy="46970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170"/>
            <a:ext cx="10515600" cy="631825"/>
          </a:xfrm>
        </p:spPr>
        <p:txBody>
          <a:bodyPr/>
          <a:lstStyle/>
          <a:p>
            <a:r>
              <a:rPr lang="en-US" sz="3600"/>
              <a:t>More examples</a:t>
            </a:r>
          </a:p>
        </p:txBody>
      </p:sp>
      <p:pic>
        <p:nvPicPr>
          <p:cNvPr id="7" name="Content Placeholder 6" descr="Image 20-02-2024 at 10.46 AM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0665" y="848995"/>
            <a:ext cx="9673590" cy="2115185"/>
          </a:xfrm>
          <a:prstGeom prst="rect">
            <a:avLst/>
          </a:prstGeom>
        </p:spPr>
      </p:pic>
      <p:pic>
        <p:nvPicPr>
          <p:cNvPr id="8" name="Picture 7" descr="Image 20-02-2024 at 10.46 AM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964180"/>
            <a:ext cx="9509760" cy="36055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387C4-29FA-EB5B-230A-0D0B160C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A136-02D3-4DEE-A834-9123A3CF1221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376834" name="Rectangle 2">
            <a:extLst>
              <a:ext uri="{FF2B5EF4-FFF2-40B4-BE49-F238E27FC236}">
                <a16:creationId xmlns:a16="http://schemas.microsoft.com/office/drawing/2014/main" id="{56EAC083-0241-806E-4D13-375C3F45B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TASK</a:t>
            </a:r>
          </a:p>
        </p:txBody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C129BE71-9657-09D9-B04F-488E15A79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 dirty="0"/>
              <a:t>Consider the language, defined over 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800" dirty="0"/>
              <a:t>  </a:t>
            </a:r>
            <a:r>
              <a:rPr lang="el-GR" altLang="en-US" sz="2800" dirty="0"/>
              <a:t>Σ</a:t>
            </a:r>
            <a:r>
              <a:rPr lang="en-US" altLang="en-US" sz="2800" dirty="0"/>
              <a:t>={a, b} of </a:t>
            </a:r>
            <a:r>
              <a:rPr lang="en-US" altLang="en-US" sz="2800" b="1" dirty="0"/>
              <a:t>words beginning with a</a:t>
            </a:r>
            <a:r>
              <a:rPr lang="en-US" altLang="en-US" sz="2800" dirty="0"/>
              <a:t>, then its regular expression?</a:t>
            </a:r>
          </a:p>
          <a:p>
            <a:pPr lvl="1"/>
            <a:r>
              <a:rPr lang="en-US" altLang="en-US" sz="2800" dirty="0"/>
              <a:t>Consider the language, defined over 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800" dirty="0"/>
              <a:t>  </a:t>
            </a:r>
            <a:r>
              <a:rPr lang="el-GR" altLang="en-US" sz="2800" dirty="0"/>
              <a:t>Σ</a:t>
            </a:r>
            <a:r>
              <a:rPr lang="en-US" altLang="en-US" sz="2800" dirty="0"/>
              <a:t>={a, b} of </a:t>
            </a:r>
            <a:r>
              <a:rPr lang="en-US" altLang="en-US" sz="2800" b="1" dirty="0"/>
              <a:t>words beginning and ending in same letter</a:t>
            </a:r>
            <a:r>
              <a:rPr lang="en-US" altLang="en-US" sz="2800" dirty="0"/>
              <a:t>, then its regular expression</a:t>
            </a:r>
            <a:endParaRPr lang="el-GR" alt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20AED-E7A7-5E7B-9388-3A338A9D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A22A-9EE7-4F96-A9D1-E789250E5314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377858" name="Rectangle 2">
            <a:extLst>
              <a:ext uri="{FF2B5EF4-FFF2-40B4-BE49-F238E27FC236}">
                <a16:creationId xmlns:a16="http://schemas.microsoft.com/office/drawing/2014/main" id="{D9CEF0F0-54B3-D7DF-8F8D-CE28C3B52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TASK</a:t>
            </a:r>
          </a:p>
        </p:txBody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36C39062-3872-4A5C-1C29-481452D57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600" dirty="0"/>
              <a:t>Consider the language, defined over 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600" dirty="0"/>
              <a:t>  </a:t>
            </a:r>
            <a:r>
              <a:rPr lang="el-GR" altLang="en-US" sz="2600" dirty="0"/>
              <a:t>Σ</a:t>
            </a:r>
            <a:r>
              <a:rPr lang="en-US" altLang="en-US" sz="2600" dirty="0"/>
              <a:t>={a, b} of </a:t>
            </a:r>
            <a:r>
              <a:rPr lang="en-US" altLang="en-US" sz="3000" b="1" dirty="0"/>
              <a:t>words ending in b</a:t>
            </a:r>
            <a:r>
              <a:rPr lang="en-US" altLang="en-US" sz="2600" dirty="0"/>
              <a:t>, then its regular expression Consider the language, defined over 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600" dirty="0"/>
              <a:t>  </a:t>
            </a:r>
            <a:r>
              <a:rPr lang="el-GR" altLang="en-US" sz="2600" dirty="0"/>
              <a:t>Σ</a:t>
            </a:r>
            <a:r>
              <a:rPr lang="en-US" altLang="en-US" sz="2600" dirty="0"/>
              <a:t>={a, b} of </a:t>
            </a:r>
            <a:r>
              <a:rPr lang="en-US" altLang="en-US" sz="3000" b="1" dirty="0"/>
              <a:t>words not ending in a</a:t>
            </a:r>
            <a:r>
              <a:rPr lang="en-US" altLang="en-US" sz="2600" dirty="0"/>
              <a:t>, then its regular expression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F2950-2E68-490A-FB26-5C43945C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C330-6976-5EA4-1E60-3476D03D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8A136-02D3-4DEE-A834-9123A3CF1221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76834" name="Rectangle 2">
            <a:extLst>
              <a:ext uri="{FF2B5EF4-FFF2-40B4-BE49-F238E27FC236}">
                <a16:creationId xmlns:a16="http://schemas.microsoft.com/office/drawing/2014/main" id="{166012CA-D3D8-4497-3E1D-231B7906C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TASK</a:t>
            </a:r>
          </a:p>
        </p:txBody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01137973-BF4C-BD15-8347-78A71052C2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800"/>
              <a:t>Consider the language, defined over 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800"/>
              <a:t>  </a:t>
            </a:r>
            <a:r>
              <a:rPr lang="el-GR" altLang="en-US" sz="2800"/>
              <a:t>Σ</a:t>
            </a:r>
            <a:r>
              <a:rPr lang="en-US" altLang="en-US" sz="2800"/>
              <a:t>={a, b} of </a:t>
            </a:r>
            <a:r>
              <a:rPr lang="en-US" altLang="en-US" sz="2800" b="1"/>
              <a:t>words beginning with a</a:t>
            </a:r>
            <a:r>
              <a:rPr lang="en-US" altLang="en-US" sz="2800"/>
              <a:t>, then its regular expression may be  a(a+b)</a:t>
            </a:r>
            <a:r>
              <a:rPr lang="en-US" altLang="en-US" sz="2800" baseline="40000"/>
              <a:t>*</a:t>
            </a:r>
            <a:endParaRPr lang="en-US" altLang="en-US" sz="2800"/>
          </a:p>
          <a:p>
            <a:pPr lvl="1">
              <a:buFont typeface="Monotype Sorts" pitchFamily="2" charset="2"/>
              <a:buNone/>
            </a:pPr>
            <a:endParaRPr lang="en-US" altLang="en-US" sz="2800"/>
          </a:p>
          <a:p>
            <a:pPr lvl="1"/>
            <a:r>
              <a:rPr lang="en-US" altLang="en-US" sz="2800"/>
              <a:t>Consider the language, defined over 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800"/>
              <a:t>  </a:t>
            </a:r>
            <a:r>
              <a:rPr lang="el-GR" altLang="en-US" sz="2800"/>
              <a:t>Σ</a:t>
            </a:r>
            <a:r>
              <a:rPr lang="en-US" altLang="en-US" sz="2800"/>
              <a:t>={a, b} of </a:t>
            </a:r>
            <a:r>
              <a:rPr lang="en-US" altLang="en-US" sz="2800" b="1"/>
              <a:t>words beginning and ending in same letter</a:t>
            </a:r>
            <a:r>
              <a:rPr lang="en-US" altLang="en-US" sz="2800"/>
              <a:t>, then its regular expression may be  (a+b)+a(a+b)</a:t>
            </a:r>
            <a:r>
              <a:rPr lang="en-US" altLang="en-US" sz="2800" baseline="40000"/>
              <a:t>*</a:t>
            </a:r>
            <a:r>
              <a:rPr lang="en-US" altLang="en-US" sz="2800"/>
              <a:t>a+b(a+b)</a:t>
            </a:r>
            <a:r>
              <a:rPr lang="en-US" altLang="en-US" sz="2800" baseline="40000"/>
              <a:t>*</a:t>
            </a:r>
            <a:r>
              <a:rPr lang="en-US" altLang="en-US" sz="2800"/>
              <a:t>b</a:t>
            </a:r>
            <a:endParaRPr lang="el-GR" altLang="en-US" sz="2800"/>
          </a:p>
        </p:txBody>
      </p:sp>
    </p:spTree>
    <p:extLst>
      <p:ext uri="{BB962C8B-B14F-4D97-AF65-F5344CB8AC3E}">
        <p14:creationId xmlns:p14="http://schemas.microsoft.com/office/powerpoint/2010/main" val="2468589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2D086-8B77-18E5-35DA-BB1EC235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FAC9-79C9-7B1A-0B91-993B43DF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A22A-9EE7-4F96-A9D1-E789250E5314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77858" name="Rectangle 2">
            <a:extLst>
              <a:ext uri="{FF2B5EF4-FFF2-40B4-BE49-F238E27FC236}">
                <a16:creationId xmlns:a16="http://schemas.microsoft.com/office/drawing/2014/main" id="{DCF2EA9E-7814-AB85-9053-F966F3B4E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TASK</a:t>
            </a:r>
          </a:p>
        </p:txBody>
      </p:sp>
      <p:sp>
        <p:nvSpPr>
          <p:cNvPr id="377859" name="Rectangle 3">
            <a:extLst>
              <a:ext uri="{FF2B5EF4-FFF2-40B4-BE49-F238E27FC236}">
                <a16:creationId xmlns:a16="http://schemas.microsoft.com/office/drawing/2014/main" id="{1E0C7A1F-8F6E-5043-93A1-391CCE155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600" dirty="0"/>
              <a:t>Consider the language, defined over 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600" dirty="0"/>
              <a:t>  </a:t>
            </a:r>
            <a:r>
              <a:rPr lang="el-GR" altLang="en-US" sz="2600" dirty="0"/>
              <a:t>Σ</a:t>
            </a:r>
            <a:r>
              <a:rPr lang="en-US" altLang="en-US" sz="2600" dirty="0"/>
              <a:t>={a, b} of </a:t>
            </a:r>
            <a:r>
              <a:rPr lang="en-US" altLang="en-US" sz="3000" b="1" dirty="0"/>
              <a:t>words ending in b</a:t>
            </a:r>
            <a:r>
              <a:rPr lang="en-US" altLang="en-US" sz="2600" dirty="0"/>
              <a:t>, then its regular expression may be 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b.</a:t>
            </a:r>
          </a:p>
          <a:p>
            <a:pPr lvl="1"/>
            <a:r>
              <a:rPr lang="en-US" altLang="en-US" sz="2600" dirty="0"/>
              <a:t>Consider the language, defined over  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600" dirty="0"/>
              <a:t>  </a:t>
            </a:r>
            <a:r>
              <a:rPr lang="el-GR" altLang="en-US" sz="2600" dirty="0"/>
              <a:t>Σ</a:t>
            </a:r>
            <a:r>
              <a:rPr lang="en-US" altLang="en-US" sz="2600" dirty="0"/>
              <a:t>={a, b} of </a:t>
            </a:r>
            <a:r>
              <a:rPr lang="en-US" altLang="en-US" sz="3000" b="1" dirty="0"/>
              <a:t>words not ending in a</a:t>
            </a:r>
            <a:r>
              <a:rPr lang="en-US" altLang="en-US" sz="2600" dirty="0"/>
              <a:t>, then its regular expression may be 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b + </a:t>
            </a:r>
            <a:r>
              <a:rPr lang="el-GR" altLang="en-US" sz="2800" dirty="0"/>
              <a:t>Λ</a:t>
            </a:r>
            <a:r>
              <a:rPr lang="en-US" altLang="en-US" sz="2600" dirty="0"/>
              <a:t>. It is to be noted that this language may also be expressed by ((</a:t>
            </a:r>
            <a:r>
              <a:rPr lang="en-US" altLang="en-US" sz="2600" dirty="0" err="1"/>
              <a:t>a+b</a:t>
            </a:r>
            <a:r>
              <a:rPr lang="en-US" altLang="en-US" sz="2600" dirty="0"/>
              <a:t>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b)</a:t>
            </a:r>
            <a:r>
              <a:rPr lang="en-US" altLang="en-US" sz="2600" baseline="40000" dirty="0"/>
              <a:t>*</a:t>
            </a:r>
            <a:r>
              <a:rPr lang="en-US" alt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2478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8085" y="2772410"/>
            <a:ext cx="5715635" cy="79311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/>
              <a:t>End of Lecture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910</Words>
  <Application>Microsoft Office PowerPoint</Application>
  <PresentationFormat>Widescreen</PresentationFormat>
  <Paragraphs>90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Algerian</vt:lpstr>
      <vt:lpstr>Arial</vt:lpstr>
      <vt:lpstr>Calibri</vt:lpstr>
      <vt:lpstr>Calibri Light</vt:lpstr>
      <vt:lpstr>Monotype Sorts</vt:lpstr>
      <vt:lpstr>Office Theme</vt:lpstr>
      <vt:lpstr> Theory of Automata (CSC- 402)  Semester : Spring 2026  Credit Hours: 3 </vt:lpstr>
      <vt:lpstr> Theory of Automata Course</vt:lpstr>
      <vt:lpstr>PowerPoint Presentation</vt:lpstr>
      <vt:lpstr>Recursive Defination in Automata </vt:lpstr>
      <vt:lpstr>PALINDROME</vt:lpstr>
      <vt:lpstr>Explaination</vt:lpstr>
      <vt:lpstr> Explaination </vt:lpstr>
      <vt:lpstr>Some practise Problems</vt:lpstr>
      <vt:lpstr>PowerPoint Presentation</vt:lpstr>
      <vt:lpstr>Recursive definition of Regular Expression(RE)</vt:lpstr>
      <vt:lpstr>Defining Languages (continued)…</vt:lpstr>
      <vt:lpstr>Cont.</vt:lpstr>
      <vt:lpstr>Cont.</vt:lpstr>
      <vt:lpstr>Remark</vt:lpstr>
      <vt:lpstr>Cont.</vt:lpstr>
      <vt:lpstr>Cont.</vt:lpstr>
      <vt:lpstr>Regular Expressions</vt:lpstr>
      <vt:lpstr>Regular Expression</vt:lpstr>
      <vt:lpstr> Regular Expression </vt:lpstr>
      <vt:lpstr>PowerPoint Presentation</vt:lpstr>
      <vt:lpstr>PowerPoint Presentation</vt:lpstr>
      <vt:lpstr>More examples</vt:lpstr>
      <vt:lpstr>More examples</vt:lpstr>
      <vt:lpstr>More examples</vt:lpstr>
      <vt:lpstr>TASK</vt:lpstr>
      <vt:lpstr>TASK</vt:lpstr>
      <vt:lpstr>TASK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to Z</dc:creator>
  <cp:lastModifiedBy>Sheeza Batool</cp:lastModifiedBy>
  <cp:revision>367</cp:revision>
  <dcterms:created xsi:type="dcterms:W3CDTF">2026-02-11T10:49:00Z</dcterms:created>
  <dcterms:modified xsi:type="dcterms:W3CDTF">2026-02-24T10:00:22Z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