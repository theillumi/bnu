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8" r:id="rId11"/>
    <p:sldId id="266" r:id="rId12"/>
    <p:sldId id="267" r:id="rId13"/>
    <p:sldId id="268" r:id="rId14"/>
    <p:sldId id="271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0" r:id="rId27"/>
    <p:sldId id="281" r:id="rId28"/>
    <p:sldId id="283" r:id="rId29"/>
    <p:sldId id="284" r:id="rId30"/>
    <p:sldId id="285" r:id="rId31"/>
    <p:sldId id="286" r:id="rId32"/>
    <p:sldId id="289" r:id="rId33"/>
    <p:sldId id="28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7" autoAdjust="0"/>
    <p:restoredTop sz="95407" autoAdjust="0"/>
  </p:normalViewPr>
  <p:slideViewPr>
    <p:cSldViewPr snapToGrid="0">
      <p:cViewPr varScale="1">
        <p:scale>
          <a:sx n="86" d="100"/>
          <a:sy n="86" d="100"/>
        </p:scale>
        <p:origin x="7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F55A-9C7F-533E-1E2F-D3FFF816B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FF4B9-F7AE-2244-D80A-BFE978850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752C-DEC4-A4F1-8BA5-BC2F11F5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D95A-6AD7-AD1A-CAC6-06762A63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7B5D8-F29F-962E-37C3-7B9B78A6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6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011D-690B-53E5-0658-77D25ABB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2056-0CE3-E330-FB4F-85163F618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CB32D-04BE-9E35-7DE2-B9614C9D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8DAA5-DCE3-5E5D-7DEE-9B20858C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3329-9525-B89E-21BA-2B9D29F2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A099-521B-880E-75ED-247D036C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A36E-5BBA-E71A-959D-2B2BAC81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7BFA-3B5B-9F20-31E2-6E8CCF60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F5879-5A9C-37C7-4E56-3DB55F32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7E2D5-08F3-B2C9-87B0-0915D077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DDCD-E607-8241-7D30-958C6D2F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EC62-2159-78BB-CFFD-BFC3A4BBF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AB8A5-836C-1F04-BAE3-5BAB54DD1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7589D-BB1E-14D7-8D20-6C0B13B3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5FD51-E539-C3B6-10D6-934360BC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1E50C-CD05-37AC-6286-A2F94140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4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D731-CAA8-CADF-F60C-1D3F25D9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4AFEB-2CB2-B6D7-0E94-4D921B625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49AD9-5C58-7111-1373-7AA229C9E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FBFB7-DF9D-FC54-8C82-FDFBC6B5E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38293-9769-F64E-8500-ADDA61E9D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68460B-7191-022E-274C-0090075F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43EE9-E81B-C8D8-A7DC-D68C3026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14294-7307-F2E9-44CC-2E1DB8FB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5195-AB68-35A3-D3DF-08E4C359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5CFEC-97E2-2605-5464-07196B5D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0E115-C74B-06E0-38C5-A99EAEDE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1E86E-A39C-E166-6AC3-D6AC3F09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2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BD3FE-B228-156B-CC5F-77C84E3D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4EE74-037C-457D-EAA9-83757B20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BC729-443A-873A-C90D-6FB28CE8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5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E275-D0D3-D064-40C0-20B4E308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6571C-778C-C175-33C8-5835B450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BA9F9-DAEB-26C8-0DC5-CD5428ED6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63589-7DAD-2C1C-8653-E76168DA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73A45-EC5C-4DFC-238A-92A25E2F4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60179-4760-1F7D-BC26-0602A8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7D4E-B432-6BBC-EECE-93EA1AAC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D1C75-DC4C-D84F-456C-F06802804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20530-3209-722F-50D5-9506FBD93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E36EF-94E0-D544-CD98-F8923A7B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ECE1F-AEEF-54AF-EC32-22E7798D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CB13A-9D52-D22C-D97A-4CD136B2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6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06E2-8829-34CD-396A-8C95BBED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AB2CC-2E1F-6325-7DDC-C91A7EFCF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34583-CF9E-5EE4-9761-E70365FB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CE89B-1D05-85C5-3039-AA0E28ED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B87E6-41D8-EC71-CD27-1F1824F3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2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AEE14-186B-2E54-2B5E-833BC943A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8876F-D66F-76D7-E6FB-AF0D61237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DB0C1-EB10-DA74-E030-19711044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05D85-0FAE-FAC4-CCE3-AD62CB2D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822E2-37FC-06FD-1821-C442801F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4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DE1E9-29B9-22F6-D11B-49AE8034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2C226-7EAB-FE95-F424-90180BED4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AAE1-FFD8-B2E6-E734-40701A39D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1B2EE-9A5E-49DE-972F-A8D534F200B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F037-75D3-FD3C-03C4-A198485AF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62A08-E8B5-3203-093F-88EBE5B56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2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FFC2-9E19-3B0E-A250-2E8B5DCF9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EA3E1-6477-EADA-49D3-94F5F4665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63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7C92C-9D51-ECF9-EAF2-B9118EFC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8960-F18A-CAAD-D13B-7DEEAE230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stack is a special kind of list </a:t>
            </a:r>
          </a:p>
          <a:p>
            <a:pPr lvl="1"/>
            <a:r>
              <a:rPr lang="en-US" dirty="0"/>
              <a:t>Insertion and deletions takes place at one end called top</a:t>
            </a:r>
          </a:p>
          <a:p>
            <a:pPr lvl="1"/>
            <a:endParaRPr lang="en-US" dirty="0"/>
          </a:p>
          <a:p>
            <a:r>
              <a:rPr lang="en-US" dirty="0"/>
              <a:t>Other names</a:t>
            </a:r>
          </a:p>
          <a:p>
            <a:pPr lvl="1"/>
            <a:r>
              <a:rPr lang="en-US" dirty="0"/>
              <a:t>Push down list</a:t>
            </a:r>
          </a:p>
          <a:p>
            <a:pPr lvl="1"/>
            <a:r>
              <a:rPr lang="en-US" dirty="0"/>
              <a:t>Last In First Out (LIFO)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Books on floor</a:t>
            </a:r>
          </a:p>
          <a:p>
            <a:pPr lvl="1"/>
            <a:r>
              <a:rPr lang="en-US" dirty="0"/>
              <a:t>Dishes on a shelf</a:t>
            </a:r>
          </a:p>
        </p:txBody>
      </p:sp>
    </p:spTree>
    <p:extLst>
      <p:ext uri="{BB962C8B-B14F-4D97-AF65-F5344CB8AC3E}">
        <p14:creationId xmlns:p14="http://schemas.microsoft.com/office/powerpoint/2010/main" val="219860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9B6E-891B-778F-CE9D-54D84CCB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052DA-1795-2E8A-85D7-26F88DD5A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 ADT emphasizes specific operations</a:t>
            </a:r>
          </a:p>
          <a:p>
            <a:pPr lvl="1"/>
            <a:r>
              <a:rPr lang="en-US" dirty="0"/>
              <a:t>Uses an explicit linear ordering</a:t>
            </a:r>
          </a:p>
          <a:p>
            <a:pPr lvl="1"/>
            <a:r>
              <a:rPr lang="en-US" dirty="0"/>
              <a:t>Insertions and removals are performed individually</a:t>
            </a:r>
          </a:p>
          <a:p>
            <a:pPr lvl="1"/>
            <a:r>
              <a:rPr lang="en-US" dirty="0"/>
              <a:t>Inserted objects are pushed onto the stack</a:t>
            </a:r>
          </a:p>
          <a:p>
            <a:pPr lvl="1"/>
            <a:r>
              <a:rPr lang="en-US" dirty="0"/>
              <a:t>Top of the stack is the most recent object pushed onto the stack</a:t>
            </a:r>
          </a:p>
          <a:p>
            <a:pPr lvl="1"/>
            <a:r>
              <a:rPr lang="en-US" dirty="0"/>
              <a:t>When an object is popped from the stack, the current top is erased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2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4F1A-9700-B19E-5C44-A663E9AC4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ADT – Operations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EEB7-38E1-5C3B-275E-C7548E772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Graphically, the stack operations are viewed as follows: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288E1-FCB0-F04E-CE36-C2CE994EC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2" y="3010694"/>
            <a:ext cx="6657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37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93C6-F51F-F249-1819-A50379723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ADT – Operations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1CF06-CAA0-8135-0454-33C0455FB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MAKENULL(S): Make Stack S be an empty stack</a:t>
            </a:r>
          </a:p>
          <a:p>
            <a:r>
              <a:rPr lang="en-US" dirty="0"/>
              <a:t>TOP(S): Return the element at the top of stack S</a:t>
            </a:r>
          </a:p>
          <a:p>
            <a:r>
              <a:rPr lang="en-US" dirty="0"/>
              <a:t>POP(S): Remove the top element of the stack</a:t>
            </a:r>
          </a:p>
          <a:p>
            <a:r>
              <a:rPr lang="en-US" dirty="0"/>
              <a:t>PUSH(</a:t>
            </a:r>
            <a:r>
              <a:rPr lang="en-US" dirty="0" err="1"/>
              <a:t>S,x</a:t>
            </a:r>
            <a:r>
              <a:rPr lang="en-US" dirty="0"/>
              <a:t>): Insert the element x at the top of the stack</a:t>
            </a:r>
          </a:p>
          <a:p>
            <a:r>
              <a:rPr lang="en-US" dirty="0"/>
              <a:t>EMPTY(S): Return true if S is an empty stack and return false otherwise</a:t>
            </a:r>
          </a:p>
        </p:txBody>
      </p:sp>
    </p:spTree>
    <p:extLst>
      <p:ext uri="{BB962C8B-B14F-4D97-AF65-F5344CB8AC3E}">
        <p14:creationId xmlns:p14="http://schemas.microsoft.com/office/powerpoint/2010/main" val="3521556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510A9-A974-1831-7317-6537FBE38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and Pop Operations of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A90F8-1857-D1F6-87DF-338C94882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99AAF-3B47-FEA5-1FEE-3986EC534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394" y="1825625"/>
            <a:ext cx="63392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05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02FD-4908-DE37-1B8C-05A351E76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998CC-808E-F3E8-4547-A60315FB9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applications</a:t>
            </a:r>
          </a:p>
          <a:p>
            <a:pPr lvl="1"/>
            <a:r>
              <a:rPr lang="en-US" dirty="0"/>
              <a:t>Parsing code</a:t>
            </a:r>
          </a:p>
          <a:p>
            <a:pPr lvl="1"/>
            <a:r>
              <a:rPr lang="en-US" dirty="0"/>
              <a:t>Matching parenthesis</a:t>
            </a:r>
          </a:p>
          <a:p>
            <a:pPr lvl="1"/>
            <a:r>
              <a:rPr lang="en-US" dirty="0"/>
              <a:t>Tracking function calls</a:t>
            </a:r>
          </a:p>
          <a:p>
            <a:pPr lvl="1"/>
            <a:r>
              <a:rPr lang="en-US" dirty="0"/>
              <a:t>Dealing with undo/redo operations</a:t>
            </a:r>
          </a:p>
          <a:p>
            <a:r>
              <a:rPr lang="en-US" dirty="0"/>
              <a:t>The stack is a very simple data structure</a:t>
            </a:r>
          </a:p>
          <a:p>
            <a:pPr lvl="1"/>
            <a:r>
              <a:rPr lang="en-US" dirty="0"/>
              <a:t>Given any problem, if it is possible to use a stack, this significantly simplifies the solution</a:t>
            </a:r>
          </a:p>
        </p:txBody>
      </p:sp>
    </p:spTree>
    <p:extLst>
      <p:ext uri="{BB962C8B-B14F-4D97-AF65-F5344CB8AC3E}">
        <p14:creationId xmlns:p14="http://schemas.microsoft.com/office/powerpoint/2010/main" val="3743642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2A5E-024C-24FA-0B63-67601E9E6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Stack in Function Calls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1A781-7BF8-E6E6-6449-89D065C0A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a function begins execution an </a:t>
            </a:r>
            <a:r>
              <a:rPr lang="en-US" b="1" dirty="0"/>
              <a:t>activation record (call stack) </a:t>
            </a:r>
            <a:r>
              <a:rPr lang="en-US" dirty="0"/>
              <a:t>is created to store the current execution environment for that function</a:t>
            </a:r>
          </a:p>
          <a:p>
            <a:r>
              <a:rPr lang="en-US" dirty="0"/>
              <a:t>Activation records all the necessary information about a function call, including</a:t>
            </a:r>
          </a:p>
          <a:p>
            <a:pPr lvl="1"/>
            <a:r>
              <a:rPr lang="en-US" dirty="0"/>
              <a:t>Parameters passed by the caller function</a:t>
            </a:r>
          </a:p>
          <a:p>
            <a:pPr lvl="1"/>
            <a:r>
              <a:rPr lang="en-US" dirty="0"/>
              <a:t>Local variables </a:t>
            </a:r>
          </a:p>
          <a:p>
            <a:pPr lvl="1"/>
            <a:r>
              <a:rPr lang="en-US" dirty="0"/>
              <a:t>(Callee) Function’s return value(s) </a:t>
            </a:r>
          </a:p>
          <a:p>
            <a:pPr lvl="1"/>
            <a:r>
              <a:rPr lang="en-US" dirty="0"/>
              <a:t>Return address of the caller function</a:t>
            </a:r>
          </a:p>
          <a:p>
            <a:pPr lvl="1"/>
            <a:r>
              <a:rPr lang="en-US" dirty="0"/>
              <a:t>Address of instruction following the function call</a:t>
            </a:r>
          </a:p>
          <a:p>
            <a:r>
              <a:rPr lang="en-US" dirty="0"/>
              <a:t>Without activation records, the program wouldn’t be able to "pause" one function and "jump into" another.</a:t>
            </a:r>
          </a:p>
        </p:txBody>
      </p:sp>
    </p:spTree>
    <p:extLst>
      <p:ext uri="{BB962C8B-B14F-4D97-AF65-F5344CB8AC3E}">
        <p14:creationId xmlns:p14="http://schemas.microsoft.com/office/powerpoint/2010/main" val="337440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1DDD-DD99-8340-F7F0-5B595F95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Stack in Function Calls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6582E-2A59-3B9D-3333-CA2D1819E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invocation of a function has its own activation record</a:t>
            </a:r>
          </a:p>
          <a:p>
            <a:pPr lvl="1"/>
            <a:r>
              <a:rPr lang="en-US" dirty="0"/>
              <a:t>Recursive/Multiple calls to the functions require several activation records to exist simultaneously</a:t>
            </a:r>
          </a:p>
          <a:p>
            <a:pPr lvl="1"/>
            <a:r>
              <a:rPr lang="en-US" dirty="0"/>
              <a:t>A function returns only after all functions it calls have returned </a:t>
            </a:r>
          </a:p>
          <a:p>
            <a:pPr lvl="1"/>
            <a:r>
              <a:rPr lang="en-US" dirty="0"/>
              <a:t>e.g. print() called</a:t>
            </a:r>
          </a:p>
          <a:p>
            <a:r>
              <a:rPr lang="en-US" dirty="0"/>
              <a:t>Last In First Out (LIFO) behavior</a:t>
            </a:r>
          </a:p>
          <a:p>
            <a:pPr lvl="1"/>
            <a:r>
              <a:rPr lang="en-US" dirty="0"/>
              <a:t>A program/OS keeps track of all the functions that have been called using run-time stack</a:t>
            </a:r>
          </a:p>
        </p:txBody>
      </p:sp>
    </p:spTree>
    <p:extLst>
      <p:ext uri="{BB962C8B-B14F-4D97-AF65-F5344CB8AC3E}">
        <p14:creationId xmlns:p14="http://schemas.microsoft.com/office/powerpoint/2010/main" val="2715253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5481-5AA5-9DAA-1E65-B8879EFF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records and run-time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07E09-3BD2-1650-1E1E-19C2CF059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special memory area managed by the program (or OS) that:</a:t>
            </a:r>
          </a:p>
          <a:p>
            <a:pPr lvl="1"/>
            <a:r>
              <a:rPr lang="en-US" dirty="0"/>
              <a:t>Stores </a:t>
            </a:r>
            <a:r>
              <a:rPr lang="en-US" b="1" dirty="0"/>
              <a:t>activation records</a:t>
            </a:r>
            <a:endParaRPr lang="en-US" dirty="0"/>
          </a:p>
          <a:p>
            <a:pPr lvl="1"/>
            <a:r>
              <a:rPr lang="en-US" dirty="0"/>
              <a:t>Keeps track of </a:t>
            </a:r>
            <a:r>
              <a:rPr lang="en-US" b="1" dirty="0"/>
              <a:t>which function is currently running</a:t>
            </a:r>
            <a:endParaRPr lang="en-US" dirty="0"/>
          </a:p>
          <a:p>
            <a:pPr lvl="1"/>
            <a:r>
              <a:rPr lang="en-US" dirty="0"/>
              <a:t>Handles </a:t>
            </a:r>
            <a:r>
              <a:rPr lang="en-US" b="1" dirty="0"/>
              <a:t>returns</a:t>
            </a:r>
            <a:r>
              <a:rPr lang="en-US" dirty="0"/>
              <a:t> in the correct order</a:t>
            </a:r>
          </a:p>
          <a:p>
            <a:r>
              <a:rPr lang="en-US" dirty="0"/>
              <a:t>Called a </a:t>
            </a:r>
            <a:r>
              <a:rPr lang="en-US" b="1" dirty="0"/>
              <a:t>stack</a:t>
            </a:r>
            <a:r>
              <a:rPr lang="en-US" dirty="0"/>
              <a:t> because of its LIFO behavior.</a:t>
            </a:r>
          </a:p>
          <a:p>
            <a:pPr lvl="1"/>
            <a:r>
              <a:rPr lang="en-US" dirty="0"/>
              <a:t>If a program keeps calling functions infinitely, it runs out of space in the run-time stack, causing a </a:t>
            </a:r>
            <a:r>
              <a:rPr lang="en-US" b="1" dirty="0"/>
              <a:t>stack overflow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8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C53F-71A3-4ED6-2516-D2CA9F1BF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Stack Example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BB853-A4BF-5F9C-F51D-CC66BF18B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825625"/>
            <a:ext cx="5635083" cy="4351338"/>
          </a:xfrm>
        </p:spPr>
        <p:txBody>
          <a:bodyPr/>
          <a:lstStyle/>
          <a:p>
            <a:r>
              <a:rPr lang="en-US" dirty="0"/>
              <a:t>When a function is called …</a:t>
            </a:r>
          </a:p>
          <a:p>
            <a:pPr lvl="1"/>
            <a:r>
              <a:rPr lang="en-US" dirty="0"/>
              <a:t>Copy of activation record pushed onto </a:t>
            </a:r>
            <a:r>
              <a:rPr lang="en-US" b="1" dirty="0"/>
              <a:t>run-time stack</a:t>
            </a:r>
          </a:p>
          <a:p>
            <a:pPr lvl="1"/>
            <a:r>
              <a:rPr lang="en-US" dirty="0"/>
              <a:t>Arguments copied into parameter spaces</a:t>
            </a:r>
          </a:p>
          <a:p>
            <a:pPr lvl="1"/>
            <a:r>
              <a:rPr lang="en-US" dirty="0"/>
              <a:t>Control transferred to starting address of body of function</a:t>
            </a:r>
          </a:p>
          <a:p>
            <a:pPr lvl="1"/>
            <a:r>
              <a:rPr lang="en-US" dirty="0"/>
              <a:t>OS denotes that when execution of main() is completed, it returns to the operating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7865F-9536-923D-285A-52845A3A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541" y="5559469"/>
            <a:ext cx="4376621" cy="12349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C76F3C-DFD9-0BC7-45D9-769CE816B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97" y="1935467"/>
            <a:ext cx="4616506" cy="485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84B3-8BAA-8FE7-B96D-1FBF1064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Stack Example 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EBB6E-183D-383D-7BCE-314400733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553E8-2A74-F2D4-6576-3DA42666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4474"/>
            <a:ext cx="8273159" cy="503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4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8C24-1B66-225B-EB5C-FEF4F6FE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and Dynamic Stacks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C56DD-1266-9714-F1D0-F9B377CFA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possible implementations of stack data structure</a:t>
            </a:r>
          </a:p>
          <a:p>
            <a:pPr lvl="1"/>
            <a:r>
              <a:rPr lang="en-US" dirty="0"/>
              <a:t>Static, i.e., fixed size implementation using arrays</a:t>
            </a:r>
          </a:p>
          <a:p>
            <a:pPr lvl="1"/>
            <a:r>
              <a:rPr lang="en-US" dirty="0"/>
              <a:t>Dynamic implementation using linked list</a:t>
            </a:r>
          </a:p>
        </p:txBody>
      </p:sp>
    </p:spTree>
    <p:extLst>
      <p:ext uri="{BB962C8B-B14F-4D97-AF65-F5344CB8AC3E}">
        <p14:creationId xmlns:p14="http://schemas.microsoft.com/office/powerpoint/2010/main" val="1215185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E367-E395-7A87-734D-AD4A9501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F2258-B148-F396-6DED-FAC2FC232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52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4D4D7-D332-176C-AC5C-FD1F0D765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– First Solution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BDA7A-251C-45CB-8724-47C302F5B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Elements are stored in contiguous cells of an array</a:t>
            </a:r>
          </a:p>
          <a:p>
            <a:r>
              <a:rPr lang="en-US" dirty="0"/>
              <a:t>New elements can be inserted to the top of the 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Problem: Every PUSH and POP requires moving the entire array up and 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FBC9C-EAE2-24E9-3372-13CA83B2C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700" y="2932888"/>
            <a:ext cx="4092862" cy="23862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B375D9-D947-5AF4-F5F9-66DB43396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2103167"/>
            <a:ext cx="11525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04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B72-15A0-24C2-C25F-C7707E4E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– Better Solution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61A4-8AE7-ABFE-24D7-73EA9C910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</a:t>
            </a:r>
          </a:p>
          <a:p>
            <a:pPr lvl="1"/>
            <a:r>
              <a:rPr lang="en-US" dirty="0"/>
              <a:t>Anchor the bottom of the stack at the bottom of the array</a:t>
            </a:r>
          </a:p>
          <a:p>
            <a:pPr lvl="1"/>
            <a:r>
              <a:rPr lang="en-US" dirty="0"/>
              <a:t>Let the stack grow towards the top of the array</a:t>
            </a:r>
          </a:p>
          <a:p>
            <a:pPr lvl="1"/>
            <a:r>
              <a:rPr lang="en-US" dirty="0"/>
              <a:t>Top indicates the current position of the first stack element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D62132-CA91-475D-3DD1-F07747321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62" y="3857625"/>
            <a:ext cx="52482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04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256F-34AD-0D0C-F96F-D7B449FA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– Code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0E376-7780-9D19-3E6D-708EF5E92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80EBD4-0CD6-E30E-7CBB-1030D4C73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377884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DD90DE-3ABC-9D57-BDE9-7816D6EEB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477" y="1824824"/>
            <a:ext cx="6509765" cy="435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14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42752-9FA3-AF39-2222-D4708300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– Code 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88043-D514-509D-4F5A-AB3DEB563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14985-3D5D-DD1A-3F98-52D63A577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6"/>
            <a:ext cx="48850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29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E068-1561-5475-ED31-6A73F416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– Code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9BB81-DF0B-0CD4-D74B-FB3301496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 function inserts the argument num onto the stack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61FBB2-D03A-6973-FE66-9689F1685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225" y="2258219"/>
            <a:ext cx="554355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97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7C037-6042-0691-044A-2EF5D12A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Implementation – Code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0CE90-06A3-80A7-928D-56EB7F089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 function removes the value from top of the stack and returns it as a reference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8F61F7-409A-B866-19D0-1BD827465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225" y="2690813"/>
            <a:ext cx="554355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33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D7FA-4657-A844-FCB7-53C990E4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Stack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BC99-17DA-6328-6F4F-67249DB9D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BC1B4-2444-91C3-C734-A20771459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026541" cy="333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3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ACD6-B2AB-68CB-E6D7-72F8AC108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Stack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E40A8-AD87-3CD5-E5B0-CA9C3079F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1BCA3-73C4-4DFC-8CFB-BB16EC5DD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027020" cy="325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50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60FB-00DF-4329-2918-95929DCB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Stack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E4BA4-D6A5-7A9A-4580-7C3148540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B13F0-5CBF-8B29-50F1-7A620CF9F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50" y="1825625"/>
            <a:ext cx="7968487" cy="347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06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DC1E-B2C7-F080-F01C-4E3F95A7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Stack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111E9-6005-C6AD-B80A-BC93B690E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C4E97C-292C-0F25-9816-A5B363279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06755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27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71FD4-AF3F-66D3-B3E6-E836D389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Pointer-based 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EBD0D-6BF1-29D9-91D1-B12DB9B4D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07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A4FE-AAEB-8F68-DD93-5F444E3F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Pointer-based Implementation of Stacks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00720-FCFB-DA90-ACE1-94997B9B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 can expand or shrink with each push or pop operation</a:t>
            </a:r>
          </a:p>
          <a:p>
            <a:r>
              <a:rPr lang="en-US" dirty="0"/>
              <a:t>Push and pop operate only on the head node, i.e., the first node of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C8EE8-DBDF-985A-588A-4D825B03D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25" y="3258344"/>
            <a:ext cx="62293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142A-5253-F2A6-37C3-444DF48F4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Implementation – Code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021B0-AC3F-B7B7-98C2-BE4245F1A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25197-8D02-378E-5CA8-4A2E7F39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710" y="1825625"/>
            <a:ext cx="8584580" cy="474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94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3424-3363-86A1-FBF8-656BDD2A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Implementation – Code 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7302C-CB89-EBF8-3B23-E3728E741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B8C09E-1A9C-228D-95A5-745A64997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17" y="1825625"/>
            <a:ext cx="60960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80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F99C-A504-9ADD-C53B-1BB47244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Implementation – Code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4D04-3D91-BE71-0613-DB10882FB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 function inserts a node at the top/head of the stack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A5925D-FD86-CED0-7916-FDAA3A76B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374" y="3044031"/>
            <a:ext cx="43338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0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307D-6B64-D2DC-6F5A-33DF3C4F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Implementation – Code (4)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DE02D-BF6C-6856-78EF-583A73E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 function deletes the node from the top of the stack and returns its data by reference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0DFE68-A68A-AF60-8C68-96B424309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5" y="2530475"/>
            <a:ext cx="50482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295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2ABB-B630-6E69-1AD9-66B8834E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Implementation – Code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039E7-1A9A-3B5F-5D20-2AD96DD0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12D62-EEEA-EAD8-2377-881404700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499" y="1767682"/>
            <a:ext cx="5438775" cy="2695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5B5273-899F-4D16-27D2-55720C141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748631"/>
            <a:ext cx="506730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557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CB55-BDA7-8CAC-8981-A6E5DBBCD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9573-2EFD-0FDF-BFED-9F66C650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Implementation – Code (6)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318A-49D2-5AE6-3132-62BEE8EE3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9A71A-779E-96BE-CFBC-0EBAA7B1E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437" y="2429669"/>
            <a:ext cx="36671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229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9941-2886-B651-AC0E-407B3BB9A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91F1E-4E4C-F0BF-00DF-0D18092A5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09884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22501</TotalTime>
  <Words>835</Words>
  <Application>Microsoft Office PowerPoint</Application>
  <PresentationFormat>Widescreen</PresentationFormat>
  <Paragraphs>111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Data Structures &amp; Algorithms (CSC-214)</vt:lpstr>
      <vt:lpstr>Stack</vt:lpstr>
      <vt:lpstr>Stack ADT</vt:lpstr>
      <vt:lpstr>Stack ADT – Operations (1) </vt:lpstr>
      <vt:lpstr>Stack ADT – Operations (2)</vt:lpstr>
      <vt:lpstr>Push and Pop Operations of Stack</vt:lpstr>
      <vt:lpstr>Applications (1)</vt:lpstr>
      <vt:lpstr>Use of Stack in Function Calls (1)</vt:lpstr>
      <vt:lpstr>Use of Stack in Function Calls (2)</vt:lpstr>
      <vt:lpstr>Activation records and run-time stack</vt:lpstr>
      <vt:lpstr>Runtime Stack Example (1)</vt:lpstr>
      <vt:lpstr>Runtime Stack Example (2) </vt:lpstr>
      <vt:lpstr>Static and Dynamic Stacks</vt:lpstr>
      <vt:lpstr>Array-based Implementation </vt:lpstr>
      <vt:lpstr>Array Implementation – First Solution (1)</vt:lpstr>
      <vt:lpstr>Array Implementation – Better Solution (1)</vt:lpstr>
      <vt:lpstr>Array Implementation – Code (1)</vt:lpstr>
      <vt:lpstr>Array Implementation – Code (2) </vt:lpstr>
      <vt:lpstr>Array Implementation – Code (3)</vt:lpstr>
      <vt:lpstr>Array Implementation – Code (4)</vt:lpstr>
      <vt:lpstr>Using Stack (1)</vt:lpstr>
      <vt:lpstr>Using Stack (2)</vt:lpstr>
      <vt:lpstr>Using Stack (3)</vt:lpstr>
      <vt:lpstr>Using Stack (4)</vt:lpstr>
      <vt:lpstr>Pointer-based Implementation </vt:lpstr>
      <vt:lpstr>Pointer-based Implementation of Stacks</vt:lpstr>
      <vt:lpstr>Pointer Implementation – Code (1)</vt:lpstr>
      <vt:lpstr>Pointer Implementation – Code (2) </vt:lpstr>
      <vt:lpstr>Pointer Implementation – Code (3)</vt:lpstr>
      <vt:lpstr>Pointer Implementation – Code (4) </vt:lpstr>
      <vt:lpstr>Pointer Implementation – Code (5)</vt:lpstr>
      <vt:lpstr>Pointer Implementation – Code (6)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332</cp:revision>
  <dcterms:created xsi:type="dcterms:W3CDTF">2025-02-25T11:33:29Z</dcterms:created>
  <dcterms:modified xsi:type="dcterms:W3CDTF">2025-04-08T08:55:03Z</dcterms:modified>
</cp:coreProperties>
</file>