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382" r:id="rId2"/>
    <p:sldId id="383" r:id="rId3"/>
    <p:sldId id="384" r:id="rId4"/>
    <p:sldId id="385" r:id="rId5"/>
    <p:sldId id="386" r:id="rId6"/>
    <p:sldId id="387" r:id="rId7"/>
    <p:sldId id="388" r:id="rId8"/>
    <p:sldId id="389" r:id="rId9"/>
    <p:sldId id="390" r:id="rId10"/>
    <p:sldId id="391" r:id="rId11"/>
    <p:sldId id="392" r:id="rId12"/>
    <p:sldId id="393" r:id="rId13"/>
    <p:sldId id="394" r:id="rId14"/>
    <p:sldId id="395" r:id="rId15"/>
    <p:sldId id="396" r:id="rId16"/>
    <p:sldId id="397" r:id="rId17"/>
    <p:sldId id="398" r:id="rId18"/>
    <p:sldId id="402" r:id="rId19"/>
    <p:sldId id="407" r:id="rId20"/>
    <p:sldId id="399" r:id="rId21"/>
    <p:sldId id="406" r:id="rId22"/>
    <p:sldId id="400" r:id="rId23"/>
    <p:sldId id="403" r:id="rId24"/>
    <p:sldId id="404" r:id="rId25"/>
    <p:sldId id="405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194" autoAdjust="0"/>
  </p:normalViewPr>
  <p:slideViewPr>
    <p:cSldViewPr snapToGrid="0">
      <p:cViewPr varScale="1">
        <p:scale>
          <a:sx n="90" d="100"/>
          <a:sy n="90" d="100"/>
        </p:scale>
        <p:origin x="5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58A4AD-4B01-4A43-B922-375CCC7703E8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7FEE5C-102B-48FD-BE9A-CEFBA2C000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6301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Varaible</a:t>
            </a:r>
            <a:r>
              <a:rPr lang="en-US" dirty="0"/>
              <a:t> length arrays are not standard C++, code will not be portable, not </a:t>
            </a:r>
            <a:r>
              <a:rPr lang="en-US" dirty="0" err="1"/>
              <a:t>compilable</a:t>
            </a:r>
            <a:r>
              <a:rPr lang="en-US" dirty="0"/>
              <a:t> with Microsoft </a:t>
            </a:r>
          </a:p>
          <a:p>
            <a:r>
              <a:rPr lang="en-US" dirty="0"/>
              <a:t>-Needs GCC or Clang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FEE5C-102B-48FD-BE9A-CEFBA2C000F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9423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ThreeDimArray</a:t>
            </a:r>
            <a:r>
              <a:rPr lang="en-US" dirty="0"/>
              <a:t> = double[SEMS][STUDENTS][TESTS]; </a:t>
            </a:r>
          </a:p>
          <a:p>
            <a:r>
              <a:rPr lang="en-US" dirty="0" err="1"/>
              <a:t>ThreeDimArray</a:t>
            </a:r>
            <a:r>
              <a:rPr lang="en-US" dirty="0"/>
              <a:t> </a:t>
            </a:r>
            <a:r>
              <a:rPr lang="en-US" dirty="0" err="1"/>
              <a:t>gradeBook</a:t>
            </a:r>
            <a:r>
              <a:rPr lang="en-US" dirty="0"/>
              <a:t>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17FEE5C-102B-48FD-BE9A-CEFBA2C000F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649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C24A5-2FD1-9B5D-4C45-9E38DF4B9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DCF4E6-4BE8-BAB4-1634-46A9DD0832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C31BA-928A-3706-4B40-69D0A05F6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DEB63-821A-F9BC-A664-47DDE4E90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DC9C5B-640A-DF71-44B4-A6B4C0CCC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79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62C34-B07E-0119-6623-49002B4EAB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93929-6E19-0877-69CB-C9DC87DCAF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0241E4-D248-7F13-85EC-5B1D07160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271175-575A-E841-158C-FBFB88E87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C292D1-FA35-2646-B84D-AD2ED07A4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33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F57A4-C779-CCA6-48CB-1007A81C6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9B82D-FA27-E77D-3A59-85C6DF980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F69F61-94B5-FA23-9143-46CEAA6476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4B87CE-4102-DD72-6EB1-AA428539A9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F18EAF-C5B8-E9CA-7C98-99866B1BEA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573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4B27B-0D07-4782-C09A-5E94518259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96D8F-33F7-B5D6-CF68-BBF602C59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9EDC37-EF40-E7DF-0145-65FBE5A193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DABBAD-5976-F0B3-0919-6506E185B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07CA9B-9694-36FE-A0BC-ACC40CA92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18F1BE-2BBF-B167-28A1-E7F1E2CBD1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765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F54902-F6B2-7E7D-3AD6-D249BA3D7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AF0F8D-85C3-8616-153A-A1522815F1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2ADB8-30DC-F60C-F96C-25AC8E212C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54F454-8D93-68B1-9665-0DE16BD016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28DBAD-EC3B-D56D-10EB-0204D4C24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0E8F4AC-4BFE-9746-AF0A-2504F265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1CFBB0-5D53-899D-83E8-8A4279A8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EEC00E5-FF90-1301-F9E2-B2554FF39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744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47DB6-C76B-4C02-5CDD-F579F14CE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5C4639-83A4-9C59-831A-F9AA5CD8E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DB1149-30F9-F851-34D7-157EAA144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22014B-3D2A-0A50-FA9A-563D4A5FD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821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8C76F-DE00-9A32-B211-D3E53295F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4DEB291-4628-A391-1071-61B3BC2EE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75E2CD-B6B2-2184-C07D-AEB70F0C5F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2546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56628-8DBD-FDCB-2494-B7DCAFF2D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727EE-AA2E-71A9-FCAD-E07FDCB32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2EEFBB-3B64-2031-F69D-091EF94D61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1C56B0-825B-A958-FDB8-D07EE9EE2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CA56D6-DD4A-6180-DADC-65E8D0968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1094F-FDE6-0E0D-EDD3-F4683B775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25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91E3C0-3836-5838-A60F-C669298E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8CAF9-11D1-D45E-A471-7E9421E591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B115E0-B6F4-8B95-EDCE-FFFF616D23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7C348-530F-4323-21B2-851D62D8B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313476-EB43-6E8F-25A0-AF47FFBF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AA9CF2-8520-7C56-47AA-F8C98418EF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3077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77F959-EB9A-4071-4FE9-17B03E4A0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5C4E6-84B2-5930-4F55-3D5D1BE8B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B7A7C3-D499-9FFB-C62C-0608C97FD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E5F230-A3D5-D147-ED67-6EBF7A2E4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57FD4-7C17-1DF7-31AB-499B44B14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128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496BD5-7460-10C3-9441-A264524095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4F80FE-179C-2333-9FD3-A0F7D73CD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C3ABC-F0BC-5830-940C-F051579C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39949A-0551-8A6E-0F13-178896F87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F74065-4481-71F0-0A93-DDA5C889C1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6959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BEF080E-7883-317E-337D-41E29348CA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EC485-8144-0E79-0AF6-7AC0E6587F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023024-324B-FBD5-4796-8867A7CF87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64A5E-D143-4C41-AFA7-F11375E7EBC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E95DE-F462-7E88-9B4B-7E55F26BAE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2A6166-E4E4-C470-794E-D5A6473F58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438EC5-9929-49DB-873B-DAB6AE1F77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0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FB5C7-CFBD-4FF5-9E8F-A68E66FA5F3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&amp; Algorithms (CSC-214)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ACE6D6-92C5-B205-BBAE-2219AA4F079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6</a:t>
            </a:r>
            <a:r>
              <a:rPr lang="en-US"/>
              <a:t>: Arrays ADT and C++ Implementation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4684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14BAB3-B585-A60F-ABAA-7427840B1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Arrays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39C932-431C-D6EE-00D9-67D7039ACA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An array is defined as</a:t>
            </a:r>
          </a:p>
          <a:p>
            <a:pPr lvl="1"/>
            <a:r>
              <a:rPr lang="en-US" dirty="0"/>
              <a:t>Ordered collection of a fixed number of elements</a:t>
            </a:r>
          </a:p>
          <a:p>
            <a:pPr lvl="1"/>
            <a:r>
              <a:rPr lang="en-US" dirty="0"/>
              <a:t>All elements are of the same data type</a:t>
            </a:r>
          </a:p>
          <a:p>
            <a:r>
              <a:rPr lang="en-US" dirty="0"/>
              <a:t>Basic operations</a:t>
            </a:r>
          </a:p>
          <a:p>
            <a:pPr lvl="1"/>
            <a:r>
              <a:rPr lang="en-US" dirty="0"/>
              <a:t>Direct access to each element in the array</a:t>
            </a:r>
          </a:p>
          <a:p>
            <a:pPr lvl="1"/>
            <a:r>
              <a:rPr lang="en-US" dirty="0"/>
              <a:t>Values can be retrieved or stored in each element</a:t>
            </a:r>
          </a:p>
        </p:txBody>
      </p:sp>
    </p:spTree>
    <p:extLst>
      <p:ext uri="{BB962C8B-B14F-4D97-AF65-F5344CB8AC3E}">
        <p14:creationId xmlns:p14="http://schemas.microsoft.com/office/powerpoint/2010/main" val="1825874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824EB-6639-827B-0EE5-EB99CD8CC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257800" cy="1325563"/>
          </a:xfrm>
        </p:spPr>
        <p:txBody>
          <a:bodyPr/>
          <a:lstStyle/>
          <a:p>
            <a:r>
              <a:rPr lang="en-US" dirty="0"/>
              <a:t>Properties of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DCA4E-4B58-7766-5BDA-025B2F509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Ordered</a:t>
            </a:r>
          </a:p>
          <a:p>
            <a:pPr lvl="1"/>
            <a:r>
              <a:rPr lang="en-US" dirty="0"/>
              <a:t>Every element has a well-defined position</a:t>
            </a:r>
          </a:p>
          <a:p>
            <a:pPr lvl="2"/>
            <a:r>
              <a:rPr lang="en-US" dirty="0"/>
              <a:t>First element, second element,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Fixed size or capacity</a:t>
            </a:r>
          </a:p>
          <a:p>
            <a:pPr lvl="2"/>
            <a:r>
              <a:rPr lang="en-US" dirty="0"/>
              <a:t>Total number of elements are fixed</a:t>
            </a:r>
          </a:p>
          <a:p>
            <a:pPr lvl="1"/>
            <a:r>
              <a:rPr lang="en-US" dirty="0"/>
              <a:t>Homogeneous</a:t>
            </a:r>
          </a:p>
          <a:p>
            <a:pPr lvl="2"/>
            <a:r>
              <a:rPr lang="en-US" dirty="0"/>
              <a:t>Elements must be of the same data type (and size)</a:t>
            </a:r>
          </a:p>
          <a:p>
            <a:pPr lvl="2"/>
            <a:r>
              <a:rPr lang="en-US" dirty="0"/>
              <a:t>Use arrays only for homogeneous data sets</a:t>
            </a:r>
          </a:p>
          <a:p>
            <a:pPr lvl="1"/>
            <a:r>
              <a:rPr lang="en-US" dirty="0"/>
              <a:t>Direct access</a:t>
            </a:r>
          </a:p>
          <a:p>
            <a:pPr lvl="2"/>
            <a:r>
              <a:rPr lang="en-US" dirty="0"/>
              <a:t>Elements are accessed directly by their position</a:t>
            </a:r>
          </a:p>
          <a:p>
            <a:pPr lvl="2"/>
            <a:r>
              <a:rPr lang="en-US" dirty="0"/>
              <a:t>Time to access each element is same</a:t>
            </a:r>
          </a:p>
          <a:p>
            <a:pPr lvl="2"/>
            <a:r>
              <a:rPr lang="en-US" dirty="0"/>
              <a:t>Different to sequential access where an element is only accessed after the preceding elements </a:t>
            </a:r>
          </a:p>
        </p:txBody>
      </p:sp>
    </p:spTree>
    <p:extLst>
      <p:ext uri="{BB962C8B-B14F-4D97-AF65-F5344CB8AC3E}">
        <p14:creationId xmlns:p14="http://schemas.microsoft.com/office/powerpoint/2010/main" val="196131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C1953-70E6-143F-E521-633C0D923A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Declaring Arrays in C/C++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7126FE-5CFE-4E69-3E13-D3387D31BB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datatype </a:t>
            </a:r>
            <a:r>
              <a:rPr lang="en-US" dirty="0" err="1"/>
              <a:t>arrayName</a:t>
            </a:r>
            <a:r>
              <a:rPr lang="en-US" dirty="0"/>
              <a:t>[</a:t>
            </a:r>
            <a:r>
              <a:rPr lang="en-US" dirty="0" err="1"/>
              <a:t>intExp</a:t>
            </a:r>
            <a:r>
              <a:rPr lang="en-US" dirty="0"/>
              <a:t>]; </a:t>
            </a:r>
          </a:p>
          <a:p>
            <a:pPr lvl="1"/>
            <a:r>
              <a:rPr lang="en-US" dirty="0"/>
              <a:t>datatype – Any data type, e.g., integer, character, etc.</a:t>
            </a:r>
          </a:p>
          <a:p>
            <a:pPr lvl="1"/>
            <a:r>
              <a:rPr lang="en-US" dirty="0" err="1"/>
              <a:t>arrayName</a:t>
            </a:r>
            <a:r>
              <a:rPr lang="en-US" dirty="0"/>
              <a:t> – Name of array using any valid identifier</a:t>
            </a:r>
          </a:p>
          <a:p>
            <a:pPr lvl="1"/>
            <a:r>
              <a:rPr lang="en-US" dirty="0" err="1"/>
              <a:t>intExp</a:t>
            </a:r>
            <a:r>
              <a:rPr lang="en-US" dirty="0"/>
              <a:t> – Constant expression that evaluates to a positive integer. Why constant?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const int SIZE = 10;</a:t>
            </a:r>
          </a:p>
          <a:p>
            <a:pPr lvl="1"/>
            <a:r>
              <a:rPr lang="en-US" dirty="0"/>
              <a:t>int list[SIZE];</a:t>
            </a:r>
          </a:p>
          <a:p>
            <a:r>
              <a:rPr lang="en-US" dirty="0"/>
              <a:t>Compiler reserves a block of consecutive memory locations enough to hold SIZE values of type int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46664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8808B-741D-4B6A-07BD-52033C0343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Accessing Arrays in C/C++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EFB1F-C636-FF7D-AD79-DEFBE3F5C3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arrayName</a:t>
            </a:r>
            <a:r>
              <a:rPr lang="en-US" dirty="0"/>
              <a:t>[</a:t>
            </a:r>
            <a:r>
              <a:rPr lang="en-US" dirty="0" err="1"/>
              <a:t>indexExp</a:t>
            </a:r>
            <a:r>
              <a:rPr lang="en-US" dirty="0"/>
              <a:t>];</a:t>
            </a:r>
          </a:p>
          <a:p>
            <a:pPr lvl="1"/>
            <a:r>
              <a:rPr lang="en-US" dirty="0" err="1"/>
              <a:t>indexExp</a:t>
            </a:r>
            <a:r>
              <a:rPr lang="en-US" dirty="0"/>
              <a:t> – called index, is any expression that evaluates to a positive integer</a:t>
            </a:r>
          </a:p>
          <a:p>
            <a:r>
              <a:rPr lang="en-US" dirty="0"/>
              <a:t>In C++</a:t>
            </a:r>
          </a:p>
          <a:p>
            <a:pPr lvl="1"/>
            <a:r>
              <a:rPr lang="en-US" dirty="0"/>
              <a:t>Array index starts at 0</a:t>
            </a:r>
          </a:p>
          <a:p>
            <a:pPr lvl="1"/>
            <a:r>
              <a:rPr lang="en-US" dirty="0"/>
              <a:t>Elements of array are indexed 0, 1, 2, …, SIZE-1</a:t>
            </a:r>
          </a:p>
          <a:p>
            <a:pPr lvl="1"/>
            <a:r>
              <a:rPr lang="en-US" dirty="0"/>
              <a:t>[ ] is called array subscript operator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int value = list[2];</a:t>
            </a:r>
          </a:p>
          <a:p>
            <a:pPr lvl="1"/>
            <a:r>
              <a:rPr lang="en-US" dirty="0"/>
              <a:t>list[0] = value + 2;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398C72-B20F-3F5F-A5F6-65B46A6AC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2675" y="4321175"/>
            <a:ext cx="1381125" cy="1990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290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6011-0EB6-6A8C-BACE-507F100E9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Array Initialization in C++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3801B-E3E9-DD56-C445-E54960946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dataType</a:t>
            </a:r>
            <a:r>
              <a:rPr lang="en-US" dirty="0"/>
              <a:t> </a:t>
            </a:r>
            <a:r>
              <a:rPr lang="en-US" dirty="0" err="1"/>
              <a:t>arrayName</a:t>
            </a:r>
            <a:r>
              <a:rPr lang="en-US" dirty="0"/>
              <a:t>[</a:t>
            </a:r>
            <a:r>
              <a:rPr lang="en-US" dirty="0" err="1"/>
              <a:t>intExp</a:t>
            </a:r>
            <a:r>
              <a:rPr lang="en-US" dirty="0"/>
              <a:t>]= {list of values};</a:t>
            </a:r>
          </a:p>
          <a:p>
            <a:r>
              <a:rPr lang="en-US" dirty="0"/>
              <a:t>Arrays can be initialized at declaration</a:t>
            </a:r>
          </a:p>
          <a:p>
            <a:pPr lvl="1"/>
            <a:r>
              <a:rPr lang="en-US" dirty="0" err="1"/>
              <a:t>intExp</a:t>
            </a:r>
            <a:r>
              <a:rPr lang="en-US" dirty="0"/>
              <a:t> is optional: Not necessary to specify the size if values are given</a:t>
            </a:r>
          </a:p>
          <a:p>
            <a:r>
              <a:rPr lang="en-US" dirty="0"/>
              <a:t>Example: Numeric arrays</a:t>
            </a:r>
          </a:p>
          <a:p>
            <a:pPr lvl="1"/>
            <a:r>
              <a:rPr lang="en-US" dirty="0"/>
              <a:t>double score[ ] = {0.11, 0.13, 0.16, 0.18, 0.21} </a:t>
            </a:r>
          </a:p>
          <a:p>
            <a:r>
              <a:rPr lang="en-US" dirty="0"/>
              <a:t>Example: Character arrays</a:t>
            </a:r>
          </a:p>
          <a:p>
            <a:pPr lvl="1"/>
            <a:r>
              <a:rPr lang="en-US" dirty="0"/>
              <a:t>char vowel [5] = { ‘A’, ‘E’, ‘I’, ‘O’, ‘U’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4F4D79-16CA-0BBD-635C-80E66536E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5647" y="3560724"/>
            <a:ext cx="3429000" cy="6286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E97A36-1FC4-54ED-A9A5-E7BF01E4E1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3272" y="4374491"/>
            <a:ext cx="3381375" cy="600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68736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037F2-BC20-244B-ABCA-E5538201E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Recap: Array Initialization in C++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EEA2C9-18ED-9BD3-E6B9-A7A6768D3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Fewer values are specified than the declared size of an array</a:t>
            </a:r>
          </a:p>
          <a:p>
            <a:pPr lvl="1"/>
            <a:r>
              <a:rPr lang="en-US" dirty="0"/>
              <a:t>Numeric arrays: Remaining elements are assigned zero</a:t>
            </a:r>
          </a:p>
          <a:p>
            <a:pPr lvl="1"/>
            <a:r>
              <a:rPr lang="en-US" dirty="0"/>
              <a:t>Character arrays: Remaining elements contain null character ‘\0’ (ASCII code of ‘\0’ is zero)</a:t>
            </a:r>
          </a:p>
          <a:p>
            <a:r>
              <a:rPr lang="en-US" dirty="0"/>
              <a:t>If more values are specified than declared size of an array – Error is occurred: Handling depends on compiler </a:t>
            </a:r>
          </a:p>
        </p:txBody>
      </p:sp>
    </p:spTree>
    <p:extLst>
      <p:ext uri="{BB962C8B-B14F-4D97-AF65-F5344CB8AC3E}">
        <p14:creationId xmlns:p14="http://schemas.microsoft.com/office/powerpoint/2010/main" val="54453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4BA8B-5BEE-5F06-13BA-5D9E854B5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Address Translation (1)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DB746-83BF-A8DA-86CA-97643BFA4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350405" cy="4351338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int list [4] = { 1, 2, 4, 5};</a:t>
            </a:r>
          </a:p>
          <a:p>
            <a:pPr lvl="1"/>
            <a:r>
              <a:rPr lang="en-US" dirty="0"/>
              <a:t> Compiler allocates a block of four memory spaces</a:t>
            </a:r>
          </a:p>
          <a:p>
            <a:pPr lvl="1"/>
            <a:r>
              <a:rPr lang="en-US" dirty="0"/>
              <a:t>Each memory space is large enough to store an int value</a:t>
            </a:r>
          </a:p>
          <a:p>
            <a:pPr lvl="1"/>
            <a:r>
              <a:rPr lang="en-US" dirty="0"/>
              <a:t>Four memory spaces are contiguous</a:t>
            </a:r>
          </a:p>
          <a:p>
            <a:r>
              <a:rPr lang="en-US" dirty="0"/>
              <a:t>Base address</a:t>
            </a:r>
          </a:p>
          <a:p>
            <a:pPr lvl="1"/>
            <a:r>
              <a:rPr lang="en-US" dirty="0"/>
              <a:t>Address of the first byte in the contiguous block of memory</a:t>
            </a:r>
          </a:p>
          <a:p>
            <a:pPr lvl="1"/>
            <a:r>
              <a:rPr lang="en-US" dirty="0"/>
              <a:t>Address of the memory location of the first array element</a:t>
            </a:r>
          </a:p>
          <a:p>
            <a:pPr lvl="1"/>
            <a:r>
              <a:rPr lang="en-US" dirty="0"/>
              <a:t>Address of element list[0]</a:t>
            </a:r>
          </a:p>
          <a:p>
            <a:r>
              <a:rPr lang="en-US" dirty="0"/>
              <a:t>Memory address associated with </a:t>
            </a:r>
            <a:r>
              <a:rPr lang="en-US" dirty="0" err="1"/>
              <a:t>arrayName</a:t>
            </a:r>
            <a:r>
              <a:rPr lang="en-US" dirty="0"/>
              <a:t> stores the base address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 &lt;&lt; list &lt;&lt; </a:t>
            </a:r>
            <a:r>
              <a:rPr lang="en-US" dirty="0" err="1"/>
              <a:t>endl</a:t>
            </a:r>
            <a:r>
              <a:rPr lang="en-US" dirty="0"/>
              <a:t>;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 &lt;&lt; *list &lt;&lt; </a:t>
            </a:r>
            <a:r>
              <a:rPr lang="en-US" dirty="0" err="1"/>
              <a:t>endl</a:t>
            </a:r>
            <a:r>
              <a:rPr lang="en-US" dirty="0"/>
              <a:t>;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01DB5C-B642-D9DE-E168-DAA811668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0" y="3107822"/>
            <a:ext cx="31432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1941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8EF30-6222-9044-A17E-A42096FF8F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Address Translation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37DF9-0E10-0972-7631-7170C05061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406161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Consider a statement: </a:t>
            </a:r>
            <a:r>
              <a:rPr lang="en-US" dirty="0" err="1"/>
              <a:t>cout</a:t>
            </a:r>
            <a:r>
              <a:rPr lang="en-US" dirty="0"/>
              <a:t> &lt;&lt; list[3];</a:t>
            </a:r>
          </a:p>
          <a:p>
            <a:pPr lvl="1"/>
            <a:r>
              <a:rPr lang="en-US" dirty="0"/>
              <a:t>Requires array reference list[3] be translated into memory address</a:t>
            </a:r>
          </a:p>
          <a:p>
            <a:pPr lvl="1"/>
            <a:r>
              <a:rPr lang="en-US" dirty="0"/>
              <a:t>Offset: Determines the address of a particular element </a:t>
            </a:r>
            <a:r>
              <a:rPr lang="en-US" dirty="0" err="1"/>
              <a:t>w.r.t.</a:t>
            </a:r>
            <a:r>
              <a:rPr lang="en-US" dirty="0"/>
              <a:t> base address</a:t>
            </a:r>
          </a:p>
          <a:p>
            <a:pPr lvl="1"/>
            <a:r>
              <a:rPr lang="en-US" dirty="0"/>
              <a:t>Translation:</a:t>
            </a:r>
          </a:p>
          <a:p>
            <a:pPr lvl="2"/>
            <a:r>
              <a:rPr lang="en-US" dirty="0"/>
              <a:t>Base address + offset = 1000 + 3 x </a:t>
            </a:r>
            <a:r>
              <a:rPr lang="en-US" dirty="0" err="1"/>
              <a:t>sizeof</a:t>
            </a:r>
            <a:r>
              <a:rPr lang="en-US" dirty="0"/>
              <a:t>(int) = 1012</a:t>
            </a:r>
          </a:p>
          <a:p>
            <a:pPr lvl="1"/>
            <a:r>
              <a:rPr lang="en-US" dirty="0"/>
              <a:t> Content of address 1012 are retrieved &amp; displayed</a:t>
            </a:r>
          </a:p>
          <a:p>
            <a:r>
              <a:rPr lang="en-US" dirty="0"/>
              <a:t>An address translation is carried out each time an array element is accessed</a:t>
            </a:r>
          </a:p>
          <a:p>
            <a:r>
              <a:rPr lang="en-US" dirty="0"/>
              <a:t>What will be printed and why?</a:t>
            </a:r>
          </a:p>
          <a:p>
            <a:pPr lvl="1"/>
            <a:r>
              <a:rPr lang="en-US" dirty="0" err="1"/>
              <a:t>cout</a:t>
            </a:r>
            <a:r>
              <a:rPr lang="en-US" dirty="0"/>
              <a:t> &lt;&lt; *(list+3) &lt;&lt; </a:t>
            </a:r>
            <a:r>
              <a:rPr lang="en-US" dirty="0" err="1"/>
              <a:t>endl</a:t>
            </a:r>
            <a:r>
              <a:rPr lang="en-US" dirty="0"/>
              <a:t>;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952C27-686D-F92B-FD17-92FCF2E89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750" y="3107822"/>
            <a:ext cx="3143250" cy="2181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3200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21BF-558F-0960-DFA9-347B6C7E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F0CE63-ACFF-3B80-E11D-C650968A95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does an array index start at zero?</a:t>
            </a:r>
          </a:p>
          <a:p>
            <a:r>
              <a:rPr lang="en-US" dirty="0"/>
              <a:t>Why arrays are not passed by value? </a:t>
            </a:r>
          </a:p>
        </p:txBody>
      </p:sp>
    </p:spTree>
    <p:extLst>
      <p:ext uri="{BB962C8B-B14F-4D97-AF65-F5344CB8AC3E}">
        <p14:creationId xmlns:p14="http://schemas.microsoft.com/office/powerpoint/2010/main" val="6689906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2233F-164A-E424-EFF9-DF8E8B661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F028-AB3A-7A3C-5A54-E66E8EBB84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Most languages support arrays with more than one dimension</a:t>
            </a:r>
          </a:p>
          <a:p>
            <a:pPr lvl="1"/>
            <a:r>
              <a:rPr lang="en-US" dirty="0"/>
              <a:t>High dimensions capture characteristics/correlations associated with data</a:t>
            </a:r>
          </a:p>
          <a:p>
            <a:r>
              <a:rPr lang="en-US" dirty="0"/>
              <a:t>Example: A table of test scores for different students on several tests</a:t>
            </a:r>
          </a:p>
          <a:p>
            <a:pPr lvl="1"/>
            <a:r>
              <a:rPr lang="en-US" dirty="0"/>
              <a:t>2D array is suitable for storage and processing of data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1F851B-2FCD-B687-3CF5-608B30D5D7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094" y="3922441"/>
            <a:ext cx="4496913" cy="1820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9247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3A93C-3437-75C0-619B-EED36883A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B57640-48A6-320C-A320-53E30DF296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More complicated than one dimensional arrays</a:t>
            </a:r>
          </a:p>
          <a:p>
            <a:r>
              <a:rPr lang="en-US" dirty="0"/>
              <a:t>Memory is organized as a sequence of memory locations</a:t>
            </a:r>
          </a:p>
          <a:p>
            <a:pPr lvl="1"/>
            <a:r>
              <a:rPr lang="en-US" dirty="0"/>
              <a:t>One-dimensional (1D) organization</a:t>
            </a:r>
          </a:p>
          <a:p>
            <a:r>
              <a:rPr lang="en-US" dirty="0"/>
              <a:t>How to use a 1D organization to store multidimensional data?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character requires single byte</a:t>
            </a:r>
          </a:p>
          <a:p>
            <a:pPr lvl="1"/>
            <a:r>
              <a:rPr lang="en-US" dirty="0"/>
              <a:t>Compiler request to reserve 12 consecutive bytes</a:t>
            </a:r>
          </a:p>
          <a:p>
            <a:pPr lvl="1"/>
            <a:r>
              <a:rPr lang="en-US" dirty="0"/>
              <a:t>Two way to store consecutively, i.e., row-wise and column-wise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876D726-EF38-2CBE-4E56-F5BCDBA830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7451" y="3490331"/>
            <a:ext cx="367665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4766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5A15A-E628-30D0-D806-AD9A7757E5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Two-Dimensional Arrays in Memory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D0F41F-16DA-BBD6-90C4-2E854587C4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Two ways to be represented in memory</a:t>
            </a:r>
          </a:p>
          <a:p>
            <a:pPr lvl="1"/>
            <a:r>
              <a:rPr lang="en-US" dirty="0"/>
              <a:t>Column majored: Column by column</a:t>
            </a:r>
          </a:p>
          <a:p>
            <a:pPr lvl="1"/>
            <a:r>
              <a:rPr lang="en-US" dirty="0"/>
              <a:t>Row majored: Row by row</a:t>
            </a:r>
          </a:p>
          <a:p>
            <a:r>
              <a:rPr lang="en-US" dirty="0"/>
              <a:t>Representation depends upon the programming language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94AC1B-C0AA-5D7E-5441-E6103DC676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4339" y="3744624"/>
            <a:ext cx="5763322" cy="2748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507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6E047-C5CE-F1BF-8F15-CF60BE71FC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Two-Dimensional Arrays – Declaration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CADFA-0E28-4779-1A3A-45A594024C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dataType</a:t>
            </a:r>
            <a:r>
              <a:rPr lang="en-US" dirty="0"/>
              <a:t> </a:t>
            </a:r>
            <a:r>
              <a:rPr lang="en-US" dirty="0" err="1"/>
              <a:t>arrayName</a:t>
            </a:r>
            <a:r>
              <a:rPr lang="en-US" dirty="0"/>
              <a:t>[intExp1][intExp2]; </a:t>
            </a:r>
          </a:p>
          <a:p>
            <a:pPr lvl="1"/>
            <a:r>
              <a:rPr lang="en-US" dirty="0"/>
              <a:t>intExp1 – constant expression specifying number of rows</a:t>
            </a:r>
          </a:p>
          <a:p>
            <a:pPr lvl="1"/>
            <a:r>
              <a:rPr lang="en-US" dirty="0"/>
              <a:t>intExp2 – constant expression specifying number of columns</a:t>
            </a:r>
          </a:p>
          <a:p>
            <a:pPr lvl="1"/>
            <a:r>
              <a:rPr lang="pt-BR" dirty="0"/>
              <a:t>Example:</a:t>
            </a:r>
          </a:p>
          <a:p>
            <a:pPr lvl="2"/>
            <a:r>
              <a:rPr lang="pt-BR" dirty="0"/>
              <a:t>const int NUM_ROW = 2, NUM_COLUMN = 4;</a:t>
            </a:r>
          </a:p>
          <a:p>
            <a:pPr lvl="2"/>
            <a:r>
              <a:rPr lang="pt-BR" dirty="0"/>
              <a:t>double score[NUM_ROW][NUM_COLUMN];</a:t>
            </a:r>
          </a:p>
          <a:p>
            <a:r>
              <a:rPr lang="en-US" dirty="0"/>
              <a:t>Initialization:</a:t>
            </a:r>
          </a:p>
          <a:p>
            <a:pPr lvl="1"/>
            <a:r>
              <a:rPr lang="en-US" dirty="0"/>
              <a:t>double score[ ][4] = { {0.5, 0.6, 0.3}, {0.6, 0.3, 0.8}};</a:t>
            </a:r>
          </a:p>
          <a:p>
            <a:pPr lvl="1"/>
            <a:r>
              <a:rPr lang="en-US" dirty="0"/>
              <a:t>List the initial values in braces, row by row</a:t>
            </a:r>
          </a:p>
          <a:p>
            <a:pPr lvl="1"/>
            <a:r>
              <a:rPr lang="en-US" dirty="0"/>
              <a:t>May use internal braces for each row to improve readability</a:t>
            </a:r>
          </a:p>
        </p:txBody>
      </p:sp>
    </p:spTree>
    <p:extLst>
      <p:ext uri="{BB962C8B-B14F-4D97-AF65-F5344CB8AC3E}">
        <p14:creationId xmlns:p14="http://schemas.microsoft.com/office/powerpoint/2010/main" val="4258048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F1C43-A86B-0CF6-E2B8-E67D96B84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Dimensional Arrays – Initialization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215ECE-6B8C-8685-CE4F-66B7E7D3DC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double score[ ][4] = { {0.5, 0.6, 0.3}, {0.6, 0.3, 0.8}};</a:t>
            </a:r>
          </a:p>
          <a:p>
            <a:r>
              <a:rPr lang="en-US" dirty="0"/>
              <a:t>double score[ ][4] = { 0.5, 0.6, 0.3, 0.6, 0.3, 0.8};</a:t>
            </a:r>
          </a:p>
          <a:p>
            <a:r>
              <a:rPr lang="en-US" dirty="0"/>
              <a:t>Output will be different in the above cases.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9734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CF1F1-B411-F4DE-08A2-FA7F72CD7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Dimensional Arrays – Processing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AE557-B006-6CAC-573B-E3B5E0FDA4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arrayName</a:t>
            </a:r>
            <a:r>
              <a:rPr lang="en-US" dirty="0"/>
              <a:t>[indexExp1][indexExp2]; </a:t>
            </a:r>
          </a:p>
          <a:p>
            <a:pPr lvl="1"/>
            <a:r>
              <a:rPr lang="en-US" dirty="0"/>
              <a:t>indexExp1 – row index</a:t>
            </a:r>
          </a:p>
          <a:p>
            <a:pPr lvl="1"/>
            <a:r>
              <a:rPr lang="en-US" dirty="0"/>
              <a:t>indexExp2 – column index</a:t>
            </a:r>
          </a:p>
          <a:p>
            <a:r>
              <a:rPr lang="en-US" dirty="0"/>
              <a:t>Rows and columns are numbered from 0</a:t>
            </a:r>
          </a:p>
          <a:p>
            <a:pPr lvl="1"/>
            <a:r>
              <a:rPr lang="en-US" dirty="0"/>
              <a:t>Use nested loops to vary two indices – Row-wise or column-wise manner</a:t>
            </a:r>
          </a:p>
          <a:p>
            <a:r>
              <a:rPr lang="en-US" dirty="0"/>
              <a:t>Example</a:t>
            </a:r>
          </a:p>
          <a:p>
            <a:pPr lvl="1"/>
            <a:r>
              <a:rPr lang="en-US" dirty="0"/>
              <a:t>double value = score[2][1];</a:t>
            </a:r>
          </a:p>
          <a:p>
            <a:pPr lvl="1"/>
            <a:r>
              <a:rPr lang="en-US" dirty="0"/>
              <a:t>score[0][3] = value + 2.0;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0CDCDC-3871-CE33-A28D-95E3C0C6B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4262438"/>
            <a:ext cx="2667000" cy="1914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046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012B0-7467-C5AF-D6CD-E0F30AFC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EE4F7-C222-F191-E351-A9806BBC8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 int SEMS = 10, STUDENTS = 30, TESTS = 4; </a:t>
            </a:r>
          </a:p>
          <a:p>
            <a:r>
              <a:rPr lang="en-US" dirty="0"/>
              <a:t>int </a:t>
            </a:r>
            <a:r>
              <a:rPr lang="en-US" dirty="0" err="1"/>
              <a:t>ThreeDimArray</a:t>
            </a:r>
            <a:r>
              <a:rPr lang="en-US" dirty="0"/>
              <a:t>[SEMS][STUDENTS][TESTS]; </a:t>
            </a:r>
          </a:p>
          <a:p>
            <a:endParaRPr lang="en-US" dirty="0"/>
          </a:p>
          <a:p>
            <a:r>
              <a:rPr lang="en-US" dirty="0"/>
              <a:t>All indices start from zero </a:t>
            </a:r>
          </a:p>
          <a:p>
            <a:endParaRPr lang="en-US" dirty="0"/>
          </a:p>
          <a:p>
            <a:r>
              <a:rPr lang="en-US" dirty="0"/>
              <a:t>What is represented by </a:t>
            </a:r>
            <a:r>
              <a:rPr lang="en-US" dirty="0" err="1"/>
              <a:t>ThreeDimArray</a:t>
            </a:r>
            <a:r>
              <a:rPr lang="en-US" dirty="0"/>
              <a:t>[4][2][3]?</a:t>
            </a:r>
          </a:p>
        </p:txBody>
      </p:sp>
    </p:spTree>
    <p:extLst>
      <p:ext uri="{BB962C8B-B14F-4D97-AF65-F5344CB8AC3E}">
        <p14:creationId xmlns:p14="http://schemas.microsoft.com/office/powerpoint/2010/main" val="460467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6F3AB-522F-D4D7-0DD4-8928D4B77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5F1AE-6A91-3CCA-9DC1-C846828E2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5CF5E-09FE-F871-0CA4-DE33AC9D0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 int SEMS = 10, STUDENTS = 30, TESTS = 4; </a:t>
            </a:r>
          </a:p>
          <a:p>
            <a:r>
              <a:rPr lang="en-US" dirty="0"/>
              <a:t>int </a:t>
            </a:r>
            <a:r>
              <a:rPr lang="en-US" dirty="0" err="1"/>
              <a:t>ThreeDimArray</a:t>
            </a:r>
            <a:r>
              <a:rPr lang="en-US" dirty="0"/>
              <a:t>[SEMS][STUDENTS][TESTS]; </a:t>
            </a:r>
          </a:p>
          <a:p>
            <a:endParaRPr lang="en-US" dirty="0"/>
          </a:p>
          <a:p>
            <a:r>
              <a:rPr lang="en-US" dirty="0"/>
              <a:t>All indices start from zero </a:t>
            </a:r>
          </a:p>
          <a:p>
            <a:endParaRPr lang="en-US" dirty="0"/>
          </a:p>
          <a:p>
            <a:r>
              <a:rPr lang="en-US" dirty="0"/>
              <a:t>What is represented by </a:t>
            </a:r>
            <a:r>
              <a:rPr lang="en-US" dirty="0" err="1"/>
              <a:t>ThreeDimArray</a:t>
            </a:r>
            <a:r>
              <a:rPr lang="en-US" dirty="0"/>
              <a:t>[4][2][3]?</a:t>
            </a:r>
          </a:p>
          <a:p>
            <a:pPr lvl="1"/>
            <a:r>
              <a:rPr lang="en-US" dirty="0"/>
              <a:t>Score of 3rd student belonging to 5th semester on 4th test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8397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B7E0E-BD01-4908-16A9-DF3C56F54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DF0FE-F47F-6E35-6A24-5378B5166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Higher Dimensional Arrays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73570-F1DA-5A1F-11BB-A84DEB15D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const int SEMS = 10, STUDENTS = 30, TESTS = 4; </a:t>
            </a:r>
          </a:p>
          <a:p>
            <a:r>
              <a:rPr lang="en-US" dirty="0"/>
              <a:t>int </a:t>
            </a:r>
            <a:r>
              <a:rPr lang="en-US" dirty="0" err="1"/>
              <a:t>ThreeDimArray</a:t>
            </a:r>
            <a:r>
              <a:rPr lang="en-US" dirty="0"/>
              <a:t>[SEMS][STUDENTS][TESTS]; </a:t>
            </a:r>
          </a:p>
          <a:p>
            <a:endParaRPr lang="en-US" dirty="0"/>
          </a:p>
          <a:p>
            <a:r>
              <a:rPr lang="en-US" dirty="0"/>
              <a:t>Address translation of a 3-D array?</a:t>
            </a:r>
          </a:p>
        </p:txBody>
      </p:sp>
    </p:spTree>
    <p:extLst>
      <p:ext uri="{BB962C8B-B14F-4D97-AF65-F5344CB8AC3E}">
        <p14:creationId xmlns:p14="http://schemas.microsoft.com/office/powerpoint/2010/main" val="38848826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C6BFD-9159-28B1-FB76-DA125C743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Arrays (1)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E8173-8CD5-04D6-9AEA-50CBB11F7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91297" cy="4351338"/>
          </a:xfrm>
        </p:spPr>
        <p:txBody>
          <a:bodyPr/>
          <a:lstStyle/>
          <a:p>
            <a:r>
              <a:rPr lang="en-US" dirty="0"/>
              <a:t>Consider the declaration</a:t>
            </a:r>
          </a:p>
          <a:p>
            <a:pPr lvl="1"/>
            <a:r>
              <a:rPr lang="en-US" dirty="0"/>
              <a:t>double score[10][4];</a:t>
            </a:r>
          </a:p>
          <a:p>
            <a:r>
              <a:rPr lang="en-US" dirty="0"/>
              <a:t>Another way of declaration: 1D array of rows</a:t>
            </a:r>
          </a:p>
          <a:p>
            <a:pPr lvl="1"/>
            <a:r>
              <a:rPr lang="en-US" dirty="0">
                <a:solidFill>
                  <a:srgbClr val="FF0000"/>
                </a:solidFill>
              </a:rPr>
              <a:t>using</a:t>
            </a:r>
            <a:r>
              <a:rPr lang="en-US" dirty="0"/>
              <a:t> RowOfTable = double[4];</a:t>
            </a:r>
          </a:p>
          <a:p>
            <a:pPr lvl="1"/>
            <a:r>
              <a:rPr lang="en-US" dirty="0"/>
              <a:t>RowOfTable score[10]; </a:t>
            </a:r>
          </a:p>
          <a:p>
            <a:r>
              <a:rPr lang="en-US" dirty="0"/>
              <a:t>In detail</a:t>
            </a:r>
          </a:p>
          <a:p>
            <a:pPr lvl="1"/>
            <a:r>
              <a:rPr lang="en-US" dirty="0"/>
              <a:t>Declare score as 1D array containing 10 elements</a:t>
            </a:r>
          </a:p>
          <a:p>
            <a:pPr lvl="1"/>
            <a:r>
              <a:rPr lang="en-US" dirty="0"/>
              <a:t>Each of 10 elements is 1D array of 4 real numbers (i.e., double)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550FFCA-3A40-CE8B-47BB-E6444449C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9497" y="823913"/>
            <a:ext cx="3695700" cy="535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94999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32F1A-6CB0-B5FE-8BA1-169060171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8DB8-55FB-3788-DB74-A4681D3BD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Arrays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F771B7-043C-1A09-9BDD-22867A855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score[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Indicates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en-US" dirty="0"/>
              <a:t> row of the table</a:t>
            </a:r>
          </a:p>
          <a:p>
            <a:r>
              <a:rPr lang="en-US" dirty="0"/>
              <a:t>score[</a:t>
            </a:r>
            <a:r>
              <a:rPr lang="en-US" dirty="0" err="1"/>
              <a:t>i</a:t>
            </a:r>
            <a:r>
              <a:rPr lang="en-US" dirty="0"/>
              <a:t>][j]</a:t>
            </a:r>
          </a:p>
          <a:p>
            <a:pPr lvl="1"/>
            <a:r>
              <a:rPr lang="en-US" dirty="0"/>
              <a:t>Can be thought of as (score[</a:t>
            </a:r>
            <a:r>
              <a:rPr lang="en-US" dirty="0" err="1"/>
              <a:t>i</a:t>
            </a:r>
            <a:r>
              <a:rPr lang="en-US" dirty="0"/>
              <a:t>])[j]</a:t>
            </a:r>
          </a:p>
          <a:p>
            <a:pPr lvl="1"/>
            <a:r>
              <a:rPr lang="en-US" dirty="0"/>
              <a:t>Indicates j </a:t>
            </a:r>
            <a:r>
              <a:rPr lang="en-US" dirty="0" err="1"/>
              <a:t>th</a:t>
            </a:r>
            <a:r>
              <a:rPr lang="en-US" dirty="0"/>
              <a:t> element of score[</a:t>
            </a:r>
            <a:r>
              <a:rPr lang="en-US" dirty="0" err="1"/>
              <a:t>i</a:t>
            </a:r>
            <a:r>
              <a:rPr lang="en-US" dirty="0"/>
              <a:t>] </a:t>
            </a:r>
          </a:p>
          <a:p>
            <a:pPr lvl="1"/>
            <a:endParaRPr lang="en-US" dirty="0"/>
          </a:p>
          <a:p>
            <a:r>
              <a:rPr lang="en-US" dirty="0"/>
              <a:t>How will we make a 3-D array using a 2-D object?</a:t>
            </a:r>
          </a:p>
        </p:txBody>
      </p:sp>
    </p:spTree>
    <p:extLst>
      <p:ext uri="{BB962C8B-B14F-4D97-AF65-F5344CB8AC3E}">
        <p14:creationId xmlns:p14="http://schemas.microsoft.com/office/powerpoint/2010/main" val="15383377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4E8CE2-F280-1638-9533-0FDA8FD6F4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Arrays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E3ABC-0939-B0BF-5B1B-E82D7BFF07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score[</a:t>
            </a:r>
            <a:r>
              <a:rPr lang="en-US" dirty="0" err="1"/>
              <a:t>i</a:t>
            </a:r>
            <a:r>
              <a:rPr lang="en-US" dirty="0"/>
              <a:t>]</a:t>
            </a:r>
          </a:p>
          <a:p>
            <a:pPr lvl="1"/>
            <a:r>
              <a:rPr lang="en-US" dirty="0"/>
              <a:t>Indicates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th</a:t>
            </a:r>
            <a:r>
              <a:rPr lang="en-US" dirty="0"/>
              <a:t> row of the table</a:t>
            </a:r>
          </a:p>
          <a:p>
            <a:r>
              <a:rPr lang="en-US" dirty="0"/>
              <a:t>score[</a:t>
            </a:r>
            <a:r>
              <a:rPr lang="en-US" dirty="0" err="1"/>
              <a:t>i</a:t>
            </a:r>
            <a:r>
              <a:rPr lang="en-US" dirty="0"/>
              <a:t>][j]</a:t>
            </a:r>
          </a:p>
          <a:p>
            <a:pPr lvl="1"/>
            <a:r>
              <a:rPr lang="en-US" dirty="0"/>
              <a:t>Can be thought of as (score[</a:t>
            </a:r>
            <a:r>
              <a:rPr lang="en-US" dirty="0" err="1"/>
              <a:t>i</a:t>
            </a:r>
            <a:r>
              <a:rPr lang="en-US" dirty="0"/>
              <a:t>])[j]</a:t>
            </a:r>
          </a:p>
          <a:p>
            <a:pPr lvl="1"/>
            <a:r>
              <a:rPr lang="en-US" dirty="0"/>
              <a:t>Indicates j </a:t>
            </a:r>
            <a:r>
              <a:rPr lang="en-US" dirty="0" err="1"/>
              <a:t>th</a:t>
            </a:r>
            <a:r>
              <a:rPr lang="en-US" dirty="0"/>
              <a:t> element of score[</a:t>
            </a:r>
            <a:r>
              <a:rPr lang="en-US" dirty="0" err="1"/>
              <a:t>i</a:t>
            </a:r>
            <a:r>
              <a:rPr lang="en-US" dirty="0"/>
              <a:t>] 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01576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9694B4-35BA-16D9-152F-543C4E413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Array of Arrays – Address Translation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76CA1D-E018-0C4D-02BB-9BA4BFB5C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to access the value of score[5][3]?</a:t>
            </a:r>
          </a:p>
          <a:p>
            <a:endParaRPr lang="en-US" dirty="0"/>
          </a:p>
          <a:p>
            <a:r>
              <a:rPr lang="en-US" dirty="0"/>
              <a:t>Suppose base address of score is 0x12348 </a:t>
            </a:r>
          </a:p>
          <a:p>
            <a:r>
              <a:rPr lang="en-US" dirty="0"/>
              <a:t>Address of 6th element of score array, i.e., score[5]</a:t>
            </a:r>
          </a:p>
          <a:p>
            <a:pPr lvl="1"/>
            <a:r>
              <a:rPr lang="en-US" dirty="0"/>
              <a:t>0x12348 + 5 x </a:t>
            </a:r>
            <a:r>
              <a:rPr lang="en-US" dirty="0" err="1"/>
              <a:t>sizeof</a:t>
            </a:r>
            <a:r>
              <a:rPr lang="en-US" dirty="0"/>
              <a:t>(RowOfTable) = 0x12348 + 5 x (4 x 8) = 0x124A8 </a:t>
            </a:r>
          </a:p>
          <a:p>
            <a:r>
              <a:rPr lang="en-US" dirty="0"/>
              <a:t>Address of score[5][3]</a:t>
            </a:r>
          </a:p>
          <a:p>
            <a:pPr lvl="1"/>
            <a:r>
              <a:rPr lang="en-US" dirty="0"/>
              <a:t>Address of score[5] + 3 x </a:t>
            </a:r>
            <a:r>
              <a:rPr lang="en-US" dirty="0" err="1"/>
              <a:t>sizeof</a:t>
            </a:r>
            <a:r>
              <a:rPr lang="en-US" dirty="0"/>
              <a:t>(double) = 0x124A8 + 3 x 8 = 0x124A8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FB240A-F9DD-E363-1FC7-128D7A07D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911" y="2004044"/>
            <a:ext cx="3343275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7067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5473E6-0224-E260-7EA8-13D6C69D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C++ Implementation of an Array ADT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81810-2790-1B96-EB4C-7C6EDC060D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D9B01B8-0E10-55AE-A2F7-534A3C9BE6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9750" y="2457450"/>
            <a:ext cx="8572500" cy="19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2132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02244-1977-08D5-AB4F-DBB0962AE2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F1204-C9D7-F28C-1E03-74BA0E513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4367257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4887</TotalTime>
  <Words>1441</Words>
  <Application>Microsoft Office PowerPoint</Application>
  <PresentationFormat>Widescreen</PresentationFormat>
  <Paragraphs>183</Paragraphs>
  <Slides>25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Office Theme</vt:lpstr>
      <vt:lpstr>Data Structures &amp; Algorithms (CSC-214)</vt:lpstr>
      <vt:lpstr>Arrays ADT</vt:lpstr>
      <vt:lpstr>Properties of an Array</vt:lpstr>
      <vt:lpstr>Recap: Declaring Arrays in C/C++</vt:lpstr>
      <vt:lpstr>Recap: Accessing Arrays in C/C++ </vt:lpstr>
      <vt:lpstr>Recap: Array Initialization in C++ (1)</vt:lpstr>
      <vt:lpstr>Recap: Array Initialization in C++ (2)</vt:lpstr>
      <vt:lpstr>Array Address Translation (1) </vt:lpstr>
      <vt:lpstr>Array Address Translation (2)</vt:lpstr>
      <vt:lpstr>Questions</vt:lpstr>
      <vt:lpstr>Multidimensional Arrays</vt:lpstr>
      <vt:lpstr>Multidimensional Arrays</vt:lpstr>
      <vt:lpstr>Two-Dimensional Arrays in Memory</vt:lpstr>
      <vt:lpstr>Two-Dimensional Arrays – Declaration</vt:lpstr>
      <vt:lpstr>Two Dimensional Arrays – Initialization</vt:lpstr>
      <vt:lpstr>Two Dimensional Arrays – Processing</vt:lpstr>
      <vt:lpstr>Higher Dimensional Arrays</vt:lpstr>
      <vt:lpstr>Higher Dimensional Arrays</vt:lpstr>
      <vt:lpstr>Higher Dimensional Arrays</vt:lpstr>
      <vt:lpstr>Array of Arrays (1)</vt:lpstr>
      <vt:lpstr>Array of Arrays (2)</vt:lpstr>
      <vt:lpstr>Array of Arrays (2)</vt:lpstr>
      <vt:lpstr>Array of Arrays – Address Translation</vt:lpstr>
      <vt:lpstr>C++ Implementation of an Array ADT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169</cp:revision>
  <dcterms:created xsi:type="dcterms:W3CDTF">2025-01-23T12:04:59Z</dcterms:created>
  <dcterms:modified xsi:type="dcterms:W3CDTF">2025-02-18T19:44:37Z</dcterms:modified>
</cp:coreProperties>
</file>