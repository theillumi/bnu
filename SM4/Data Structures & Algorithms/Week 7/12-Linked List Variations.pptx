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70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3" r:id="rId23"/>
    <p:sldId id="284" r:id="rId24"/>
    <p:sldId id="285" r:id="rId25"/>
    <p:sldId id="286" r:id="rId26"/>
    <p:sldId id="287" r:id="rId27"/>
    <p:sldId id="261" r:id="rId28"/>
    <p:sldId id="289" r:id="rId29"/>
    <p:sldId id="290" r:id="rId30"/>
    <p:sldId id="369" r:id="rId31"/>
    <p:sldId id="288" r:id="rId32"/>
    <p:sldId id="279" r:id="rId33"/>
    <p:sldId id="280" r:id="rId34"/>
    <p:sldId id="281" r:id="rId35"/>
    <p:sldId id="372" r:id="rId36"/>
    <p:sldId id="373" r:id="rId37"/>
    <p:sldId id="28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59" autoAdjust="0"/>
    <p:restoredTop sz="95407" autoAdjust="0"/>
  </p:normalViewPr>
  <p:slideViewPr>
    <p:cSldViewPr snapToGrid="0">
      <p:cViewPr varScale="1">
        <p:scale>
          <a:sx n="86" d="100"/>
          <a:sy n="86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F55A-9C7F-533E-1E2F-D3FFF816B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FF4B9-F7AE-2244-D80A-BFE978850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752C-DEC4-A4F1-8BA5-BC2F11F50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CD95A-6AD7-AD1A-CAC6-06762A63D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7B5D8-F29F-962E-37C3-7B9B78A6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6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011D-690B-53E5-0658-77D25ABB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2056-0CE3-E330-FB4F-85163F618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CB32D-04BE-9E35-7DE2-B9614C9D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8DAA5-DCE3-5E5D-7DEE-9B20858C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3329-9525-B89E-21BA-2B9D29F2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A099-521B-880E-75ED-247D036C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BA36E-5BBA-E71A-959D-2B2BAC811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17BFA-3B5B-9F20-31E2-6E8CCF605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F5879-5A9C-37C7-4E56-3DB55F32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7E2D5-08F3-B2C9-87B0-0915D077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DDCD-E607-8241-7D30-958C6D2F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CEC62-2159-78BB-CFFD-BFC3A4BBF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AB8A5-836C-1F04-BAE3-5BAB54DD1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7589D-BB1E-14D7-8D20-6C0B13B3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5FD51-E539-C3B6-10D6-934360BC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1E50C-CD05-37AC-6286-A2F94140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4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D731-CAA8-CADF-F60C-1D3F25D9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4AFEB-2CB2-B6D7-0E94-4D921B625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49AD9-5C58-7111-1373-7AA229C9E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FBFB7-DF9D-FC54-8C82-FDFBC6B5EF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38293-9769-F64E-8500-ADDA61E9D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68460B-7191-022E-274C-0090075F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43EE9-E81B-C8D8-A7DC-D68C3026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14294-7307-F2E9-44CC-2E1DB8FB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5195-AB68-35A3-D3DF-08E4C359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5CFEC-97E2-2605-5464-07196B5D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0E115-C74B-06E0-38C5-A99EAEDE2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1E86E-A39C-E166-6AC3-D6AC3F09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2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BD3FE-B228-156B-CC5F-77C84E3D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4EE74-037C-457D-EAA9-83757B20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BC729-443A-873A-C90D-6FB28CE8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57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E275-D0D3-D064-40C0-20B4E308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6571C-778C-C175-33C8-5835B450B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BA9F9-DAEB-26C8-0DC5-CD5428ED6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63589-7DAD-2C1C-8653-E76168DA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73A45-EC5C-4DFC-238A-92A25E2F4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60179-4760-1F7D-BC26-0602A8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7D4E-B432-6BBC-EECE-93EA1AAC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7D1C75-DC4C-D84F-456C-F06802804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20530-3209-722F-50D5-9506FBD93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E36EF-94E0-D544-CD98-F8923A7BF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ECE1F-AEEF-54AF-EC32-22E7798D7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CB13A-9D52-D22C-D97A-4CD136B2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6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06E2-8829-34CD-396A-8C95BBED8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AB2CC-2E1F-6325-7DDC-C91A7EFCF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34583-CF9E-5EE4-9761-E70365FB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CE89B-1D05-85C5-3039-AA0E28ED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B87E6-41D8-EC71-CD27-1F1824F3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28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AEE14-186B-2E54-2B5E-833BC943A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8876F-D66F-76D7-E6FB-AF0D61237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DB0C1-EB10-DA74-E030-19711044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05D85-0FAE-FAC4-CCE3-AD62CB2D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822E2-37FC-06FD-1821-C442801F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4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DE1E9-29B9-22F6-D11B-49AE8034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2C226-7EAB-FE95-F424-90180BED4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1AAE1-FFD8-B2E6-E734-40701A39D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1B2EE-9A5E-49DE-972F-A8D534F200B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3F037-75D3-FD3C-03C4-A198485AF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62A08-E8B5-3203-093F-88EBE5B56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2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FFC2-9E19-3B0E-A250-2E8B5DCF93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EA3E1-6477-EADA-49D3-94F5F4665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373963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F112-40E8-A897-471E-29E0979C6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913F4-66FC-1E56-A78D-69CA66E97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List as an ADT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An array-based implementation of lists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Introduction to linked lists</a:t>
            </a: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 pointer-based implementation in C++</a:t>
            </a:r>
          </a:p>
          <a:p>
            <a:r>
              <a:rPr lang="en-US" dirty="0"/>
              <a:t>Variations of linked lists </a:t>
            </a:r>
          </a:p>
        </p:txBody>
      </p:sp>
    </p:spTree>
    <p:extLst>
      <p:ext uri="{BB962C8B-B14F-4D97-AF65-F5344CB8AC3E}">
        <p14:creationId xmlns:p14="http://schemas.microsoft.com/office/powerpoint/2010/main" val="3956055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0B26E-3FA3-56FC-197F-B9F67631C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–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C3852-8A8C-A1F5-1896-54D870FA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22012"/>
          </a:xfrm>
        </p:spPr>
        <p:txBody>
          <a:bodyPr/>
          <a:lstStyle/>
          <a:p>
            <a:r>
              <a:rPr lang="en-US" dirty="0"/>
              <a:t>Access any item as long as external link to first item maintained </a:t>
            </a:r>
          </a:p>
          <a:p>
            <a:r>
              <a:rPr lang="en-US" dirty="0"/>
              <a:t>Insert new item without shifting</a:t>
            </a:r>
          </a:p>
          <a:p>
            <a:r>
              <a:rPr lang="en-US" dirty="0"/>
              <a:t>Delete existing item without shifting</a:t>
            </a:r>
          </a:p>
          <a:p>
            <a:r>
              <a:rPr lang="en-US" dirty="0"/>
              <a:t>Can expand/contract (flexible) as necessary</a:t>
            </a:r>
          </a:p>
        </p:txBody>
      </p:sp>
    </p:spTree>
    <p:extLst>
      <p:ext uri="{BB962C8B-B14F-4D97-AF65-F5344CB8AC3E}">
        <p14:creationId xmlns:p14="http://schemas.microsoft.com/office/powerpoint/2010/main" val="403584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1C7B-44BF-0466-BD81-47945059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– Disadvantages (1)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5CEBB-2235-48EE-ED13-707A381DD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Overhead of links</a:t>
            </a:r>
          </a:p>
          <a:p>
            <a:pPr lvl="1"/>
            <a:r>
              <a:rPr lang="en-US" dirty="0"/>
              <a:t>Used only internally, pure overhead</a:t>
            </a:r>
          </a:p>
          <a:p>
            <a:r>
              <a:rPr lang="en-US" dirty="0"/>
              <a:t>If dynamic, must provide</a:t>
            </a:r>
          </a:p>
          <a:p>
            <a:pPr lvl="1"/>
            <a:r>
              <a:rPr lang="en-US" dirty="0"/>
              <a:t>Destructor</a:t>
            </a:r>
          </a:p>
          <a:p>
            <a:pPr lvl="1"/>
            <a:r>
              <a:rPr lang="en-US" dirty="0"/>
              <a:t>Copy constructor</a:t>
            </a:r>
          </a:p>
          <a:p>
            <a:pPr lvl="1"/>
            <a:r>
              <a:rPr lang="en-US" dirty="0"/>
              <a:t>Assignment operator</a:t>
            </a:r>
          </a:p>
          <a:p>
            <a:r>
              <a:rPr lang="en-US" dirty="0"/>
              <a:t>No longer have direct access to each element of the list</a:t>
            </a:r>
          </a:p>
          <a:p>
            <a:pPr lvl="1"/>
            <a:r>
              <a:rPr lang="en-US" dirty="0"/>
              <a:t>Many sorting algorithms need direct access</a:t>
            </a:r>
          </a:p>
          <a:p>
            <a:pPr lvl="1"/>
            <a:r>
              <a:rPr lang="en-US" dirty="0"/>
              <a:t>Binary search needs direct access</a:t>
            </a:r>
          </a:p>
          <a:p>
            <a:pPr lvl="1"/>
            <a:r>
              <a:rPr lang="en-US" dirty="0"/>
              <a:t>Access of nth item now less efficient</a:t>
            </a:r>
          </a:p>
          <a:p>
            <a:pPr lvl="1"/>
            <a:r>
              <a:rPr lang="en-US" dirty="0"/>
              <a:t>Must go through first element, then second, and then third,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031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25821-28B9-33DD-F386-C4AD737C7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9877D-B961-A362-A30E-8CB152438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– Disadvantages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3BCD5-62D6-1CD1-759E-16323BA66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List-processing algorithms that require fast access to each element cannot be done as efficiently with linked lists</a:t>
            </a:r>
          </a:p>
          <a:p>
            <a:r>
              <a:rPr lang="en-US" dirty="0"/>
              <a:t>Consider adding an element at the end of the list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74E2CD-734C-EBE0-CC71-9596698CE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831425"/>
              </p:ext>
            </p:extLst>
          </p:nvPr>
        </p:nvGraphicFramePr>
        <p:xfrm>
          <a:off x="2032000" y="3429000"/>
          <a:ext cx="812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3612202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89472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Linked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508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[size++] = value;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602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873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B045-D335-15D4-6EFC-B1B23CD70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C93B6-B666-CE83-6A1C-C35271CB9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– Disadvantages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39A87-F673-1F24-E71A-426FD5D46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List-processing algorithms that require fast access to each element cannot be done as efficiently with linked lists</a:t>
            </a:r>
          </a:p>
          <a:p>
            <a:r>
              <a:rPr lang="en-US" dirty="0"/>
              <a:t>Consider adding an element at the end of the list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0225E1-3BAB-B0DE-4B51-48E4FD292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584572"/>
              </p:ext>
            </p:extLst>
          </p:nvPr>
        </p:nvGraphicFramePr>
        <p:xfrm>
          <a:off x="2032000" y="3429000"/>
          <a:ext cx="8345377" cy="1285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36122026"/>
                    </a:ext>
                  </a:extLst>
                </a:gridCol>
                <a:gridCol w="4281377">
                  <a:extLst>
                    <a:ext uri="{9D8B030D-6E8A-4147-A177-3AD203B41FA5}">
                      <a16:colId xmlns:a16="http://schemas.microsoft.com/office/drawing/2014/main" val="2389472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Linked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508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[size++] = value;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Node* </a:t>
                      </a:r>
                      <a:r>
                        <a:rPr lang="en-US" dirty="0" err="1"/>
                        <a:t>NewNode</a:t>
                      </a:r>
                      <a:r>
                        <a:rPr lang="en-US" dirty="0"/>
                        <a:t> = new Node;</a:t>
                      </a:r>
                    </a:p>
                    <a:p>
                      <a:r>
                        <a:rPr lang="en-US" dirty="0" err="1"/>
                        <a:t>NewNode</a:t>
                      </a:r>
                      <a:r>
                        <a:rPr lang="en-US" dirty="0"/>
                        <a:t> -&gt; data = x;</a:t>
                      </a:r>
                    </a:p>
                    <a:p>
                      <a:r>
                        <a:rPr lang="en-US" dirty="0" err="1"/>
                        <a:t>NewNode</a:t>
                      </a:r>
                      <a:r>
                        <a:rPr lang="en-US" dirty="0"/>
                        <a:t> -&gt; </a:t>
                      </a:r>
                      <a:r>
                        <a:rPr lang="en-US" dirty="0" err="1"/>
                        <a:t>nullptr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602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1296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278E1-DE65-66B3-3BC3-42506582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DBF8-C998-C548-74B6-04D086CF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– Disadvantages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C4E2D-0C2B-8676-F663-12784AA14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List-processing algorithms that require fast access to each element cannot be done as efficiently with linked lists</a:t>
            </a:r>
          </a:p>
          <a:p>
            <a:r>
              <a:rPr lang="en-US" dirty="0"/>
              <a:t>Consider adding an element at the end of the list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02609E-87DA-FFD4-BADE-BD7EF1EF5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07705"/>
              </p:ext>
            </p:extLst>
          </p:nvPr>
        </p:nvGraphicFramePr>
        <p:xfrm>
          <a:off x="2032000" y="3429000"/>
          <a:ext cx="8387907" cy="2108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36122026"/>
                    </a:ext>
                  </a:extLst>
                </a:gridCol>
                <a:gridCol w="4323907">
                  <a:extLst>
                    <a:ext uri="{9D8B030D-6E8A-4147-A177-3AD203B41FA5}">
                      <a16:colId xmlns:a16="http://schemas.microsoft.com/office/drawing/2014/main" val="2389472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Linked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508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[size++] = value;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Node* </a:t>
                      </a:r>
                      <a:r>
                        <a:rPr lang="en-US" dirty="0" err="1"/>
                        <a:t>NewNode</a:t>
                      </a:r>
                      <a:r>
                        <a:rPr lang="en-US" dirty="0"/>
                        <a:t> = new Node;</a:t>
                      </a:r>
                    </a:p>
                    <a:p>
                      <a:r>
                        <a:rPr lang="en-US" dirty="0" err="1"/>
                        <a:t>NewNode</a:t>
                      </a:r>
                      <a:r>
                        <a:rPr lang="en-US" dirty="0"/>
                        <a:t> -&gt; data = x;</a:t>
                      </a:r>
                    </a:p>
                    <a:p>
                      <a:r>
                        <a:rPr lang="en-US" dirty="0" err="1"/>
                        <a:t>NewNode</a:t>
                      </a:r>
                      <a:r>
                        <a:rPr lang="en-US" dirty="0"/>
                        <a:t> -&gt; </a:t>
                      </a:r>
                      <a:r>
                        <a:rPr lang="en-US" dirty="0" err="1"/>
                        <a:t>nullptr</a:t>
                      </a:r>
                      <a:r>
                        <a:rPr lang="en-US" dirty="0"/>
                        <a:t>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if(head == NULL)</a:t>
                      </a:r>
                    </a:p>
                    <a:p>
                      <a:r>
                        <a:rPr lang="en-US" dirty="0"/>
                        <a:t>     head = </a:t>
                      </a:r>
                      <a:r>
                        <a:rPr lang="en-US" dirty="0" err="1"/>
                        <a:t>NewNode</a:t>
                      </a:r>
                      <a:r>
                        <a:rPr lang="en-US" dirty="0"/>
                        <a:t>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602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17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6F0A9-0B78-C924-4CB3-06BF1478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EF62C-2D24-3E0A-DC70-C3A6AE24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– Disadvantages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95074-F857-E944-72D1-DC07F1671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List-processing algorithms that require fast access to each element cannot be done as efficiently with linked lists</a:t>
            </a:r>
          </a:p>
          <a:p>
            <a:r>
              <a:rPr lang="en-US" dirty="0"/>
              <a:t>Consider adding an element at the end of the list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0AF47D-219C-F122-9FA5-DC3D45F38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392350"/>
              </p:ext>
            </p:extLst>
          </p:nvPr>
        </p:nvGraphicFramePr>
        <p:xfrm>
          <a:off x="2031999" y="3429000"/>
          <a:ext cx="8472968" cy="3205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36484">
                  <a:extLst>
                    <a:ext uri="{9D8B030D-6E8A-4147-A177-3AD203B41FA5}">
                      <a16:colId xmlns:a16="http://schemas.microsoft.com/office/drawing/2014/main" val="1536122026"/>
                    </a:ext>
                  </a:extLst>
                </a:gridCol>
                <a:gridCol w="4236484">
                  <a:extLst>
                    <a:ext uri="{9D8B030D-6E8A-4147-A177-3AD203B41FA5}">
                      <a16:colId xmlns:a16="http://schemas.microsoft.com/office/drawing/2014/main" val="2389472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Linked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508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[size++] = value;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Node* </a:t>
                      </a:r>
                      <a:r>
                        <a:rPr lang="en-US" dirty="0" err="1"/>
                        <a:t>NewNode</a:t>
                      </a:r>
                      <a:r>
                        <a:rPr lang="en-US" dirty="0"/>
                        <a:t> = new Node;</a:t>
                      </a:r>
                    </a:p>
                    <a:p>
                      <a:r>
                        <a:rPr lang="en-US" dirty="0" err="1"/>
                        <a:t>NewNode</a:t>
                      </a:r>
                      <a:r>
                        <a:rPr lang="en-US" dirty="0"/>
                        <a:t> -&gt; data = x;</a:t>
                      </a:r>
                    </a:p>
                    <a:p>
                      <a:r>
                        <a:rPr lang="en-US" dirty="0" err="1"/>
                        <a:t>NewNode</a:t>
                      </a:r>
                      <a:r>
                        <a:rPr lang="en-US" dirty="0"/>
                        <a:t> -&gt; </a:t>
                      </a:r>
                      <a:r>
                        <a:rPr lang="en-US" dirty="0" err="1"/>
                        <a:t>nullptr</a:t>
                      </a:r>
                      <a:r>
                        <a:rPr lang="en-US" dirty="0"/>
                        <a:t>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if(head == NULL)</a:t>
                      </a:r>
                    </a:p>
                    <a:p>
                      <a:r>
                        <a:rPr lang="en-US" dirty="0"/>
                        <a:t>     head = </a:t>
                      </a:r>
                      <a:r>
                        <a:rPr lang="en-US" dirty="0" err="1"/>
                        <a:t>NewNode</a:t>
                      </a:r>
                      <a:r>
                        <a:rPr lang="en-US" dirty="0"/>
                        <a:t>;</a:t>
                      </a:r>
                    </a:p>
                    <a:p>
                      <a:r>
                        <a:rPr lang="en-US" dirty="0"/>
                        <a:t>else</a:t>
                      </a:r>
                    </a:p>
                    <a:p>
                      <a:r>
                        <a:rPr lang="en-US" dirty="0"/>
                        <a:t>    int 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= 1; Node* </a:t>
                      </a:r>
                      <a:r>
                        <a:rPr lang="en-US" dirty="0" err="1"/>
                        <a:t>ptr</a:t>
                      </a:r>
                      <a:r>
                        <a:rPr lang="en-US" dirty="0"/>
                        <a:t> = head;</a:t>
                      </a:r>
                    </a:p>
                    <a:p>
                      <a:r>
                        <a:rPr lang="en-US" dirty="0"/>
                        <a:t>    while(</a:t>
                      </a:r>
                      <a:r>
                        <a:rPr lang="en-US" dirty="0" err="1"/>
                        <a:t>ptr</a:t>
                      </a:r>
                      <a:r>
                        <a:rPr lang="en-US" dirty="0"/>
                        <a:t>)</a:t>
                      </a:r>
                    </a:p>
                    <a:p>
                      <a:r>
                        <a:rPr lang="en-US" dirty="0"/>
                        <a:t>   //iterate over the list till you find the 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6028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CD35AF-C1E4-4030-BB36-3D87983776C3}"/>
              </a:ext>
            </a:extLst>
          </p:cNvPr>
          <p:cNvSpPr txBox="1"/>
          <p:nvPr/>
        </p:nvSpPr>
        <p:spPr>
          <a:xfrm>
            <a:off x="4490484" y="5759390"/>
            <a:ext cx="1605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6FF"/>
                </a:solidFill>
              </a:rPr>
              <a:t>This is the inefficient part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9EC98A-B943-5A23-2561-EFB7A2C1556E}"/>
              </a:ext>
            </a:extLst>
          </p:cNvPr>
          <p:cNvCxnSpPr/>
          <p:nvPr/>
        </p:nvCxnSpPr>
        <p:spPr>
          <a:xfrm flipV="1">
            <a:off x="5975498" y="5759390"/>
            <a:ext cx="446567" cy="1523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434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F4C4-542B-6529-D886-773772871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 Linked List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74657-E008-D615-0097-E03CADB77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3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EE29D-905C-5E74-F215-6C521226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54E0F-DB4E-909E-49AC-A61203799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node contains the address of the previous node except the first node</a:t>
            </a:r>
          </a:p>
          <a:p>
            <a:pPr lvl="1"/>
            <a:r>
              <a:rPr lang="en-US" dirty="0"/>
              <a:t>Both forward and backward traversal of the list is possible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027381-FFFB-99D9-217A-D958250F9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429000"/>
            <a:ext cx="731520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76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F983-63FC-E7DF-A9A1-D7CE8941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8318C-1FC8-F0B5-9995-BE8737583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 class contains three data members</a:t>
            </a:r>
          </a:p>
          <a:p>
            <a:pPr lvl="1"/>
            <a:r>
              <a:rPr lang="en-US" dirty="0"/>
              <a:t>data: double-type data in this example</a:t>
            </a:r>
          </a:p>
          <a:p>
            <a:pPr lvl="1"/>
            <a:r>
              <a:rPr lang="en-US" dirty="0"/>
              <a:t>next: a pointer to the next node in the list</a:t>
            </a:r>
          </a:p>
          <a:p>
            <a:pPr lvl="1"/>
            <a:r>
              <a:rPr lang="en-US" dirty="0" err="1"/>
              <a:t>prev</a:t>
            </a:r>
            <a:r>
              <a:rPr lang="en-US" dirty="0"/>
              <a:t>: a pointer to the pervious node in the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3A39C-E2F1-BD18-F069-97E230B7C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3716079"/>
            <a:ext cx="6019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36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4B6DA-A0A7-42F7-8CAB-E1155C73A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C1AE7-CE39-9270-A921-C14ED24E2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class contains two pointers</a:t>
            </a:r>
          </a:p>
          <a:p>
            <a:pPr lvl="1"/>
            <a:r>
              <a:rPr lang="en-US" dirty="0"/>
              <a:t>head: a pointer to the first node in the list</a:t>
            </a:r>
          </a:p>
          <a:p>
            <a:pPr lvl="1"/>
            <a:r>
              <a:rPr lang="en-US" dirty="0"/>
              <a:t>tail: a pointer to the last node in the list</a:t>
            </a:r>
          </a:p>
          <a:p>
            <a:r>
              <a:rPr lang="en-US" dirty="0"/>
              <a:t>Since the list is empty initially, head and tail are set to NULL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DCD1F-016F-257C-BF89-8814E6A11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87" y="3648075"/>
            <a:ext cx="873442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63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F1F21-C2DC-9F04-CB82-698475020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First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8B73-C326-376C-F8BB-49999F125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062E3-F6FE-7097-0586-C05A88140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575" y="1825625"/>
            <a:ext cx="3752850" cy="1190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6CD0F4-694D-C85E-3278-00998C7FB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01294"/>
            <a:ext cx="35814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75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BBD4-1E4B-0635-A2D5-D1096C83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51913-2ED5-F0DE-1A3D-F6126B2A3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66FF"/>
                </a:solidFill>
              </a:rPr>
              <a:t>current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BC150-7C47-4C9F-B772-D0E578D8E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400743"/>
            <a:ext cx="7620000" cy="2247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B4318-FA45-7F7E-D3EA-0399F6428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73600"/>
            <a:ext cx="526732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62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B7C7-248D-5F38-863F-A6C884763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(2)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D5419-C479-B0DF-F8D4-F53365ACF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66FF"/>
                </a:solidFill>
              </a:rPr>
              <a:t>current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BEC4E-2F80-0D53-53ED-13ED9FD68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25" y="2324100"/>
            <a:ext cx="7600950" cy="2209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F116CB-9BFA-A972-4992-2FB274DEE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533900"/>
            <a:ext cx="530542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53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85DF2-FA2A-D327-3308-FBCFC209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4198E-53B0-314D-965E-EC92A6096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66FF"/>
                </a:solidFill>
              </a:rPr>
              <a:t>current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4A947A-0AB8-ED6A-04FC-FFEB89EEF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75" y="2338387"/>
            <a:ext cx="7639050" cy="2181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5A5481-6C2B-A5D8-7184-EFCB58DF7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08106"/>
            <a:ext cx="528637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25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D6FC-CCBD-80FC-3114-D29D7CAB5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(4)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239C1-099C-C3A4-588D-E5D5A592E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66FF"/>
                </a:solidFill>
              </a:rPr>
              <a:t>current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30F23-0E2E-AFD8-2068-4B908F3EF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335" y="2324100"/>
            <a:ext cx="7591425" cy="2209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FB3447-5BFB-583D-F838-657B84957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09" y="4664075"/>
            <a:ext cx="52387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35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861FD-7811-69AB-CEDF-92A6EF0E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(5)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90D9-C0ED-7485-C236-E712F6242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66FF"/>
                </a:solidFill>
              </a:rPr>
              <a:t>current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7D8F71-57E2-A9B0-0DE7-D547CA708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2347912"/>
            <a:ext cx="7562850" cy="2162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AB2403-0936-7F37-7957-CF13EC3C1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64075"/>
            <a:ext cx="82391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236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1DDA-CB9B-2387-EC8E-63A153310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3CDFA-93E1-C229-6430-F5F0D1971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66FF"/>
                </a:solidFill>
              </a:rPr>
              <a:t>current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B9090-4F49-2017-A64B-28660F57F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75" y="2300287"/>
            <a:ext cx="7639050" cy="2257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390E9D-BF1C-BE07-34D0-DE8FF68DA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11700"/>
            <a:ext cx="533400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667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44415-BDAC-C034-AD2A-114C8B72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22BE6-36FF-05E4-211D-20681F507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66FF"/>
                </a:solidFill>
              </a:rPr>
              <a:t>current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1FC2A-4705-0E8B-89C2-3D6F9102E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7" y="2314575"/>
            <a:ext cx="7629525" cy="2228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052628-62AF-C40D-6407-27DAC6922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45025"/>
            <a:ext cx="53244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51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2E171-54CE-2F6B-3C5F-6D6D3EB9D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From Doubly Linked List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39B79-4152-1B10-45DF-146073A3B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</a:t>
            </a:r>
            <a:r>
              <a:rPr lang="en-US" dirty="0">
                <a:solidFill>
                  <a:srgbClr val="0066FF"/>
                </a:solidFill>
              </a:rPr>
              <a:t>current</a:t>
            </a:r>
            <a:r>
              <a:rPr lang="en-US" dirty="0"/>
              <a:t> points to the node to be deleted from the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9DC472-65D3-C446-25E1-0B9E14E60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187" y="2309812"/>
            <a:ext cx="7667625" cy="2238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F29D1D-A100-95B0-9A87-361E8C8B8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49800"/>
            <a:ext cx="553402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0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112B-B572-0BAE-4D7D-08A6CC256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From Doubly Linked List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EB735-7485-0EEF-B02B-F5D4CF905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current points to the node to be deleted from the list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8F5AD0-3E1A-DBF6-9AC1-C9E52B3F0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75" y="2214562"/>
            <a:ext cx="7639050" cy="2428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51D23E-C806-FBC2-1C53-B6B5F61CB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73410"/>
            <a:ext cx="5543550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434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0F599-6663-C2B3-5F6C-07BE2CDF4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7669F-0BA4-9565-6E6E-55DE7032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From Doubly Linked List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5C09A-DA41-2AEB-089C-D74E5493D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current points to the node to be deleted from the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FF4CA-FE31-4832-8F59-0D12E0EC4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2383244"/>
            <a:ext cx="7658100" cy="2495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3BB7CC-328A-C3AD-2288-B979FBCB3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40275"/>
            <a:ext cx="554355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97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B2584-C9BF-32C0-CE1E-D069DFCF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5DF91-3760-B281-9F31-F46B2E5C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From Doubly Linked List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AF3E8-D9B0-0E5F-3D0A-CC1AC9C5C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current points to the node to be deleted from the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3D422-D91B-6507-8605-774E67E10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2409270"/>
            <a:ext cx="7658100" cy="2486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CAB5C2-EE4D-0821-B7B4-79B5FD6F9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80712"/>
            <a:ext cx="557212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171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2A033-7AC3-3405-1206-B58B50AE2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AC711-C79F-06E5-3795-18FDE0230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From Doubly Linked List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A4D09-C923-50D5-1D5B-F85400536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current points to the node to be deleted from the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23B0F-8158-47D8-14EE-7A90869A8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2405617"/>
            <a:ext cx="7658100" cy="2514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F67AEE-28CC-65D9-1F47-CF62BE0FF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86590"/>
            <a:ext cx="558165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78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A8F11-9A94-D5BA-73DC-0291A8C67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F1CDD-7EB8-5F72-80C8-28079E83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From Doubly Linked List (6)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D162E-FE8C-D594-33B5-5FF174409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current points to the node to be deleted from the list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E9A40E-F735-6B6C-1307-745FC8FE8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12" y="2305050"/>
            <a:ext cx="7724775" cy="2247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E262C8-A044-CD4F-871C-562F5EAF2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62771"/>
            <a:ext cx="555307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25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41C06-4CA7-9746-387A-F9FEA93EE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AC471-93DD-DBF6-21D4-52CE5DBCB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Applications that maintain a Most Recently Used (MRU) list</a:t>
            </a:r>
          </a:p>
          <a:p>
            <a:pPr lvl="1"/>
            <a:r>
              <a:rPr lang="en-US" dirty="0"/>
              <a:t>For example, a linked list of file names</a:t>
            </a:r>
          </a:p>
          <a:p>
            <a:r>
              <a:rPr lang="en-US" dirty="0"/>
              <a:t>Cache in the browser that allows to hit the BACK button</a:t>
            </a:r>
          </a:p>
          <a:p>
            <a:pPr lvl="1"/>
            <a:r>
              <a:rPr lang="en-US" dirty="0"/>
              <a:t>A linked list of URLs</a:t>
            </a:r>
          </a:p>
          <a:p>
            <a:r>
              <a:rPr lang="en-US" dirty="0"/>
              <a:t>Undo functionality in Photoshop or Word</a:t>
            </a:r>
          </a:p>
          <a:p>
            <a:pPr lvl="1"/>
            <a:r>
              <a:rPr lang="en-US" dirty="0"/>
              <a:t>A linked list of state</a:t>
            </a:r>
          </a:p>
          <a:p>
            <a:r>
              <a:rPr lang="en-US" dirty="0"/>
              <a:t>A list in the GPS of the turns along your route</a:t>
            </a:r>
          </a:p>
          <a:p>
            <a:endParaRPr lang="en-US" dirty="0"/>
          </a:p>
          <a:p>
            <a:r>
              <a:rPr lang="en-US" dirty="0">
                <a:solidFill>
                  <a:srgbClr val="0066FF"/>
                </a:solidFill>
              </a:rPr>
              <a:t>Can we traverse the linked list in the reverse direction?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3728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D2542-37E1-B2DB-C894-3992D12A5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home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218F1-AB31-E580-52D4-DD97463D6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copy constructor and destructor yourself (very similar to singly linked list implementation)</a:t>
            </a:r>
          </a:p>
          <a:p>
            <a:r>
              <a:rPr lang="en-US" dirty="0"/>
              <a:t>Create a function to reverse the doubly linked list (you have to reverse the data values, not the actual nodes themselves)</a:t>
            </a:r>
          </a:p>
          <a:p>
            <a:r>
              <a:rPr lang="en-US" dirty="0"/>
              <a:t>Write the driver program yourself (Check all edge cases as well)</a:t>
            </a:r>
          </a:p>
          <a:p>
            <a:r>
              <a:rPr lang="en-US" dirty="0"/>
              <a:t>Basic code will be shared</a:t>
            </a:r>
          </a:p>
        </p:txBody>
      </p:sp>
    </p:spTree>
    <p:extLst>
      <p:ext uri="{BB962C8B-B14F-4D97-AF65-F5344CB8AC3E}">
        <p14:creationId xmlns:p14="http://schemas.microsoft.com/office/powerpoint/2010/main" val="3699447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19AA-75FE-7B14-ACB4-0699FC93C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 linked lists advanced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86FA4-D66E-712A-5A0D-6E6B613DD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Reverse the links in the list</a:t>
            </a:r>
          </a:p>
          <a:p>
            <a:r>
              <a:rPr lang="en-US" dirty="0"/>
              <a:t>Sort the list (e.g., using Bubble Sort)</a:t>
            </a:r>
          </a:p>
          <a:p>
            <a:r>
              <a:rPr lang="en-US" dirty="0"/>
              <a:t>Merge two doubly linked lists </a:t>
            </a:r>
          </a:p>
          <a:p>
            <a:pPr lvl="1"/>
            <a:r>
              <a:rPr lang="en-US" dirty="0"/>
              <a:t>void Merge(List&amp; other1, List&amp; other2);	//easy implementation</a:t>
            </a:r>
          </a:p>
          <a:p>
            <a:pPr lvl="1"/>
            <a:r>
              <a:rPr lang="en-US" dirty="0"/>
              <a:t>void Merge(List&amp; other);			//tricky implementation </a:t>
            </a:r>
          </a:p>
          <a:p>
            <a:r>
              <a:rPr lang="en-US" dirty="0"/>
              <a:t>Remove duplicates</a:t>
            </a:r>
          </a:p>
        </p:txBody>
      </p:sp>
    </p:spTree>
    <p:extLst>
      <p:ext uri="{BB962C8B-B14F-4D97-AF65-F5344CB8AC3E}">
        <p14:creationId xmlns:p14="http://schemas.microsoft.com/office/powerpoint/2010/main" val="15899084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Reversing a Doubly Linked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62238"/>
            <a:ext cx="8074679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685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F777C-647A-6370-8B03-AE88A6CA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Linked List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AF36C-614D-A0FA-5609-1FB0AC349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06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08F5-9AA8-4F28-BE6B-34849CA83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96144-F8AB-F630-F135-E11E4D023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linked list in which the last node points to the first node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853618-9BC1-8D82-CCD1-8A145B7FA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2435225"/>
            <a:ext cx="756285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86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15B0-194C-A1BA-10A6-2874D651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Circular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67CB1-CA00-EC87-5EE8-4058B5EDC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Whole list can be traversed by starting from any point</a:t>
            </a:r>
          </a:p>
          <a:p>
            <a:pPr lvl="1"/>
            <a:r>
              <a:rPr lang="en-US" dirty="0"/>
              <a:t>Any node can be starting point</a:t>
            </a:r>
          </a:p>
          <a:p>
            <a:pPr lvl="1"/>
            <a:r>
              <a:rPr lang="en-US" dirty="0"/>
              <a:t>What is the stopping condition?</a:t>
            </a:r>
          </a:p>
          <a:p>
            <a:r>
              <a:rPr lang="en-US" dirty="0"/>
              <a:t>Fewer special cases to consider during implementation</a:t>
            </a:r>
          </a:p>
          <a:p>
            <a:pPr lvl="1"/>
            <a:r>
              <a:rPr lang="en-US" dirty="0"/>
              <a:t>All nodes have a node before and after it (unlike head and tail in Singly and Doubly Linked Lists)</a:t>
            </a:r>
          </a:p>
          <a:p>
            <a:r>
              <a:rPr lang="en-US" dirty="0"/>
              <a:t>Used in the implementation of other data structures</a:t>
            </a:r>
          </a:p>
          <a:p>
            <a:pPr lvl="1"/>
            <a:r>
              <a:rPr lang="en-US" dirty="0"/>
              <a:t>Circular queues and priority queues (will study them later)</a:t>
            </a:r>
          </a:p>
        </p:txBody>
      </p:sp>
    </p:spTree>
    <p:extLst>
      <p:ext uri="{BB962C8B-B14F-4D97-AF65-F5344CB8AC3E}">
        <p14:creationId xmlns:p14="http://schemas.microsoft.com/office/powerpoint/2010/main" val="2809232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A479C-E30A-5720-6389-78CF03C4E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Circular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26869-F461-FAFE-5BA5-4836CBA80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end of list and loop control is harder</a:t>
            </a:r>
          </a:p>
          <a:p>
            <a:pPr lvl="1"/>
            <a:r>
              <a:rPr lang="en-US" dirty="0"/>
              <a:t>No NULLs to mark beginning and end</a:t>
            </a:r>
          </a:p>
        </p:txBody>
      </p:sp>
    </p:spTree>
    <p:extLst>
      <p:ext uri="{BB962C8B-B14F-4D97-AF65-F5344CB8AC3E}">
        <p14:creationId xmlns:p14="http://schemas.microsoft.com/office/powerpoint/2010/main" val="40895782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DE863-3D38-D1D4-D322-C1B57F713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316-5CF9-42A5-D418-4CE81602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Linked List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DCAFE-FAE7-F3EA-1B33-A8F025B66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Insertion</a:t>
            </a:r>
          </a:p>
          <a:p>
            <a:pPr lvl="1"/>
            <a:r>
              <a:rPr lang="en-US" dirty="0"/>
              <a:t>at the beginning/end</a:t>
            </a:r>
          </a:p>
          <a:p>
            <a:r>
              <a:rPr lang="en-US" dirty="0"/>
              <a:t>Deletion</a:t>
            </a:r>
          </a:p>
          <a:p>
            <a:pPr lvl="1"/>
            <a:r>
              <a:rPr lang="en-US" dirty="0"/>
              <a:t>From the beginning/end</a:t>
            </a:r>
          </a:p>
          <a:p>
            <a:r>
              <a:rPr lang="en-US" dirty="0"/>
              <a:t>Traversal</a:t>
            </a:r>
          </a:p>
          <a:p>
            <a:pPr lvl="1"/>
            <a:r>
              <a:rPr lang="en-US" dirty="0"/>
              <a:t>Start from any node and keep moving forward until you encounter the starting node again</a:t>
            </a:r>
          </a:p>
          <a:p>
            <a:r>
              <a:rPr lang="en-US" dirty="0"/>
              <a:t>Searching: traverse the list while checking if the target value exists in any node</a:t>
            </a:r>
          </a:p>
          <a:p>
            <a:r>
              <a:rPr lang="en-US" dirty="0"/>
              <a:t>Counting nodes: start from a node and traverse until you return to the starting node, maintaining a counter.</a:t>
            </a:r>
          </a:p>
          <a:p>
            <a:r>
              <a:rPr lang="en-US" dirty="0"/>
              <a:t>Destructor</a:t>
            </a:r>
          </a:p>
          <a:p>
            <a:r>
              <a:rPr lang="en-US" dirty="0"/>
              <a:t>Copy Constructor</a:t>
            </a:r>
          </a:p>
          <a:p>
            <a:r>
              <a:rPr lang="en-US" dirty="0"/>
              <a:t>Operator overloading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636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E380-C199-D4BF-6782-EEE71ABFF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0541C-AA04-8225-F038-256491BFC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Splitting: split into two smaller circular linked lists based on even/odd positions or some midpoint.</a:t>
            </a:r>
          </a:p>
          <a:p>
            <a:pPr lvl="1"/>
            <a:r>
              <a:rPr lang="en-US" dirty="0"/>
              <a:t>Create two new lists (can alter the original list by emptying it OR keep the original list as it is)</a:t>
            </a:r>
          </a:p>
          <a:p>
            <a:pPr lvl="1"/>
            <a:r>
              <a:rPr lang="en-US" dirty="0"/>
              <a:t>Append required nodes to a new list and keep remaining in the original list (will change the original list) </a:t>
            </a:r>
          </a:p>
          <a:p>
            <a:r>
              <a:rPr lang="en-US" dirty="0"/>
              <a:t>Merging: two circular linked lists can be merged into a single circular linked list by updating their last nodes.</a:t>
            </a:r>
          </a:p>
          <a:p>
            <a:r>
              <a:rPr lang="en-US" dirty="0"/>
              <a:t>Reversal: reverse the pointers of the list so that the last node becomes the first and vice versa.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271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F4D2-B068-49AC-C255-9B443B80B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0B280-BB25-6C3C-7591-B8201415A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574232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19770</TotalTime>
  <Words>1314</Words>
  <Application>Microsoft Office PowerPoint</Application>
  <PresentationFormat>Widescreen</PresentationFormat>
  <Paragraphs>168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Data Structures &amp; Algorithms (CSC-214)</vt:lpstr>
      <vt:lpstr>Roadmap</vt:lpstr>
      <vt:lpstr>Linked List – Advantages</vt:lpstr>
      <vt:lpstr>Linked List – Disadvantages (1) </vt:lpstr>
      <vt:lpstr>Linked List – Disadvantages (2)</vt:lpstr>
      <vt:lpstr>Linked List – Disadvantages (2)</vt:lpstr>
      <vt:lpstr>Linked List – Disadvantages (2)</vt:lpstr>
      <vt:lpstr>Linked List – Disadvantages (2)</vt:lpstr>
      <vt:lpstr>Doubly Linked List </vt:lpstr>
      <vt:lpstr>Doubly Linked List</vt:lpstr>
      <vt:lpstr>Node Class</vt:lpstr>
      <vt:lpstr>List Class</vt:lpstr>
      <vt:lpstr>Adding First Node</vt:lpstr>
      <vt:lpstr>Inserting a Node in Doubly Linked List (1)</vt:lpstr>
      <vt:lpstr>Inserting a Node in Doubly Linked List (2) </vt:lpstr>
      <vt:lpstr>Inserting a Node in Doubly Linked List (3)</vt:lpstr>
      <vt:lpstr>Inserting a Node in Doubly Linked List (4) </vt:lpstr>
      <vt:lpstr>Inserting a Node in Doubly Linked List (5) </vt:lpstr>
      <vt:lpstr>Inserting a Node in Doubly Linked List (6)</vt:lpstr>
      <vt:lpstr>Inserting a Node in Doubly Linked List (7)</vt:lpstr>
      <vt:lpstr>Deleting a Node From Doubly Linked List (1)</vt:lpstr>
      <vt:lpstr>Deleting a Node From Doubly Linked List (2)</vt:lpstr>
      <vt:lpstr>Deleting a Node From Doubly Linked List (3)</vt:lpstr>
      <vt:lpstr>Deleting a Node From Doubly Linked List (4)</vt:lpstr>
      <vt:lpstr>Deleting a Node From Doubly Linked List (5)</vt:lpstr>
      <vt:lpstr>Deleting a Node From Doubly Linked List (6)</vt:lpstr>
      <vt:lpstr>Some Applications</vt:lpstr>
      <vt:lpstr>At home practice</vt:lpstr>
      <vt:lpstr>Doubly linked lists advanced operations</vt:lpstr>
      <vt:lpstr>Reversing a Doubly Linked List</vt:lpstr>
      <vt:lpstr>Circular Linked List </vt:lpstr>
      <vt:lpstr>Circular Linked List</vt:lpstr>
      <vt:lpstr>Advantages of Circular Linked List</vt:lpstr>
      <vt:lpstr>Disadvantages of Circular Linked List</vt:lpstr>
      <vt:lpstr>Circular Linked List Operations</vt:lpstr>
      <vt:lpstr>Other operations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269</cp:revision>
  <dcterms:created xsi:type="dcterms:W3CDTF">2025-02-25T11:33:29Z</dcterms:created>
  <dcterms:modified xsi:type="dcterms:W3CDTF">2025-03-25T06:59:06Z</dcterms:modified>
</cp:coreProperties>
</file>