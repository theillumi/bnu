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465" r:id="rId2"/>
    <p:sldId id="444" r:id="rId3"/>
    <p:sldId id="456" r:id="rId4"/>
    <p:sldId id="445" r:id="rId5"/>
    <p:sldId id="446" r:id="rId6"/>
    <p:sldId id="447" r:id="rId7"/>
    <p:sldId id="448" r:id="rId8"/>
    <p:sldId id="449" r:id="rId9"/>
    <p:sldId id="450" r:id="rId10"/>
    <p:sldId id="451" r:id="rId11"/>
    <p:sldId id="378" r:id="rId12"/>
    <p:sldId id="379" r:id="rId13"/>
    <p:sldId id="381" r:id="rId14"/>
    <p:sldId id="383" r:id="rId15"/>
    <p:sldId id="452" r:id="rId16"/>
    <p:sldId id="453" r:id="rId17"/>
    <p:sldId id="454" r:id="rId18"/>
    <p:sldId id="390" r:id="rId19"/>
    <p:sldId id="391" r:id="rId20"/>
    <p:sldId id="457" r:id="rId21"/>
    <p:sldId id="395" r:id="rId22"/>
    <p:sldId id="397" r:id="rId23"/>
    <p:sldId id="398" r:id="rId24"/>
    <p:sldId id="458" r:id="rId25"/>
    <p:sldId id="406" r:id="rId26"/>
    <p:sldId id="459" r:id="rId27"/>
    <p:sldId id="409" r:id="rId28"/>
    <p:sldId id="414" r:id="rId29"/>
    <p:sldId id="460" r:id="rId30"/>
    <p:sldId id="461" r:id="rId31"/>
    <p:sldId id="462" r:id="rId32"/>
    <p:sldId id="463" r:id="rId33"/>
    <p:sldId id="464" r:id="rId34"/>
    <p:sldId id="424" r:id="rId35"/>
    <p:sldId id="425" r:id="rId36"/>
    <p:sldId id="426" r:id="rId37"/>
    <p:sldId id="427" r:id="rId38"/>
    <p:sldId id="428" r:id="rId39"/>
    <p:sldId id="429" r:id="rId40"/>
    <p:sldId id="431" r:id="rId41"/>
    <p:sldId id="441" r:id="rId42"/>
    <p:sldId id="433" r:id="rId43"/>
    <p:sldId id="434" r:id="rId44"/>
    <p:sldId id="435" r:id="rId45"/>
    <p:sldId id="436" r:id="rId46"/>
    <p:sldId id="438" r:id="rId47"/>
    <p:sldId id="440" r:id="rId48"/>
    <p:sldId id="259" r:id="rId49"/>
    <p:sldId id="260" r:id="rId50"/>
    <p:sldId id="469" r:id="rId51"/>
    <p:sldId id="361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11" autoAdjust="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72868-4768-485A-8151-796D225B965F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1D0A3-A76E-42E0-91FE-0E12F93A5E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55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1D0A3-A76E-42E0-91FE-0E12F93A5E2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</a:t>
            </a:r>
          </a:p>
          <a:p>
            <a:r>
              <a:rPr lang="en-US" sz="1200" dirty="0"/>
              <a:t>35</a:t>
            </a:r>
          </a:p>
          <a:p>
            <a:r>
              <a:rPr lang="en-US" sz="1200" dirty="0"/>
              <a:t>55</a:t>
            </a:r>
          </a:p>
          <a:p>
            <a:r>
              <a:rPr lang="en-US" sz="1200" dirty="0"/>
              <a:t>55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1D0A3-A76E-42E0-91FE-0E12F93A5E2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72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1D0A3-A76E-42E0-91FE-0E12F93A5E2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1D0A3-A76E-42E0-91FE-0E12F93A5E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17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1460-90E7-D75F-61A4-E0A5C7798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8474C-B747-C39D-177D-8F01075269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3: Pointers recap</a:t>
            </a:r>
          </a:p>
        </p:txBody>
      </p:sp>
    </p:spTree>
    <p:extLst>
      <p:ext uri="{BB962C8B-B14F-4D97-AF65-F5344CB8AC3E}">
        <p14:creationId xmlns:p14="http://schemas.microsoft.com/office/powerpoint/2010/main" val="15541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5092-17DB-EDE7-751A-125B9905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Pointer variable: A variable whose content is a memory address.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84508-7E5D-9C1B-FBC4-DEE93740D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1923"/>
            <a:ext cx="3087956" cy="1543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05785"/>
            <a:ext cx="5943600" cy="3220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92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AC51-6947-BDAD-B18E-20F6D3F9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70BD-CFF9-7B69-D46F-7D287DDF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685800"/>
            <a:ext cx="3994855" cy="1407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727" y="2709863"/>
            <a:ext cx="3914421" cy="143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995863"/>
            <a:ext cx="4423833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31148" y="2161957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p is the pointer variable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4608513" y="1636604"/>
            <a:ext cx="1335087" cy="59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4608513" y="2559790"/>
            <a:ext cx="1106487" cy="640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61722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So just attach the * to the variable name to be very clear.</a:t>
            </a:r>
          </a:p>
        </p:txBody>
      </p:sp>
    </p:spTree>
    <p:extLst>
      <p:ext uri="{BB962C8B-B14F-4D97-AF65-F5344CB8AC3E}">
        <p14:creationId xmlns:p14="http://schemas.microsoft.com/office/powerpoint/2010/main" val="278414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E8D5-93B1-BFEE-2856-43EF05B9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of operator &amp;</a:t>
            </a:r>
            <a:br>
              <a:rPr lang="en-US" dirty="0"/>
            </a:br>
            <a:r>
              <a:rPr lang="en-US" dirty="0"/>
              <a:t>dereferencing operator 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F46B-A3E1-7FF2-DE28-45F21A179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752300" cy="38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4519150" y="4419600"/>
            <a:ext cx="1348250" cy="1938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0" y="635761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Dereference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486400" y="3657600"/>
            <a:ext cx="2514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7700" y="3276600"/>
            <a:ext cx="124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 of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0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8AE9-683A-AE7C-1F2C-CD6DE883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1B87-A070-D4D5-192B-664C5803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75" y="1090252"/>
            <a:ext cx="6710237" cy="5133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49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B17E-6EAF-FDF8-1BF9-BAD9F46B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AF53-8D84-0643-03AB-BD8D0F479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039" y="1387476"/>
            <a:ext cx="4453919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17" y="3749676"/>
            <a:ext cx="7409765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520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7948-6D3B-162B-790A-48512D31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7244A-F2B6-7CED-CE2A-EEA9EA4E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3573358" cy="1736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058" y="1637680"/>
            <a:ext cx="4600575" cy="4494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1962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3A9E-E2D9-41B6-814F-E95F1400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8BCEB-C20C-A0D6-9387-77F6A52DD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62" y="1352550"/>
            <a:ext cx="222885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33675"/>
            <a:ext cx="806767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49" y="5133975"/>
            <a:ext cx="85629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736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1A24-08ED-505F-E5FA-81056413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C705B-DF73-08C7-6560-E17F0E013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47800"/>
            <a:ext cx="491490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48300" y="5768975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Next slides will show these three lines being executed, one by one.</a:t>
            </a:r>
          </a:p>
        </p:txBody>
      </p:sp>
    </p:spTree>
    <p:extLst>
      <p:ext uri="{BB962C8B-B14F-4D97-AF65-F5344CB8AC3E}">
        <p14:creationId xmlns:p14="http://schemas.microsoft.com/office/powerpoint/2010/main" val="423404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A07C-7B57-5B76-2AFA-3AE23338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B5AA-8C03-40C1-E804-6E76F3FC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99648-7C7B-995D-3D0C-5406737D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X = 50;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5375564"/>
            <a:ext cx="78390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222885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752600"/>
            <a:ext cx="806767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8305800" y="48006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0" y="2438400"/>
            <a:ext cx="685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1686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= &amp;x;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222885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752600"/>
            <a:ext cx="806767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5534025"/>
            <a:ext cx="805815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3048000" y="4800600"/>
            <a:ext cx="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95600" y="25146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438400"/>
            <a:ext cx="685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0AC0B3-FEE2-7308-82A7-CD585768241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0" dirty="0"/>
              <a:t>Example (4)</a:t>
            </a:r>
          </a:p>
        </p:txBody>
      </p:sp>
    </p:spTree>
    <p:extLst>
      <p:ext uri="{BB962C8B-B14F-4D97-AF65-F5344CB8AC3E}">
        <p14:creationId xmlns:p14="http://schemas.microsoft.com/office/powerpoint/2010/main" val="3652640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*P = 38;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222885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752600"/>
            <a:ext cx="806767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800600" y="4953000"/>
            <a:ext cx="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3" y="5791200"/>
            <a:ext cx="789622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8077200" y="4953000"/>
            <a:ext cx="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15000" y="2438400"/>
            <a:ext cx="685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5600" y="25146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1750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021DBD-D400-C3B8-316B-852A46919B2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0" dirty="0"/>
              <a:t>Example (4)</a:t>
            </a:r>
          </a:p>
        </p:txBody>
      </p:sp>
    </p:spTree>
    <p:extLst>
      <p:ext uri="{BB962C8B-B14F-4D97-AF65-F5344CB8AC3E}">
        <p14:creationId xmlns:p14="http://schemas.microsoft.com/office/powerpoint/2010/main" val="2611860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05" y="1409700"/>
            <a:ext cx="7667625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2313" y="1040368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Determine output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BF6988-5357-DE68-2F28-327BBC96C78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0" dirty="0"/>
              <a:t>Example (5)</a:t>
            </a:r>
          </a:p>
        </p:txBody>
      </p:sp>
    </p:spTree>
    <p:extLst>
      <p:ext uri="{BB962C8B-B14F-4D97-AF65-F5344CB8AC3E}">
        <p14:creationId xmlns:p14="http://schemas.microsoft.com/office/powerpoint/2010/main" val="3060675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81223"/>
            <a:ext cx="8694398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5054825-1E8C-A9BD-B7AC-99B0A20B4B3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0" dirty="0"/>
              <a:t>Example (5)</a:t>
            </a:r>
          </a:p>
        </p:txBody>
      </p:sp>
    </p:spTree>
    <p:extLst>
      <p:ext uri="{BB962C8B-B14F-4D97-AF65-F5344CB8AC3E}">
        <p14:creationId xmlns:p14="http://schemas.microsoft.com/office/powerpoint/2010/main" val="229502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2EDB-4765-BB6D-5022-FA5C6507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member variables through object pointers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010" y="1912929"/>
            <a:ext cx="5523180" cy="1005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96061"/>
            <a:ext cx="4801354" cy="7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390" y="4292166"/>
            <a:ext cx="5166322" cy="77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046" y="5442925"/>
            <a:ext cx="4801354" cy="6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24000" y="4419600"/>
            <a:ext cx="6553200" cy="2286000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31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2049-0042-C7E4-6B3B-A38E9FD7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FCE8B-3ABF-0CB8-1294-520757FE9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5201626" cy="2794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982" y="4577140"/>
            <a:ext cx="4619818" cy="220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3461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4B1E-4C3D-A6C1-22C2-4BD3550B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8697-565E-511A-0810-B524540B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E51C2-C352-D897-01B4-17691BF4E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89" y="2200275"/>
            <a:ext cx="8190019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289" y="1355148"/>
            <a:ext cx="34480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0" y="5867400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25698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Pointer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925" y="2362200"/>
            <a:ext cx="6502941" cy="274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7197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are they? Variables created during program execution</a:t>
            </a:r>
          </a:p>
          <a:p>
            <a:r>
              <a:rPr lang="en-US" sz="2400" dirty="0"/>
              <a:t>How to create them? Using pointers</a:t>
            </a:r>
          </a:p>
          <a:p>
            <a:pPr lvl="1"/>
            <a:r>
              <a:rPr lang="en-US" sz="2000" b="1" dirty="0"/>
              <a:t>new</a:t>
            </a:r>
            <a:r>
              <a:rPr lang="en-US" sz="2000" dirty="0"/>
              <a:t> and </a:t>
            </a:r>
            <a:r>
              <a:rPr lang="en-US" sz="2000" b="1" dirty="0"/>
              <a:t>delete </a:t>
            </a:r>
            <a:r>
              <a:rPr lang="en-US" sz="2000" dirty="0"/>
              <a:t>commands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71800"/>
            <a:ext cx="5870445" cy="114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0113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1BBC-ABF5-843F-E98F-C11FD18B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2EF2-2D11-EA41-005A-3AE4523D9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declaration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statement will assign the address of x to p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352" y="2209800"/>
            <a:ext cx="266129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352" y="4454769"/>
            <a:ext cx="2781299" cy="86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5123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statement creates a variable during program execution and stores the address of the allocated memory in 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Creates an array of 16 character components and stores the base address of the array in q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00400"/>
            <a:ext cx="4127126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267" y="5880426"/>
            <a:ext cx="4495465" cy="977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2571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3733800"/>
            <a:ext cx="7772400" cy="1362075"/>
          </a:xfrm>
        </p:spPr>
        <p:txBody>
          <a:bodyPr>
            <a:noAutofit/>
          </a:bodyPr>
          <a:lstStyle/>
          <a:p>
            <a:r>
              <a:rPr lang="en-US" sz="2800" dirty="0"/>
              <a:t>Because a dynamic variable is unnamed, it cannot be accessed directly. It is accessed indirectly by the pointer returned by new.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63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75" y="1371600"/>
            <a:ext cx="8842125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B6DD3B-A3A1-7F0E-2652-CAC4A8227A5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0" dirty="0"/>
              <a:t>Example (8)</a:t>
            </a:r>
          </a:p>
        </p:txBody>
      </p:sp>
    </p:spTree>
    <p:extLst>
      <p:ext uri="{BB962C8B-B14F-4D97-AF65-F5344CB8AC3E}">
        <p14:creationId xmlns:p14="http://schemas.microsoft.com/office/powerpoint/2010/main" val="69561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736D-0465-3D85-CC6B-EB143F91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delete?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DD4F4-EAD6-5E06-06E5-9CC8C18EB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Unused memory space that cannot be allocated leads to Memory Leak</a:t>
            </a:r>
          </a:p>
          <a:p>
            <a:r>
              <a:rPr lang="en-US" dirty="0"/>
              <a:t>Deallocate memory when it is no longer needed to avoid Memory Leak</a:t>
            </a:r>
          </a:p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4343400"/>
            <a:ext cx="661035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401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98073"/>
            <a:ext cx="7191942" cy="2673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682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13D4-768C-EE21-BB21-3D18F8BB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79D7-BE06-7AA3-2336-3C0B4548E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may result in dangling pointers</a:t>
            </a:r>
          </a:p>
          <a:p>
            <a:r>
              <a:rPr lang="en-US" dirty="0"/>
              <a:t>Set pointer to null after delete to avoid dangling pointers</a:t>
            </a:r>
          </a:p>
        </p:txBody>
      </p:sp>
    </p:spTree>
    <p:extLst>
      <p:ext uri="{BB962C8B-B14F-4D97-AF65-F5344CB8AC3E}">
        <p14:creationId xmlns:p14="http://schemas.microsoft.com/office/powerpoint/2010/main" val="443669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Pointer Variables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  <a:p>
            <a:endParaRPr lang="en-US" dirty="0"/>
          </a:p>
          <a:p>
            <a:r>
              <a:rPr lang="en-US" dirty="0"/>
              <a:t>Relational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Limited arithmetic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00200"/>
            <a:ext cx="3166626" cy="87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5" t="19921" r="20491" b="30319"/>
          <a:stretch/>
        </p:blipFill>
        <p:spPr bwMode="auto">
          <a:xfrm>
            <a:off x="914400" y="2185754"/>
            <a:ext cx="1719191" cy="58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0" t="25529" r="9329" b="34765"/>
          <a:stretch/>
        </p:blipFill>
        <p:spPr bwMode="auto">
          <a:xfrm>
            <a:off x="1219200" y="3581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2" t="22112" r="11579" b="30354"/>
          <a:stretch/>
        </p:blipFill>
        <p:spPr bwMode="auto">
          <a:xfrm>
            <a:off x="1219200" y="4073912"/>
            <a:ext cx="2057400" cy="536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7911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Pointer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Limited Arithmetic</a:t>
            </a:r>
          </a:p>
          <a:p>
            <a:r>
              <a:rPr lang="en-US" dirty="0"/>
              <a:t>int* p;		//Line1</a:t>
            </a:r>
          </a:p>
          <a:p>
            <a:r>
              <a:rPr lang="en-US" dirty="0"/>
              <a:t>p++;		//Line2</a:t>
            </a:r>
          </a:p>
          <a:p>
            <a:r>
              <a:rPr lang="en-US" dirty="0"/>
              <a:t>p = p + 1;	//Line3</a:t>
            </a:r>
          </a:p>
          <a:p>
            <a:r>
              <a:rPr lang="en-US" dirty="0"/>
              <a:t>p = p + 2;	//Line4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Line2 and Line3 both increment by 4 bytes (because p is an int)</a:t>
            </a:r>
          </a:p>
          <a:p>
            <a:r>
              <a:rPr lang="en-US" dirty="0"/>
              <a:t>Line4 increments by 8 bytes</a:t>
            </a:r>
          </a:p>
        </p:txBody>
      </p:sp>
    </p:spTree>
    <p:extLst>
      <p:ext uri="{BB962C8B-B14F-4D97-AF65-F5344CB8AC3E}">
        <p14:creationId xmlns:p14="http://schemas.microsoft.com/office/powerpoint/2010/main" val="538257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F70C-889D-BA7C-3C53-07C37022B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E6F8-4227-F8A9-1C15-01C9E9E2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Pointer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9145-0C0C-2068-60FA-D9F959FAF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Limited Arithmetic</a:t>
            </a:r>
          </a:p>
          <a:p>
            <a:r>
              <a:rPr lang="en-US" dirty="0"/>
              <a:t>double* q;	//Line1</a:t>
            </a:r>
          </a:p>
          <a:p>
            <a:r>
              <a:rPr lang="en-US" dirty="0"/>
              <a:t>q++;		//Line2</a:t>
            </a:r>
          </a:p>
          <a:p>
            <a:r>
              <a:rPr lang="en-US" dirty="0"/>
              <a:t>q = q + 1;	//Line3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Line2 and Line3 both increment by 8 bytes (because q is a double)</a:t>
            </a:r>
          </a:p>
        </p:txBody>
      </p:sp>
    </p:spTree>
    <p:extLst>
      <p:ext uri="{BB962C8B-B14F-4D97-AF65-F5344CB8AC3E}">
        <p14:creationId xmlns:p14="http://schemas.microsoft.com/office/powerpoint/2010/main" val="1574763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3BD6-5B1E-A20A-C527-DB823FBC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AD7D-6CE0-F343-576D-34FF0A86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Pointer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C1EB-486D-FAC9-03FA-7FA0FF67C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Limited Arithmetic</a:t>
            </a:r>
          </a:p>
          <a:p>
            <a:r>
              <a:rPr lang="en-US" dirty="0"/>
              <a:t>char* </a:t>
            </a:r>
            <a:r>
              <a:rPr lang="en-US" dirty="0" err="1"/>
              <a:t>charPtr</a:t>
            </a:r>
            <a:r>
              <a:rPr lang="en-US" dirty="0"/>
              <a:t>;			//Line1</a:t>
            </a:r>
          </a:p>
          <a:p>
            <a:r>
              <a:rPr lang="en-US" dirty="0" err="1"/>
              <a:t>charPtr</a:t>
            </a:r>
            <a:r>
              <a:rPr lang="en-US" dirty="0"/>
              <a:t>++;				//Line2</a:t>
            </a:r>
          </a:p>
          <a:p>
            <a:r>
              <a:rPr lang="en-US" dirty="0" err="1"/>
              <a:t>chatPtr</a:t>
            </a:r>
            <a:r>
              <a:rPr lang="en-US" dirty="0"/>
              <a:t> = </a:t>
            </a:r>
            <a:r>
              <a:rPr lang="en-US" dirty="0" err="1"/>
              <a:t>chatPtr</a:t>
            </a:r>
            <a:r>
              <a:rPr lang="en-US" dirty="0"/>
              <a:t> + 1;		//Line3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Line2 and Line3 both increment by 1 byte (because </a:t>
            </a:r>
            <a:r>
              <a:rPr lang="en-US" dirty="0" err="1"/>
              <a:t>charPtr</a:t>
            </a:r>
            <a:r>
              <a:rPr lang="en-US" dirty="0"/>
              <a:t> is a char)</a:t>
            </a:r>
          </a:p>
        </p:txBody>
      </p:sp>
    </p:spTree>
    <p:extLst>
      <p:ext uri="{BB962C8B-B14F-4D97-AF65-F5344CB8AC3E}">
        <p14:creationId xmlns:p14="http://schemas.microsoft.com/office/powerpoint/2010/main" val="1618092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F31F-2189-C86D-8A97-03065550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43EC7-3A50-FC9E-A954-42C75FC22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ways to iterate over them: </a:t>
            </a:r>
          </a:p>
          <a:p>
            <a:pPr lvl="1"/>
            <a:r>
              <a:rPr lang="en-US" dirty="0"/>
              <a:t>Arithmetic</a:t>
            </a:r>
          </a:p>
          <a:p>
            <a:pPr lvl="1"/>
            <a:r>
              <a:rPr lang="en-US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008246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73905-3CCB-08CC-520C-4EE9BF70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B21F-CC20-5CAE-093E-C56E8FD8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7ACA-1480-6146-1C3A-908519699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A7EBFD-FEE0-2A6A-8950-5036E4ACCEA6}"/>
              </a:ext>
            </a:extLst>
          </p:cNvPr>
          <p:cNvGrpSpPr/>
          <p:nvPr/>
        </p:nvGrpSpPr>
        <p:grpSpPr>
          <a:xfrm>
            <a:off x="667070" y="2167028"/>
            <a:ext cx="3859212" cy="1430482"/>
            <a:chOff x="3381375" y="2914650"/>
            <a:chExt cx="4495800" cy="1868632"/>
          </a:xfrm>
        </p:grpSpPr>
        <p:pic>
          <p:nvPicPr>
            <p:cNvPr id="21506" name="Picture 2">
              <a:extLst>
                <a:ext uri="{FF2B5EF4-FFF2-40B4-BE49-F238E27FC236}">
                  <a16:creationId xmlns:a16="http://schemas.microsoft.com/office/drawing/2014/main" id="{4EA36F26-B0D1-2A04-A3BF-5C58A9EA1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375" y="2914650"/>
              <a:ext cx="2381250" cy="1028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507" name="Picture 3">
              <a:extLst>
                <a:ext uri="{FF2B5EF4-FFF2-40B4-BE49-F238E27FC236}">
                  <a16:creationId xmlns:a16="http://schemas.microsoft.com/office/drawing/2014/main" id="{464EA353-AD1B-D0D1-B119-DF3086434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075" y="3868882"/>
              <a:ext cx="4229100" cy="91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954D7EB-A0AF-285E-4F37-F4240A0F7C34}"/>
              </a:ext>
            </a:extLst>
          </p:cNvPr>
          <p:cNvGrpSpPr/>
          <p:nvPr/>
        </p:nvGrpSpPr>
        <p:grpSpPr>
          <a:xfrm>
            <a:off x="762336" y="3429000"/>
            <a:ext cx="2905125" cy="2590800"/>
            <a:chOff x="2276475" y="990600"/>
            <a:chExt cx="4591050" cy="3543300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D00C07D-E2C3-946F-594C-0C7D0BD33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1725" y="2324100"/>
              <a:ext cx="4400550" cy="2209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80D5611D-2834-3485-A3F0-602E5775A6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6475" y="990600"/>
              <a:ext cx="4591050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36B88DAD-D958-A7FE-C25E-325FF57F0627}"/>
              </a:ext>
            </a:extLst>
          </p:cNvPr>
          <p:cNvSpPr txBox="1">
            <a:spLocks/>
          </p:cNvSpPr>
          <p:nvPr/>
        </p:nvSpPr>
        <p:spPr>
          <a:xfrm>
            <a:off x="5186709" y="1868710"/>
            <a:ext cx="3925887" cy="136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/>
              <a:t>Eventually you’ll be unable to track where you are …</a:t>
            </a:r>
          </a:p>
        </p:txBody>
      </p:sp>
    </p:spTree>
    <p:extLst>
      <p:ext uri="{BB962C8B-B14F-4D97-AF65-F5344CB8AC3E}">
        <p14:creationId xmlns:p14="http://schemas.microsoft.com/office/powerpoint/2010/main" val="895239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19F25-8AE8-A02D-772A-4B09F1B3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9B07-A1E1-9B15-9ADB-98C68210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802CE-AE46-3990-E652-182A5A95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0" t="14982" r="9719" b="10105"/>
          <a:stretch/>
        </p:blipFill>
        <p:spPr bwMode="auto">
          <a:xfrm>
            <a:off x="3009899" y="2271889"/>
            <a:ext cx="3124201" cy="115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5" t="17535" r="4928" b="9983"/>
          <a:stretch/>
        </p:blipFill>
        <p:spPr bwMode="auto">
          <a:xfrm>
            <a:off x="1371600" y="3611562"/>
            <a:ext cx="6705600" cy="1154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1295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Arrays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617356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86" y="3352800"/>
            <a:ext cx="4067175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1292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Arrays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617356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86" y="3352800"/>
            <a:ext cx="4067175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91200" y="3352800"/>
            <a:ext cx="3124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This value, 1000, however cannot be altered. So arithmetic operations cannot be applied to list.</a:t>
            </a:r>
          </a:p>
          <a:p>
            <a:endParaRPr lang="en-US" b="1" i="1" dirty="0"/>
          </a:p>
          <a:p>
            <a:r>
              <a:rPr lang="en-US" b="1" i="1" dirty="0"/>
              <a:t>But something like:</a:t>
            </a:r>
          </a:p>
          <a:p>
            <a:endParaRPr lang="en-US" b="1" i="1" dirty="0"/>
          </a:p>
          <a:p>
            <a:r>
              <a:rPr lang="en-US" b="1" i="1" dirty="0" err="1"/>
              <a:t>int</a:t>
            </a:r>
            <a:r>
              <a:rPr lang="en-US" b="1" i="1" dirty="0"/>
              <a:t> *p;</a:t>
            </a:r>
          </a:p>
          <a:p>
            <a:r>
              <a:rPr lang="en-US" b="1" i="1" dirty="0"/>
              <a:t>p = list;</a:t>
            </a:r>
          </a:p>
          <a:p>
            <a:r>
              <a:rPr lang="en-US" b="1" i="1" dirty="0"/>
              <a:t>p++;</a:t>
            </a:r>
          </a:p>
          <a:p>
            <a:endParaRPr lang="en-US" b="1" i="1" dirty="0"/>
          </a:p>
          <a:p>
            <a:r>
              <a:rPr lang="en-US" b="1" i="1" dirty="0"/>
              <a:t>Is possible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269673" y="3657600"/>
            <a:ext cx="275012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084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array name is a constant pointer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42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Array Size from User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1995488"/>
            <a:ext cx="76866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5346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&amp; pointers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51" y="533400"/>
            <a:ext cx="85439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5082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68082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20950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92" y="1219200"/>
            <a:ext cx="8935018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5306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Two 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75188"/>
            <a:ext cx="426720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607" y="3200400"/>
            <a:ext cx="77343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828309"/>
            <a:ext cx="884872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3356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program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4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369"/>
            <a:ext cx="8747125" cy="1419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74868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59802" cy="286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61715"/>
            <a:ext cx="6959802" cy="4160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81715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63778" cy="348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169443"/>
            <a:ext cx="8463778" cy="3396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672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219200"/>
            <a:ext cx="870585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7844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TextBox 768"/>
          <p:cNvSpPr txBox="1"/>
          <p:nvPr/>
        </p:nvSpPr>
        <p:spPr>
          <a:xfrm>
            <a:off x="1600200" y="1600200"/>
            <a:ext cx="6172200" cy="391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main()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{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[5] = { 10, 20, 30, 40, 50 };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num = 25;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*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=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++;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*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= *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* 2;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= &amp;num;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num++;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[4] = *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for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(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= 0;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&lt; 5;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++)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cout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>
                <a:solidFill>
                  <a:srgbClr val="008080"/>
                </a:solidFill>
                <a:uFillTx/>
                <a:latin typeface="Cascadia Mono"/>
                <a:ea typeface="Cascadia Mono"/>
              </a:rPr>
              <a:t>&lt;&lt;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[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] </a:t>
            </a:r>
            <a:r>
              <a:rPr lang="en-US" sz="1800" b="0" u="none" strike="noStrike" dirty="0">
                <a:solidFill>
                  <a:srgbClr val="008080"/>
                </a:solidFill>
                <a:uFillTx/>
                <a:latin typeface="Cascadia Mono"/>
                <a:ea typeface="Cascadia Mono"/>
              </a:rPr>
              <a:t>&lt;&lt;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>
                <a:solidFill>
                  <a:srgbClr val="A31515"/>
                </a:solidFill>
                <a:uFillTx/>
                <a:latin typeface="Cascadia Mono"/>
                <a:ea typeface="Cascadia Mono"/>
              </a:rPr>
              <a:t>" "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}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8A3B7-ECA1-0152-CCE3-72FFC7C5392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Practice Question (1)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Picture 769"/>
          <p:cNvPicPr/>
          <p:nvPr/>
        </p:nvPicPr>
        <p:blipFill>
          <a:blip r:embed="rId2"/>
          <a:stretch/>
        </p:blipFill>
        <p:spPr>
          <a:xfrm>
            <a:off x="5181600" y="5853223"/>
            <a:ext cx="3962400" cy="990600"/>
          </a:xfrm>
          <a:prstGeom prst="rect">
            <a:avLst/>
          </a:prstGeom>
          <a:ln w="0">
            <a:noFill/>
          </a:ln>
        </p:spPr>
      </p:pic>
      <p:sp>
        <p:nvSpPr>
          <p:cNvPr id="771" name="TextBox 770"/>
          <p:cNvSpPr txBox="1"/>
          <p:nvPr/>
        </p:nvSpPr>
        <p:spPr>
          <a:xfrm>
            <a:off x="685800" y="2028600"/>
            <a:ext cx="6172200" cy="391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main()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{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[5] = { 10, 20, 30, 40, 50 };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num = 25;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*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=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++;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*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= *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* 2;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= &amp;num;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num++;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[4] = *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</a:rPr>
              <a:t>ptr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for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(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ascadia Mono"/>
                <a:ea typeface="Cascadia Mono"/>
              </a:rPr>
              <a:t>int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= 0;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&lt; 5;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++)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      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cout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>
                <a:solidFill>
                  <a:srgbClr val="008080"/>
                </a:solidFill>
                <a:uFillTx/>
                <a:latin typeface="Cascadia Mono"/>
                <a:ea typeface="Cascadia Mono"/>
              </a:rPr>
              <a:t>&lt;&lt;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arr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[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i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] </a:t>
            </a:r>
            <a:r>
              <a:rPr lang="en-US" sz="1800" b="0" u="none" strike="noStrike" dirty="0">
                <a:solidFill>
                  <a:srgbClr val="008080"/>
                </a:solidFill>
                <a:uFillTx/>
                <a:latin typeface="Cascadia Mono"/>
                <a:ea typeface="Cascadia Mono"/>
              </a:rPr>
              <a:t>&lt;&lt;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 </a:t>
            </a:r>
            <a:r>
              <a:rPr lang="en-US" sz="1800" b="0" u="none" strike="noStrike" dirty="0">
                <a:solidFill>
                  <a:srgbClr val="A31515"/>
                </a:solidFill>
                <a:uFillTx/>
                <a:latin typeface="Cascadia Mono"/>
                <a:ea typeface="Cascadia Mono"/>
              </a:rPr>
              <a:t>" "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  <a:ea typeface="Cascadia Mono"/>
              </a:rPr>
              <a:t>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Cascadia Mono"/>
              </a:rPr>
              <a:t>}</a:t>
            </a:r>
            <a:endParaRPr lang="en-US" sz="1800" b="0" u="none" strike="noStrike" dirty="0">
              <a:solidFill>
                <a:srgbClr val="000000"/>
              </a:solidFill>
              <a:uFillTx/>
              <a:latin typeface="Cascadia Mono"/>
              <a:ea typeface="Cascadia Mon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DC6EF-5864-0304-E60F-A8021965F7D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Practice Question (1)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4782-57A2-6775-835E-C88EFA22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r>
              <a:rPr lang="en-US"/>
              <a:t>Question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2157-9D2A-342F-7701-BD7286575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199"/>
            <a:ext cx="4343400" cy="45259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num1 = 10; int num2 = 20;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 {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*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&amp;num1;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&lt;&lt;*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&lt;&lt;"\t"&lt;&lt;&amp;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&lt;&lt;*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&lt;&lt;"\t"&lt;&lt;&amp;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0;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5C2302-BB0B-3ED2-5039-F5EE4BC25A10}"/>
              </a:ext>
            </a:extLst>
          </p:cNvPr>
          <p:cNvSpPr txBox="1">
            <a:spLocks/>
          </p:cNvSpPr>
          <p:nvPr/>
        </p:nvSpPr>
        <p:spPr>
          <a:xfrm>
            <a:off x="4495800" y="1600199"/>
            <a:ext cx="4648200" cy="4525963"/>
          </a:xfrm>
          <a:prstGeom prst="rect">
            <a:avLst/>
          </a:prstGeom>
          <a:ln w="38100"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checking(int *ptr2)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 </a:t>
            </a:r>
            <a:r>
              <a:rPr lang="en-US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&lt;&lt;*ptr2&lt;&lt;"\t"&lt;&lt;ptr2&lt;&lt;"\t"&lt;&lt;&amp;ptr2&lt;&lt;</a:t>
            </a:r>
            <a:r>
              <a:rPr lang="en-US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ptr2 = &amp;num2;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&lt;&lt;*ptr2&lt;&lt;"\t"&lt;&lt;ptr2&lt;&lt;"\t"&lt;&lt;&amp;ptr2&lt;&lt;</a:t>
            </a:r>
            <a:r>
              <a:rPr lang="en-US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828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Lecture content adapted from chapter 13 of D.S. Malik </a:t>
            </a:r>
            <a:r>
              <a:rPr lang="en-US" i="1"/>
              <a:t>and chapter 9 of Tony Gadis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1388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3873</TotalTime>
  <Words>884</Words>
  <Application>Microsoft Office PowerPoint</Application>
  <PresentationFormat>On-screen Show (4:3)</PresentationFormat>
  <Paragraphs>167</Paragraphs>
  <Slides>51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Cascadia Mono</vt:lpstr>
      <vt:lpstr>Office Theme</vt:lpstr>
      <vt:lpstr>Data Structures &amp; Algorithms (CSC-214)</vt:lpstr>
      <vt:lpstr>Pointer variable: A variable whose content is a memory address.</vt:lpstr>
      <vt:lpstr>PowerPoint Presentation</vt:lpstr>
      <vt:lpstr>Address of operator &amp; dereferencing operator *</vt:lpstr>
      <vt:lpstr>Example (2)</vt:lpstr>
      <vt:lpstr>Example (3)</vt:lpstr>
      <vt:lpstr>Example (3)</vt:lpstr>
      <vt:lpstr>Example (4)</vt:lpstr>
      <vt:lpstr>Example (4)</vt:lpstr>
      <vt:lpstr>Example (4)</vt:lpstr>
      <vt:lpstr>P = &amp;x;</vt:lpstr>
      <vt:lpstr>*P = 38;</vt:lpstr>
      <vt:lpstr>PowerPoint Presentation</vt:lpstr>
      <vt:lpstr>PowerPoint Presentation</vt:lpstr>
      <vt:lpstr>Accessing member variables through object pointers</vt:lpstr>
      <vt:lpstr>Example (6)</vt:lpstr>
      <vt:lpstr>Example (6)</vt:lpstr>
      <vt:lpstr>Initializing Pointer Variables</vt:lpstr>
      <vt:lpstr>Dynamic Variables</vt:lpstr>
      <vt:lpstr>EXAMPLE (7)</vt:lpstr>
      <vt:lpstr>Example (7)</vt:lpstr>
      <vt:lpstr>Because a dynamic variable is unnamed, it cannot be accessed directly. It is accessed indirectly by the pointer returned by new.</vt:lpstr>
      <vt:lpstr>PowerPoint Presentation</vt:lpstr>
      <vt:lpstr>Why do we need delete?</vt:lpstr>
      <vt:lpstr>Example (10)</vt:lpstr>
      <vt:lpstr>Issues with delete</vt:lpstr>
      <vt:lpstr>Operations on Pointer Variables</vt:lpstr>
      <vt:lpstr>Operations on Pointer Variables</vt:lpstr>
      <vt:lpstr>Operations on Pointer Variables</vt:lpstr>
      <vt:lpstr>Operations on Pointer Variables</vt:lpstr>
      <vt:lpstr>Dynamic Arrays</vt:lpstr>
      <vt:lpstr>Dynamic Arrays</vt:lpstr>
      <vt:lpstr>Dynamic Arrays</vt:lpstr>
      <vt:lpstr>Recall Arrays</vt:lpstr>
      <vt:lpstr>Recall Arrays</vt:lpstr>
      <vt:lpstr>An array name is a constant pointer</vt:lpstr>
      <vt:lpstr>Getting Array Size from User</vt:lpstr>
      <vt:lpstr>Functions &amp; pointers</vt:lpstr>
      <vt:lpstr>PowerPoint Presentation</vt:lpstr>
      <vt:lpstr>PowerPoint Presentation</vt:lpstr>
      <vt:lpstr>PowerPoint Presentation</vt:lpstr>
      <vt:lpstr>Dynamic Two Dimensional Arrays</vt:lpstr>
      <vt:lpstr>Complete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 (2)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(CSC-402)</dc:title>
  <dc:creator>huda</dc:creator>
  <cp:lastModifiedBy>user</cp:lastModifiedBy>
  <cp:revision>270</cp:revision>
  <dcterms:created xsi:type="dcterms:W3CDTF">2006-08-16T00:00:00Z</dcterms:created>
  <dcterms:modified xsi:type="dcterms:W3CDTF">2025-02-11T10:54:48Z</dcterms:modified>
</cp:coreProperties>
</file>