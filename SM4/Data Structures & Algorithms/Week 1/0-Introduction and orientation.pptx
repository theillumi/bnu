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53" r:id="rId3"/>
    <p:sldId id="354" r:id="rId4"/>
    <p:sldId id="355" r:id="rId5"/>
    <p:sldId id="271" r:id="rId6"/>
    <p:sldId id="350" r:id="rId7"/>
    <p:sldId id="349" r:id="rId8"/>
    <p:sldId id="356" r:id="rId9"/>
    <p:sldId id="357" r:id="rId10"/>
    <p:sldId id="351" r:id="rId11"/>
    <p:sldId id="259" r:id="rId12"/>
    <p:sldId id="326" r:id="rId13"/>
    <p:sldId id="3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6D938-1F7A-4891-8921-4DF3CD57707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4DA1-B4A1-45AA-B68A-8CF21D855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0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0257-EB72-DBED-BFE0-8A4437217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ED987-6401-F801-B1B8-50A407B87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73DE-8FBD-BC22-9920-1F08107F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E75AB-2FBE-A063-E3AF-D7C6620A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1CE9D-BBB9-DB5B-62D9-473D4838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4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711B-7F7C-7218-E339-FF35D2DD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E7C9-F628-959B-3825-6A661056F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EF5-F34F-4058-F461-70B73919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B1E20-9D2D-F42D-86B7-4C76EB72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A96F-7821-ACE3-8C3F-2E813D09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1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726F-D76A-A360-9F33-26A76B28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86A19-0844-B63D-A7CD-805B4B116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91BE-DE56-6B7C-D9E1-7EBDABD0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B1A7-5B21-BCF7-C664-FD49D9B8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B13D1-4F65-7E59-D2F3-7B5AEDDA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9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FCB7-BCAB-997E-2BAF-464836D4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81883-D61C-642B-829B-7083024CB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63708-3DBF-0000-8EEE-266A7E320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717BF-B232-655B-C7E5-6BE32F4C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A3112-EE83-26E4-C9E6-7902757C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06B42-EFCE-2158-DFE2-E5F0785E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9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CFA29-61D2-4D51-EFCB-8D338C66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02D39-D74B-FAD5-5D55-7EF80A4EF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576C2-F937-6610-056E-B00204BC6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91A7D-11B8-87E6-1BFA-B46B8BFED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4C500-1CA4-E1DB-5340-5901B8EEB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BD96E-F112-C4A0-08AC-67A1305B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4D924-E8C5-68CD-384F-92BCB7C3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8136E-7A00-8674-2675-ED7EC797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2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9108-9702-0CED-64B9-0663F6A4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5F23A-ABC1-B8BE-6017-C378FEDD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D1099-A1F4-062B-9A94-F4B78717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03FF2-EB56-16CF-AC0F-326F6170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2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A5542-7A26-916B-B707-73F72A5F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8E02A-C48F-BA64-3D74-167AB1E2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A30D3-1504-6D7A-6497-F9E36AD5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0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ACBE-D8CD-66E0-D7C7-059051D61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68D87-8286-1BA4-A779-FB7079A41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96E15-E15B-2012-AB27-6E0968F16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CBDBC-C5AE-AB30-4D9F-92C2D71B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5D2B0-7437-06B6-6965-8B458243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0BD75-C151-51AE-876F-E050907E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9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BA19-4DC5-A520-9089-4E041C27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25124-1B5C-DB5F-5C5A-466F58C68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6A510-8AE0-B6D9-3B68-39FE453B4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2CA24-8A3C-3263-3897-32BA4153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2392B-0C06-AF5C-9817-36CCFB72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F2BB7-CA0E-0106-DAEC-807D8F11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8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F6A2-E18E-421E-D5E2-CBA9F99F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DC739-4E68-A872-7DE4-DF41A6675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90F3C-40DF-A75B-7515-A2879B46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67ECC-F374-D08B-E0A8-BFF70A134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E4D3B-9CB9-B68D-0574-88857A41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6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62C5E-94FE-0A97-DE49-D2264EADC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CB14E-E0F2-A789-6855-05836E0B9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3470E-96D3-0D22-6854-F62ECC7A1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77DE-5B72-4D9D-7929-C6B2BF3E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B29AC-D617-AA6D-84C6-8B4907BD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4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5F71F-3869-1C94-FF24-50B986008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3EBEF-9709-5ACF-A011-EED992CF6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6F9BD-9419-C04B-FFC5-C00316585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AA8E6-3A88-49DA-A67D-4C89B434B0E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577DA-240F-15E1-D84E-BE20A1D7D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A1870-B7ED-49F6-8949-8B2249DF0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D4BB7-4A8B-476E-AFE3-1630A8A6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1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0: Introduction &amp; Orientation</a:t>
            </a:r>
          </a:p>
        </p:txBody>
      </p:sp>
    </p:spTree>
    <p:extLst>
      <p:ext uri="{BB962C8B-B14F-4D97-AF65-F5344CB8AC3E}">
        <p14:creationId xmlns:p14="http://schemas.microsoft.com/office/powerpoint/2010/main" val="330202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DE2D-74E8-51EB-5136-DEB99925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D4BAC-7228-C3BA-9578-CCF12A0C0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479" y="1825625"/>
            <a:ext cx="7079041" cy="4351338"/>
          </a:xfrm>
        </p:spPr>
      </p:pic>
    </p:spTree>
    <p:extLst>
      <p:ext uri="{BB962C8B-B14F-4D97-AF65-F5344CB8AC3E}">
        <p14:creationId xmlns:p14="http://schemas.microsoft.com/office/powerpoint/2010/main" val="37036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382A-72B4-491D-6633-7B552B6C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6977C-AAE7-A7F0-86F9-BFE5A9567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Raise your hand before asking any question – Wait for the permission </a:t>
            </a:r>
          </a:p>
          <a:p>
            <a:pPr marL="0" indent="0">
              <a:buNone/>
            </a:pPr>
            <a:r>
              <a:rPr lang="en-US" dirty="0"/>
              <a:t>• Never ever miss a class – No retakes</a:t>
            </a:r>
          </a:p>
          <a:p>
            <a:pPr marL="0" indent="0">
              <a:buNone/>
            </a:pPr>
            <a:r>
              <a:rPr lang="en-US" dirty="0"/>
              <a:t>• Never ever “sleep” in the class – You might miss a quiz</a:t>
            </a:r>
          </a:p>
          <a:p>
            <a:pPr marL="0" indent="0">
              <a:buNone/>
            </a:pPr>
            <a:r>
              <a:rPr lang="en-US" dirty="0"/>
              <a:t>• Never use mobile phone in </a:t>
            </a:r>
            <a:r>
              <a:rPr lang="en-US" b="1" dirty="0"/>
              <a:t>this</a:t>
            </a:r>
            <a:r>
              <a:rPr lang="en-US" dirty="0"/>
              <a:t> class – Violators will be penalized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Above all, whatever you do, please do not disturb others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94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C01F6-DF5B-B756-2833-6910A236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Dishonesty and 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110F-025A-CC89-EAD5-F728103B2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kind of cheating will be considered serious offense</a:t>
            </a:r>
          </a:p>
          <a:p>
            <a:r>
              <a:rPr lang="en-US" dirty="0"/>
              <a:t>All parties involve in cheating will get 0 marks</a:t>
            </a:r>
          </a:p>
          <a:p>
            <a:pPr lvl="1"/>
            <a:r>
              <a:rPr lang="en-US" dirty="0"/>
              <a:t>Exams, quizzes, assignments, projects</a:t>
            </a:r>
          </a:p>
        </p:txBody>
      </p:sp>
    </p:spTree>
    <p:extLst>
      <p:ext uri="{BB962C8B-B14F-4D97-AF65-F5344CB8AC3E}">
        <p14:creationId xmlns:p14="http://schemas.microsoft.com/office/powerpoint/2010/main" val="820141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GCR code: </a:t>
            </a:r>
            <a:r>
              <a:rPr lang="en-US" sz="3600" b="1" i="0" dirty="0">
                <a:effectLst/>
                <a:latin typeface="Google Sans"/>
              </a:rPr>
              <a:t>7e5qgu5</a:t>
            </a:r>
            <a:endParaRPr lang="en-US" b="1" dirty="0"/>
          </a:p>
          <a:p>
            <a:r>
              <a:rPr lang="en-US" dirty="0"/>
              <a:t>Email: hamna.anwar@bnu.edu.pk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9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DA83-AD8F-A39F-C571-A08FEF7E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course crucial?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9CEF-44D4-AF1B-77A6-4E94115CD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Pre-requisite course:</a:t>
            </a:r>
          </a:p>
          <a:p>
            <a:pPr lvl="1"/>
            <a:r>
              <a:rPr lang="en-US" dirty="0"/>
              <a:t>Design and analysis of Algorithms (semester 5)</a:t>
            </a:r>
          </a:p>
          <a:p>
            <a:pPr lvl="1"/>
            <a:r>
              <a:rPr lang="en-US" dirty="0"/>
              <a:t>Operating Systems (semester 6)</a:t>
            </a:r>
          </a:p>
          <a:p>
            <a:r>
              <a:rPr lang="en-US" dirty="0"/>
              <a:t>If you fail Data structures, your degree will be delayed by 6 months, guaranteed!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endParaRPr lang="en-US" dirty="0"/>
          </a:p>
          <a:p>
            <a:r>
              <a:rPr lang="en-US" dirty="0"/>
              <a:t>Why students fail this course?</a:t>
            </a:r>
          </a:p>
          <a:p>
            <a:pPr lvl="1"/>
            <a:r>
              <a:rPr lang="en-US" dirty="0"/>
              <a:t>Do not study every week</a:t>
            </a:r>
          </a:p>
          <a:p>
            <a:pPr lvl="1"/>
            <a:r>
              <a:rPr lang="en-US" dirty="0"/>
              <a:t>Do not attend classes</a:t>
            </a:r>
          </a:p>
          <a:p>
            <a:pPr lvl="1"/>
            <a:r>
              <a:rPr lang="en-US" dirty="0"/>
              <a:t>Do not practice given problem sets</a:t>
            </a:r>
          </a:p>
          <a:p>
            <a:pPr lvl="1"/>
            <a:r>
              <a:rPr lang="en-US" dirty="0"/>
              <a:t>Drop out due to low attendance</a:t>
            </a:r>
          </a:p>
          <a:p>
            <a:pPr lvl="1"/>
            <a:r>
              <a:rPr lang="en-US" dirty="0"/>
              <a:t>Miss Quizzes/Assignments</a:t>
            </a:r>
          </a:p>
        </p:txBody>
      </p:sp>
    </p:spTree>
    <p:extLst>
      <p:ext uri="{BB962C8B-B14F-4D97-AF65-F5344CB8AC3E}">
        <p14:creationId xmlns:p14="http://schemas.microsoft.com/office/powerpoint/2010/main" val="408124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Format &amp; Division of Marks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3 credit lecture (2 classes per week)</a:t>
            </a:r>
          </a:p>
          <a:p>
            <a:endParaRPr lang="en-US" dirty="0"/>
          </a:p>
          <a:p>
            <a:r>
              <a:rPr lang="en-US" dirty="0"/>
              <a:t>Quizzes – 15%</a:t>
            </a:r>
          </a:p>
          <a:p>
            <a:pPr lvl="1"/>
            <a:r>
              <a:rPr lang="en-US" dirty="0"/>
              <a:t>6 – 7 quizzes, </a:t>
            </a:r>
            <a:r>
              <a:rPr lang="en-US" b="1" dirty="0"/>
              <a:t>ALL accounted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Appeal within </a:t>
            </a:r>
            <a:r>
              <a:rPr lang="en-US" b="1" dirty="0"/>
              <a:t>7 days</a:t>
            </a:r>
            <a:r>
              <a:rPr lang="en-US" dirty="0"/>
              <a:t> of marks being posted. Afterwards, finalized  </a:t>
            </a:r>
          </a:p>
          <a:p>
            <a:r>
              <a:rPr lang="en-US" dirty="0"/>
              <a:t>Midterm Test – 25%</a:t>
            </a:r>
          </a:p>
          <a:p>
            <a:r>
              <a:rPr lang="en-US" dirty="0"/>
              <a:t>Project – 20%</a:t>
            </a:r>
          </a:p>
          <a:p>
            <a:pPr lvl="1"/>
            <a:r>
              <a:rPr lang="en-US" dirty="0"/>
              <a:t>Individual/group, evaluation at end of semester</a:t>
            </a:r>
          </a:p>
          <a:p>
            <a:r>
              <a:rPr lang="en-US" dirty="0"/>
              <a:t>Final Exam – 40%	</a:t>
            </a:r>
          </a:p>
        </p:txBody>
      </p:sp>
    </p:spTree>
    <p:extLst>
      <p:ext uri="{BB962C8B-B14F-4D97-AF65-F5344CB8AC3E}">
        <p14:creationId xmlns:p14="http://schemas.microsoft.com/office/powerpoint/2010/main" val="305760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A8E7-3D91-1F75-4E54-7E2D2362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915AF-691D-9400-6202-BB687529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 general sense, any representation that is used for storing information is a data structure </a:t>
            </a:r>
          </a:p>
          <a:p>
            <a:pPr lvl="1"/>
            <a:r>
              <a:rPr lang="en-US" dirty="0"/>
              <a:t>Example: integers, structures, classes, arrays, etc.</a:t>
            </a:r>
          </a:p>
          <a:p>
            <a:r>
              <a:rPr lang="en-US" dirty="0"/>
              <a:t>More typically, a data structure provides a way for organizing a collection of data items</a:t>
            </a:r>
          </a:p>
          <a:p>
            <a:pPr lvl="1"/>
            <a:r>
              <a:rPr lang="en-US" dirty="0"/>
              <a:t>Storing, accessing and modifying data items</a:t>
            </a:r>
          </a:p>
          <a:p>
            <a:r>
              <a:rPr lang="en-US" dirty="0"/>
              <a:t>Most data structures have associated algorithms to perform operations on data</a:t>
            </a:r>
          </a:p>
          <a:p>
            <a:pPr lvl="1"/>
            <a:r>
              <a:rPr lang="en-US" dirty="0"/>
              <a:t>Search, insert, remove etc.</a:t>
            </a:r>
          </a:p>
          <a:p>
            <a:r>
              <a:rPr lang="en-US" dirty="0"/>
              <a:t>We need methods of organizing large amounts of data</a:t>
            </a:r>
          </a:p>
          <a:p>
            <a:pPr lvl="1"/>
            <a:r>
              <a:rPr lang="en-US" dirty="0"/>
              <a:t>Program and underlying structure which holds the data can add to the inefficiency </a:t>
            </a:r>
            <a:r>
              <a:rPr lang="en-US" dirty="0" err="1"/>
              <a:t>esp</a:t>
            </a:r>
            <a:r>
              <a:rPr lang="en-US" dirty="0"/>
              <a:t> if input data is large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55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099C-85DE-9F04-C319-A2721172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2A86A-0B95-CBCB-A8FE-40E20773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data structure requires</a:t>
            </a:r>
          </a:p>
          <a:p>
            <a:pPr lvl="1"/>
            <a:r>
              <a:rPr lang="en-US" dirty="0"/>
              <a:t>Space for storing data items</a:t>
            </a:r>
          </a:p>
          <a:p>
            <a:pPr lvl="1"/>
            <a:r>
              <a:rPr lang="en-US" dirty="0"/>
              <a:t>Time to perform each basic operation</a:t>
            </a:r>
          </a:p>
          <a:p>
            <a:pPr lvl="1"/>
            <a:r>
              <a:rPr lang="en-US" dirty="0"/>
              <a:t>Programming efforts</a:t>
            </a:r>
          </a:p>
          <a:p>
            <a:r>
              <a:rPr lang="en-US" dirty="0"/>
              <a:t>Cost of a data structure</a:t>
            </a:r>
          </a:p>
          <a:p>
            <a:pPr lvl="1"/>
            <a:r>
              <a:rPr lang="en-US" dirty="0"/>
              <a:t>Time and space resources it consumes</a:t>
            </a:r>
          </a:p>
          <a:p>
            <a:r>
              <a:rPr lang="en-US" dirty="0"/>
              <a:t>Choice of data structure depends on many factors</a:t>
            </a:r>
          </a:p>
          <a:p>
            <a:pPr lvl="1"/>
            <a:r>
              <a:rPr lang="en-US" dirty="0"/>
              <a:t>Type of data</a:t>
            </a:r>
          </a:p>
          <a:p>
            <a:pPr lvl="1"/>
            <a:r>
              <a:rPr lang="en-US" dirty="0"/>
              <a:t>Frequency with which various data operations are applied</a:t>
            </a:r>
          </a:p>
          <a:p>
            <a:r>
              <a:rPr lang="en-US" dirty="0"/>
              <a:t>Hard to define data structure that performs better in all situations</a:t>
            </a:r>
          </a:p>
          <a:p>
            <a:pPr lvl="1"/>
            <a:r>
              <a:rPr lang="en-US" dirty="0"/>
              <a:t> Time and space tradeoff</a:t>
            </a:r>
          </a:p>
        </p:txBody>
      </p:sp>
    </p:spTree>
    <p:extLst>
      <p:ext uri="{BB962C8B-B14F-4D97-AF65-F5344CB8AC3E}">
        <p14:creationId xmlns:p14="http://schemas.microsoft.com/office/powerpoint/2010/main" val="265984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990F-7CC3-A937-E4D5-6AD1ABBE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 &amp;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A885-2F7A-2C0A-D770-1F181CE2C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2749"/>
            <a:ext cx="10515600" cy="600252"/>
          </a:xfrm>
        </p:spPr>
        <p:txBody>
          <a:bodyPr/>
          <a:lstStyle/>
          <a:p>
            <a:r>
              <a:rPr lang="en-US"/>
              <a:t>Algorithm analysis will be covered intuitively with each data structure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4CC74-1463-C7CC-8539-2C3B6AB6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93" y="1547813"/>
            <a:ext cx="87725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6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/>
              <a:t>Data Structures &amp; Algorithms in C++</a:t>
            </a:r>
          </a:p>
          <a:p>
            <a:pPr lvl="0"/>
            <a:r>
              <a:rPr lang="en-US" dirty="0"/>
              <a:t>Second Ed.</a:t>
            </a:r>
          </a:p>
          <a:p>
            <a:pPr lvl="0"/>
            <a:r>
              <a:rPr lang="en-US" dirty="0"/>
              <a:t>Softcopy available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80767"/>
            <a:ext cx="4295212" cy="53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4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C++ Data Structures: A Laboratory Course</a:t>
            </a:r>
          </a:p>
          <a:p>
            <a:r>
              <a:rPr lang="en-US" dirty="0"/>
              <a:t>Third Ed.</a:t>
            </a:r>
          </a:p>
          <a:p>
            <a:r>
              <a:rPr lang="en-US" dirty="0"/>
              <a:t>Soft copy available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587" y="1600200"/>
            <a:ext cx="3695826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3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1729-5A77-FFCC-A8B0-D5941C74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8751C-F764-8252-EB6A-2A18DEE5B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57861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476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Google Sans</vt:lpstr>
      <vt:lpstr>Wingdings</vt:lpstr>
      <vt:lpstr>Office Theme</vt:lpstr>
      <vt:lpstr>Data Structures &amp; Algorithms (CSC-214)</vt:lpstr>
      <vt:lpstr>General Overview</vt:lpstr>
      <vt:lpstr>Some Rules</vt:lpstr>
      <vt:lpstr>Dishonesty and Plagiarism</vt:lpstr>
      <vt:lpstr>Course Information</vt:lpstr>
      <vt:lpstr>Why is this course crucial?</vt:lpstr>
      <vt:lpstr>Course Format &amp; Division of Marks</vt:lpstr>
      <vt:lpstr>What is a Data Structure?</vt:lpstr>
      <vt:lpstr>Costs and Benefits</vt:lpstr>
      <vt:lpstr>Course Outline &amp; Schedule</vt:lpstr>
      <vt:lpstr>Text Book</vt:lpstr>
      <vt:lpstr>Text Book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54</cp:revision>
  <dcterms:created xsi:type="dcterms:W3CDTF">2025-01-23T11:43:43Z</dcterms:created>
  <dcterms:modified xsi:type="dcterms:W3CDTF">2025-02-10T11:28:44Z</dcterms:modified>
</cp:coreProperties>
</file>