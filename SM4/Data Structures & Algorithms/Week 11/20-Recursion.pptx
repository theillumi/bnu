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7" r:id="rId2"/>
    <p:sldId id="346" r:id="rId3"/>
    <p:sldId id="326" r:id="rId4"/>
    <p:sldId id="327" r:id="rId5"/>
    <p:sldId id="328" r:id="rId6"/>
    <p:sldId id="329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31" r:id="rId18"/>
    <p:sldId id="262" r:id="rId19"/>
    <p:sldId id="330" r:id="rId20"/>
    <p:sldId id="332" r:id="rId21"/>
    <p:sldId id="333" r:id="rId22"/>
    <p:sldId id="281" r:id="rId23"/>
    <p:sldId id="335" r:id="rId24"/>
    <p:sldId id="266" r:id="rId25"/>
    <p:sldId id="337" r:id="rId26"/>
    <p:sldId id="338" r:id="rId27"/>
    <p:sldId id="339" r:id="rId28"/>
    <p:sldId id="340" r:id="rId29"/>
    <p:sldId id="267" r:id="rId30"/>
    <p:sldId id="341" r:id="rId31"/>
    <p:sldId id="268" r:id="rId32"/>
    <p:sldId id="269" r:id="rId33"/>
    <p:sldId id="342" r:id="rId34"/>
    <p:sldId id="271" r:id="rId35"/>
    <p:sldId id="343" r:id="rId36"/>
    <p:sldId id="284" r:id="rId37"/>
    <p:sldId id="344" r:id="rId38"/>
    <p:sldId id="272" r:id="rId39"/>
    <p:sldId id="345" r:id="rId40"/>
    <p:sldId id="273" r:id="rId41"/>
    <p:sldId id="285" r:id="rId42"/>
    <p:sldId id="274" r:id="rId43"/>
    <p:sldId id="276" r:id="rId44"/>
    <p:sldId id="277" r:id="rId45"/>
    <p:sldId id="278" r:id="rId46"/>
    <p:sldId id="279" r:id="rId47"/>
    <p:sldId id="280" r:id="rId48"/>
    <p:sldId id="310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43" autoAdjust="0"/>
    <p:restoredTop sz="95407" autoAdjust="0"/>
  </p:normalViewPr>
  <p:slideViewPr>
    <p:cSldViewPr snapToGrid="0">
      <p:cViewPr varScale="1">
        <p:scale>
          <a:sx n="90" d="100"/>
          <a:sy n="90" d="100"/>
        </p:scale>
        <p:origin x="58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B46F8-A12E-4075-BBB3-5FBBE63D505A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7E419-5765-4014-BD60-4B042D3D4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95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C8F91-9A44-4651-A069-29F4EB0F1EC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60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2E26-85BE-BE22-2B71-B92183EC5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A9742-B357-881E-291D-E46A2C83D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1A880-5517-BF54-5BFF-8C0732D6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38AA7-AEE5-BAA7-B0FC-35C823C4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E8E1D-4252-2272-0033-88A65984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595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FBCFF-5275-C316-2D7D-22C230F7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C8F20-A857-29D0-CB9A-8335ECF3B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FF765-1265-32C8-98DE-1D4428438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65493-3CAE-9E25-9014-3E64ABFEF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9FB28-7303-FF01-9D3E-DE70D33A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9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EF00-A165-4CA7-1D6B-CB824624E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B7F97-1629-53E3-D960-6732FF4A1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F4CFF-E823-A469-74A6-E0AF45E0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90D19-F7B0-D3A3-0B6D-B58B1FE6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19008-7038-F82A-7F6D-B2DC4D125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0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253C-F47B-4054-6F1A-F1E58CC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73D2D-905E-25EE-E62A-4D38754F8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DD3EF-7781-275A-6D31-5ED3871AD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6922B-B1AA-1A65-3AC3-57F6E0752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7AD87-B988-2787-FFFB-DDC3420D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07325-2A5C-97B4-3AA7-7CEEE252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7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92A3-2A83-25E8-DA33-43E27369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50215-2C5C-5A87-5EE0-F35E43581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992DB-EB77-4904-BFBE-D8CAC3229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A9B083-EF60-5C0D-D461-38BFCE26D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4E1D7-1485-ECA2-8F59-6C873D3250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1FBE2B-7F8A-6E39-0547-85B3BDB3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7CF4F-543C-88FF-05B7-9FF5190F6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FC40AC-5A70-7B0E-DD55-E9FCAB48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9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9096C-B84B-8A4C-55D3-50F6CD21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976D2-8F2F-FBC1-1FB7-691748F3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365D5-00AA-371D-9B5F-6AC92DB56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2AD98-D191-63E8-5C56-67386277E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1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810712-2C58-F740-F150-114663A4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0B47B-A3CB-A22A-BD63-E6A6479D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1A844-7A97-8915-8A3C-A1333526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94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96225-3771-CC55-8C57-B1AE218E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B74E1-50C3-6A68-2EB5-720AB568F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1BE4A-2F65-E4E3-9134-8C65E33F7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84471-EAB1-E280-B7A0-4F87A86E1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09785-EEC5-4FD3-0672-67E747925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AA18D-5801-8841-9A97-3512953BB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57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2231E-9A63-DFB8-92DD-089A489EC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E2C91A-352D-D240-E12A-60E8EC64D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49C07-E7AA-99AC-2F62-B1753A362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79856-8251-66CE-1B04-B3853F036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D93CA-928F-5BA2-9F75-0B01BBC4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93AFA-3803-9E04-AA99-116273EB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A8C58-7C19-98A0-7D9B-48DF8349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DD4E9-9C40-2799-49E6-16E98B35A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69A3B-70C2-844F-F4CA-4E9D667B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47646-4FE2-7BEB-F864-186FB617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5619A-68C5-6150-F7B7-3A77A16A4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0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79BB-B111-0701-5BE2-6E70488F7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8306B-0FB4-9B06-DE29-4913E0A9C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CC7B1-EC1A-1E52-FB2E-FD881AA2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FCA1C-A2DD-FC79-329B-D9B6B4543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E9839-F888-894D-9F2D-A0BE45C8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75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D8A0F2-582F-610A-343B-C1E7C83D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B7021-F849-DD63-6F55-8DD0B12A8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4AF0B-82BC-B4D5-A649-83384AFAB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307B5-51FD-4FCD-A3E7-91C08E33BA6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C9020-5B3B-64E9-7C52-D06A2B012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AFF93-D23F-DA2F-E6A3-93EB1EF61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5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mit.edu/6.005/www/fa16/classes/14-recursion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FFC2-9E19-3B0E-A250-2E8B5DCF93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EA3E1-6477-EADA-49D3-94F5F4665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373963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6EF56-9AA9-FB92-8627-747C13A1F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recursion?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EF856-3AF6-4A28-8FBE-9F4C4315B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 is a programming technique where a function calls itself to solve smaller instances of the same problem.</a:t>
            </a:r>
          </a:p>
        </p:txBody>
      </p:sp>
    </p:spTree>
    <p:extLst>
      <p:ext uri="{BB962C8B-B14F-4D97-AF65-F5344CB8AC3E}">
        <p14:creationId xmlns:p14="http://schemas.microsoft.com/office/powerpoint/2010/main" val="224393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E75A4-E78E-AECF-6FF3-6313E72F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– Example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498C1-0C41-6D20-8FD5-7FB585018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70735"/>
            <a:ext cx="10515600" cy="4351338"/>
          </a:xfrm>
        </p:spPr>
        <p:txBody>
          <a:bodyPr/>
          <a:lstStyle/>
          <a:p>
            <a:r>
              <a:rPr lang="en-US" dirty="0"/>
              <a:t>A function that calls itself is called a recursive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9C1EB9-5FCC-5A41-5184-3DE57E928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237" y="2484475"/>
            <a:ext cx="6105525" cy="1381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214A91-FBFF-9A32-4BA9-542C8DFEE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832" y="4227207"/>
            <a:ext cx="6518336" cy="208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5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CCAE-3492-ECB5-71E1-9E25C0308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– Example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1B5EF-EA16-2A40-FD6D-75C98251C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975E5C-E7AE-AEEE-789A-F10BDF6C5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365125"/>
            <a:ext cx="4419600" cy="4381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6B46DC-4646-D148-D75B-C9B6C0EF1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86174"/>
            <a:ext cx="6847049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224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FFB13-A909-A8D2-353E-5BC42582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– Example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B0C25-6B98-D787-7806-0BF57BA7F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E821A0-ACB0-584D-6D3E-386989562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516" y="1584771"/>
            <a:ext cx="6014484" cy="527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296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46AC4-2DEC-6A05-C2B7-42B54D84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Concept: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7AEE4-8CC8-E5EF-34C7-0D55DA6F0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general, a recursive function works like this:</a:t>
            </a:r>
          </a:p>
          <a:p>
            <a:r>
              <a:rPr lang="en-US" dirty="0"/>
              <a:t>If the problem can be solved now, without recursion, then the function solves it and returns (base case)</a:t>
            </a:r>
          </a:p>
          <a:p>
            <a:pPr lvl="1"/>
            <a:r>
              <a:rPr lang="en-US" dirty="0"/>
              <a:t>Base Case: Condition when recursion stops.</a:t>
            </a:r>
          </a:p>
          <a:p>
            <a:r>
              <a:rPr lang="en-US" dirty="0"/>
              <a:t>If the problem cannot be solved now, then the function reduces it to a smaller but similar problem and calls itself to solve the smaller problem (recursive case)</a:t>
            </a:r>
          </a:p>
          <a:p>
            <a:pPr lvl="1"/>
            <a:r>
              <a:rPr lang="en-US" dirty="0"/>
              <a:t>Recursive Case: Breaking the problem into smaller instances.</a:t>
            </a:r>
          </a:p>
          <a:p>
            <a:r>
              <a:rPr lang="en-US" dirty="0"/>
              <a:t>Important Rule: </a:t>
            </a:r>
            <a:r>
              <a:rPr lang="en-US" i="1" u="sng" dirty="0"/>
              <a:t>Every recursion must converge to a base case</a:t>
            </a:r>
            <a:r>
              <a:rPr lang="en-US" i="1" dirty="0"/>
              <a:t>.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336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823F2-F4C0-3CE9-83EE-BA40DABB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Concept: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58CDF-06C2-DB21-D4A3-4339D5E54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recursion call gets its own stack frame</a:t>
            </a:r>
          </a:p>
          <a:p>
            <a:r>
              <a:rPr lang="en-US" dirty="0"/>
              <a:t>Stack grows till it reaches base case, then it unwinds</a:t>
            </a:r>
          </a:p>
        </p:txBody>
      </p:sp>
    </p:spTree>
    <p:extLst>
      <p:ext uri="{BB962C8B-B14F-4D97-AF65-F5344CB8AC3E}">
        <p14:creationId xmlns:p14="http://schemas.microsoft.com/office/powerpoint/2010/main" val="764804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FF9B1-8213-D59D-2EA5-85AB6D3D3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- Recursion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8AB6600-1DE1-18EC-C7AC-78A01348FB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0170271"/>
              </p:ext>
            </p:extLst>
          </p:nvPr>
        </p:nvGraphicFramePr>
        <p:xfrm>
          <a:off x="2825603" y="2002430"/>
          <a:ext cx="6540794" cy="1502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0397">
                  <a:extLst>
                    <a:ext uri="{9D8B030D-6E8A-4147-A177-3AD203B41FA5}">
                      <a16:colId xmlns:a16="http://schemas.microsoft.com/office/drawing/2014/main" val="798933054"/>
                    </a:ext>
                  </a:extLst>
                </a:gridCol>
                <a:gridCol w="3270397">
                  <a:extLst>
                    <a:ext uri="{9D8B030D-6E8A-4147-A177-3AD203B41FA5}">
                      <a16:colId xmlns:a16="http://schemas.microsoft.com/office/drawing/2014/main" val="1247491044"/>
                    </a:ext>
                  </a:extLst>
                </a:gridCol>
              </a:tblGrid>
              <a:tr h="375592">
                <a:tc>
                  <a:txBody>
                    <a:bodyPr/>
                    <a:lstStyle/>
                    <a:p>
                      <a:r>
                        <a:rPr lang="en-US" dirty="0"/>
                        <a:t>Mistakes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183423"/>
                  </a:ext>
                </a:extLst>
              </a:tr>
              <a:tr h="375592">
                <a:tc>
                  <a:txBody>
                    <a:bodyPr/>
                    <a:lstStyle/>
                    <a:p>
                      <a:r>
                        <a:rPr lang="en-US" dirty="0"/>
                        <a:t>No base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Infinite recursion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385152"/>
                  </a:ext>
                </a:extLst>
              </a:tr>
              <a:tr h="375592">
                <a:tc>
                  <a:txBody>
                    <a:bodyPr/>
                    <a:lstStyle/>
                    <a:p>
                      <a:r>
                        <a:rPr lang="en-US" dirty="0"/>
                        <a:t>Incorrect base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Wrong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870548"/>
                  </a:ext>
                </a:extLst>
              </a:tr>
              <a:tr h="375592">
                <a:tc>
                  <a:txBody>
                    <a:bodyPr/>
                    <a:lstStyle/>
                    <a:p>
                      <a:r>
                        <a:rPr lang="en-US" dirty="0"/>
                        <a:t>Missing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Stack overflow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282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876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C9CF7-AA63-0CA8-95E7-4557DC06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-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8B0C8-E35E-500B-B007-E179AA87B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call stack for each function call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9D19AE-2A50-F3F9-CE50-78B88FCB4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0" y="1825625"/>
            <a:ext cx="306705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34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4CD32-2C0C-4BA2-E0B5-5E1163DF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-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96297-5DC4-3E4C-FA31-3A1E4837B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output?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A94D1B-9111-88DE-B4BF-67A9BE369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299" y="1825625"/>
            <a:ext cx="39475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5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913C-620F-BC0D-81C2-019B25BFD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-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2FC3E-9E83-4F9D-A7AF-070715429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D81C4F-6866-A815-4A78-8EB54A28A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769" y="1825625"/>
            <a:ext cx="5071031" cy="240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580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CF93A-6399-2CE7-7C48-3FF44DE7A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-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9C8B3-5E81-99B8-9B1C-E4341B9D7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6C895-7DEF-0634-008A-C2168CB24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130" y="1825625"/>
            <a:ext cx="3081670" cy="27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590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8590-26B1-26CA-3A87-9F45D9672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-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54AD6-BB35-DB89-E571-D77A48946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Fill in the blanks to complete the recursion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5A2B5F-20D1-B380-B7DD-6F9446F8C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405" y="1825625"/>
            <a:ext cx="3652395" cy="165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42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C232B-A377-44BB-648B-DA0EAEE9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-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3EF9E-29BB-133F-EBF2-D3F93872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the error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90208-3E61-876A-E1AE-BFA8DF21A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326" y="1825625"/>
            <a:ext cx="4440474" cy="142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94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9F448-F709-ADCC-23AD-FF3CD9014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-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5947C-DAB6-7A2B-E1BB-9708C55EB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29FA3-BA73-BA3A-8CF9-B6147A6EA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218" y="1825625"/>
            <a:ext cx="2935582" cy="191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252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F29B0-8ECD-C98B-70C4-E206773A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-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65DC5-C6BE-D969-C3D6-FF09D033C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Always think Base Case First.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Trust recursion: Assume the smaller problem is already solved.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Visualize Call Stack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528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34E26-E10C-4B56-5E92-8478474ED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95B8F-8110-250B-7019-C0EE2F30F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Factorial</a:t>
            </a:r>
          </a:p>
        </p:txBody>
      </p:sp>
    </p:spTree>
    <p:extLst>
      <p:ext uri="{BB962C8B-B14F-4D97-AF65-F5344CB8AC3E}">
        <p14:creationId xmlns:p14="http://schemas.microsoft.com/office/powerpoint/2010/main" val="3374496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base case for recursion can be solved without recursion.</a:t>
            </a:r>
          </a:p>
          <a:p>
            <a:r>
              <a:rPr lang="en-US" dirty="0"/>
              <a:t>We can write the expression for the recursive part as well.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394" y="3631671"/>
            <a:ext cx="7949176" cy="10810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5010662"/>
            <a:ext cx="683895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37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F6841-8B7D-1EBC-66FA-AE5E39E55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6B1AA-7832-CA16-F9BB-785EAD6FD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converting the following pseudocode to C++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D57800-FE4C-8ECB-6024-B00E453A2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539" y="3132137"/>
            <a:ext cx="6442922" cy="17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591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75C99-FD7B-7D71-14D8-AF4F95EE2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72982-35A6-0522-89D7-9D56111B7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1A94E4-7F8A-7E1F-9549-28EF96827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071" y="2948781"/>
            <a:ext cx="7443857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30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DCE4B-F9DC-0DEE-08E1-73CDF5455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 dry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1C370-C751-4024-615F-25D650932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844D83-5505-B2F1-1E87-EF840CD8A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870" y="243736"/>
            <a:ext cx="5864930" cy="6370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D80ACB-BC37-E928-DCD1-E7C9946CA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270" y="5037048"/>
            <a:ext cx="5867400" cy="165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86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780144"/>
            <a:ext cx="9110864" cy="46596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24200" y="6488668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https://web.mit.edu/6.005/www/fa16/classes/14-recursion/</a:t>
            </a:r>
            <a:r>
              <a:rPr lang="en-US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726" y="274639"/>
            <a:ext cx="3125074" cy="15967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7825" y="207964"/>
            <a:ext cx="4371976" cy="94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38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D8440-9841-CB27-438D-2083784EB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1027C-9C13-FF6E-D8D7-295BBB88C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D2169-5E17-793B-558A-2B91F9E21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recursion to count characters</a:t>
            </a:r>
          </a:p>
        </p:txBody>
      </p:sp>
    </p:spTree>
    <p:extLst>
      <p:ext uri="{BB962C8B-B14F-4D97-AF65-F5344CB8AC3E}">
        <p14:creationId xmlns:p14="http://schemas.microsoft.com/office/powerpoint/2010/main" val="4121324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you figure out the base case? recursive case?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893" y="4001294"/>
            <a:ext cx="561975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877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9AB18-2C6E-C46F-E1C9-9B7741478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9BEA2-2B4E-E078-27C0-4CD4D10F2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403D1-34F1-AD60-40AD-79BC6B89D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you figure out the base case? recursive case?</a:t>
            </a:r>
          </a:p>
          <a:p>
            <a:r>
              <a:rPr lang="en-US" dirty="0"/>
              <a:t>What are the possibilities when processing each character of the string?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FA6B2A-D328-F13E-810A-74E6C5AA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893" y="4001294"/>
            <a:ext cx="561975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64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A5F5A-F5C0-16B9-0B00-39026E78E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8714C-D2A8-9B1C-5126-C1B297F30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CFC2F-95B6-BB8F-0175-1DD1CFD4D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you figure out the base case? recursive case?</a:t>
            </a:r>
          </a:p>
          <a:p>
            <a:r>
              <a:rPr lang="en-US" dirty="0"/>
              <a:t>What are the possibilities when processing each character of the string?</a:t>
            </a:r>
          </a:p>
          <a:p>
            <a:pPr lvl="1"/>
            <a:r>
              <a:rPr lang="en-US" dirty="0"/>
              <a:t>Char doesn’t match</a:t>
            </a:r>
          </a:p>
          <a:p>
            <a:pPr lvl="1"/>
            <a:r>
              <a:rPr lang="en-US" dirty="0"/>
              <a:t>Char matches</a:t>
            </a:r>
          </a:p>
          <a:p>
            <a:pPr lvl="1"/>
            <a:r>
              <a:rPr lang="en-US" dirty="0"/>
              <a:t>Anything else?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A04F09-6F00-134B-D316-505F878DC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893" y="4001294"/>
            <a:ext cx="561975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81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A2EC6-49C2-179B-9A9A-2D88AF25D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D4C57-FD2A-B2CB-28C6-1BB50F5F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6D84A-540C-AF2F-F3E7-71FEB8378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you figure out the base case? recursive case?</a:t>
            </a:r>
          </a:p>
          <a:p>
            <a:r>
              <a:rPr lang="en-US" dirty="0"/>
              <a:t>What are the possibilities when processing each character of the string?</a:t>
            </a:r>
          </a:p>
          <a:p>
            <a:pPr lvl="1"/>
            <a:r>
              <a:rPr lang="en-US" dirty="0"/>
              <a:t>Char doesn’t match</a:t>
            </a:r>
          </a:p>
          <a:p>
            <a:pPr lvl="1"/>
            <a:r>
              <a:rPr lang="en-US" dirty="0"/>
              <a:t>Char matches</a:t>
            </a:r>
          </a:p>
          <a:p>
            <a:pPr lvl="1"/>
            <a:r>
              <a:rPr lang="en-US" dirty="0"/>
              <a:t>Anything else? End of string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6CAE0D-47A9-47C3-66A2-1C60CAFE0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893" y="4001294"/>
            <a:ext cx="561975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990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CB639-FA3F-4773-2504-ACA6D76D7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F71D-ED7F-C0D7-612D-7C7EC4F34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32E12-3711-C877-80A9-3F2A37B92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possibilities when processing each character of the string?</a:t>
            </a:r>
          </a:p>
          <a:p>
            <a:pPr lvl="1"/>
            <a:r>
              <a:rPr lang="en-US" dirty="0"/>
              <a:t>Char doesn’t match -&gt; recursive as we still have to search the rest of the string</a:t>
            </a:r>
          </a:p>
          <a:p>
            <a:pPr lvl="1"/>
            <a:r>
              <a:rPr lang="en-US" dirty="0"/>
              <a:t>Char matches -&gt;  recursive as we still have to search the rest of the string</a:t>
            </a:r>
          </a:p>
          <a:p>
            <a:pPr lvl="1"/>
            <a:r>
              <a:rPr lang="en-US" dirty="0"/>
              <a:t>Anything else? End of string -&gt; base case, no more characters to search</a:t>
            </a:r>
          </a:p>
          <a:p>
            <a:r>
              <a:rPr lang="en-US" dirty="0"/>
              <a:t>Function parameters: </a:t>
            </a:r>
          </a:p>
          <a:p>
            <a:pPr lvl="1"/>
            <a:r>
              <a:rPr lang="en-US" dirty="0"/>
              <a:t>search: the character to be searched for and counted</a:t>
            </a:r>
          </a:p>
          <a:p>
            <a:pPr lvl="1"/>
            <a:r>
              <a:rPr lang="en-US" dirty="0"/>
              <a:t>str: a string object containing the string to be searched</a:t>
            </a:r>
          </a:p>
          <a:p>
            <a:pPr lvl="1"/>
            <a:r>
              <a:rPr lang="en-US" dirty="0"/>
              <a:t>subscript: the starting subscript for the search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1760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222" y="1803807"/>
            <a:ext cx="7065556" cy="505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7666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D6C4-5C63-36E0-1890-F75B31461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0B373-3989-52DF-B925-242870428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53F9C-C9AB-54EB-4F7A-BD3A11E67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Fibonacci Series</a:t>
            </a:r>
          </a:p>
        </p:txBody>
      </p:sp>
    </p:spTree>
    <p:extLst>
      <p:ext uri="{BB962C8B-B14F-4D97-AF65-F5344CB8AC3E}">
        <p14:creationId xmlns:p14="http://schemas.microsoft.com/office/powerpoint/2010/main" val="16250751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Fibonacci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you figure out the base case? recursive case?</a:t>
            </a:r>
          </a:p>
          <a:p>
            <a:r>
              <a:rPr lang="en-US" dirty="0"/>
              <a:t>Series is: </a:t>
            </a:r>
          </a:p>
          <a:p>
            <a:endParaRPr lang="en-US" dirty="0"/>
          </a:p>
          <a:p>
            <a:r>
              <a:rPr lang="en-US" dirty="0"/>
              <a:t>Series looks like this: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155" y="2292885"/>
            <a:ext cx="6024976" cy="6238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343" y="4112696"/>
            <a:ext cx="4799313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196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Fibonacci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487" y="2915932"/>
            <a:ext cx="4799313" cy="17240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16994"/>
            <a:ext cx="6616777" cy="276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1583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C74DE-6A0C-3CED-3510-F7300C028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8BED-28E2-F799-2A8E-7433941AD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D2A67-2AFA-EFD6-49D8-D2BDE42FD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Recursion in linked lists</a:t>
            </a:r>
          </a:p>
        </p:txBody>
      </p:sp>
    </p:spTree>
    <p:extLst>
      <p:ext uri="{BB962C8B-B14F-4D97-AF65-F5344CB8AC3E}">
        <p14:creationId xmlns:p14="http://schemas.microsoft.com/office/powerpoint/2010/main" val="1116409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52400"/>
            <a:ext cx="4419600" cy="658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8962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923D-3DDA-8EAE-03E5-71E18ED3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Nodes in a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0CA9D-1466-4C99-1EF6-3ED03F9E1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Iterative</a:t>
            </a:r>
          </a:p>
          <a:p>
            <a:r>
              <a:rPr lang="en-US" dirty="0"/>
              <a:t>Recursive</a:t>
            </a:r>
          </a:p>
          <a:p>
            <a:pPr lvl="1"/>
            <a:r>
              <a:rPr lang="en-US" dirty="0"/>
              <a:t>Can you figure out the base case? recursive case?</a:t>
            </a:r>
          </a:p>
          <a:p>
            <a:pPr lvl="1"/>
            <a:r>
              <a:rPr lang="en-US" dirty="0"/>
              <a:t>Can you write a pseudocode?</a:t>
            </a:r>
          </a:p>
        </p:txBody>
      </p:sp>
    </p:spTree>
    <p:extLst>
      <p:ext uri="{BB962C8B-B14F-4D97-AF65-F5344CB8AC3E}">
        <p14:creationId xmlns:p14="http://schemas.microsoft.com/office/powerpoint/2010/main" val="11171709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Nodes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586" y="2730323"/>
            <a:ext cx="8283855" cy="185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368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0B4F6-356C-E998-76F4-3B0167BA1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3C0B87-FE99-9B11-DA62-FF1E58842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Nodes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55F04-9CC1-4DE6-533B-B542022A9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2362201"/>
            <a:ext cx="8266113" cy="231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9945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Printing singly linked list in reverse</a:t>
            </a:r>
          </a:p>
        </p:txBody>
      </p:sp>
    </p:spTree>
    <p:extLst>
      <p:ext uri="{BB962C8B-B14F-4D97-AF65-F5344CB8AC3E}">
        <p14:creationId xmlns:p14="http://schemas.microsoft.com/office/powerpoint/2010/main" val="13227575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3B14F-DD55-EFDC-EA0E-E816317F8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 Linked List in reverse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331C8-8FD7-8A6E-F59F-E4EEC8827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Is there an iterative way to print a singly linked list in reverse?</a:t>
            </a:r>
          </a:p>
          <a:p>
            <a:r>
              <a:rPr lang="en-US" dirty="0"/>
              <a:t>Recursive way?</a:t>
            </a:r>
          </a:p>
          <a:p>
            <a:r>
              <a:rPr lang="en-US" dirty="0"/>
              <a:t>Recap:</a:t>
            </a:r>
          </a:p>
          <a:p>
            <a:pPr lvl="1"/>
            <a:r>
              <a:rPr lang="en-US" dirty="0"/>
              <a:t>If the problem can be solved now, without recursion, then the function solves it and returns (base case)</a:t>
            </a:r>
          </a:p>
          <a:p>
            <a:pPr lvl="1"/>
            <a:r>
              <a:rPr lang="en-US" dirty="0"/>
              <a:t>If the problem cannot be solved now, then the function reduces it to a smaller but similar problem and calls itself to solve the smaller problem (recursive case)</a:t>
            </a:r>
          </a:p>
          <a:p>
            <a:r>
              <a:rPr lang="en-US" dirty="0"/>
              <a:t>Keeping this in mind</a:t>
            </a:r>
          </a:p>
          <a:p>
            <a:pPr lvl="1"/>
            <a:r>
              <a:rPr lang="en-US" dirty="0"/>
              <a:t>Base case -&gt; 1 node</a:t>
            </a:r>
          </a:p>
          <a:p>
            <a:pPr lvl="1"/>
            <a:r>
              <a:rPr lang="en-US" dirty="0"/>
              <a:t>Recursive case -&gt; reaching that 1 base case node</a:t>
            </a:r>
          </a:p>
          <a:p>
            <a:pPr lvl="1"/>
            <a:r>
              <a:rPr lang="en-US" dirty="0"/>
              <a:t>How will we iterate over the linked list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8280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133601"/>
            <a:ext cx="8783638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0698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Binary Search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2756695"/>
            <a:ext cx="8942101" cy="1800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52601" y="6308725"/>
            <a:ext cx="4903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 in the array should be sorted.</a:t>
            </a:r>
          </a:p>
        </p:txBody>
      </p:sp>
    </p:spTree>
    <p:extLst>
      <p:ext uri="{BB962C8B-B14F-4D97-AF65-F5344CB8AC3E}">
        <p14:creationId xmlns:p14="http://schemas.microsoft.com/office/powerpoint/2010/main" val="1975932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Binary Search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722" y="1676400"/>
            <a:ext cx="8584557" cy="3810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553200" y="5791201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Returns index if found, otherwise returns -1.</a:t>
            </a:r>
          </a:p>
        </p:txBody>
      </p:sp>
    </p:spTree>
    <p:extLst>
      <p:ext uri="{BB962C8B-B14F-4D97-AF65-F5344CB8AC3E}">
        <p14:creationId xmlns:p14="http://schemas.microsoft.com/office/powerpoint/2010/main" val="3163141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recursion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an algorithm makes two recursive calls, it </a:t>
            </a:r>
            <a:r>
              <a:rPr lang="en-US"/>
              <a:t>is said to use </a:t>
            </a:r>
            <a:r>
              <a:rPr lang="en-US" b="1" i="1" dirty="0"/>
              <a:t>binary recursion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81994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2097702"/>
            <a:ext cx="8971155" cy="25504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24601" y="304801"/>
            <a:ext cx="3694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To keep things simple, assume n is a power of 2</a:t>
            </a:r>
          </a:p>
        </p:txBody>
      </p:sp>
    </p:spTree>
    <p:extLst>
      <p:ext uri="{BB962C8B-B14F-4D97-AF65-F5344CB8AC3E}">
        <p14:creationId xmlns:p14="http://schemas.microsoft.com/office/powerpoint/2010/main" val="36898856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856" y="3690528"/>
            <a:ext cx="8213035" cy="2819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846" y="356215"/>
            <a:ext cx="8971155" cy="255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32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recursion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Generalizing from binary recursion, we use </a:t>
            </a:r>
            <a:r>
              <a:rPr lang="en-US" b="1" i="1" dirty="0"/>
              <a:t>multiple recursion </a:t>
            </a:r>
            <a:r>
              <a:rPr lang="en-US" dirty="0"/>
              <a:t>when a function may make multiple recursive calls, with that number potentially being more than two.</a:t>
            </a:r>
          </a:p>
        </p:txBody>
      </p:sp>
    </p:spTree>
    <p:extLst>
      <p:ext uri="{BB962C8B-B14F-4D97-AF65-F5344CB8AC3E}">
        <p14:creationId xmlns:p14="http://schemas.microsoft.com/office/powerpoint/2010/main" val="39855905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content adapted from Michael T. Goodrich textbook, chapter 3 &amp; Tony Gaddis textbook chapter 19.</a:t>
            </a:r>
          </a:p>
        </p:txBody>
      </p:sp>
    </p:spTree>
    <p:extLst>
      <p:ext uri="{BB962C8B-B14F-4D97-AF65-F5344CB8AC3E}">
        <p14:creationId xmlns:p14="http://schemas.microsoft.com/office/powerpoint/2010/main" val="36191186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CD894-242A-0107-3E0E-79C659EE1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C25BC-5EF9-AEEC-3652-05132D211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06852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6756</TotalTime>
  <Words>816</Words>
  <Application>Microsoft Office PowerPoint</Application>
  <PresentationFormat>Widescreen</PresentationFormat>
  <Paragraphs>124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Calibri Light</vt:lpstr>
      <vt:lpstr>Office Theme</vt:lpstr>
      <vt:lpstr>Data Structures &amp; Algorithms (CSC-214)</vt:lpstr>
      <vt:lpstr>What is recursion?</vt:lpstr>
      <vt:lpstr>Recursion – Example (1)</vt:lpstr>
      <vt:lpstr>Recursion – Example (2)</vt:lpstr>
      <vt:lpstr>Recursion – Example (3)</vt:lpstr>
      <vt:lpstr>Concept: Recursion</vt:lpstr>
      <vt:lpstr>Concept: Recursion</vt:lpstr>
      <vt:lpstr>Concept - Recursion</vt:lpstr>
      <vt:lpstr>Concept - Recursion</vt:lpstr>
      <vt:lpstr>Concept - Recursion</vt:lpstr>
      <vt:lpstr>Concept - Recursion</vt:lpstr>
      <vt:lpstr>Concept - Recursion</vt:lpstr>
      <vt:lpstr>Concept - Recursion</vt:lpstr>
      <vt:lpstr>Concept - Recursion</vt:lpstr>
      <vt:lpstr>Concept - Recursion</vt:lpstr>
      <vt:lpstr>Concept - Recursion</vt:lpstr>
      <vt:lpstr>Practice Questions</vt:lpstr>
      <vt:lpstr>Factorial</vt:lpstr>
      <vt:lpstr>Factorial pseudocode</vt:lpstr>
      <vt:lpstr>Factorial implementation</vt:lpstr>
      <vt:lpstr>Factorial dry run</vt:lpstr>
      <vt:lpstr>PowerPoint Presentation</vt:lpstr>
      <vt:lpstr>Practice Questions</vt:lpstr>
      <vt:lpstr>Count characters</vt:lpstr>
      <vt:lpstr>Count characters</vt:lpstr>
      <vt:lpstr>Count characters</vt:lpstr>
      <vt:lpstr>Count characters</vt:lpstr>
      <vt:lpstr>Count characters</vt:lpstr>
      <vt:lpstr>Count characters</vt:lpstr>
      <vt:lpstr>Practice Questions</vt:lpstr>
      <vt:lpstr>Fibonacci Series</vt:lpstr>
      <vt:lpstr>Fibonacci Series</vt:lpstr>
      <vt:lpstr>Practice Questions</vt:lpstr>
      <vt:lpstr>PowerPoint Presentation</vt:lpstr>
      <vt:lpstr>Counting Nodes in a Linked List</vt:lpstr>
      <vt:lpstr>Counting Nodes</vt:lpstr>
      <vt:lpstr>Counting Nodes</vt:lpstr>
      <vt:lpstr>Practice Questions</vt:lpstr>
      <vt:lpstr>Printing Linked List in reverse</vt:lpstr>
      <vt:lpstr>PowerPoint Presentation</vt:lpstr>
      <vt:lpstr>Recursive Binary Search</vt:lpstr>
      <vt:lpstr>Recursive Binary Search</vt:lpstr>
      <vt:lpstr>Binary recursion</vt:lpstr>
      <vt:lpstr>PowerPoint Presentation</vt:lpstr>
      <vt:lpstr>PowerPoint Presentation</vt:lpstr>
      <vt:lpstr>Multiple recursion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116</cp:revision>
  <dcterms:created xsi:type="dcterms:W3CDTF">2025-04-23T14:23:37Z</dcterms:created>
  <dcterms:modified xsi:type="dcterms:W3CDTF">2025-04-28T17:34:08Z</dcterms:modified>
</cp:coreProperties>
</file>