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7.jpeg" ContentType="image/jpeg"/>
  <Override PartName="/ppt/media/image2.png" ContentType="image/png"/>
  <Override PartName="/ppt/media/image17.jpeg" ContentType="image/jpeg"/>
  <Override PartName="/ppt/media/image3.png" ContentType="image/png"/>
  <Override PartName="/ppt/media/image4.png" ContentType="image/png"/>
  <Override PartName="/ppt/media/image5.png" ContentType="image/png"/>
  <Override PartName="/ppt/media/image8.jpeg" ContentType="image/jpeg"/>
  <Override PartName="/ppt/media/image6.png" ContentType="image/png"/>
  <Override PartName="/ppt/media/image9.jpeg" ContentType="image/jpeg"/>
  <Override PartName="/ppt/media/image10.jpeg" ContentType="image/jpeg"/>
  <Override PartName="/ppt/media/image11.jpeg" ContentType="image/jpeg"/>
  <Override PartName="/ppt/media/image12.png" ContentType="image/png"/>
  <Override PartName="/ppt/media/image18.jpeg" ContentType="image/jpeg"/>
  <Override PartName="/ppt/media/image13.png" ContentType="image/png"/>
  <Override PartName="/ppt/media/image14.png" ContentType="image/png"/>
  <Override PartName="/ppt/media/image15.png" ContentType="image/png"/>
  <Override PartName="/ppt/media/image16.jpeg" ContentType="image/jpeg"/>
  <Override PartName="/ppt/media/image19.jpeg" ContentType="image/jpeg"/>
  <Override PartName="/ppt/media/image2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62" r:id="rId7"/>
    <p:sldMasterId id="2147483664" r:id="rId8"/>
    <p:sldMasterId id="2147483666" r:id="rId9"/>
    <p:sldMasterId id="2147483668" r:id="rId10"/>
    <p:sldMasterId id="2147483670" r:id="rId11"/>
    <p:sldMasterId id="2147483672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2CFA67-DB23-489F-A10B-030877BAC3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1D517-06CB-448B-B199-EBCBF7A7C0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3853CC5-AA50-4938-8BC5-7696759A35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26840DB-86CD-420E-99DD-AB067811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6B7673F-D2EB-4116-9B73-6B897F63FB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1DA7765-739A-4D91-A59A-F47F7C21D7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45BEEBD-FD2B-4AC4-B89F-C3DF606BF8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2F5773A-6463-452E-A8AF-0691D9EAF1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5BDF31-A06B-4843-9984-DA607ED366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722160" y="2906640"/>
            <a:ext cx="37926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704840" y="2906640"/>
            <a:ext cx="37926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59896C4-E143-435B-9758-CE6260794D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053266F-2ACE-4CE1-885A-324C3D1360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B87D9E6-B336-448D-AEA6-1092F8C4BA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70330B2-C74A-4F16-B7A1-8FBA9E0ACB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97983E4-8FBC-45D5-8E5E-4377FF5E51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C56C468-512E-4C4D-AA1F-0303C24486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3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AC0D45-93C0-43E7-B92C-35BE3DCD67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26243-7A4E-43A4-B47E-292D4C579A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194890-E8B8-4C03-828B-623E2255E2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E9BCE6-D107-43CA-927C-3F2217F6CB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2CABB-7194-49DF-8DCD-0DAC13E270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  <p:sldLayoutId id="2147483660" r:id="rId5"/>
    <p:sldLayoutId id="2147483661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D8785E-27C6-490F-A7E1-68760DF2675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AE3279-F039-49CE-9F15-A439A1B1A7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6306D6-1638-432F-B6B9-FE07A207E0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D25B8-7BE6-4F5A-9A71-A2B0F6B581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9722FC-5362-4D8D-B404-96D0456B7E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73204-EC55-472F-8A6D-A4EB9D3BC2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rial"/>
              </a:rPr>
              <a:t>Data Structures &amp; Algorithms (CSC-214)</a:t>
            </a:r>
            <a:endParaRPr b="0" lang="en-US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Lecture 19: Binary Trees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Search for a node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3" descr=""/>
          <p:cNvPicPr/>
          <p:nvPr/>
        </p:nvPicPr>
        <p:blipFill>
          <a:blip r:embed="rId1"/>
          <a:stretch/>
        </p:blipFill>
        <p:spPr>
          <a:xfrm>
            <a:off x="914400" y="190440"/>
            <a:ext cx="7579800" cy="643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3" descr=""/>
          <p:cNvPicPr/>
          <p:nvPr/>
        </p:nvPicPr>
        <p:blipFill>
          <a:blip r:embed="rId1"/>
          <a:stretch/>
        </p:blipFill>
        <p:spPr>
          <a:xfrm>
            <a:off x="1476360" y="461880"/>
            <a:ext cx="6190920" cy="593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Delete a node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Deleting a leaf is simple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Deleting internal node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with one subtree.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78" name="Picture 3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5019480" cy="30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4" descr=""/>
          <p:cNvPicPr/>
          <p:nvPr/>
        </p:nvPicPr>
        <p:blipFill>
          <a:blip r:embed="rId2"/>
          <a:stretch/>
        </p:blipFill>
        <p:spPr>
          <a:xfrm>
            <a:off x="4724280" y="3481560"/>
            <a:ext cx="4428720" cy="326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228960" y="4008960"/>
            <a:ext cx="7772040" cy="262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Delete a node with 2 subtrees: 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Attach the node’s right subtree 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to the parent, then find a position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in the right subtree to attach the 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left subtree.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81" name="Picture 3" descr=""/>
          <p:cNvPicPr/>
          <p:nvPr/>
        </p:nvPicPr>
        <p:blipFill>
          <a:blip r:embed="rId1"/>
          <a:stretch/>
        </p:blipFill>
        <p:spPr>
          <a:xfrm>
            <a:off x="76320" y="104760"/>
            <a:ext cx="5648040" cy="332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4" descr=""/>
          <p:cNvPicPr/>
          <p:nvPr/>
        </p:nvPicPr>
        <p:blipFill>
          <a:blip r:embed="rId2"/>
          <a:stretch/>
        </p:blipFill>
        <p:spPr>
          <a:xfrm>
            <a:off x="4132080" y="3562200"/>
            <a:ext cx="4866840" cy="32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"/>
          <p:cNvSpPr txBox="1"/>
          <p:nvPr/>
        </p:nvSpPr>
        <p:spPr>
          <a:xfrm>
            <a:off x="4572000" y="457200"/>
            <a:ext cx="43434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For the deletion you need to ensure that the properties of a bst are maintained, there are multiple ways in which this can be done. One is covered here.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Delete examples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3" descr=""/>
          <p:cNvPicPr/>
          <p:nvPr/>
        </p:nvPicPr>
        <p:blipFill>
          <a:blip r:embed="rId1"/>
          <a:stretch/>
        </p:blipFill>
        <p:spPr>
          <a:xfrm rot="5400000">
            <a:off x="1143360" y="856800"/>
            <a:ext cx="6857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3" descr=""/>
          <p:cNvPicPr/>
          <p:nvPr/>
        </p:nvPicPr>
        <p:blipFill>
          <a:blip r:embed="rId1"/>
          <a:stretch/>
        </p:blipFill>
        <p:spPr>
          <a:xfrm rot="5400000">
            <a:off x="-682560" y="1265400"/>
            <a:ext cx="5768640" cy="432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4" descr=""/>
          <p:cNvPicPr/>
          <p:nvPr/>
        </p:nvPicPr>
        <p:blipFill>
          <a:blip r:embed="rId2"/>
          <a:stretch/>
        </p:blipFill>
        <p:spPr>
          <a:xfrm rot="5400000">
            <a:off x="3873600" y="1245960"/>
            <a:ext cx="5790960" cy="434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3" descr=""/>
          <p:cNvPicPr/>
          <p:nvPr/>
        </p:nvPicPr>
        <p:blipFill>
          <a:blip r:embed="rId1"/>
          <a:stretch/>
        </p:blipFill>
        <p:spPr>
          <a:xfrm rot="5400000">
            <a:off x="-513000" y="1231920"/>
            <a:ext cx="5637600" cy="422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4" descr=""/>
          <p:cNvPicPr/>
          <p:nvPr/>
        </p:nvPicPr>
        <p:blipFill>
          <a:blip r:embed="rId2"/>
          <a:stretch/>
        </p:blipFill>
        <p:spPr>
          <a:xfrm rot="5400000">
            <a:off x="3943440" y="1232280"/>
            <a:ext cx="5640480" cy="423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Arial"/>
              </a:rPr>
              <a:t>Delete code</a:t>
            </a:r>
            <a:endParaRPr b="0" lang="en-US" sz="4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3" descr=""/>
          <p:cNvPicPr/>
          <p:nvPr/>
        </p:nvPicPr>
        <p:blipFill>
          <a:blip r:embed="rId1"/>
          <a:stretch/>
        </p:blipFill>
        <p:spPr>
          <a:xfrm>
            <a:off x="49320" y="1600200"/>
            <a:ext cx="9058680" cy="396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3" descr=""/>
          <p:cNvPicPr/>
          <p:nvPr/>
        </p:nvPicPr>
        <p:blipFill>
          <a:blip r:embed="rId1"/>
          <a:stretch/>
        </p:blipFill>
        <p:spPr>
          <a:xfrm>
            <a:off x="258480" y="1067040"/>
            <a:ext cx="865692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3" descr=""/>
          <p:cNvPicPr/>
          <p:nvPr/>
        </p:nvPicPr>
        <p:blipFill>
          <a:blip r:embed="rId1"/>
          <a:stretch/>
        </p:blipFill>
        <p:spPr>
          <a:xfrm>
            <a:off x="833400" y="795240"/>
            <a:ext cx="7476840" cy="526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3" descr=""/>
          <p:cNvPicPr/>
          <p:nvPr/>
        </p:nvPicPr>
        <p:blipFill>
          <a:blip r:embed="rId1"/>
          <a:stretch/>
        </p:blipFill>
        <p:spPr>
          <a:xfrm>
            <a:off x="888840" y="533880"/>
            <a:ext cx="7340760" cy="56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" descr=""/>
          <p:cNvPicPr/>
          <p:nvPr/>
        </p:nvPicPr>
        <p:blipFill>
          <a:blip r:embed="rId1"/>
          <a:stretch/>
        </p:blipFill>
        <p:spPr>
          <a:xfrm rot="5400000">
            <a:off x="5210280" y="2923920"/>
            <a:ext cx="4495320" cy="337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4" descr=""/>
          <p:cNvPicPr/>
          <p:nvPr/>
        </p:nvPicPr>
        <p:blipFill>
          <a:blip r:embed="rId2"/>
          <a:stretch/>
        </p:blipFill>
        <p:spPr>
          <a:xfrm>
            <a:off x="0" y="125640"/>
            <a:ext cx="6086520" cy="467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3" descr=""/>
          <p:cNvPicPr/>
          <p:nvPr/>
        </p:nvPicPr>
        <p:blipFill>
          <a:blip r:embed="rId1"/>
          <a:srcRect l="12613" t="0" r="0" b="0"/>
          <a:stretch/>
        </p:blipFill>
        <p:spPr>
          <a:xfrm>
            <a:off x="0" y="-27360"/>
            <a:ext cx="5319000" cy="467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5" descr=""/>
          <p:cNvPicPr/>
          <p:nvPr/>
        </p:nvPicPr>
        <p:blipFill>
          <a:blip r:embed="rId2"/>
          <a:stretch/>
        </p:blipFill>
        <p:spPr>
          <a:xfrm rot="5400000">
            <a:off x="3945240" y="3521160"/>
            <a:ext cx="3813120" cy="285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4" descr=""/>
          <p:cNvPicPr/>
          <p:nvPr/>
        </p:nvPicPr>
        <p:blipFill>
          <a:blip r:embed="rId3"/>
          <a:stretch/>
        </p:blipFill>
        <p:spPr>
          <a:xfrm rot="5400000">
            <a:off x="5909760" y="401400"/>
            <a:ext cx="3798360" cy="284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3" descr=""/>
          <p:cNvPicPr/>
          <p:nvPr/>
        </p:nvPicPr>
        <p:blipFill>
          <a:blip r:embed="rId1"/>
          <a:srcRect l="12613" t="0" r="0" b="0"/>
          <a:stretch/>
        </p:blipFill>
        <p:spPr>
          <a:xfrm>
            <a:off x="0" y="-27360"/>
            <a:ext cx="5319000" cy="467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4" descr=""/>
          <p:cNvPicPr/>
          <p:nvPr/>
        </p:nvPicPr>
        <p:blipFill>
          <a:blip r:embed="rId2"/>
          <a:stretch/>
        </p:blipFill>
        <p:spPr>
          <a:xfrm rot="5400000">
            <a:off x="6173640" y="424080"/>
            <a:ext cx="3394800" cy="254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5" descr=""/>
          <p:cNvPicPr/>
          <p:nvPr/>
        </p:nvPicPr>
        <p:blipFill>
          <a:blip r:embed="rId3"/>
          <a:stretch/>
        </p:blipFill>
        <p:spPr>
          <a:xfrm rot="5400000">
            <a:off x="4038120" y="3853440"/>
            <a:ext cx="3396600" cy="254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Arial"/>
              </a:rPr>
              <a:t>Lecture content adapted from Tony Gaddis textbook chapter 20.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3912</TotalTime>
  <Application>LibreOffice/24.8.6.2$Windows_X86_64 LibreOffice_project/6d98ba145e9a8a39fc57bcc76981d1fb1316c60c</Application>
  <AppVersion>15.0000</AppVersion>
  <Words>88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huda</dc:creator>
  <dc:description/>
  <dc:language>en-US</dc:language>
  <cp:lastModifiedBy/>
  <dcterms:modified xsi:type="dcterms:W3CDTF">2025-05-14T23:19:28Z</dcterms:modified>
  <cp:revision>192</cp:revision>
  <dc:subject/>
  <dc:title>Theory of Automata (CSC-402)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22</vt:i4>
  </property>
</Properties>
</file>