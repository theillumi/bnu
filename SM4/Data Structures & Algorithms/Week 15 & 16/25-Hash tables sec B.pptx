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320" r:id="rId3"/>
    <p:sldId id="311" r:id="rId4"/>
    <p:sldId id="312" r:id="rId5"/>
    <p:sldId id="313" r:id="rId6"/>
    <p:sldId id="315" r:id="rId7"/>
    <p:sldId id="314" r:id="rId8"/>
    <p:sldId id="316" r:id="rId9"/>
    <p:sldId id="317" r:id="rId10"/>
    <p:sldId id="318" r:id="rId11"/>
    <p:sldId id="319" r:id="rId12"/>
    <p:sldId id="326" r:id="rId13"/>
    <p:sldId id="338" r:id="rId14"/>
    <p:sldId id="327" r:id="rId15"/>
    <p:sldId id="340" r:id="rId16"/>
    <p:sldId id="329" r:id="rId17"/>
    <p:sldId id="330" r:id="rId18"/>
    <p:sldId id="333" r:id="rId19"/>
    <p:sldId id="334" r:id="rId20"/>
    <p:sldId id="335" r:id="rId21"/>
    <p:sldId id="337" r:id="rId22"/>
    <p:sldId id="31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7" autoAdjust="0"/>
    <p:restoredTop sz="95407" autoAdjust="0"/>
  </p:normalViewPr>
  <p:slideViewPr>
    <p:cSldViewPr snapToGrid="0">
      <p:cViewPr>
        <p:scale>
          <a:sx n="200" d="100"/>
          <a:sy n="200" d="100"/>
        </p:scale>
        <p:origin x="-3384" y="-23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B46F8-A12E-4075-BBB3-5FBBE63D505A}" type="datetimeFigureOut">
              <a:rPr lang="en-US" smtClean="0"/>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17E419-5765-4014-BD60-4B042D3D454B}" type="slidenum">
              <a:rPr lang="en-US" smtClean="0"/>
              <a:t>‹#›</a:t>
            </a:fld>
            <a:endParaRPr lang="en-US"/>
          </a:p>
        </p:txBody>
      </p:sp>
    </p:spTree>
    <p:extLst>
      <p:ext uri="{BB962C8B-B14F-4D97-AF65-F5344CB8AC3E}">
        <p14:creationId xmlns:p14="http://schemas.microsoft.com/office/powerpoint/2010/main" val="3767995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2E26-85BE-BE22-2B71-B92183EC59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9A9742-B357-881E-291D-E46A2C83D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31A880-5517-BF54-5BFF-8C0732D62072}"/>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37038AA7-AEE5-BAA7-B0FC-35C823C4FF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E8E1D-4252-2272-0033-88A6598412A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69559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FBCFF-5275-C316-2D7D-22C230F7B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9C8F20-A857-29D0-CB9A-8335ECF3B9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9FF765-1265-32C8-98DE-1D4428438FA7}"/>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23465493-3CAE-9E25-9014-3E64ABFEF8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9FB28-7303-FF01-9D3E-DE70D33AA4E6}"/>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97479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EF00-A165-4CA7-1D6B-CB824624E1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CB7F97-1629-53E3-D960-6732FF4A1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FF4CFF-E823-A469-74A6-E0AF45E09829}"/>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D2290D19-F7B0-D3A3-0B6D-B58B1FE6B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19008-7038-F82A-7F6D-B2DC4D1254D5}"/>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765806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8253C-F47B-4054-6F1A-F1E58CC546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773D2D-905E-25EE-E62A-4D38754F82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7DD3EF-7781-275A-6D31-5ED3871AD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6922B-B1AA-1A65-3AC3-57F6E075202D}"/>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6" name="Footer Placeholder 5">
            <a:extLst>
              <a:ext uri="{FF2B5EF4-FFF2-40B4-BE49-F238E27FC236}">
                <a16:creationId xmlns:a16="http://schemas.microsoft.com/office/drawing/2014/main" id="{A0B7AD87-B988-2787-FFFB-DDC3420D1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B07325-2A5C-97B4-3AA7-7CEEE252006D}"/>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188687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92A3-2A83-25E8-DA33-43E273699C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B50215-2C5C-5A87-5EE0-F35E43581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8992DB-EB77-4904-BFBE-D8CAC32291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A9B083-EF60-5C0D-D461-38BFCE26D8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4E1D7-1485-ECA2-8F59-6C873D3250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1FBE2B-7F8A-6E39-0547-85B3BDB38581}"/>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8" name="Footer Placeholder 7">
            <a:extLst>
              <a:ext uri="{FF2B5EF4-FFF2-40B4-BE49-F238E27FC236}">
                <a16:creationId xmlns:a16="http://schemas.microsoft.com/office/drawing/2014/main" id="{8AC7CF4F-543C-88FF-05B7-9FF5190F60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FC40AC-5A70-7B0E-DD55-E9FCAB48F73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501691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096C-B84B-8A4C-55D3-50F6CD219B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A976D2-8F2F-FBC1-1FB7-691748F31FAA}"/>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4" name="Footer Placeholder 3">
            <a:extLst>
              <a:ext uri="{FF2B5EF4-FFF2-40B4-BE49-F238E27FC236}">
                <a16:creationId xmlns:a16="http://schemas.microsoft.com/office/drawing/2014/main" id="{65C365D5-00AA-371D-9B5F-6AC92DB567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E2AD98-D191-63E8-5C56-67386277E48B}"/>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420631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810712-2C58-F740-F150-114663A4788B}"/>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3" name="Footer Placeholder 2">
            <a:extLst>
              <a:ext uri="{FF2B5EF4-FFF2-40B4-BE49-F238E27FC236}">
                <a16:creationId xmlns:a16="http://schemas.microsoft.com/office/drawing/2014/main" id="{89A0B47B-A3CB-A22A-BD63-E6A6479DF5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B1A844-7A97-8915-8A3C-A1333526A7DB}"/>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898994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6225-3771-CC55-8C57-B1AE218ED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CB74E1-50C3-6A68-2EB5-720AB568F4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31BE4A-2F65-E4E3-9134-8C65E33F7A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84471-EAB1-E280-B7A0-4F87A86E1B09}"/>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6" name="Footer Placeholder 5">
            <a:extLst>
              <a:ext uri="{FF2B5EF4-FFF2-40B4-BE49-F238E27FC236}">
                <a16:creationId xmlns:a16="http://schemas.microsoft.com/office/drawing/2014/main" id="{C1909785-EEC5-4FD3-0672-67E7479252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BAA18D-5801-8841-9A97-3512953BB0CC}"/>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2686457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231E-9A63-DFB8-92DD-089A489EC2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E2C91A-352D-D240-E12A-60E8EC64D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749C07-E7AA-99AC-2F62-B1753A3629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879856-8251-66CE-1B04-B3853F03663E}"/>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6" name="Footer Placeholder 5">
            <a:extLst>
              <a:ext uri="{FF2B5EF4-FFF2-40B4-BE49-F238E27FC236}">
                <a16:creationId xmlns:a16="http://schemas.microsoft.com/office/drawing/2014/main" id="{20BD93CA-928F-5BA2-9F75-0B01BBC4D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693AFA-3803-9E04-AA99-116273EB8A56}"/>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26874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A8C58-7C19-98A0-7D9B-48DF8349C7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EDD4E9-9C40-2799-49E6-16E98B35A2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169A3B-70C2-844F-F4CA-4E9D667BE5A1}"/>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B1747646-4FE2-7BEB-F864-186FB6179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25619A-68C5-6150-F7B7-3A77A16A433A}"/>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3798201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579BB-B111-0701-5BE2-6E70488F74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A8306B-0FB4-9B06-DE29-4913E0A9CA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CC7B1-EC1A-1E52-FB2E-FD881AA22B92}"/>
              </a:ext>
            </a:extLst>
          </p:cNvPr>
          <p:cNvSpPr>
            <a:spLocks noGrp="1"/>
          </p:cNvSpPr>
          <p:nvPr>
            <p:ph type="dt" sz="half" idx="10"/>
          </p:nvPr>
        </p:nvSpPr>
        <p:spPr/>
        <p:txBody>
          <a:body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58AFCA1C-A2DD-FC79-329B-D9B6B4543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E9839-F888-894D-9F2D-A0BE45C8AA75}"/>
              </a:ext>
            </a:extLst>
          </p:cNvPr>
          <p:cNvSpPr>
            <a:spLocks noGrp="1"/>
          </p:cNvSpPr>
          <p:nvPr>
            <p:ph type="sldNum" sz="quarter" idx="12"/>
          </p:nvPr>
        </p:nvSpPr>
        <p:spPr/>
        <p:txBody>
          <a:bodyPr/>
          <a:lstStyle/>
          <a:p>
            <a:fld id="{9D50A92E-F942-4900-B5E9-9C38C1CFF7E1}" type="slidenum">
              <a:rPr lang="en-US" smtClean="0"/>
              <a:t>‹#›</a:t>
            </a:fld>
            <a:endParaRPr lang="en-US"/>
          </a:p>
        </p:txBody>
      </p:sp>
    </p:spTree>
    <p:extLst>
      <p:ext uri="{BB962C8B-B14F-4D97-AF65-F5344CB8AC3E}">
        <p14:creationId xmlns:p14="http://schemas.microsoft.com/office/powerpoint/2010/main" val="1198675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D8A0F2-582F-610A-343B-C1E7C83DBE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BB7021-F849-DD63-6F55-8DD0B12A82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D4AF0B-82BC-B4D5-A649-83384AFAB3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307B5-51FD-4FCD-A3E7-91C08E33BA66}" type="datetimeFigureOut">
              <a:rPr lang="en-US" smtClean="0"/>
              <a:t>5/26/2025</a:t>
            </a:fld>
            <a:endParaRPr lang="en-US"/>
          </a:p>
        </p:txBody>
      </p:sp>
      <p:sp>
        <p:nvSpPr>
          <p:cNvPr id="5" name="Footer Placeholder 4">
            <a:extLst>
              <a:ext uri="{FF2B5EF4-FFF2-40B4-BE49-F238E27FC236}">
                <a16:creationId xmlns:a16="http://schemas.microsoft.com/office/drawing/2014/main" id="{D23C9020-5B3B-64E9-7C52-D06A2B012A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1AFF93-D23F-DA2F-E6A3-93EB1EF61A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0A92E-F942-4900-B5E9-9C38C1CFF7E1}" type="slidenum">
              <a:rPr lang="en-US" smtClean="0"/>
              <a:t>‹#›</a:t>
            </a:fld>
            <a:endParaRPr lang="en-US"/>
          </a:p>
        </p:txBody>
      </p:sp>
    </p:spTree>
    <p:extLst>
      <p:ext uri="{BB962C8B-B14F-4D97-AF65-F5344CB8AC3E}">
        <p14:creationId xmlns:p14="http://schemas.microsoft.com/office/powerpoint/2010/main" val="1456852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FFC2-9E19-3B0E-A250-2E8B5DCF93A8}"/>
              </a:ext>
            </a:extLst>
          </p:cNvPr>
          <p:cNvSpPr>
            <a:spLocks noGrp="1"/>
          </p:cNvSpPr>
          <p:nvPr>
            <p:ph type="ctrTitle"/>
          </p:nvPr>
        </p:nvSpPr>
        <p:spPr/>
        <p:txBody>
          <a:bodyPr/>
          <a:lstStyle/>
          <a:p>
            <a:r>
              <a:rPr lang="en-US" dirty="0"/>
              <a:t>Data Structures &amp; Algorithms (CSC-214)</a:t>
            </a:r>
          </a:p>
        </p:txBody>
      </p:sp>
      <p:sp>
        <p:nvSpPr>
          <p:cNvPr id="3" name="Subtitle 2">
            <a:extLst>
              <a:ext uri="{FF2B5EF4-FFF2-40B4-BE49-F238E27FC236}">
                <a16:creationId xmlns:a16="http://schemas.microsoft.com/office/drawing/2014/main" id="{D89EA3E1-6477-EADA-49D3-94F5F46652BD}"/>
              </a:ext>
            </a:extLst>
          </p:cNvPr>
          <p:cNvSpPr>
            <a:spLocks noGrp="1"/>
          </p:cNvSpPr>
          <p:nvPr>
            <p:ph type="subTitle" idx="1"/>
          </p:nvPr>
        </p:nvSpPr>
        <p:spPr/>
        <p:txBody>
          <a:bodyPr/>
          <a:lstStyle/>
          <a:p>
            <a:r>
              <a:rPr lang="en-US" dirty="0"/>
              <a:t>Hash tables</a:t>
            </a:r>
          </a:p>
        </p:txBody>
      </p:sp>
    </p:spTree>
    <p:extLst>
      <p:ext uri="{BB962C8B-B14F-4D97-AF65-F5344CB8AC3E}">
        <p14:creationId xmlns:p14="http://schemas.microsoft.com/office/powerpoint/2010/main" val="373963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49D6C-6CD0-7408-7DE2-231DB8A28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FC37B-0503-9960-C672-94FC847F0CA2}"/>
              </a:ext>
            </a:extLst>
          </p:cNvPr>
          <p:cNvSpPr>
            <a:spLocks noGrp="1"/>
          </p:cNvSpPr>
          <p:nvPr>
            <p:ph type="title"/>
          </p:nvPr>
        </p:nvSpPr>
        <p:spPr/>
        <p:txBody>
          <a:bodyPr/>
          <a:lstStyle/>
          <a:p>
            <a:r>
              <a:rPr lang="en-US" dirty="0"/>
              <a:t>Hash tables</a:t>
            </a:r>
          </a:p>
        </p:txBody>
      </p:sp>
      <p:sp>
        <p:nvSpPr>
          <p:cNvPr id="3" name="Content Placeholder 2">
            <a:extLst>
              <a:ext uri="{FF2B5EF4-FFF2-40B4-BE49-F238E27FC236}">
                <a16:creationId xmlns:a16="http://schemas.microsoft.com/office/drawing/2014/main" id="{E5F0C951-A079-D895-A3CD-FCF09B492C1B}"/>
              </a:ext>
            </a:extLst>
          </p:cNvPr>
          <p:cNvSpPr>
            <a:spLocks noGrp="1"/>
          </p:cNvSpPr>
          <p:nvPr>
            <p:ph idx="1"/>
          </p:nvPr>
        </p:nvSpPr>
        <p:spPr/>
        <p:txBody>
          <a:bodyPr>
            <a:normAutofit/>
          </a:bodyPr>
          <a:lstStyle/>
          <a:p>
            <a:pPr>
              <a:lnSpc>
                <a:spcPct val="100000"/>
              </a:lnSpc>
              <a:spcBef>
                <a:spcPts val="641"/>
              </a:spcBef>
              <a:buClr>
                <a:srgbClr val="000000"/>
              </a:buClr>
            </a:pPr>
            <a:r>
              <a:rPr lang="en-US" sz="2800" b="0" u="none" strike="noStrike" dirty="0">
                <a:solidFill>
                  <a:schemeClr val="dk1"/>
                </a:solidFill>
                <a:uFillTx/>
                <a:latin typeface="Arial"/>
              </a:rPr>
              <a:t>Performance improved as we went on from linear structures to binary trees</a:t>
            </a:r>
            <a:endParaRPr lang="en-US" dirty="0">
              <a:solidFill>
                <a:srgbClr val="000000"/>
              </a:solidFill>
              <a:latin typeface="Arial"/>
            </a:endParaRPr>
          </a:p>
          <a:p>
            <a:pPr>
              <a:lnSpc>
                <a:spcPct val="100000"/>
              </a:lnSpc>
              <a:spcBef>
                <a:spcPts val="641"/>
              </a:spcBef>
              <a:buClr>
                <a:srgbClr val="000000"/>
              </a:buClr>
            </a:pPr>
            <a:r>
              <a:rPr lang="en-US" sz="2800" b="0" u="none" strike="noStrike" dirty="0">
                <a:solidFill>
                  <a:schemeClr val="dk1"/>
                </a:solidFill>
                <a:uFillTx/>
                <a:latin typeface="Arial"/>
              </a:rPr>
              <a:t>Hash tables provide even better performance ~ O(1)</a:t>
            </a:r>
          </a:p>
          <a:p>
            <a:pPr>
              <a:lnSpc>
                <a:spcPct val="100000"/>
              </a:lnSpc>
              <a:spcBef>
                <a:spcPts val="641"/>
              </a:spcBef>
              <a:buClr>
                <a:srgbClr val="000000"/>
              </a:buClr>
            </a:pPr>
            <a:endParaRPr lang="en-US" dirty="0">
              <a:solidFill>
                <a:schemeClr val="dk1"/>
              </a:solidFill>
              <a:latin typeface="Arial"/>
            </a:endParaRPr>
          </a:p>
          <a:p>
            <a:pPr>
              <a:lnSpc>
                <a:spcPct val="100000"/>
              </a:lnSpc>
              <a:spcBef>
                <a:spcPts val="641"/>
              </a:spcBef>
              <a:buClr>
                <a:srgbClr val="000000"/>
              </a:buClr>
            </a:pPr>
            <a:r>
              <a:rPr lang="en-US" dirty="0">
                <a:solidFill>
                  <a:schemeClr val="dk1"/>
                </a:solidFill>
                <a:latin typeface="Arial"/>
              </a:rPr>
              <a:t>Idea: Transforming input (key) into a fixed-size value (hash code).</a:t>
            </a:r>
          </a:p>
          <a:p>
            <a:endParaRPr lang="en-US" dirty="0"/>
          </a:p>
        </p:txBody>
      </p:sp>
    </p:spTree>
    <p:extLst>
      <p:ext uri="{BB962C8B-B14F-4D97-AF65-F5344CB8AC3E}">
        <p14:creationId xmlns:p14="http://schemas.microsoft.com/office/powerpoint/2010/main" val="382431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FE590-22C6-5E04-52F4-8EB4EF2D8F8A}"/>
              </a:ext>
            </a:extLst>
          </p:cNvPr>
          <p:cNvSpPr>
            <a:spLocks noGrp="1"/>
          </p:cNvSpPr>
          <p:nvPr>
            <p:ph type="title"/>
          </p:nvPr>
        </p:nvSpPr>
        <p:spPr/>
        <p:txBody>
          <a:bodyPr/>
          <a:lstStyle/>
          <a:p>
            <a:r>
              <a:rPr lang="en-US" dirty="0"/>
              <a:t>Hash tables</a:t>
            </a:r>
          </a:p>
        </p:txBody>
      </p:sp>
      <p:sp>
        <p:nvSpPr>
          <p:cNvPr id="3" name="Content Placeholder 2">
            <a:extLst>
              <a:ext uri="{FF2B5EF4-FFF2-40B4-BE49-F238E27FC236}">
                <a16:creationId xmlns:a16="http://schemas.microsoft.com/office/drawing/2014/main" id="{CDCDACC7-8912-C400-DADC-A0B6B58D2CA3}"/>
              </a:ext>
            </a:extLst>
          </p:cNvPr>
          <p:cNvSpPr>
            <a:spLocks noGrp="1"/>
          </p:cNvSpPr>
          <p:nvPr>
            <p:ph idx="1"/>
          </p:nvPr>
        </p:nvSpPr>
        <p:spPr/>
        <p:txBody>
          <a:bodyPr>
            <a:normAutofit/>
          </a:bodyPr>
          <a:lstStyle/>
          <a:p>
            <a:pPr marL="343080" indent="-343080" defTabSz="914400">
              <a:lnSpc>
                <a:spcPct val="100000"/>
              </a:lnSpc>
              <a:spcBef>
                <a:spcPts val="641"/>
              </a:spcBef>
              <a:buClr>
                <a:srgbClr val="000000"/>
              </a:buClr>
              <a:buFont typeface="Arial"/>
              <a:buChar char="•"/>
            </a:pPr>
            <a:r>
              <a:rPr lang="en-US" dirty="0">
                <a:solidFill>
                  <a:schemeClr val="dk1"/>
                </a:solidFill>
                <a:latin typeface="Arial"/>
              </a:rPr>
              <a:t>Input d</a:t>
            </a:r>
            <a:r>
              <a:rPr lang="en-US" sz="2800" b="0" u="none" strike="noStrike" dirty="0">
                <a:solidFill>
                  <a:schemeClr val="dk1"/>
                </a:solidFill>
                <a:uFillTx/>
                <a:latin typeface="Arial"/>
              </a:rPr>
              <a:t>ata is stored with a key</a:t>
            </a:r>
            <a:endParaRPr lang="en-US" sz="2800" b="0" u="none" strike="noStrike" dirty="0">
              <a:solidFill>
                <a:srgbClr val="000000"/>
              </a:solidFill>
              <a:uFillTx/>
              <a:latin typeface="Arial"/>
            </a:endParaRPr>
          </a:p>
          <a:p>
            <a:pPr marL="343080" indent="-343080" defTabSz="914400">
              <a:lnSpc>
                <a:spcPct val="100000"/>
              </a:lnSpc>
              <a:spcBef>
                <a:spcPts val="641"/>
              </a:spcBef>
              <a:buClr>
                <a:srgbClr val="000000"/>
              </a:buClr>
              <a:buFont typeface="Arial"/>
              <a:buChar char="•"/>
            </a:pPr>
            <a:r>
              <a:rPr lang="en-US" sz="2800" b="0" u="none" strike="noStrike" dirty="0">
                <a:solidFill>
                  <a:schemeClr val="dk1"/>
                </a:solidFill>
                <a:uFillTx/>
                <a:latin typeface="Arial"/>
              </a:rPr>
              <a:t>Use a unique mapping of each key onto a specific location in an array</a:t>
            </a:r>
            <a:endParaRPr lang="en-US" sz="2800" b="0" u="none" strike="noStrike" dirty="0">
              <a:solidFill>
                <a:srgbClr val="000000"/>
              </a:solidFill>
              <a:uFillTx/>
              <a:latin typeface="Arial"/>
            </a:endParaRPr>
          </a:p>
          <a:p>
            <a:pPr marL="343080" indent="-343080" defTabSz="914400">
              <a:lnSpc>
                <a:spcPct val="100000"/>
              </a:lnSpc>
              <a:spcBef>
                <a:spcPts val="641"/>
              </a:spcBef>
              <a:buClr>
                <a:srgbClr val="000000"/>
              </a:buClr>
              <a:buFont typeface="Arial"/>
              <a:buChar char="•"/>
            </a:pPr>
            <a:r>
              <a:rPr lang="en-US" sz="2800" b="0" u="none" strike="noStrike" dirty="0">
                <a:solidFill>
                  <a:schemeClr val="dk1"/>
                </a:solidFill>
                <a:uFillTx/>
                <a:latin typeface="Arial"/>
              </a:rPr>
              <a:t>The mapping of the key to a specific location in an array is handled by the hash operation</a:t>
            </a:r>
            <a:endParaRPr lang="en-US" sz="2800" b="0" u="none" strike="noStrike" dirty="0">
              <a:solidFill>
                <a:srgbClr val="000000"/>
              </a:solidFill>
              <a:uFillTx/>
              <a:latin typeface="Arial"/>
            </a:endParaRPr>
          </a:p>
          <a:p>
            <a:pPr>
              <a:lnSpc>
                <a:spcPct val="100000"/>
              </a:lnSpc>
              <a:spcBef>
                <a:spcPts val="641"/>
              </a:spcBef>
              <a:buClr>
                <a:srgbClr val="000000"/>
              </a:buClr>
            </a:pPr>
            <a:endParaRPr lang="en-US" sz="2800" b="0" u="none" strike="noStrike" dirty="0">
              <a:solidFill>
                <a:srgbClr val="000000"/>
              </a:solidFill>
              <a:uFillTx/>
              <a:latin typeface="Arial"/>
            </a:endParaRPr>
          </a:p>
          <a:p>
            <a:endParaRPr lang="en-US" dirty="0"/>
          </a:p>
        </p:txBody>
      </p:sp>
    </p:spTree>
    <p:extLst>
      <p:ext uri="{BB962C8B-B14F-4D97-AF65-F5344CB8AC3E}">
        <p14:creationId xmlns:p14="http://schemas.microsoft.com/office/powerpoint/2010/main" val="10990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204-B48C-F908-7DE1-B5CBD378D477}"/>
              </a:ext>
            </a:extLst>
          </p:cNvPr>
          <p:cNvSpPr>
            <a:spLocks noGrp="1"/>
          </p:cNvSpPr>
          <p:nvPr>
            <p:ph type="title"/>
          </p:nvPr>
        </p:nvSpPr>
        <p:spPr/>
        <p:txBody>
          <a:bodyPr/>
          <a:lstStyle/>
          <a:p>
            <a:r>
              <a:rPr lang="en-US" dirty="0"/>
              <a:t>Hash operations</a:t>
            </a:r>
          </a:p>
        </p:txBody>
      </p:sp>
      <p:sp>
        <p:nvSpPr>
          <p:cNvPr id="3" name="Content Placeholder 2">
            <a:extLst>
              <a:ext uri="{FF2B5EF4-FFF2-40B4-BE49-F238E27FC236}">
                <a16:creationId xmlns:a16="http://schemas.microsoft.com/office/drawing/2014/main" id="{308AE161-C324-EC09-A10A-2570B83451AE}"/>
              </a:ext>
            </a:extLst>
          </p:cNvPr>
          <p:cNvSpPr>
            <a:spLocks noGrp="1"/>
          </p:cNvSpPr>
          <p:nvPr>
            <p:ph idx="1"/>
          </p:nvPr>
        </p:nvSpPr>
        <p:spPr>
          <a:xfrm>
            <a:off x="838200" y="1825625"/>
            <a:ext cx="5257800" cy="4351338"/>
          </a:xfrm>
        </p:spPr>
        <p:txBody>
          <a:bodyPr>
            <a:normAutofit/>
          </a:bodyPr>
          <a:lstStyle/>
          <a:p>
            <a:pPr marL="343080" indent="-343080" defTabSz="914400">
              <a:lnSpc>
                <a:spcPct val="100000"/>
              </a:lnSpc>
              <a:spcBef>
                <a:spcPts val="641"/>
              </a:spcBef>
              <a:buClr>
                <a:srgbClr val="000000"/>
              </a:buClr>
              <a:buFont typeface="Arial"/>
              <a:buChar char="•"/>
            </a:pPr>
            <a:r>
              <a:rPr lang="en-US" sz="2400" b="0" u="none" strike="noStrike" dirty="0">
                <a:solidFill>
                  <a:schemeClr val="dk1"/>
                </a:solidFill>
                <a:uFillTx/>
                <a:latin typeface="Arial"/>
              </a:rPr>
              <a:t>Input: Key</a:t>
            </a:r>
            <a:endParaRPr lang="en-US" sz="2400" b="0" u="none" strike="noStrike" dirty="0">
              <a:solidFill>
                <a:srgbClr val="000000"/>
              </a:solidFill>
              <a:uFillTx/>
              <a:latin typeface="Arial"/>
            </a:endParaRPr>
          </a:p>
          <a:p>
            <a:pPr marL="343080" indent="-343080" defTabSz="914400">
              <a:lnSpc>
                <a:spcPct val="100000"/>
              </a:lnSpc>
              <a:spcBef>
                <a:spcPts val="641"/>
              </a:spcBef>
              <a:buClr>
                <a:srgbClr val="000000"/>
              </a:buClr>
              <a:buFont typeface="Arial"/>
              <a:buChar char="•"/>
            </a:pPr>
            <a:r>
              <a:rPr lang="en-US" sz="2400" b="0" u="none" strike="noStrike" dirty="0">
                <a:solidFill>
                  <a:schemeClr val="dk1"/>
                </a:solidFill>
                <a:uFillTx/>
                <a:latin typeface="Arial"/>
              </a:rPr>
              <a:t>Output: Integer that is used to index into the hash table</a:t>
            </a:r>
            <a:endParaRPr lang="en-US" sz="2400" b="0" u="none" strike="noStrike" dirty="0">
              <a:solidFill>
                <a:srgbClr val="000000"/>
              </a:solidFill>
              <a:uFillTx/>
              <a:latin typeface="Arial"/>
            </a:endParaRPr>
          </a:p>
          <a:p>
            <a:endParaRPr lang="en-US" sz="2400" dirty="0"/>
          </a:p>
        </p:txBody>
      </p:sp>
      <p:sp>
        <p:nvSpPr>
          <p:cNvPr id="4" name="Content Placeholder 2">
            <a:extLst>
              <a:ext uri="{FF2B5EF4-FFF2-40B4-BE49-F238E27FC236}">
                <a16:creationId xmlns:a16="http://schemas.microsoft.com/office/drawing/2014/main" id="{007153DB-B0AC-4796-9E90-5C64D7834C35}"/>
              </a:ext>
            </a:extLst>
          </p:cNvPr>
          <p:cNvSpPr txBox="1">
            <a:spLocks/>
          </p:cNvSpPr>
          <p:nvPr/>
        </p:nvSpPr>
        <p:spPr>
          <a:xfrm>
            <a:off x="60960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3080" indent="-343080" defTabSz="914400">
              <a:lnSpc>
                <a:spcPct val="100000"/>
              </a:lnSpc>
              <a:spcBef>
                <a:spcPts val="641"/>
              </a:spcBef>
              <a:buClr>
                <a:srgbClr val="000000"/>
              </a:buClr>
              <a:buFont typeface="Arial"/>
              <a:buChar char="•"/>
            </a:pPr>
            <a:r>
              <a:rPr lang="en-US" b="0" u="none" strike="noStrike" dirty="0">
                <a:solidFill>
                  <a:schemeClr val="dk1"/>
                </a:solidFill>
                <a:uFillTx/>
                <a:latin typeface="Arial"/>
              </a:rPr>
              <a:t>The key is an integer</a:t>
            </a:r>
            <a:endParaRPr lang="en-US"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b="0" u="none" strike="noStrike" dirty="0">
                <a:solidFill>
                  <a:schemeClr val="dk1"/>
                </a:solidFill>
                <a:uFillTx/>
                <a:latin typeface="Arial"/>
              </a:rPr>
              <a:t>Key = 3, place in index 3</a:t>
            </a:r>
            <a:endParaRPr lang="en-US"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b="0" u="none" strike="noStrike" dirty="0">
                <a:solidFill>
                  <a:schemeClr val="dk1"/>
                </a:solidFill>
                <a:uFillTx/>
                <a:latin typeface="Arial"/>
              </a:rPr>
              <a:t>Key = 1, place in index 1</a:t>
            </a:r>
          </a:p>
          <a:p>
            <a:pPr marL="800280" lvl="1" indent="-343080">
              <a:lnSpc>
                <a:spcPct val="100000"/>
              </a:lnSpc>
              <a:spcBef>
                <a:spcPts val="641"/>
              </a:spcBef>
              <a:buClr>
                <a:srgbClr val="000000"/>
              </a:buClr>
              <a:buFont typeface="Arial"/>
              <a:buChar char="•"/>
            </a:pPr>
            <a:r>
              <a:rPr lang="en-US" sz="2400" b="0" u="none" strike="noStrike" dirty="0">
                <a:solidFill>
                  <a:schemeClr val="dk1"/>
                </a:solidFill>
                <a:uFillTx/>
                <a:latin typeface="Arial"/>
              </a:rPr>
              <a:t>Key  = 9?</a:t>
            </a:r>
            <a:endParaRPr lang="en-US" sz="2400"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endParaRPr lang="en-US" b="0" u="none" strike="noStrike" dirty="0">
              <a:solidFill>
                <a:srgbClr val="000000"/>
              </a:solidFill>
              <a:uFillTx/>
              <a:latin typeface="Arial"/>
            </a:endParaRPr>
          </a:p>
        </p:txBody>
      </p:sp>
      <p:pic>
        <p:nvPicPr>
          <p:cNvPr id="5" name="Picture 3">
            <a:extLst>
              <a:ext uri="{FF2B5EF4-FFF2-40B4-BE49-F238E27FC236}">
                <a16:creationId xmlns:a16="http://schemas.microsoft.com/office/drawing/2014/main" id="{AB9AEBB2-1B95-1E03-4B6D-9E3DE78329B6}"/>
              </a:ext>
            </a:extLst>
          </p:cNvPr>
          <p:cNvPicPr/>
          <p:nvPr/>
        </p:nvPicPr>
        <p:blipFill>
          <a:blip r:embed="rId2"/>
          <a:stretch/>
        </p:blipFill>
        <p:spPr>
          <a:xfrm>
            <a:off x="2931060" y="4794111"/>
            <a:ext cx="6329880" cy="1022760"/>
          </a:xfrm>
          <a:prstGeom prst="rect">
            <a:avLst/>
          </a:prstGeom>
          <a:noFill/>
          <a:ln w="0">
            <a:noFill/>
          </a:ln>
        </p:spPr>
      </p:pic>
    </p:spTree>
    <p:extLst>
      <p:ext uri="{BB962C8B-B14F-4D97-AF65-F5344CB8AC3E}">
        <p14:creationId xmlns:p14="http://schemas.microsoft.com/office/powerpoint/2010/main" val="4036017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302A-862D-BBF7-4B38-E7D71385CDA6}"/>
              </a:ext>
            </a:extLst>
          </p:cNvPr>
          <p:cNvSpPr>
            <a:spLocks noGrp="1"/>
          </p:cNvSpPr>
          <p:nvPr>
            <p:ph type="title"/>
          </p:nvPr>
        </p:nvSpPr>
        <p:spPr/>
        <p:txBody>
          <a:bodyPr/>
          <a:lstStyle/>
          <a:p>
            <a:r>
              <a:rPr lang="en-US" dirty="0"/>
              <a:t>Hash operations</a:t>
            </a:r>
          </a:p>
        </p:txBody>
      </p:sp>
      <p:sp>
        <p:nvSpPr>
          <p:cNvPr id="3" name="Content Placeholder 2">
            <a:extLst>
              <a:ext uri="{FF2B5EF4-FFF2-40B4-BE49-F238E27FC236}">
                <a16:creationId xmlns:a16="http://schemas.microsoft.com/office/drawing/2014/main" id="{A12B691F-50F0-D3B4-7E51-AD909DFB962B}"/>
              </a:ext>
            </a:extLst>
          </p:cNvPr>
          <p:cNvSpPr>
            <a:spLocks noGrp="1"/>
          </p:cNvSpPr>
          <p:nvPr>
            <p:ph idx="1"/>
          </p:nvPr>
        </p:nvSpPr>
        <p:spPr/>
        <p:txBody>
          <a:bodyPr/>
          <a:lstStyle/>
          <a:p>
            <a:r>
              <a:rPr lang="en-US" sz="2800" b="0" u="none" strike="noStrike" dirty="0">
                <a:solidFill>
                  <a:schemeClr val="dk1"/>
                </a:solidFill>
                <a:uFillTx/>
                <a:latin typeface="Arial"/>
              </a:rPr>
              <a:t>Key = 9?</a:t>
            </a:r>
          </a:p>
          <a:p>
            <a:pPr lvl="1"/>
            <a:r>
              <a:rPr lang="en-US" b="0" u="none" strike="noStrike" dirty="0">
                <a:solidFill>
                  <a:schemeClr val="dk1"/>
                </a:solidFill>
                <a:uFillTx/>
                <a:latin typeface="Arial"/>
              </a:rPr>
              <a:t>Need to perform some operation on the key so it can be mapped onto a valid array</a:t>
            </a:r>
          </a:p>
          <a:p>
            <a:r>
              <a:rPr lang="en-US" dirty="0">
                <a:solidFill>
                  <a:schemeClr val="dk1"/>
                </a:solidFill>
                <a:latin typeface="Arial"/>
              </a:rPr>
              <a:t>Simplest solution:</a:t>
            </a:r>
          </a:p>
          <a:p>
            <a:pPr lvl="1"/>
            <a:r>
              <a:rPr lang="en-US" dirty="0">
                <a:solidFill>
                  <a:schemeClr val="dk1"/>
                </a:solidFill>
                <a:latin typeface="Arial"/>
              </a:rPr>
              <a:t>Any ideas?</a:t>
            </a:r>
          </a:p>
          <a:p>
            <a:pPr lvl="1"/>
            <a:endParaRPr lang="en-US" b="0" u="none" strike="noStrike" dirty="0">
              <a:solidFill>
                <a:srgbClr val="000000"/>
              </a:solidFill>
              <a:uFillTx/>
              <a:latin typeface="Arial"/>
            </a:endParaRPr>
          </a:p>
          <a:p>
            <a:endParaRPr lang="en-US" dirty="0"/>
          </a:p>
        </p:txBody>
      </p:sp>
      <p:pic>
        <p:nvPicPr>
          <p:cNvPr id="4" name="Picture 3">
            <a:extLst>
              <a:ext uri="{FF2B5EF4-FFF2-40B4-BE49-F238E27FC236}">
                <a16:creationId xmlns:a16="http://schemas.microsoft.com/office/drawing/2014/main" id="{0C8C3E5D-927F-1850-C3E8-545A2EE35013}"/>
              </a:ext>
            </a:extLst>
          </p:cNvPr>
          <p:cNvPicPr/>
          <p:nvPr/>
        </p:nvPicPr>
        <p:blipFill>
          <a:blip r:embed="rId2"/>
          <a:stretch/>
        </p:blipFill>
        <p:spPr>
          <a:xfrm>
            <a:off x="2931060" y="4828477"/>
            <a:ext cx="6329880" cy="1022760"/>
          </a:xfrm>
          <a:prstGeom prst="rect">
            <a:avLst/>
          </a:prstGeom>
          <a:noFill/>
          <a:ln w="0">
            <a:noFill/>
          </a:ln>
        </p:spPr>
      </p:pic>
    </p:spTree>
    <p:extLst>
      <p:ext uri="{BB962C8B-B14F-4D97-AF65-F5344CB8AC3E}">
        <p14:creationId xmlns:p14="http://schemas.microsoft.com/office/powerpoint/2010/main" val="230289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545F4-0D7D-06F5-541F-5DB8FDD1C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D33D6-D407-8675-5102-F682D62C60AD}"/>
              </a:ext>
            </a:extLst>
          </p:cNvPr>
          <p:cNvSpPr>
            <a:spLocks noGrp="1"/>
          </p:cNvSpPr>
          <p:nvPr>
            <p:ph type="title"/>
          </p:nvPr>
        </p:nvSpPr>
        <p:spPr/>
        <p:txBody>
          <a:bodyPr/>
          <a:lstStyle/>
          <a:p>
            <a:r>
              <a:rPr lang="en-US" dirty="0"/>
              <a:t>Hash operations</a:t>
            </a:r>
          </a:p>
        </p:txBody>
      </p:sp>
      <p:sp>
        <p:nvSpPr>
          <p:cNvPr id="3" name="Content Placeholder 2">
            <a:extLst>
              <a:ext uri="{FF2B5EF4-FFF2-40B4-BE49-F238E27FC236}">
                <a16:creationId xmlns:a16="http://schemas.microsoft.com/office/drawing/2014/main" id="{9F119BE1-2CF9-93CB-35BD-582FE9D808B7}"/>
              </a:ext>
            </a:extLst>
          </p:cNvPr>
          <p:cNvSpPr>
            <a:spLocks noGrp="1"/>
          </p:cNvSpPr>
          <p:nvPr>
            <p:ph idx="1"/>
          </p:nvPr>
        </p:nvSpPr>
        <p:spPr/>
        <p:txBody>
          <a:bodyPr/>
          <a:lstStyle/>
          <a:p>
            <a:r>
              <a:rPr lang="en-US" sz="2800" b="0" u="none" strike="noStrike" dirty="0">
                <a:solidFill>
                  <a:schemeClr val="dk1"/>
                </a:solidFill>
                <a:uFillTx/>
                <a:latin typeface="Arial"/>
              </a:rPr>
              <a:t>Key = 9?</a:t>
            </a:r>
          </a:p>
          <a:p>
            <a:pPr lvl="1"/>
            <a:r>
              <a:rPr lang="en-US" b="0" u="none" strike="noStrike" dirty="0">
                <a:solidFill>
                  <a:schemeClr val="dk1"/>
                </a:solidFill>
                <a:uFillTx/>
                <a:latin typeface="Arial"/>
              </a:rPr>
              <a:t>Need to perform some operation on the key so it can be mapped onto a valid array</a:t>
            </a:r>
          </a:p>
          <a:p>
            <a:r>
              <a:rPr lang="en-US" dirty="0">
                <a:solidFill>
                  <a:schemeClr val="dk1"/>
                </a:solidFill>
                <a:latin typeface="Arial"/>
              </a:rPr>
              <a:t>Simplest solution:</a:t>
            </a:r>
          </a:p>
          <a:p>
            <a:pPr lvl="1"/>
            <a:r>
              <a:rPr lang="en-US" dirty="0">
                <a:solidFill>
                  <a:schemeClr val="dk1"/>
                </a:solidFill>
                <a:latin typeface="Arial"/>
              </a:rPr>
              <a:t>Use mod on table/array size</a:t>
            </a:r>
          </a:p>
          <a:p>
            <a:pPr marL="800280" lvl="1" indent="-343080">
              <a:lnSpc>
                <a:spcPct val="100000"/>
              </a:lnSpc>
              <a:spcBef>
                <a:spcPts val="641"/>
              </a:spcBef>
              <a:buClr>
                <a:srgbClr val="000000"/>
              </a:buClr>
              <a:buFont typeface="Arial"/>
              <a:buChar char="•"/>
            </a:pPr>
            <a:r>
              <a:rPr lang="en-US" sz="2000" b="0" u="none" strike="noStrike" dirty="0">
                <a:solidFill>
                  <a:schemeClr val="dk1"/>
                </a:solidFill>
                <a:uFillTx/>
                <a:latin typeface="Arial"/>
              </a:rPr>
              <a:t>Key = 9</a:t>
            </a:r>
            <a:endParaRPr lang="en-US" sz="2000"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sz="2000" b="0" u="none" strike="noStrike" dirty="0">
                <a:solidFill>
                  <a:schemeClr val="dk1"/>
                </a:solidFill>
                <a:uFillTx/>
                <a:latin typeface="Arial"/>
              </a:rPr>
              <a:t>Table Size = 7</a:t>
            </a:r>
            <a:endParaRPr lang="en-US" sz="2000"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sz="2000" b="0" u="none" strike="noStrike" dirty="0">
                <a:solidFill>
                  <a:schemeClr val="dk1"/>
                </a:solidFill>
                <a:uFillTx/>
                <a:latin typeface="Arial"/>
              </a:rPr>
              <a:t>9 mod 7 = 2</a:t>
            </a:r>
            <a:endParaRPr lang="en-US" sz="2000" b="0" u="none" strike="noStrike" dirty="0">
              <a:solidFill>
                <a:srgbClr val="000000"/>
              </a:solidFill>
              <a:uFillTx/>
              <a:latin typeface="Arial"/>
            </a:endParaRPr>
          </a:p>
          <a:p>
            <a:pPr lvl="1"/>
            <a:endParaRPr lang="en-US" dirty="0">
              <a:solidFill>
                <a:schemeClr val="dk1"/>
              </a:solidFill>
              <a:latin typeface="Arial"/>
            </a:endParaRPr>
          </a:p>
          <a:p>
            <a:pPr lvl="1"/>
            <a:endParaRPr lang="en-US" b="0" u="none" strike="noStrike" dirty="0">
              <a:solidFill>
                <a:srgbClr val="000000"/>
              </a:solidFill>
              <a:uFillTx/>
              <a:latin typeface="Arial"/>
            </a:endParaRPr>
          </a:p>
          <a:p>
            <a:endParaRPr lang="en-US" dirty="0"/>
          </a:p>
        </p:txBody>
      </p:sp>
      <p:pic>
        <p:nvPicPr>
          <p:cNvPr id="5" name="Picture 4">
            <a:extLst>
              <a:ext uri="{FF2B5EF4-FFF2-40B4-BE49-F238E27FC236}">
                <a16:creationId xmlns:a16="http://schemas.microsoft.com/office/drawing/2014/main" id="{8A7016CB-BE60-69EC-B043-6743967C2013}"/>
              </a:ext>
            </a:extLst>
          </p:cNvPr>
          <p:cNvPicPr/>
          <p:nvPr/>
        </p:nvPicPr>
        <p:blipFill>
          <a:blip r:embed="rId2"/>
          <a:stretch/>
        </p:blipFill>
        <p:spPr>
          <a:xfrm>
            <a:off x="3421714" y="4828477"/>
            <a:ext cx="6329880" cy="1022760"/>
          </a:xfrm>
          <a:prstGeom prst="rect">
            <a:avLst/>
          </a:prstGeom>
          <a:noFill/>
          <a:ln w="0">
            <a:noFill/>
          </a:ln>
        </p:spPr>
      </p:pic>
    </p:spTree>
    <p:extLst>
      <p:ext uri="{BB962C8B-B14F-4D97-AF65-F5344CB8AC3E}">
        <p14:creationId xmlns:p14="http://schemas.microsoft.com/office/powerpoint/2010/main" val="182577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DEDB-51C0-8753-3CBA-1083BD362678}"/>
              </a:ext>
            </a:extLst>
          </p:cNvPr>
          <p:cNvSpPr>
            <a:spLocks noGrp="1"/>
          </p:cNvSpPr>
          <p:nvPr>
            <p:ph type="title"/>
          </p:nvPr>
        </p:nvSpPr>
        <p:spPr/>
        <p:txBody>
          <a:bodyPr/>
          <a:lstStyle/>
          <a:p>
            <a:r>
              <a:rPr lang="en-US" dirty="0"/>
              <a:t>Hash operations</a:t>
            </a:r>
          </a:p>
        </p:txBody>
      </p:sp>
      <p:sp>
        <p:nvSpPr>
          <p:cNvPr id="3" name="Content Placeholder 2">
            <a:extLst>
              <a:ext uri="{FF2B5EF4-FFF2-40B4-BE49-F238E27FC236}">
                <a16:creationId xmlns:a16="http://schemas.microsoft.com/office/drawing/2014/main" id="{6EDC2C17-62C6-184F-BB4E-2B1CA8F696AE}"/>
              </a:ext>
            </a:extLst>
          </p:cNvPr>
          <p:cNvSpPr>
            <a:spLocks noGrp="1"/>
          </p:cNvSpPr>
          <p:nvPr>
            <p:ph idx="1"/>
          </p:nvPr>
        </p:nvSpPr>
        <p:spPr>
          <a:xfrm>
            <a:off x="838200" y="1753142"/>
            <a:ext cx="5257800" cy="4351338"/>
          </a:xfrm>
        </p:spPr>
        <p:txBody>
          <a:bodyPr/>
          <a:lstStyle/>
          <a:p>
            <a:r>
              <a:rPr lang="en-US" dirty="0"/>
              <a:t>Issue with mod?</a:t>
            </a:r>
          </a:p>
          <a:p>
            <a:pPr lvl="1"/>
            <a:r>
              <a:rPr lang="en-US" sz="2000" b="0" u="none" strike="noStrike" dirty="0">
                <a:solidFill>
                  <a:schemeClr val="dk1"/>
                </a:solidFill>
                <a:uFillTx/>
                <a:latin typeface="Arial"/>
              </a:rPr>
              <a:t>Collision: when the hash calculation generates the same index value for more than one key</a:t>
            </a:r>
            <a:endParaRPr lang="en-US" sz="2000"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sz="2000" b="0" u="none" strike="noStrike" dirty="0">
                <a:solidFill>
                  <a:schemeClr val="dk1"/>
                </a:solidFill>
                <a:uFillTx/>
                <a:latin typeface="Arial"/>
              </a:rPr>
              <a:t>Key = 1</a:t>
            </a:r>
            <a:endParaRPr lang="en-US" sz="2000" dirty="0">
              <a:solidFill>
                <a:srgbClr val="000000"/>
              </a:solidFill>
              <a:latin typeface="Arial"/>
            </a:endParaRPr>
          </a:p>
          <a:p>
            <a:pPr marL="800280" lvl="1" indent="-343080">
              <a:lnSpc>
                <a:spcPct val="100000"/>
              </a:lnSpc>
              <a:spcBef>
                <a:spcPts val="641"/>
              </a:spcBef>
              <a:buClr>
                <a:srgbClr val="000000"/>
              </a:buClr>
              <a:buFont typeface="Arial"/>
              <a:buChar char="•"/>
            </a:pPr>
            <a:r>
              <a:rPr lang="en-US" sz="1800" b="0" u="none" strike="noStrike" dirty="0">
                <a:solidFill>
                  <a:schemeClr val="dk1"/>
                </a:solidFill>
                <a:uFillTx/>
                <a:latin typeface="Arial"/>
              </a:rPr>
              <a:t>1 mod 7 = 1</a:t>
            </a:r>
            <a:endParaRPr lang="en-US" sz="1800" b="0" u="none" strike="noStrike" dirty="0">
              <a:solidFill>
                <a:srgbClr val="000000"/>
              </a:solidFill>
              <a:uFillTx/>
              <a:latin typeface="Arial"/>
            </a:endParaRPr>
          </a:p>
          <a:p>
            <a:pPr marL="800280" lvl="1" indent="-343080">
              <a:lnSpc>
                <a:spcPct val="100000"/>
              </a:lnSpc>
              <a:spcBef>
                <a:spcPts val="641"/>
              </a:spcBef>
              <a:buClr>
                <a:srgbClr val="000000"/>
              </a:buClr>
              <a:buFont typeface="Arial"/>
              <a:buChar char="•"/>
            </a:pPr>
            <a:r>
              <a:rPr lang="en-US" sz="2000" b="0" u="none" strike="noStrike" dirty="0">
                <a:solidFill>
                  <a:schemeClr val="dk1"/>
                </a:solidFill>
                <a:uFillTx/>
                <a:latin typeface="Arial"/>
              </a:rPr>
              <a:t>Key = 3</a:t>
            </a:r>
            <a:endParaRPr lang="en-US" sz="2000" dirty="0">
              <a:solidFill>
                <a:srgbClr val="000000"/>
              </a:solidFill>
              <a:latin typeface="Arial"/>
            </a:endParaRPr>
          </a:p>
          <a:p>
            <a:pPr marL="800280" lvl="1" indent="-343080">
              <a:lnSpc>
                <a:spcPct val="100000"/>
              </a:lnSpc>
              <a:spcBef>
                <a:spcPts val="641"/>
              </a:spcBef>
              <a:buClr>
                <a:srgbClr val="000000"/>
              </a:buClr>
              <a:buFont typeface="Arial"/>
              <a:buChar char="•"/>
            </a:pPr>
            <a:r>
              <a:rPr lang="en-US" sz="1800" b="0" u="none" strike="noStrike" dirty="0">
                <a:solidFill>
                  <a:schemeClr val="dk1"/>
                </a:solidFill>
                <a:uFillTx/>
                <a:latin typeface="Arial"/>
              </a:rPr>
              <a:t>3 mod 7 = 3</a:t>
            </a:r>
            <a:endParaRPr lang="en-US" sz="1800" b="0" u="none" strike="noStrike" dirty="0">
              <a:solidFill>
                <a:srgbClr val="000000"/>
              </a:solidFill>
              <a:uFillTx/>
              <a:latin typeface="Arial"/>
            </a:endParaRPr>
          </a:p>
          <a:p>
            <a:pPr marL="800280" lvl="1" indent="-343080">
              <a:lnSpc>
                <a:spcPct val="100000"/>
              </a:lnSpc>
              <a:spcBef>
                <a:spcPts val="641"/>
              </a:spcBef>
              <a:buClr>
                <a:srgbClr val="FF0000"/>
              </a:buClr>
              <a:buFont typeface="Arial"/>
              <a:buChar char="•"/>
            </a:pPr>
            <a:r>
              <a:rPr lang="en-US" sz="2000" b="0" u="none" strike="noStrike" dirty="0">
                <a:solidFill>
                  <a:srgbClr val="FF0000"/>
                </a:solidFill>
                <a:uFillTx/>
                <a:latin typeface="Arial"/>
              </a:rPr>
              <a:t>Key = 10</a:t>
            </a:r>
            <a:endParaRPr lang="en-US" sz="2000" dirty="0">
              <a:solidFill>
                <a:srgbClr val="000000"/>
              </a:solidFill>
              <a:latin typeface="Arial"/>
            </a:endParaRPr>
          </a:p>
          <a:p>
            <a:pPr marL="800280" lvl="1" indent="-343080">
              <a:lnSpc>
                <a:spcPct val="100000"/>
              </a:lnSpc>
              <a:spcBef>
                <a:spcPts val="641"/>
              </a:spcBef>
              <a:buClr>
                <a:srgbClr val="FF0000"/>
              </a:buClr>
              <a:buFont typeface="Arial"/>
              <a:buChar char="•"/>
            </a:pPr>
            <a:r>
              <a:rPr lang="en-US" sz="1800" b="0" u="none" strike="noStrike" dirty="0">
                <a:solidFill>
                  <a:srgbClr val="FF0000"/>
                </a:solidFill>
                <a:uFillTx/>
                <a:latin typeface="Arial"/>
              </a:rPr>
              <a:t>10 mod 7 = 3</a:t>
            </a:r>
            <a:endParaRPr lang="en-US" sz="1200" b="0" u="none" strike="noStrike" dirty="0">
              <a:solidFill>
                <a:srgbClr val="000000"/>
              </a:solidFill>
              <a:uFillTx/>
              <a:latin typeface="Arial"/>
            </a:endParaRPr>
          </a:p>
          <a:p>
            <a:pPr lvl="1"/>
            <a:endParaRPr lang="en-US" dirty="0"/>
          </a:p>
        </p:txBody>
      </p:sp>
      <p:sp>
        <p:nvSpPr>
          <p:cNvPr id="4" name="Content Placeholder 2">
            <a:extLst>
              <a:ext uri="{FF2B5EF4-FFF2-40B4-BE49-F238E27FC236}">
                <a16:creationId xmlns:a16="http://schemas.microsoft.com/office/drawing/2014/main" id="{829DDCCE-6532-C1A1-D612-A80F151CFCFF}"/>
              </a:ext>
            </a:extLst>
          </p:cNvPr>
          <p:cNvSpPr txBox="1">
            <a:spLocks/>
          </p:cNvSpPr>
          <p:nvPr/>
        </p:nvSpPr>
        <p:spPr>
          <a:xfrm>
            <a:off x="6096000" y="1753142"/>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Solution of collision?</a:t>
            </a:r>
          </a:p>
          <a:p>
            <a:r>
              <a:rPr lang="en-US" sz="2000" dirty="0">
                <a:latin typeface="Arial" panose="020B0604020202020204" pitchFamily="34" charset="0"/>
                <a:cs typeface="Arial" panose="020B0604020202020204" pitchFamily="34" charset="0"/>
              </a:rPr>
              <a:t>Chaining</a:t>
            </a:r>
          </a:p>
          <a:p>
            <a:pPr marL="343080" indent="-343080" defTabSz="914400">
              <a:lnSpc>
                <a:spcPct val="100000"/>
              </a:lnSpc>
              <a:spcBef>
                <a:spcPts val="641"/>
              </a:spcBef>
              <a:buClr>
                <a:srgbClr val="000000"/>
              </a:buClr>
              <a:buFont typeface="Arial"/>
              <a:buChar char="•"/>
            </a:pPr>
            <a:r>
              <a:rPr lang="en-US" sz="2000" b="0" u="none" strike="noStrike" dirty="0">
                <a:solidFill>
                  <a:schemeClr val="dk1"/>
                </a:solidFill>
                <a:uFillTx/>
                <a:latin typeface="Arial"/>
              </a:rPr>
              <a:t>One of the solutions for such collisions</a:t>
            </a:r>
            <a:endParaRPr lang="en-US" sz="2000" b="0" u="none" strike="noStrike" dirty="0">
              <a:solidFill>
                <a:srgbClr val="000000"/>
              </a:solidFill>
              <a:uFillTx/>
              <a:latin typeface="Arial"/>
            </a:endParaRPr>
          </a:p>
          <a:p>
            <a:pPr marL="343080" indent="-343080" defTabSz="914400">
              <a:lnSpc>
                <a:spcPct val="100000"/>
              </a:lnSpc>
              <a:spcBef>
                <a:spcPts val="641"/>
              </a:spcBef>
              <a:buClr>
                <a:srgbClr val="000000"/>
              </a:buClr>
              <a:buFont typeface="Arial"/>
              <a:buChar char="•"/>
            </a:pPr>
            <a:r>
              <a:rPr lang="en-US" sz="2000" b="0" u="none" strike="noStrike" dirty="0">
                <a:solidFill>
                  <a:schemeClr val="dk1"/>
                </a:solidFill>
                <a:uFillTx/>
                <a:latin typeface="Arial"/>
              </a:rPr>
              <a:t>All the keys that generate a particular index are connected to that array position in a chain — or another data structure</a:t>
            </a:r>
            <a:endParaRPr lang="en-US" sz="2000" b="0" u="none" strike="noStrike" dirty="0">
              <a:solidFill>
                <a:srgbClr val="000000"/>
              </a:solidFill>
              <a:uFillTx/>
              <a:latin typeface="Arial"/>
            </a:endParaRPr>
          </a:p>
          <a:p>
            <a:pPr lvl="1"/>
            <a:endParaRPr lang="en-US" dirty="0"/>
          </a:p>
        </p:txBody>
      </p:sp>
    </p:spTree>
    <p:extLst>
      <p:ext uri="{BB962C8B-B14F-4D97-AF65-F5344CB8AC3E}">
        <p14:creationId xmlns:p14="http://schemas.microsoft.com/office/powerpoint/2010/main" val="3175372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84E3-3855-C34F-20C5-6ECD0B146479}"/>
              </a:ext>
            </a:extLst>
          </p:cNvPr>
          <p:cNvSpPr>
            <a:spLocks noGrp="1"/>
          </p:cNvSpPr>
          <p:nvPr>
            <p:ph type="title"/>
          </p:nvPr>
        </p:nvSpPr>
        <p:spPr/>
        <p:txBody>
          <a:bodyPr/>
          <a:lstStyle/>
          <a:p>
            <a:r>
              <a:rPr lang="en-US" dirty="0"/>
              <a:t>Hash operations</a:t>
            </a:r>
          </a:p>
        </p:txBody>
      </p:sp>
      <p:sp>
        <p:nvSpPr>
          <p:cNvPr id="3" name="Content Placeholder 2">
            <a:extLst>
              <a:ext uri="{FF2B5EF4-FFF2-40B4-BE49-F238E27FC236}">
                <a16:creationId xmlns:a16="http://schemas.microsoft.com/office/drawing/2014/main" id="{3F090E48-4CBD-5B58-4826-D267D249EAB4}"/>
              </a:ext>
            </a:extLst>
          </p:cNvPr>
          <p:cNvSpPr>
            <a:spLocks noGrp="1"/>
          </p:cNvSpPr>
          <p:nvPr>
            <p:ph idx="1"/>
          </p:nvPr>
        </p:nvSpPr>
        <p:spPr/>
        <p:txBody>
          <a:bodyPr>
            <a:normAutofit/>
          </a:bodyPr>
          <a:lstStyle/>
          <a:p>
            <a:pPr marL="343080" indent="-343080" defTabSz="914400">
              <a:lnSpc>
                <a:spcPct val="100000"/>
              </a:lnSpc>
              <a:spcBef>
                <a:spcPts val="641"/>
              </a:spcBef>
              <a:buClr>
                <a:srgbClr val="000000"/>
              </a:buClr>
              <a:buFont typeface="Arial"/>
              <a:buChar char="•"/>
            </a:pPr>
            <a:r>
              <a:rPr lang="en-US" sz="2400" b="0" u="none" strike="noStrike" dirty="0">
                <a:solidFill>
                  <a:schemeClr val="dk1"/>
                </a:solidFill>
                <a:uFillTx/>
                <a:latin typeface="Arial"/>
              </a:rPr>
              <a:t>One way to implement chaining is by associating a binary search tree with each table entry</a:t>
            </a:r>
            <a:endParaRPr lang="en-US" sz="2400" b="0" u="none" strike="noStrike" dirty="0">
              <a:solidFill>
                <a:srgbClr val="000000"/>
              </a:solidFill>
              <a:uFillTx/>
              <a:latin typeface="Arial"/>
            </a:endParaRPr>
          </a:p>
          <a:p>
            <a:pPr marL="743040" lvl="1" indent="-28584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At 0, there would be a BST of all elements for which the hash produces a 0</a:t>
            </a:r>
            <a:endParaRPr lang="en-US" sz="2000" b="0" u="none" strike="noStrike" dirty="0">
              <a:solidFill>
                <a:srgbClr val="000000"/>
              </a:solidFill>
              <a:uFillTx/>
              <a:latin typeface="Arial"/>
            </a:endParaRPr>
          </a:p>
          <a:p>
            <a:pPr marL="743040" lvl="1" indent="-28584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At 1, there would be a BST of all elements for which the hash produces a 1</a:t>
            </a:r>
          </a:p>
          <a:p>
            <a:pPr marL="743040" lvl="1" indent="-285840" defTabSz="914400">
              <a:lnSpc>
                <a:spcPct val="100000"/>
              </a:lnSpc>
              <a:spcBef>
                <a:spcPts val="561"/>
              </a:spcBef>
              <a:buClr>
                <a:srgbClr val="000000"/>
              </a:buClr>
              <a:buFont typeface="Arial"/>
              <a:buChar char="–"/>
            </a:pPr>
            <a:r>
              <a:rPr lang="en-US" sz="2000" dirty="0">
                <a:solidFill>
                  <a:schemeClr val="dk1"/>
                </a:solidFill>
                <a:latin typeface="Arial"/>
              </a:rPr>
              <a:t>… </a:t>
            </a:r>
          </a:p>
          <a:p>
            <a:pPr marL="743040" lvl="1" indent="-285840" defTabSz="914400">
              <a:lnSpc>
                <a:spcPct val="100000"/>
              </a:lnSpc>
              <a:spcBef>
                <a:spcPts val="561"/>
              </a:spcBef>
              <a:buClr>
                <a:srgbClr val="000000"/>
              </a:buClr>
              <a:buFont typeface="Arial"/>
              <a:buChar char="–"/>
            </a:pPr>
            <a:r>
              <a:rPr lang="en-US" sz="2000" dirty="0" err="1">
                <a:solidFill>
                  <a:schemeClr val="dk1"/>
                </a:solidFill>
                <a:latin typeface="Arial"/>
              </a:rPr>
              <a:t>Upto</a:t>
            </a:r>
            <a:r>
              <a:rPr lang="en-US" sz="2000" dirty="0">
                <a:solidFill>
                  <a:schemeClr val="dk1"/>
                </a:solidFill>
                <a:latin typeface="Arial"/>
              </a:rPr>
              <a:t> 6</a:t>
            </a:r>
            <a:endParaRPr lang="en-US" sz="2000" b="0" u="none" strike="noStrike" dirty="0">
              <a:solidFill>
                <a:srgbClr val="000000"/>
              </a:solidFill>
              <a:uFillTx/>
              <a:latin typeface="Arial"/>
            </a:endParaRPr>
          </a:p>
          <a:p>
            <a:endParaRPr lang="en-US" sz="2000" dirty="0"/>
          </a:p>
        </p:txBody>
      </p:sp>
      <p:pic>
        <p:nvPicPr>
          <p:cNvPr id="4" name="Picture 3">
            <a:extLst>
              <a:ext uri="{FF2B5EF4-FFF2-40B4-BE49-F238E27FC236}">
                <a16:creationId xmlns:a16="http://schemas.microsoft.com/office/drawing/2014/main" id="{AC14F15E-8ECB-6C10-FB75-2ED81C5C7029}"/>
              </a:ext>
            </a:extLst>
          </p:cNvPr>
          <p:cNvPicPr/>
          <p:nvPr/>
        </p:nvPicPr>
        <p:blipFill>
          <a:blip r:embed="rId2"/>
          <a:stretch/>
        </p:blipFill>
        <p:spPr>
          <a:xfrm>
            <a:off x="2931060" y="4955942"/>
            <a:ext cx="6329880" cy="1022760"/>
          </a:xfrm>
          <a:prstGeom prst="rect">
            <a:avLst/>
          </a:prstGeom>
          <a:noFill/>
          <a:ln w="0">
            <a:noFill/>
          </a:ln>
        </p:spPr>
      </p:pic>
    </p:spTree>
    <p:extLst>
      <p:ext uri="{BB962C8B-B14F-4D97-AF65-F5344CB8AC3E}">
        <p14:creationId xmlns:p14="http://schemas.microsoft.com/office/powerpoint/2010/main" val="242871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3EB8-ABA6-182D-0D36-CC3A76351F66}"/>
              </a:ext>
            </a:extLst>
          </p:cNvPr>
          <p:cNvSpPr>
            <a:spLocks noGrp="1"/>
          </p:cNvSpPr>
          <p:nvPr>
            <p:ph type="title"/>
          </p:nvPr>
        </p:nvSpPr>
        <p:spPr/>
        <p:txBody>
          <a:bodyPr/>
          <a:lstStyle/>
          <a:p>
            <a:r>
              <a:rPr lang="en-US" dirty="0"/>
              <a:t>Hash operations – Example (1)</a:t>
            </a:r>
          </a:p>
        </p:txBody>
      </p:sp>
      <p:sp>
        <p:nvSpPr>
          <p:cNvPr id="3" name="Content Placeholder 2">
            <a:extLst>
              <a:ext uri="{FF2B5EF4-FFF2-40B4-BE49-F238E27FC236}">
                <a16:creationId xmlns:a16="http://schemas.microsoft.com/office/drawing/2014/main" id="{5ADA743C-F2DB-B0EF-FCF1-E60311668DD4}"/>
              </a:ext>
            </a:extLst>
          </p:cNvPr>
          <p:cNvSpPr>
            <a:spLocks noGrp="1"/>
          </p:cNvSpPr>
          <p:nvPr>
            <p:ph idx="1"/>
          </p:nvPr>
        </p:nvSpPr>
        <p:spPr/>
        <p:txBody>
          <a:bodyPr>
            <a:normAutofit/>
          </a:bodyPr>
          <a:lstStyle/>
          <a:p>
            <a:r>
              <a:rPr lang="en-US" sz="2400" b="0" u="none" strike="noStrike" dirty="0">
                <a:solidFill>
                  <a:schemeClr val="dk1"/>
                </a:solidFill>
                <a:uFillTx/>
                <a:latin typeface="Arial"/>
              </a:rPr>
              <a:t>Key Value Insertion Order: 1, 3, 7, 8, 10, 13</a:t>
            </a:r>
          </a:p>
          <a:p>
            <a:r>
              <a:rPr lang="en-US" sz="2400" dirty="0">
                <a:solidFill>
                  <a:schemeClr val="dk1"/>
                </a:solidFill>
                <a:latin typeface="Arial"/>
              </a:rPr>
              <a:t>Index = </a:t>
            </a:r>
            <a:r>
              <a:rPr lang="en-US" sz="2400" u="none" strike="noStrike" dirty="0">
                <a:solidFill>
                  <a:schemeClr val="dk1"/>
                </a:solidFill>
                <a:uFillTx/>
                <a:latin typeface="Arial"/>
              </a:rPr>
              <a:t>Key Mod 7</a:t>
            </a:r>
            <a:endParaRPr lang="en-US" sz="2400" u="none" strike="noStrike" dirty="0">
              <a:solidFill>
                <a:srgbClr val="000000"/>
              </a:solidFill>
              <a:uFillTx/>
              <a:latin typeface="Arial"/>
            </a:endParaRPr>
          </a:p>
          <a:p>
            <a:endParaRPr lang="en-US" sz="2400" dirty="0"/>
          </a:p>
        </p:txBody>
      </p:sp>
      <p:pic>
        <p:nvPicPr>
          <p:cNvPr id="4" name="Picture 3">
            <a:extLst>
              <a:ext uri="{FF2B5EF4-FFF2-40B4-BE49-F238E27FC236}">
                <a16:creationId xmlns:a16="http://schemas.microsoft.com/office/drawing/2014/main" id="{08C30E8C-DD56-55F9-3FE1-730805C79D2B}"/>
              </a:ext>
            </a:extLst>
          </p:cNvPr>
          <p:cNvPicPr/>
          <p:nvPr/>
        </p:nvPicPr>
        <p:blipFill>
          <a:blip r:embed="rId2"/>
          <a:stretch/>
        </p:blipFill>
        <p:spPr>
          <a:xfrm>
            <a:off x="2459680" y="4795284"/>
            <a:ext cx="7272639" cy="1516616"/>
          </a:xfrm>
          <a:prstGeom prst="rect">
            <a:avLst/>
          </a:prstGeom>
          <a:noFill/>
          <a:ln w="0">
            <a:noFill/>
          </a:ln>
        </p:spPr>
      </p:pic>
    </p:spTree>
    <p:extLst>
      <p:ext uri="{BB962C8B-B14F-4D97-AF65-F5344CB8AC3E}">
        <p14:creationId xmlns:p14="http://schemas.microsoft.com/office/powerpoint/2010/main" val="3584632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F0ECF-0B18-1480-AE47-2501767D4A50}"/>
              </a:ext>
            </a:extLst>
          </p:cNvPr>
          <p:cNvSpPr>
            <a:spLocks noGrp="1"/>
          </p:cNvSpPr>
          <p:nvPr>
            <p:ph type="title"/>
          </p:nvPr>
        </p:nvSpPr>
        <p:spPr/>
        <p:txBody>
          <a:bodyPr/>
          <a:lstStyle/>
          <a:p>
            <a:r>
              <a:rPr lang="en-US" dirty="0"/>
              <a:t>Hash operations – Example (2)</a:t>
            </a:r>
          </a:p>
        </p:txBody>
      </p:sp>
      <p:sp>
        <p:nvSpPr>
          <p:cNvPr id="3" name="Content Placeholder 2">
            <a:extLst>
              <a:ext uri="{FF2B5EF4-FFF2-40B4-BE49-F238E27FC236}">
                <a16:creationId xmlns:a16="http://schemas.microsoft.com/office/drawing/2014/main" id="{52EA38EB-4A51-2786-9705-1EC129294835}"/>
              </a:ext>
            </a:extLst>
          </p:cNvPr>
          <p:cNvSpPr>
            <a:spLocks noGrp="1"/>
          </p:cNvSpPr>
          <p:nvPr>
            <p:ph idx="1"/>
          </p:nvPr>
        </p:nvSpPr>
        <p:spPr>
          <a:xfrm>
            <a:off x="838200" y="1825625"/>
            <a:ext cx="5584902" cy="4351338"/>
          </a:xfrm>
        </p:spPr>
        <p:txBody>
          <a:bodyPr>
            <a:normAutofit/>
          </a:bodyPr>
          <a:lstStyle/>
          <a:p>
            <a:pPr marL="343080" indent="-343080" defTabSz="914400">
              <a:lnSpc>
                <a:spcPct val="100000"/>
              </a:lnSpc>
              <a:spcBef>
                <a:spcPts val="561"/>
              </a:spcBef>
              <a:buClr>
                <a:srgbClr val="000000"/>
              </a:buClr>
              <a:buFont typeface="Arial"/>
              <a:buChar char="•"/>
            </a:pPr>
            <a:r>
              <a:rPr lang="en-US" sz="2400" b="0" u="none" strike="noStrike" dirty="0">
                <a:solidFill>
                  <a:schemeClr val="dk1"/>
                </a:solidFill>
                <a:uFillTx/>
                <a:latin typeface="Arial"/>
              </a:rPr>
              <a:t>Keep a list of all elements that hash to the same value</a:t>
            </a:r>
            <a:endParaRPr lang="en-US" sz="2400" b="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r>
              <a:rPr lang="en-US" sz="2400" b="0" u="none" strike="noStrike" dirty="0">
                <a:solidFill>
                  <a:schemeClr val="dk1"/>
                </a:solidFill>
                <a:uFillTx/>
                <a:latin typeface="Arial"/>
              </a:rPr>
              <a:t>Assume</a:t>
            </a:r>
            <a:endParaRPr lang="en-US" sz="2400" b="0" u="none" strike="noStrike" dirty="0">
              <a:solidFill>
                <a:srgbClr val="000000"/>
              </a:solidFill>
              <a:uFillTx/>
              <a:latin typeface="Arial"/>
            </a:endParaRPr>
          </a:p>
          <a:p>
            <a:pPr marL="743040" lvl="1" indent="-285840" defTabSz="914400">
              <a:lnSpc>
                <a:spcPct val="100000"/>
              </a:lnSpc>
              <a:spcBef>
                <a:spcPts val="479"/>
              </a:spcBef>
              <a:buClr>
                <a:srgbClr val="000000"/>
              </a:buClr>
              <a:buFont typeface="Arial"/>
              <a:buChar char="–"/>
            </a:pPr>
            <a:r>
              <a:rPr lang="en-US" sz="2000" b="0" u="none" strike="noStrike" dirty="0">
                <a:solidFill>
                  <a:schemeClr val="dk1"/>
                </a:solidFill>
                <a:uFillTx/>
                <a:latin typeface="Arial"/>
              </a:rPr>
              <a:t>Keys are first 10 perfect squares</a:t>
            </a:r>
            <a:endParaRPr lang="en-US" sz="2000" b="0" u="none" strike="noStrike" dirty="0">
              <a:solidFill>
                <a:srgbClr val="000000"/>
              </a:solidFill>
              <a:uFillTx/>
              <a:latin typeface="Arial"/>
            </a:endParaRPr>
          </a:p>
          <a:p>
            <a:pPr marL="743040" lvl="1" indent="-285840" defTabSz="914400">
              <a:lnSpc>
                <a:spcPct val="100000"/>
              </a:lnSpc>
              <a:spcBef>
                <a:spcPts val="479"/>
              </a:spcBef>
              <a:buClr>
                <a:srgbClr val="000000"/>
              </a:buClr>
              <a:buFont typeface="Arial"/>
              <a:buChar char="–"/>
            </a:pPr>
            <a:r>
              <a:rPr lang="en-US" sz="2000" b="0" u="none" strike="noStrike" dirty="0">
                <a:solidFill>
                  <a:schemeClr val="dk1"/>
                </a:solidFill>
                <a:uFillTx/>
                <a:latin typeface="Arial"/>
              </a:rPr>
              <a:t>Hashing function:</a:t>
            </a:r>
            <a:endParaRPr lang="en-US" sz="2000" b="0" u="none" strike="noStrike" dirty="0">
              <a:solidFill>
                <a:srgbClr val="000000"/>
              </a:solidFill>
              <a:uFillTx/>
              <a:latin typeface="Arial"/>
            </a:endParaRPr>
          </a:p>
          <a:p>
            <a:pPr marL="743040" lvl="1" indent="-285840" defTabSz="914400">
              <a:lnSpc>
                <a:spcPct val="100000"/>
              </a:lnSpc>
              <a:spcBef>
                <a:spcPts val="479"/>
              </a:spcBef>
              <a:buClr>
                <a:srgbClr val="000000"/>
              </a:buClr>
              <a:buFont typeface="Arial"/>
              <a:buChar char="–"/>
            </a:pPr>
            <a:r>
              <a:rPr lang="en-US" sz="2000" b="0" u="none" strike="noStrike" dirty="0">
                <a:solidFill>
                  <a:schemeClr val="dk1"/>
                </a:solidFill>
                <a:uFillTx/>
                <a:latin typeface="Arial"/>
              </a:rPr>
              <a:t>Hash(x) = x mod 10</a:t>
            </a:r>
            <a:endParaRPr lang="en-US" sz="2000" b="0" u="none" strike="noStrike" dirty="0">
              <a:solidFill>
                <a:srgbClr val="000000"/>
              </a:solidFill>
              <a:uFillTx/>
              <a:latin typeface="Arial"/>
            </a:endParaRPr>
          </a:p>
          <a:p>
            <a:endParaRPr lang="en-US" sz="2400" dirty="0"/>
          </a:p>
        </p:txBody>
      </p:sp>
      <p:pic>
        <p:nvPicPr>
          <p:cNvPr id="4" name="Picture 3">
            <a:extLst>
              <a:ext uri="{FF2B5EF4-FFF2-40B4-BE49-F238E27FC236}">
                <a16:creationId xmlns:a16="http://schemas.microsoft.com/office/drawing/2014/main" id="{D7D0D38D-1711-9ED5-DCC2-8203111B551D}"/>
              </a:ext>
            </a:extLst>
          </p:cNvPr>
          <p:cNvPicPr/>
          <p:nvPr/>
        </p:nvPicPr>
        <p:blipFill>
          <a:blip r:embed="rId2"/>
          <a:srcRect r="20117" b="18028"/>
          <a:stretch/>
        </p:blipFill>
        <p:spPr>
          <a:xfrm>
            <a:off x="6423102" y="1541954"/>
            <a:ext cx="4647240" cy="4918680"/>
          </a:xfrm>
          <a:prstGeom prst="rect">
            <a:avLst/>
          </a:prstGeom>
          <a:noFill/>
          <a:ln w="0">
            <a:noFill/>
          </a:ln>
        </p:spPr>
      </p:pic>
    </p:spTree>
    <p:extLst>
      <p:ext uri="{BB962C8B-B14F-4D97-AF65-F5344CB8AC3E}">
        <p14:creationId xmlns:p14="http://schemas.microsoft.com/office/powerpoint/2010/main" val="2072459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2E90-114D-BC1A-5D2F-713C812C921C}"/>
              </a:ext>
            </a:extLst>
          </p:cNvPr>
          <p:cNvSpPr>
            <a:spLocks noGrp="1"/>
          </p:cNvSpPr>
          <p:nvPr>
            <p:ph type="title"/>
          </p:nvPr>
        </p:nvSpPr>
        <p:spPr/>
        <p:txBody>
          <a:bodyPr/>
          <a:lstStyle/>
          <a:p>
            <a:r>
              <a:rPr lang="en-US" dirty="0"/>
              <a:t>Chaining with Lists - Searching</a:t>
            </a:r>
          </a:p>
        </p:txBody>
      </p:sp>
      <p:sp>
        <p:nvSpPr>
          <p:cNvPr id="3" name="Content Placeholder 2">
            <a:extLst>
              <a:ext uri="{FF2B5EF4-FFF2-40B4-BE49-F238E27FC236}">
                <a16:creationId xmlns:a16="http://schemas.microsoft.com/office/drawing/2014/main" id="{FDE26CE9-A5F5-FA57-9F6B-4F4846120CE6}"/>
              </a:ext>
            </a:extLst>
          </p:cNvPr>
          <p:cNvSpPr>
            <a:spLocks noGrp="1"/>
          </p:cNvSpPr>
          <p:nvPr>
            <p:ph idx="1"/>
          </p:nvPr>
        </p:nvSpPr>
        <p:spPr>
          <a:xfrm>
            <a:off x="838200" y="1825625"/>
            <a:ext cx="6610815" cy="4351338"/>
          </a:xfrm>
        </p:spPr>
        <p:txBody>
          <a:bodyPr>
            <a:normAutofit/>
          </a:bodyPr>
          <a:lstStyle/>
          <a:p>
            <a:pPr marL="343080" indent="-34308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Use the hash function to determine which list to traverse</a:t>
            </a:r>
            <a:endParaRPr lang="en-US" sz="2000" b="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r>
              <a:rPr lang="en-US" sz="2000" dirty="0">
                <a:solidFill>
                  <a:schemeClr val="dk1"/>
                </a:solidFill>
                <a:latin typeface="Arial"/>
              </a:rPr>
              <a:t>S</a:t>
            </a:r>
            <a:r>
              <a:rPr lang="en-US" sz="2000" b="0" u="none" strike="noStrike" dirty="0">
                <a:solidFill>
                  <a:schemeClr val="dk1"/>
                </a:solidFill>
                <a:uFillTx/>
                <a:latin typeface="Arial"/>
              </a:rPr>
              <a:t>earch the appropriate list: see whether the element is already in place</a:t>
            </a:r>
            <a:endParaRPr lang="en-US" sz="2000" b="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If the element turns out to be new, it can be inserted at the front of the list, since it is convenient and also because frequently it happens that recently inserted elements are the most likely to be accessed in the near future</a:t>
            </a:r>
            <a:endParaRPr lang="en-US" sz="2000" b="0" u="none" strike="noStrike" dirty="0">
              <a:solidFill>
                <a:srgbClr val="000000"/>
              </a:solidFill>
              <a:uFillTx/>
              <a:latin typeface="Arial"/>
            </a:endParaRPr>
          </a:p>
          <a:p>
            <a:endParaRPr lang="en-US" sz="2000" dirty="0"/>
          </a:p>
        </p:txBody>
      </p:sp>
      <p:pic>
        <p:nvPicPr>
          <p:cNvPr id="4" name="Picture 4">
            <a:extLst>
              <a:ext uri="{FF2B5EF4-FFF2-40B4-BE49-F238E27FC236}">
                <a16:creationId xmlns:a16="http://schemas.microsoft.com/office/drawing/2014/main" id="{F5510817-A097-7130-066A-3775DBF3077C}"/>
              </a:ext>
            </a:extLst>
          </p:cNvPr>
          <p:cNvPicPr/>
          <p:nvPr/>
        </p:nvPicPr>
        <p:blipFill>
          <a:blip r:embed="rId2"/>
          <a:stretch/>
        </p:blipFill>
        <p:spPr>
          <a:xfrm>
            <a:off x="838200" y="5720843"/>
            <a:ext cx="7200000" cy="456120"/>
          </a:xfrm>
          <a:prstGeom prst="rect">
            <a:avLst/>
          </a:prstGeom>
          <a:noFill/>
          <a:ln w="0">
            <a:noFill/>
          </a:ln>
        </p:spPr>
      </p:pic>
      <p:pic>
        <p:nvPicPr>
          <p:cNvPr id="5" name="Picture 5">
            <a:extLst>
              <a:ext uri="{FF2B5EF4-FFF2-40B4-BE49-F238E27FC236}">
                <a16:creationId xmlns:a16="http://schemas.microsoft.com/office/drawing/2014/main" id="{83B56399-95B8-4768-FD4F-330BC1227CC8}"/>
              </a:ext>
            </a:extLst>
          </p:cNvPr>
          <p:cNvPicPr/>
          <p:nvPr/>
        </p:nvPicPr>
        <p:blipFill>
          <a:blip r:embed="rId3"/>
          <a:srcRect r="20117" b="18028"/>
          <a:stretch/>
        </p:blipFill>
        <p:spPr>
          <a:xfrm>
            <a:off x="7764420" y="2088443"/>
            <a:ext cx="3863160" cy="4088520"/>
          </a:xfrm>
          <a:prstGeom prst="rect">
            <a:avLst/>
          </a:prstGeom>
          <a:noFill/>
          <a:ln w="0">
            <a:noFill/>
          </a:ln>
        </p:spPr>
      </p:pic>
    </p:spTree>
    <p:extLst>
      <p:ext uri="{BB962C8B-B14F-4D97-AF65-F5344CB8AC3E}">
        <p14:creationId xmlns:p14="http://schemas.microsoft.com/office/powerpoint/2010/main" val="372924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5973A-331F-0E1B-C16E-1877B9F1E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C817E-C2C0-FADA-90D8-5F5A01991679}"/>
              </a:ext>
            </a:extLst>
          </p:cNvPr>
          <p:cNvSpPr>
            <a:spLocks noGrp="1"/>
          </p:cNvSpPr>
          <p:nvPr>
            <p:ph type="title"/>
          </p:nvPr>
        </p:nvSpPr>
        <p:spPr/>
        <p:txBody>
          <a:bodyPr>
            <a:normAutofit/>
          </a:bodyPr>
          <a:lstStyle/>
          <a:p>
            <a:r>
              <a:rPr lang="en-US" sz="4000" b="0" u="none" strike="noStrike" dirty="0">
                <a:solidFill>
                  <a:schemeClr val="dk1"/>
                </a:solidFill>
                <a:uFillTx/>
              </a:rPr>
              <a:t>Index Generation more Complex for Non-Integer Keys</a:t>
            </a:r>
            <a:endParaRPr lang="en-US" sz="4000" dirty="0"/>
          </a:p>
        </p:txBody>
      </p:sp>
      <p:sp>
        <p:nvSpPr>
          <p:cNvPr id="3" name="Content Placeholder 2">
            <a:extLst>
              <a:ext uri="{FF2B5EF4-FFF2-40B4-BE49-F238E27FC236}">
                <a16:creationId xmlns:a16="http://schemas.microsoft.com/office/drawing/2014/main" id="{285383C8-2EF0-78C8-708E-4FD8CE64A4DD}"/>
              </a:ext>
            </a:extLst>
          </p:cNvPr>
          <p:cNvSpPr>
            <a:spLocks noGrp="1"/>
          </p:cNvSpPr>
          <p:nvPr>
            <p:ph idx="1"/>
          </p:nvPr>
        </p:nvSpPr>
        <p:spPr>
          <a:xfrm>
            <a:off x="838200" y="1825625"/>
            <a:ext cx="10736766" cy="4351338"/>
          </a:xfrm>
        </p:spPr>
        <p:txBody>
          <a:bodyPr>
            <a:normAutofit/>
          </a:bodyPr>
          <a:lstStyle/>
          <a:p>
            <a:pPr marL="343080" indent="-343080" defTabSz="914400">
              <a:lnSpc>
                <a:spcPct val="100000"/>
              </a:lnSpc>
              <a:spcBef>
                <a:spcPts val="641"/>
              </a:spcBef>
              <a:buClr>
                <a:srgbClr val="000000"/>
              </a:buClr>
              <a:buFont typeface="Arial"/>
              <a:buChar char="•"/>
            </a:pPr>
            <a:r>
              <a:rPr lang="en-US" sz="2400" b="0" u="none" strike="noStrike" dirty="0">
                <a:solidFill>
                  <a:schemeClr val="dk1"/>
                </a:solidFill>
                <a:uFillTx/>
                <a:latin typeface="Arial"/>
              </a:rPr>
              <a:t>For string, e.g., add up ASCII values of all the characters</a:t>
            </a:r>
            <a:endParaRPr lang="en-US" sz="2400" b="0" u="none" strike="noStrike" dirty="0">
              <a:solidFill>
                <a:srgbClr val="000000"/>
              </a:solidFill>
              <a:uFillTx/>
              <a:latin typeface="Arial"/>
            </a:endParaRPr>
          </a:p>
          <a:p>
            <a:pPr marL="743040" lvl="1" indent="-28584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“smith”</a:t>
            </a:r>
            <a:endParaRPr lang="en-US" sz="2000" b="0" u="none" strike="noStrike" dirty="0">
              <a:solidFill>
                <a:srgbClr val="000000"/>
              </a:solidFill>
              <a:uFillTx/>
              <a:latin typeface="Arial"/>
            </a:endParaRPr>
          </a:p>
          <a:p>
            <a:pPr marL="743040" lvl="1" indent="-28584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=115(s)+109(m)+105(</a:t>
            </a:r>
            <a:r>
              <a:rPr lang="en-US" sz="2000" b="0" u="none" strike="noStrike" dirty="0" err="1">
                <a:solidFill>
                  <a:schemeClr val="dk1"/>
                </a:solidFill>
                <a:uFillTx/>
                <a:latin typeface="Arial"/>
              </a:rPr>
              <a:t>i</a:t>
            </a:r>
            <a:r>
              <a:rPr lang="en-US" sz="2000" b="0" u="none" strike="noStrike" dirty="0">
                <a:solidFill>
                  <a:schemeClr val="dk1"/>
                </a:solidFill>
                <a:uFillTx/>
                <a:latin typeface="Arial"/>
              </a:rPr>
              <a:t>)+116(t)+104(h)</a:t>
            </a:r>
            <a:endParaRPr lang="en-US" sz="2000" b="0" u="none" strike="noStrike" dirty="0">
              <a:solidFill>
                <a:srgbClr val="000000"/>
              </a:solidFill>
              <a:uFillTx/>
              <a:latin typeface="Arial"/>
            </a:endParaRPr>
          </a:p>
          <a:p>
            <a:pPr marL="743040" lvl="1" indent="-285840" defTabSz="914400">
              <a:lnSpc>
                <a:spcPct val="100000"/>
              </a:lnSpc>
              <a:spcBef>
                <a:spcPts val="561"/>
              </a:spcBef>
              <a:buClr>
                <a:srgbClr val="000000"/>
              </a:buClr>
              <a:buFont typeface="Arial"/>
              <a:buChar char="–"/>
            </a:pPr>
            <a:r>
              <a:rPr lang="en-US" sz="2000" b="0" u="none" strike="noStrike" dirty="0">
                <a:solidFill>
                  <a:schemeClr val="dk1"/>
                </a:solidFill>
                <a:uFillTx/>
                <a:latin typeface="Arial"/>
              </a:rPr>
              <a:t>= 549</a:t>
            </a:r>
          </a:p>
          <a:p>
            <a:pPr>
              <a:lnSpc>
                <a:spcPct val="100000"/>
              </a:lnSpc>
              <a:spcBef>
                <a:spcPts val="561"/>
              </a:spcBef>
              <a:buClr>
                <a:srgbClr val="000000"/>
              </a:buClr>
            </a:pPr>
            <a:r>
              <a:rPr lang="en-US" sz="2400" dirty="0">
                <a:solidFill>
                  <a:schemeClr val="dk1"/>
                </a:solidFill>
                <a:latin typeface="Arial"/>
              </a:rPr>
              <a:t>C</a:t>
            </a:r>
            <a:r>
              <a:rPr lang="en-US" sz="2400" u="none" strike="noStrike" dirty="0">
                <a:solidFill>
                  <a:schemeClr val="dk1"/>
                </a:solidFill>
                <a:uFillTx/>
                <a:latin typeface="Arial"/>
              </a:rPr>
              <a:t>omplexity comes in when trying to create uniform distribution of data items throughout the table</a:t>
            </a:r>
            <a:endParaRPr lang="en-US" sz="2400" u="none" strike="noStrike" dirty="0">
              <a:solidFill>
                <a:srgbClr val="000000"/>
              </a:solidFill>
              <a:uFillTx/>
              <a:latin typeface="Arial"/>
            </a:endParaRPr>
          </a:p>
          <a:p>
            <a:pPr>
              <a:lnSpc>
                <a:spcPct val="100000"/>
              </a:lnSpc>
              <a:spcBef>
                <a:spcPts val="561"/>
              </a:spcBef>
              <a:buClr>
                <a:srgbClr val="000000"/>
              </a:buClr>
            </a:pPr>
            <a:endParaRPr lang="en-US" sz="240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endParaRPr lang="en-US" sz="1600" dirty="0"/>
          </a:p>
        </p:txBody>
      </p:sp>
      <p:pic>
        <p:nvPicPr>
          <p:cNvPr id="6" name="Picture 4">
            <a:extLst>
              <a:ext uri="{FF2B5EF4-FFF2-40B4-BE49-F238E27FC236}">
                <a16:creationId xmlns:a16="http://schemas.microsoft.com/office/drawing/2014/main" id="{C71C99B0-3B77-FEF5-2C86-6DF0DF29C0EC}"/>
              </a:ext>
            </a:extLst>
          </p:cNvPr>
          <p:cNvPicPr/>
          <p:nvPr/>
        </p:nvPicPr>
        <p:blipFill>
          <a:blip r:embed="rId2"/>
          <a:srcRect r="14722"/>
          <a:stretch/>
        </p:blipFill>
        <p:spPr>
          <a:xfrm>
            <a:off x="7831873" y="4638907"/>
            <a:ext cx="4360127" cy="2219093"/>
          </a:xfrm>
          <a:prstGeom prst="rect">
            <a:avLst/>
          </a:prstGeom>
          <a:noFill/>
          <a:ln w="0">
            <a:noFill/>
          </a:ln>
        </p:spPr>
      </p:pic>
    </p:spTree>
    <p:extLst>
      <p:ext uri="{BB962C8B-B14F-4D97-AF65-F5344CB8AC3E}">
        <p14:creationId xmlns:p14="http://schemas.microsoft.com/office/powerpoint/2010/main" val="888983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69541-702F-C410-23C3-D4BFF39E01D6}"/>
              </a:ext>
            </a:extLst>
          </p:cNvPr>
          <p:cNvSpPr>
            <a:spLocks noGrp="1"/>
          </p:cNvSpPr>
          <p:nvPr>
            <p:ph type="title"/>
          </p:nvPr>
        </p:nvSpPr>
        <p:spPr/>
        <p:txBody>
          <a:bodyPr/>
          <a:lstStyle/>
          <a:p>
            <a:r>
              <a:rPr lang="en-US" sz="4400" b="0" u="none" strike="noStrike" dirty="0">
                <a:solidFill>
                  <a:schemeClr val="dk1"/>
                </a:solidFill>
                <a:uFillTx/>
              </a:rPr>
              <a:t>Index Generation more Complex for Non-Integer Keys</a:t>
            </a:r>
            <a:endParaRPr lang="en-US" dirty="0"/>
          </a:p>
        </p:txBody>
      </p:sp>
      <p:sp>
        <p:nvSpPr>
          <p:cNvPr id="3" name="Content Placeholder 2">
            <a:extLst>
              <a:ext uri="{FF2B5EF4-FFF2-40B4-BE49-F238E27FC236}">
                <a16:creationId xmlns:a16="http://schemas.microsoft.com/office/drawing/2014/main" id="{3973A75C-84D3-0083-C3B0-67A75789AB05}"/>
              </a:ext>
            </a:extLst>
          </p:cNvPr>
          <p:cNvSpPr>
            <a:spLocks noGrp="1"/>
          </p:cNvSpPr>
          <p:nvPr>
            <p:ph idx="1"/>
          </p:nvPr>
        </p:nvSpPr>
        <p:spPr/>
        <p:txBody>
          <a:bodyPr/>
          <a:lstStyle/>
          <a:p>
            <a:r>
              <a:rPr lang="en-US" dirty="0"/>
              <a:t>For real numbers:</a:t>
            </a:r>
            <a:endParaRPr lang="en-US" sz="2800" b="0" u="none" strike="noStrike" dirty="0">
              <a:uFillTx/>
            </a:endParaRPr>
          </a:p>
          <a:p>
            <a:pPr lvl="1"/>
            <a:r>
              <a:rPr lang="en-US" dirty="0"/>
              <a:t>Truncating (not advised)</a:t>
            </a:r>
          </a:p>
          <a:p>
            <a:pPr lvl="1"/>
            <a:r>
              <a:rPr lang="en-US" dirty="0"/>
              <a:t>std::hash&lt;float&gt;</a:t>
            </a:r>
          </a:p>
          <a:p>
            <a:pPr lvl="1"/>
            <a:r>
              <a:rPr lang="en-US" dirty="0"/>
              <a:t>Multiply the float by a large constant to shift the decimal places into the integer range (be careful of integer overflow)</a:t>
            </a:r>
            <a:endParaRPr lang="en-US" dirty="0">
              <a:solidFill>
                <a:srgbClr val="FF0000"/>
              </a:solidFill>
            </a:endParaRPr>
          </a:p>
          <a:p>
            <a:r>
              <a:rPr lang="en-US" dirty="0"/>
              <a:t>How to handle negative input values</a:t>
            </a:r>
          </a:p>
          <a:p>
            <a:pPr lvl="1"/>
            <a:r>
              <a:rPr lang="en-US" dirty="0"/>
              <a:t>Double mod: hash = ((key % </a:t>
            </a:r>
            <a:r>
              <a:rPr lang="en-US" dirty="0" err="1"/>
              <a:t>tableSize</a:t>
            </a:r>
            <a:r>
              <a:rPr lang="en-US" dirty="0"/>
              <a:t>) + </a:t>
            </a:r>
            <a:r>
              <a:rPr lang="en-US" dirty="0" err="1"/>
              <a:t>tableSize</a:t>
            </a:r>
            <a:r>
              <a:rPr lang="en-US" dirty="0"/>
              <a:t>) % </a:t>
            </a:r>
            <a:r>
              <a:rPr lang="en-US" dirty="0" err="1"/>
              <a:t>tableSize</a:t>
            </a:r>
            <a:r>
              <a:rPr lang="en-US" dirty="0"/>
              <a:t>;</a:t>
            </a:r>
          </a:p>
        </p:txBody>
      </p:sp>
    </p:spTree>
    <p:extLst>
      <p:ext uri="{BB962C8B-B14F-4D97-AF65-F5344CB8AC3E}">
        <p14:creationId xmlns:p14="http://schemas.microsoft.com/office/powerpoint/2010/main" val="535709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40F63-82E9-2056-8A0D-7F1CA6375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78525-07E2-6D6A-F0B4-194D5C1F94F9}"/>
              </a:ext>
            </a:extLst>
          </p:cNvPr>
          <p:cNvSpPr>
            <a:spLocks noGrp="1"/>
          </p:cNvSpPr>
          <p:nvPr>
            <p:ph type="title"/>
          </p:nvPr>
        </p:nvSpPr>
        <p:spPr/>
        <p:txBody>
          <a:bodyPr>
            <a:normAutofit/>
          </a:bodyPr>
          <a:lstStyle/>
          <a:p>
            <a:r>
              <a:rPr lang="en-US" sz="4000" dirty="0"/>
              <a:t>Hash tables – Issue (1)</a:t>
            </a:r>
          </a:p>
        </p:txBody>
      </p:sp>
      <p:sp>
        <p:nvSpPr>
          <p:cNvPr id="3" name="Content Placeholder 2">
            <a:extLst>
              <a:ext uri="{FF2B5EF4-FFF2-40B4-BE49-F238E27FC236}">
                <a16:creationId xmlns:a16="http://schemas.microsoft.com/office/drawing/2014/main" id="{077CEEE0-8D7F-9921-D62B-0C10A14474BD}"/>
              </a:ext>
            </a:extLst>
          </p:cNvPr>
          <p:cNvSpPr>
            <a:spLocks noGrp="1"/>
          </p:cNvSpPr>
          <p:nvPr>
            <p:ph idx="1"/>
          </p:nvPr>
        </p:nvSpPr>
        <p:spPr>
          <a:xfrm>
            <a:off x="838200" y="1825625"/>
            <a:ext cx="10736766" cy="4351338"/>
          </a:xfrm>
        </p:spPr>
        <p:txBody>
          <a:bodyPr>
            <a:normAutofit/>
          </a:bodyPr>
          <a:lstStyle/>
          <a:p>
            <a:pPr marL="343080" indent="-343080" defTabSz="914400">
              <a:lnSpc>
                <a:spcPct val="100000"/>
              </a:lnSpc>
              <a:spcBef>
                <a:spcPts val="641"/>
              </a:spcBef>
              <a:buClr>
                <a:srgbClr val="000000"/>
              </a:buClr>
              <a:buFont typeface="Arial"/>
              <a:buChar char="•"/>
            </a:pPr>
            <a:r>
              <a:rPr lang="en-US" sz="2400" b="0" u="none" strike="noStrike" dirty="0">
                <a:solidFill>
                  <a:schemeClr val="dk1"/>
                </a:solidFill>
                <a:uFillTx/>
                <a:latin typeface="Arial"/>
              </a:rPr>
              <a:t>Does not distribute keys well for large tables though</a:t>
            </a:r>
          </a:p>
          <a:p>
            <a:pPr marL="343080" indent="-343080" defTabSz="914400">
              <a:lnSpc>
                <a:spcPct val="100000"/>
              </a:lnSpc>
              <a:spcBef>
                <a:spcPts val="641"/>
              </a:spcBef>
              <a:buClr>
                <a:srgbClr val="000000"/>
              </a:buClr>
              <a:buFont typeface="Arial"/>
              <a:buChar char="•"/>
            </a:pPr>
            <a:endParaRPr lang="en-US" sz="2400" dirty="0">
              <a:solidFill>
                <a:schemeClr val="dk1"/>
              </a:solidFill>
              <a:latin typeface="Arial"/>
            </a:endParaRPr>
          </a:p>
          <a:p>
            <a:pPr marL="800280" lvl="1" indent="-343080">
              <a:lnSpc>
                <a:spcPct val="100000"/>
              </a:lnSpc>
              <a:spcBef>
                <a:spcPts val="561"/>
              </a:spcBef>
              <a:buClr>
                <a:srgbClr val="000000"/>
              </a:buClr>
              <a:buFont typeface="Arial"/>
              <a:buChar char="•"/>
            </a:pPr>
            <a:r>
              <a:rPr lang="en-US" sz="2000" b="1" u="none" strike="noStrike" dirty="0">
                <a:solidFill>
                  <a:schemeClr val="dk1"/>
                </a:solidFill>
                <a:uFillTx/>
                <a:latin typeface="Arial"/>
              </a:rPr>
              <a:t>Table size = 10,007 (prime </a:t>
            </a:r>
            <a:r>
              <a:rPr lang="en-US" sz="2000" u="none" strike="noStrike" dirty="0">
                <a:solidFill>
                  <a:schemeClr val="dk1"/>
                </a:solidFill>
                <a:uFillTx/>
                <a:latin typeface="Arial"/>
              </a:rPr>
              <a:t>numbers </a:t>
            </a:r>
            <a:r>
              <a:rPr lang="en-US" sz="2000" b="0" u="none" strike="noStrike" dirty="0">
                <a:solidFill>
                  <a:schemeClr val="dk1"/>
                </a:solidFill>
                <a:uFillTx/>
                <a:latin typeface="Arial"/>
              </a:rPr>
              <a:t>usually used)</a:t>
            </a:r>
            <a:endParaRPr lang="en-US" sz="2000" b="0" u="none" strike="noStrike" dirty="0">
              <a:solidFill>
                <a:srgbClr val="000000"/>
              </a:solidFill>
              <a:uFillTx/>
              <a:latin typeface="Arial"/>
            </a:endParaRPr>
          </a:p>
          <a:p>
            <a:pPr marL="800280" lvl="1" indent="-343080">
              <a:lnSpc>
                <a:spcPct val="100000"/>
              </a:lnSpc>
              <a:spcBef>
                <a:spcPts val="561"/>
              </a:spcBef>
              <a:buClr>
                <a:srgbClr val="000000"/>
              </a:buClr>
              <a:buFont typeface="Arial"/>
              <a:buChar char="•"/>
            </a:pPr>
            <a:r>
              <a:rPr lang="en-US" sz="2000" b="0" u="none" strike="noStrike" dirty="0">
                <a:solidFill>
                  <a:schemeClr val="dk1"/>
                </a:solidFill>
                <a:uFillTx/>
                <a:latin typeface="Arial"/>
              </a:rPr>
              <a:t>All keys are 8 or fewer characters long</a:t>
            </a:r>
            <a:endParaRPr lang="en-US" sz="2000" b="0" u="none" strike="noStrike" dirty="0">
              <a:solidFill>
                <a:srgbClr val="000000"/>
              </a:solidFill>
              <a:uFillTx/>
              <a:latin typeface="Arial"/>
            </a:endParaRPr>
          </a:p>
          <a:p>
            <a:pPr marL="800280" lvl="1" indent="-343080">
              <a:lnSpc>
                <a:spcPct val="100000"/>
              </a:lnSpc>
              <a:spcBef>
                <a:spcPts val="561"/>
              </a:spcBef>
              <a:buClr>
                <a:srgbClr val="000000"/>
              </a:buClr>
              <a:buFont typeface="Arial"/>
              <a:buChar char="•"/>
            </a:pPr>
            <a:r>
              <a:rPr lang="en-US" sz="2000" b="0" u="none" strike="noStrike" dirty="0">
                <a:solidFill>
                  <a:schemeClr val="dk1"/>
                </a:solidFill>
                <a:uFillTx/>
                <a:latin typeface="Arial"/>
              </a:rPr>
              <a:t>Char values max up to 127</a:t>
            </a:r>
            <a:endParaRPr lang="en-US" sz="2000" b="0" u="none" strike="noStrike" dirty="0">
              <a:solidFill>
                <a:srgbClr val="000000"/>
              </a:solidFill>
              <a:uFillTx/>
              <a:latin typeface="Arial"/>
            </a:endParaRPr>
          </a:p>
          <a:p>
            <a:pPr marL="800280" lvl="1" indent="-343080">
              <a:lnSpc>
                <a:spcPct val="100000"/>
              </a:lnSpc>
              <a:spcBef>
                <a:spcPts val="561"/>
              </a:spcBef>
              <a:buClr>
                <a:srgbClr val="000000"/>
              </a:buClr>
              <a:buFont typeface="Arial"/>
              <a:buChar char="•"/>
            </a:pPr>
            <a:r>
              <a:rPr lang="en-US" sz="2000" b="0" u="none" strike="noStrike" dirty="0">
                <a:solidFill>
                  <a:schemeClr val="dk1"/>
                </a:solidFill>
                <a:uFillTx/>
                <a:latin typeface="Arial"/>
              </a:rPr>
              <a:t>127 * 8 = 1,016 max key value</a:t>
            </a:r>
            <a:endParaRPr lang="en-US" sz="2000" b="0" u="none" strike="noStrike" dirty="0">
              <a:solidFill>
                <a:srgbClr val="000000"/>
              </a:solidFill>
              <a:uFillTx/>
              <a:latin typeface="Arial"/>
            </a:endParaRPr>
          </a:p>
          <a:p>
            <a:pPr>
              <a:lnSpc>
                <a:spcPct val="100000"/>
              </a:lnSpc>
              <a:spcBef>
                <a:spcPts val="561"/>
              </a:spcBef>
              <a:buClr>
                <a:srgbClr val="000000"/>
              </a:buClr>
            </a:pPr>
            <a:endParaRPr lang="en-US" sz="240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endParaRPr lang="en-US" sz="1600" dirty="0"/>
          </a:p>
        </p:txBody>
      </p:sp>
      <p:pic>
        <p:nvPicPr>
          <p:cNvPr id="4" name="Picture 4">
            <a:extLst>
              <a:ext uri="{FF2B5EF4-FFF2-40B4-BE49-F238E27FC236}">
                <a16:creationId xmlns:a16="http://schemas.microsoft.com/office/drawing/2014/main" id="{950B58C0-7440-F391-435C-ECB4DDBD8388}"/>
              </a:ext>
            </a:extLst>
          </p:cNvPr>
          <p:cNvPicPr/>
          <p:nvPr/>
        </p:nvPicPr>
        <p:blipFill>
          <a:blip r:embed="rId2"/>
          <a:srcRect r="14428"/>
          <a:stretch/>
        </p:blipFill>
        <p:spPr>
          <a:xfrm>
            <a:off x="7544760" y="2469995"/>
            <a:ext cx="4647240" cy="2444400"/>
          </a:xfrm>
          <a:prstGeom prst="rect">
            <a:avLst/>
          </a:prstGeom>
          <a:noFill/>
          <a:ln w="0">
            <a:noFill/>
          </a:ln>
        </p:spPr>
      </p:pic>
    </p:spTree>
    <p:extLst>
      <p:ext uri="{BB962C8B-B14F-4D97-AF65-F5344CB8AC3E}">
        <p14:creationId xmlns:p14="http://schemas.microsoft.com/office/powerpoint/2010/main" val="806403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285A-5A27-450B-57C6-0557E0233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EDE20-9780-AC7A-305B-8E861E42E6F9}"/>
              </a:ext>
            </a:extLst>
          </p:cNvPr>
          <p:cNvSpPr>
            <a:spLocks noGrp="1"/>
          </p:cNvSpPr>
          <p:nvPr>
            <p:ph type="title"/>
          </p:nvPr>
        </p:nvSpPr>
        <p:spPr/>
        <p:txBody>
          <a:bodyPr>
            <a:normAutofit/>
          </a:bodyPr>
          <a:lstStyle/>
          <a:p>
            <a:r>
              <a:rPr lang="en-US" sz="4000" dirty="0"/>
              <a:t>Hash tables – Issue (2)</a:t>
            </a:r>
          </a:p>
        </p:txBody>
      </p:sp>
      <p:sp>
        <p:nvSpPr>
          <p:cNvPr id="3" name="Content Placeholder 2">
            <a:extLst>
              <a:ext uri="{FF2B5EF4-FFF2-40B4-BE49-F238E27FC236}">
                <a16:creationId xmlns:a16="http://schemas.microsoft.com/office/drawing/2014/main" id="{85AAFA8F-4E08-9F6C-F874-79102EB3CACE}"/>
              </a:ext>
            </a:extLst>
          </p:cNvPr>
          <p:cNvSpPr>
            <a:spLocks noGrp="1"/>
          </p:cNvSpPr>
          <p:nvPr>
            <p:ph idx="1"/>
          </p:nvPr>
        </p:nvSpPr>
        <p:spPr>
          <a:xfrm>
            <a:off x="838200" y="1825625"/>
            <a:ext cx="10736766" cy="4351338"/>
          </a:xfrm>
        </p:spPr>
        <p:txBody>
          <a:bodyPr>
            <a:normAutofit/>
          </a:bodyPr>
          <a:lstStyle/>
          <a:p>
            <a:pPr>
              <a:lnSpc>
                <a:spcPct val="100000"/>
              </a:lnSpc>
              <a:spcBef>
                <a:spcPts val="641"/>
              </a:spcBef>
              <a:buClr>
                <a:srgbClr val="000000"/>
              </a:buClr>
              <a:tabLst>
                <a:tab pos="0" algn="l"/>
              </a:tabLst>
            </a:pPr>
            <a:r>
              <a:rPr lang="en-US" sz="1600" b="0" u="none" strike="noStrike" dirty="0">
                <a:solidFill>
                  <a:schemeClr val="dk1"/>
                </a:solidFill>
                <a:uFillTx/>
                <a:latin typeface="Arial"/>
              </a:rPr>
              <a:t>Assume key is at least 3 chars long</a:t>
            </a:r>
            <a:endParaRPr lang="en-US" sz="1600" dirty="0">
              <a:solidFill>
                <a:srgbClr val="000000"/>
              </a:solidFill>
              <a:latin typeface="Arial"/>
            </a:endParaRPr>
          </a:p>
          <a:p>
            <a:pPr>
              <a:lnSpc>
                <a:spcPct val="100000"/>
              </a:lnSpc>
              <a:spcBef>
                <a:spcPts val="641"/>
              </a:spcBef>
              <a:buClr>
                <a:srgbClr val="000000"/>
              </a:buClr>
              <a:tabLst>
                <a:tab pos="0" algn="l"/>
              </a:tabLst>
            </a:pPr>
            <a:r>
              <a:rPr lang="en-US" sz="1600" b="0" u="none" strike="noStrike" dirty="0">
                <a:solidFill>
                  <a:schemeClr val="dk1"/>
                </a:solidFill>
                <a:uFillTx/>
                <a:latin typeface="Arial"/>
              </a:rPr>
              <a:t>27 = 26 alphabets + space</a:t>
            </a:r>
            <a:endParaRPr lang="en-US" sz="1600" dirty="0">
              <a:solidFill>
                <a:srgbClr val="000000"/>
              </a:solidFill>
              <a:latin typeface="Arial"/>
            </a:endParaRPr>
          </a:p>
          <a:p>
            <a:pPr>
              <a:lnSpc>
                <a:spcPct val="100000"/>
              </a:lnSpc>
              <a:spcBef>
                <a:spcPts val="641"/>
              </a:spcBef>
              <a:buClr>
                <a:srgbClr val="000000"/>
              </a:buClr>
              <a:tabLst>
                <a:tab pos="0" algn="l"/>
              </a:tabLst>
            </a:pPr>
            <a:r>
              <a:rPr lang="en-US" sz="1600" b="0" u="none" strike="noStrike" dirty="0">
                <a:solidFill>
                  <a:schemeClr val="dk1"/>
                </a:solidFill>
                <a:uFillTx/>
                <a:latin typeface="Arial"/>
              </a:rPr>
              <a:t>For random three letters, distribution in 10,007 size is fine</a:t>
            </a:r>
          </a:p>
          <a:p>
            <a:pPr marL="0" indent="0" defTabSz="914400">
              <a:lnSpc>
                <a:spcPct val="100000"/>
              </a:lnSpc>
              <a:spcBef>
                <a:spcPts val="641"/>
              </a:spcBef>
              <a:buClr>
                <a:srgbClr val="000000"/>
              </a:buClr>
              <a:buNone/>
              <a:tabLst>
                <a:tab pos="0" algn="l"/>
              </a:tabLst>
            </a:pPr>
            <a:endParaRPr lang="en-US" sz="1600" dirty="0">
              <a:solidFill>
                <a:srgbClr val="000000"/>
              </a:solidFill>
              <a:latin typeface="Arial"/>
            </a:endParaRPr>
          </a:p>
          <a:p>
            <a:pPr>
              <a:lnSpc>
                <a:spcPct val="100000"/>
              </a:lnSpc>
              <a:spcBef>
                <a:spcPts val="641"/>
              </a:spcBef>
              <a:buClr>
                <a:srgbClr val="000000"/>
              </a:buClr>
              <a:tabLst>
                <a:tab pos="0" algn="l"/>
              </a:tabLst>
            </a:pPr>
            <a:r>
              <a:rPr lang="en-US" sz="1600" b="0" u="none" strike="noStrike" dirty="0">
                <a:solidFill>
                  <a:schemeClr val="dk1"/>
                </a:solidFill>
                <a:uFillTx/>
                <a:latin typeface="Arial"/>
              </a:rPr>
              <a:t>But, </a:t>
            </a:r>
          </a:p>
          <a:p>
            <a:pPr>
              <a:lnSpc>
                <a:spcPct val="100000"/>
              </a:lnSpc>
              <a:spcBef>
                <a:spcPts val="641"/>
              </a:spcBef>
              <a:buClr>
                <a:srgbClr val="000000"/>
              </a:buClr>
              <a:tabLst>
                <a:tab pos="0" algn="l"/>
              </a:tabLst>
            </a:pPr>
            <a:r>
              <a:rPr lang="en-US" sz="1600" b="0" u="none" strike="noStrike" dirty="0">
                <a:solidFill>
                  <a:schemeClr val="dk1"/>
                </a:solidFill>
                <a:uFillTx/>
                <a:latin typeface="Arial"/>
              </a:rPr>
              <a:t>English is not random</a:t>
            </a:r>
            <a:endParaRPr lang="en-US" sz="1600" dirty="0">
              <a:solidFill>
                <a:srgbClr val="000000"/>
              </a:solidFill>
              <a:latin typeface="Arial"/>
            </a:endParaRPr>
          </a:p>
          <a:p>
            <a:pPr>
              <a:lnSpc>
                <a:spcPct val="100000"/>
              </a:lnSpc>
              <a:spcBef>
                <a:spcPts val="641"/>
              </a:spcBef>
              <a:buClr>
                <a:srgbClr val="000000"/>
              </a:buClr>
              <a:tabLst>
                <a:tab pos="0" algn="l"/>
              </a:tabLst>
            </a:pPr>
            <a:r>
              <a:rPr lang="en-US" sz="1600" b="0" u="none" strike="noStrike" dirty="0">
                <a:solidFill>
                  <a:schemeClr val="dk1"/>
                </a:solidFill>
                <a:uFillTx/>
                <a:latin typeface="Arial"/>
              </a:rPr>
              <a:t>26 x 26 x 26 = 17, 576 possibilities</a:t>
            </a:r>
            <a:endParaRPr lang="en-US" sz="1600" dirty="0">
              <a:solidFill>
                <a:srgbClr val="000000"/>
              </a:solidFill>
              <a:latin typeface="Arial"/>
            </a:endParaRPr>
          </a:p>
          <a:p>
            <a:pPr>
              <a:lnSpc>
                <a:spcPct val="100000"/>
              </a:lnSpc>
              <a:spcBef>
                <a:spcPts val="641"/>
              </a:spcBef>
              <a:buClr>
                <a:srgbClr val="000000"/>
              </a:buClr>
              <a:tabLst>
                <a:tab pos="0" algn="l"/>
              </a:tabLst>
            </a:pPr>
            <a:r>
              <a:rPr lang="en-US" sz="1600" b="0" u="none" strike="noStrike" dirty="0">
                <a:solidFill>
                  <a:schemeClr val="dk1"/>
                </a:solidFill>
                <a:uFillTx/>
                <a:latin typeface="Arial"/>
              </a:rPr>
              <a:t>Real dictionary distribution yields only 2,851 possibilities, which again does not utilize a table of size 10,007 well</a:t>
            </a:r>
            <a:endParaRPr lang="en-US" sz="1600" b="0" u="none" strike="noStrike" dirty="0">
              <a:solidFill>
                <a:srgbClr val="000000"/>
              </a:solidFill>
              <a:uFillTx/>
              <a:latin typeface="Arial"/>
            </a:endParaRPr>
          </a:p>
          <a:p>
            <a:pPr marL="343080" indent="-343080" defTabSz="914400">
              <a:lnSpc>
                <a:spcPct val="100000"/>
              </a:lnSpc>
              <a:spcBef>
                <a:spcPts val="641"/>
              </a:spcBef>
              <a:buClr>
                <a:srgbClr val="000000"/>
              </a:buClr>
              <a:buFont typeface="Arial"/>
              <a:buChar char="•"/>
              <a:tabLst>
                <a:tab pos="0" algn="l"/>
              </a:tabLst>
            </a:pPr>
            <a:endParaRPr lang="en-US" sz="1600" b="0" u="none" strike="noStrike" dirty="0">
              <a:solidFill>
                <a:srgbClr val="000000"/>
              </a:solidFill>
              <a:uFillTx/>
              <a:latin typeface="Arial"/>
            </a:endParaRPr>
          </a:p>
          <a:p>
            <a:pPr marL="343080" indent="-343080" defTabSz="914400">
              <a:lnSpc>
                <a:spcPct val="100000"/>
              </a:lnSpc>
              <a:spcBef>
                <a:spcPts val="561"/>
              </a:spcBef>
              <a:buClr>
                <a:srgbClr val="000000"/>
              </a:buClr>
              <a:buFont typeface="Arial"/>
              <a:buChar char="•"/>
            </a:pPr>
            <a:endParaRPr lang="en-US" sz="1600" dirty="0"/>
          </a:p>
        </p:txBody>
      </p:sp>
    </p:spTree>
    <p:extLst>
      <p:ext uri="{BB962C8B-B14F-4D97-AF65-F5344CB8AC3E}">
        <p14:creationId xmlns:p14="http://schemas.microsoft.com/office/powerpoint/2010/main" val="23709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BAF1-3DC9-E915-C63E-32F6E2507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32400-13EB-824D-F73F-16615C50E1E7}"/>
              </a:ext>
            </a:extLst>
          </p:cNvPr>
          <p:cNvSpPr>
            <a:spLocks noGrp="1"/>
          </p:cNvSpPr>
          <p:nvPr>
            <p:ph type="title"/>
          </p:nvPr>
        </p:nvSpPr>
        <p:spPr/>
        <p:txBody>
          <a:bodyPr>
            <a:normAutofit/>
          </a:bodyPr>
          <a:lstStyle/>
          <a:p>
            <a:r>
              <a:rPr lang="en-US" sz="4000" dirty="0"/>
              <a:t>Hash tables – Issue (2)</a:t>
            </a:r>
          </a:p>
        </p:txBody>
      </p:sp>
      <p:sp>
        <p:nvSpPr>
          <p:cNvPr id="3" name="Content Placeholder 2">
            <a:extLst>
              <a:ext uri="{FF2B5EF4-FFF2-40B4-BE49-F238E27FC236}">
                <a16:creationId xmlns:a16="http://schemas.microsoft.com/office/drawing/2014/main" id="{5DD09C2B-C713-70AE-490C-9FDAEEE9EBF6}"/>
              </a:ext>
            </a:extLst>
          </p:cNvPr>
          <p:cNvSpPr>
            <a:spLocks noGrp="1"/>
          </p:cNvSpPr>
          <p:nvPr>
            <p:ph idx="1"/>
          </p:nvPr>
        </p:nvSpPr>
        <p:spPr>
          <a:xfrm>
            <a:off x="838200" y="1825625"/>
            <a:ext cx="10736766" cy="4351338"/>
          </a:xfrm>
        </p:spPr>
        <p:txBody>
          <a:bodyPr>
            <a:normAutofit/>
          </a:bodyPr>
          <a:lstStyle/>
          <a:p>
            <a:pPr>
              <a:lnSpc>
                <a:spcPct val="100000"/>
              </a:lnSpc>
              <a:spcBef>
                <a:spcPts val="641"/>
              </a:spcBef>
              <a:buClr>
                <a:srgbClr val="000000"/>
              </a:buClr>
              <a:tabLst>
                <a:tab pos="0" algn="l"/>
              </a:tabLst>
            </a:pPr>
            <a:r>
              <a:rPr lang="en-US" sz="2000" b="0" u="none" strike="noStrike" dirty="0">
                <a:solidFill>
                  <a:schemeClr val="dk1"/>
                </a:solidFill>
                <a:uFillTx/>
              </a:rPr>
              <a:t>If you know keys are always exactly 3 lowercase letters or space (27 possible symbols), and want something faster/simpler:</a:t>
            </a:r>
            <a:endParaRPr lang="en-US" sz="2000" b="0" u="none" strike="noStrike" dirty="0">
              <a:solidFill>
                <a:srgbClr val="000000"/>
              </a:solidFill>
              <a:uFillTx/>
            </a:endParaRPr>
          </a:p>
          <a:p>
            <a:pPr marL="343080" indent="-343080" defTabSz="914400">
              <a:lnSpc>
                <a:spcPct val="100000"/>
              </a:lnSpc>
              <a:spcBef>
                <a:spcPts val="561"/>
              </a:spcBef>
              <a:buClr>
                <a:srgbClr val="000000"/>
              </a:buClr>
              <a:buFont typeface="Arial"/>
              <a:buChar char="•"/>
            </a:pPr>
            <a:r>
              <a:rPr lang="en-US" sz="2000" dirty="0"/>
              <a:t>Choose </a:t>
            </a:r>
            <a:r>
              <a:rPr lang="en-US" sz="2000" dirty="0" err="1"/>
              <a:t>tableSize</a:t>
            </a:r>
            <a:r>
              <a:rPr lang="en-US" sz="2000" dirty="0"/>
              <a:t> = 2851 or a nearby prime for best utilization.</a:t>
            </a:r>
          </a:p>
        </p:txBody>
      </p:sp>
      <p:pic>
        <p:nvPicPr>
          <p:cNvPr id="4" name="Picture 3">
            <a:extLst>
              <a:ext uri="{FF2B5EF4-FFF2-40B4-BE49-F238E27FC236}">
                <a16:creationId xmlns:a16="http://schemas.microsoft.com/office/drawing/2014/main" id="{A8E0756B-6958-D7B7-EE1C-E2BF9DF37BEC}"/>
              </a:ext>
            </a:extLst>
          </p:cNvPr>
          <p:cNvPicPr/>
          <p:nvPr/>
        </p:nvPicPr>
        <p:blipFill>
          <a:blip r:embed="rId2"/>
          <a:stretch/>
        </p:blipFill>
        <p:spPr>
          <a:xfrm>
            <a:off x="2224044" y="3866599"/>
            <a:ext cx="7965078" cy="1562986"/>
          </a:xfrm>
          <a:prstGeom prst="rect">
            <a:avLst/>
          </a:prstGeom>
          <a:noFill/>
          <a:ln w="0">
            <a:noFill/>
          </a:ln>
        </p:spPr>
      </p:pic>
    </p:spTree>
    <p:extLst>
      <p:ext uri="{BB962C8B-B14F-4D97-AF65-F5344CB8AC3E}">
        <p14:creationId xmlns:p14="http://schemas.microsoft.com/office/powerpoint/2010/main" val="265203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08F2F-9AFD-4EAF-4951-963A8741A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C99BE-304B-7587-F4C5-FAF5A344ABDC}"/>
              </a:ext>
            </a:extLst>
          </p:cNvPr>
          <p:cNvSpPr>
            <a:spLocks noGrp="1"/>
          </p:cNvSpPr>
          <p:nvPr>
            <p:ph type="title"/>
          </p:nvPr>
        </p:nvSpPr>
        <p:spPr/>
        <p:txBody>
          <a:bodyPr>
            <a:normAutofit/>
          </a:bodyPr>
          <a:lstStyle/>
          <a:p>
            <a:r>
              <a:rPr lang="en-US" sz="4000" dirty="0"/>
              <a:t>Hash functions</a:t>
            </a:r>
          </a:p>
        </p:txBody>
      </p:sp>
      <p:sp>
        <p:nvSpPr>
          <p:cNvPr id="3" name="Content Placeholder 2">
            <a:extLst>
              <a:ext uri="{FF2B5EF4-FFF2-40B4-BE49-F238E27FC236}">
                <a16:creationId xmlns:a16="http://schemas.microsoft.com/office/drawing/2014/main" id="{BE4B4C4B-A61E-12F5-49A8-BB920EEAA387}"/>
              </a:ext>
            </a:extLst>
          </p:cNvPr>
          <p:cNvSpPr>
            <a:spLocks noGrp="1"/>
          </p:cNvSpPr>
          <p:nvPr>
            <p:ph idx="1"/>
          </p:nvPr>
        </p:nvSpPr>
        <p:spPr>
          <a:xfrm>
            <a:off x="838200" y="1825625"/>
            <a:ext cx="4191000" cy="4351338"/>
          </a:xfrm>
        </p:spPr>
        <p:txBody>
          <a:bodyPr>
            <a:normAutofit/>
          </a:bodyPr>
          <a:lstStyle/>
          <a:p>
            <a:pPr marL="343080" indent="-343080" defTabSz="914400">
              <a:lnSpc>
                <a:spcPct val="100000"/>
              </a:lnSpc>
              <a:spcBef>
                <a:spcPts val="561"/>
              </a:spcBef>
              <a:buClr>
                <a:srgbClr val="000000"/>
              </a:buClr>
              <a:buFont typeface="Arial"/>
              <a:buChar char="•"/>
            </a:pPr>
            <a:r>
              <a:rPr lang="en-US" sz="2400" dirty="0"/>
              <a:t>Primes like 31, 33, or 37 are commonly used for their low collision rates in English-like text.</a:t>
            </a:r>
          </a:p>
          <a:p>
            <a:pPr marL="343080" indent="-343080" defTabSz="914400">
              <a:lnSpc>
                <a:spcPct val="100000"/>
              </a:lnSpc>
              <a:spcBef>
                <a:spcPts val="561"/>
              </a:spcBef>
              <a:buClr>
                <a:srgbClr val="000000"/>
              </a:buClr>
              <a:buFont typeface="Arial"/>
              <a:buChar char="•"/>
            </a:pPr>
            <a:r>
              <a:rPr lang="en-US" sz="2400" dirty="0"/>
              <a:t>A good hash function</a:t>
            </a:r>
          </a:p>
          <a:p>
            <a:pPr marL="800280" lvl="1" indent="-343080">
              <a:lnSpc>
                <a:spcPct val="100000"/>
              </a:lnSpc>
              <a:spcBef>
                <a:spcPts val="561"/>
              </a:spcBef>
              <a:buClr>
                <a:srgbClr val="000000"/>
              </a:buClr>
              <a:buFont typeface="Arial"/>
              <a:buChar char="•"/>
            </a:pPr>
            <a:r>
              <a:rPr lang="en-US" sz="2000" dirty="0"/>
              <a:t>May run into issues if the input size is restricted</a:t>
            </a:r>
          </a:p>
          <a:p>
            <a:pPr marL="343080" indent="-343080" defTabSz="914400">
              <a:lnSpc>
                <a:spcPct val="100000"/>
              </a:lnSpc>
              <a:spcBef>
                <a:spcPts val="561"/>
              </a:spcBef>
              <a:buClr>
                <a:srgbClr val="000000"/>
              </a:buClr>
              <a:buFont typeface="Arial"/>
              <a:buChar char="•"/>
            </a:pPr>
            <a:endParaRPr lang="en-US" sz="2400" dirty="0"/>
          </a:p>
          <a:p>
            <a:pPr marL="343080" indent="-343080" defTabSz="914400">
              <a:lnSpc>
                <a:spcPct val="100000"/>
              </a:lnSpc>
              <a:spcBef>
                <a:spcPts val="561"/>
              </a:spcBef>
              <a:buClr>
                <a:srgbClr val="000000"/>
              </a:buClr>
              <a:buFont typeface="Arial"/>
              <a:buChar char="•"/>
            </a:pPr>
            <a:endParaRPr lang="en-US" sz="3600" dirty="0"/>
          </a:p>
        </p:txBody>
      </p:sp>
      <p:pic>
        <p:nvPicPr>
          <p:cNvPr id="4" name="Picture 3">
            <a:extLst>
              <a:ext uri="{FF2B5EF4-FFF2-40B4-BE49-F238E27FC236}">
                <a16:creationId xmlns:a16="http://schemas.microsoft.com/office/drawing/2014/main" id="{1716DBE8-3F8B-05AF-9C92-28C3A0CF7CE0}"/>
              </a:ext>
            </a:extLst>
          </p:cNvPr>
          <p:cNvPicPr/>
          <p:nvPr/>
        </p:nvPicPr>
        <p:blipFill>
          <a:blip r:embed="rId2"/>
          <a:stretch/>
        </p:blipFill>
        <p:spPr>
          <a:xfrm>
            <a:off x="4911517" y="1825625"/>
            <a:ext cx="7280483" cy="4351338"/>
          </a:xfrm>
          <a:prstGeom prst="rect">
            <a:avLst/>
          </a:prstGeom>
          <a:noFill/>
          <a:ln w="0">
            <a:noFill/>
          </a:ln>
        </p:spPr>
      </p:pic>
    </p:spTree>
    <p:extLst>
      <p:ext uri="{BB962C8B-B14F-4D97-AF65-F5344CB8AC3E}">
        <p14:creationId xmlns:p14="http://schemas.microsoft.com/office/powerpoint/2010/main" val="1296808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8339B-4250-0087-AAC4-A9B162B82A68}"/>
              </a:ext>
            </a:extLst>
          </p:cNvPr>
          <p:cNvSpPr>
            <a:spLocks noGrp="1"/>
          </p:cNvSpPr>
          <p:nvPr>
            <p:ph type="title"/>
          </p:nvPr>
        </p:nvSpPr>
        <p:spPr/>
        <p:txBody>
          <a:bodyPr/>
          <a:lstStyle/>
          <a:p>
            <a:r>
              <a:rPr lang="en-US" sz="4400" dirty="0"/>
              <a:t>Hash tables – Issue (3)</a:t>
            </a:r>
            <a:endParaRPr lang="en-US" dirty="0"/>
          </a:p>
        </p:txBody>
      </p:sp>
      <p:sp>
        <p:nvSpPr>
          <p:cNvPr id="3" name="Content Placeholder 2">
            <a:extLst>
              <a:ext uri="{FF2B5EF4-FFF2-40B4-BE49-F238E27FC236}">
                <a16:creationId xmlns:a16="http://schemas.microsoft.com/office/drawing/2014/main" id="{79455F54-BB70-3B05-8977-A13EE1EA36FC}"/>
              </a:ext>
            </a:extLst>
          </p:cNvPr>
          <p:cNvSpPr>
            <a:spLocks noGrp="1"/>
          </p:cNvSpPr>
          <p:nvPr>
            <p:ph idx="1"/>
          </p:nvPr>
        </p:nvSpPr>
        <p:spPr/>
        <p:txBody>
          <a:bodyPr>
            <a:normAutofit/>
          </a:bodyPr>
          <a:lstStyle/>
          <a:p>
            <a:r>
              <a:rPr lang="en-US" sz="2400" dirty="0"/>
              <a:t>When designing a hash table, especially for storing or looking up English:</a:t>
            </a:r>
          </a:p>
          <a:p>
            <a:pPr lvl="1"/>
            <a:r>
              <a:rPr lang="en-US" sz="2000" dirty="0"/>
              <a:t>Random Distribution Assumption fails.</a:t>
            </a:r>
          </a:p>
          <a:p>
            <a:pPr lvl="1"/>
            <a:r>
              <a:rPr lang="en-US" sz="2000" dirty="0"/>
              <a:t>The real-world data is skewed: some prefixes (like "the", "con", "pre") are very common, while many others never appear at all.</a:t>
            </a:r>
          </a:p>
          <a:p>
            <a:pPr lvl="1"/>
            <a:r>
              <a:rPr lang="en-US" sz="2000" dirty="0"/>
              <a:t>This makes a large table like size (sparse), especially if you're only storing ~2,851 entries. 10,007 underutilized </a:t>
            </a:r>
          </a:p>
          <a:p>
            <a:r>
              <a:rPr lang="en-US" sz="2400" dirty="0"/>
              <a:t>Load Factor = 2,851/10,007 ≈ 0.285 - quite sparse (low utilization).</a:t>
            </a:r>
          </a:p>
          <a:p>
            <a:r>
              <a:rPr lang="en-US" sz="2400" dirty="0"/>
              <a:t>You can reduce the table size to something closer to the actual data volume:</a:t>
            </a:r>
          </a:p>
          <a:p>
            <a:pPr lvl="1"/>
            <a:r>
              <a:rPr lang="en-US" sz="2000" dirty="0"/>
              <a:t>Nearest prime ≥ 2,851: </a:t>
            </a:r>
            <a:r>
              <a:rPr lang="en-US" sz="2000" b="1" dirty="0"/>
              <a:t>2,857</a:t>
            </a:r>
            <a:r>
              <a:rPr lang="en-US" sz="2000" dirty="0"/>
              <a:t> (or choose a slightly larger prime like 3,001)</a:t>
            </a:r>
          </a:p>
          <a:p>
            <a:pPr lvl="1"/>
            <a:r>
              <a:rPr lang="en-US" sz="2000" dirty="0"/>
              <a:t>This improves cache locality and reduces memory waste</a:t>
            </a:r>
          </a:p>
          <a:p>
            <a:endParaRPr lang="en-US" sz="2400" dirty="0"/>
          </a:p>
          <a:p>
            <a:endParaRPr lang="en-US" sz="2400" dirty="0"/>
          </a:p>
        </p:txBody>
      </p:sp>
    </p:spTree>
    <p:extLst>
      <p:ext uri="{BB962C8B-B14F-4D97-AF65-F5344CB8AC3E}">
        <p14:creationId xmlns:p14="http://schemas.microsoft.com/office/powerpoint/2010/main" val="971935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BD180-2F14-E8B1-6958-1D4D6CE77670}"/>
              </a:ext>
            </a:extLst>
          </p:cNvPr>
          <p:cNvSpPr>
            <a:spLocks noGrp="1"/>
          </p:cNvSpPr>
          <p:nvPr>
            <p:ph type="title"/>
          </p:nvPr>
        </p:nvSpPr>
        <p:spPr/>
        <p:txBody>
          <a:bodyPr/>
          <a:lstStyle/>
          <a:p>
            <a:r>
              <a:rPr lang="en-US" dirty="0"/>
              <a:t>Hash tables – Recap (1)</a:t>
            </a:r>
          </a:p>
        </p:txBody>
      </p:sp>
      <p:sp>
        <p:nvSpPr>
          <p:cNvPr id="3" name="Content Placeholder 2">
            <a:extLst>
              <a:ext uri="{FF2B5EF4-FFF2-40B4-BE49-F238E27FC236}">
                <a16:creationId xmlns:a16="http://schemas.microsoft.com/office/drawing/2014/main" id="{5563EB59-A300-0F9E-0857-0210A56DF188}"/>
              </a:ext>
            </a:extLst>
          </p:cNvPr>
          <p:cNvSpPr>
            <a:spLocks noGrp="1"/>
          </p:cNvSpPr>
          <p:nvPr>
            <p:ph idx="1"/>
          </p:nvPr>
        </p:nvSpPr>
        <p:spPr/>
        <p:txBody>
          <a:bodyPr/>
          <a:lstStyle/>
          <a:p>
            <a:r>
              <a:rPr lang="en-US" dirty="0"/>
              <a:t>Transforming input (key) into a fixed-size value (hash code)</a:t>
            </a:r>
          </a:p>
          <a:p>
            <a:r>
              <a:rPr lang="en-US" dirty="0"/>
              <a:t>Purpose: Efficient data access — ideally constant time O(1)</a:t>
            </a:r>
          </a:p>
          <a:p>
            <a:r>
              <a:rPr lang="en-US" dirty="0"/>
              <a:t>Hash Functions: Deterministic, Uniform distribution, Fast computation</a:t>
            </a:r>
          </a:p>
          <a:p>
            <a:r>
              <a:rPr lang="en-US" dirty="0"/>
              <a:t>Common Hash functions: Modulo-based, Polynomial rolling, std::hash</a:t>
            </a:r>
          </a:p>
          <a:p>
            <a:r>
              <a:rPr lang="en-US" dirty="0"/>
              <a:t>Edge cases: poor distribution, clustering, integer overflow</a:t>
            </a:r>
          </a:p>
          <a:p>
            <a:endParaRPr lang="en-US" dirty="0"/>
          </a:p>
        </p:txBody>
      </p:sp>
    </p:spTree>
    <p:extLst>
      <p:ext uri="{BB962C8B-B14F-4D97-AF65-F5344CB8AC3E}">
        <p14:creationId xmlns:p14="http://schemas.microsoft.com/office/powerpoint/2010/main" val="2079452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64A7-37AA-E0DB-BD79-2B894BC1E6B8}"/>
              </a:ext>
            </a:extLst>
          </p:cNvPr>
          <p:cNvSpPr>
            <a:spLocks noGrp="1"/>
          </p:cNvSpPr>
          <p:nvPr>
            <p:ph type="title"/>
          </p:nvPr>
        </p:nvSpPr>
        <p:spPr/>
        <p:txBody>
          <a:bodyPr/>
          <a:lstStyle/>
          <a:p>
            <a:r>
              <a:rPr lang="en-US" dirty="0"/>
              <a:t>Hash tables – Recap(2)</a:t>
            </a:r>
          </a:p>
        </p:txBody>
      </p:sp>
      <p:sp>
        <p:nvSpPr>
          <p:cNvPr id="3" name="Content Placeholder 2">
            <a:extLst>
              <a:ext uri="{FF2B5EF4-FFF2-40B4-BE49-F238E27FC236}">
                <a16:creationId xmlns:a16="http://schemas.microsoft.com/office/drawing/2014/main" id="{4E3A7A49-CBBA-2A49-432B-1CC22BA54196}"/>
              </a:ext>
            </a:extLst>
          </p:cNvPr>
          <p:cNvSpPr>
            <a:spLocks noGrp="1"/>
          </p:cNvSpPr>
          <p:nvPr>
            <p:ph idx="1"/>
          </p:nvPr>
        </p:nvSpPr>
        <p:spPr>
          <a:xfrm>
            <a:off x="838200" y="1825625"/>
            <a:ext cx="5257800" cy="4351338"/>
          </a:xfrm>
        </p:spPr>
        <p:txBody>
          <a:bodyPr>
            <a:normAutofit/>
          </a:bodyPr>
          <a:lstStyle/>
          <a:p>
            <a:pPr>
              <a:buFont typeface="Arial" panose="020B0604020202020204" pitchFamily="34" charset="0"/>
              <a:buChar char="•"/>
            </a:pPr>
            <a:r>
              <a:rPr lang="en-US" sz="2400" dirty="0"/>
              <a:t>Array of fixed size with key-value pairs.</a:t>
            </a:r>
          </a:p>
          <a:p>
            <a:pPr>
              <a:buFont typeface="Arial" panose="020B0604020202020204" pitchFamily="34" charset="0"/>
              <a:buChar char="•"/>
            </a:pPr>
            <a:r>
              <a:rPr lang="en-US" sz="2400" dirty="0"/>
              <a:t>Operations: Insert, search, delete</a:t>
            </a:r>
          </a:p>
          <a:p>
            <a:pPr>
              <a:buFont typeface="Arial" panose="020B0604020202020204" pitchFamily="34" charset="0"/>
              <a:buChar char="•"/>
            </a:pPr>
            <a:r>
              <a:rPr lang="en-US" sz="2400" dirty="0"/>
              <a:t>Load Factor (α):</a:t>
            </a:r>
          </a:p>
          <a:p>
            <a:pPr>
              <a:buFont typeface="Arial" panose="020B0604020202020204" pitchFamily="34" charset="0"/>
              <a:buChar char="•"/>
            </a:pPr>
            <a:r>
              <a:rPr lang="en-US" sz="2400" dirty="0"/>
              <a:t>α = Number of elements/Table size</a:t>
            </a:r>
          </a:p>
          <a:p>
            <a:pPr marL="742950" lvl="1" indent="-285750">
              <a:buFont typeface="Arial" panose="020B0604020202020204" pitchFamily="34" charset="0"/>
              <a:buChar char="•"/>
            </a:pPr>
            <a:r>
              <a:rPr lang="en-US" sz="2000" dirty="0"/>
              <a:t>Affects performance.</a:t>
            </a:r>
          </a:p>
          <a:p>
            <a:pPr marL="742950" lvl="1" indent="-285750">
              <a:buFont typeface="Arial" panose="020B0604020202020204" pitchFamily="34" charset="0"/>
              <a:buChar char="•"/>
            </a:pPr>
            <a:r>
              <a:rPr lang="en-US" sz="2000" dirty="0">
                <a:solidFill>
                  <a:srgbClr val="FF0000"/>
                </a:solidFill>
              </a:rPr>
              <a:t>Resize</a:t>
            </a:r>
            <a:r>
              <a:rPr lang="en-US" sz="2000" dirty="0"/>
              <a:t> if α &gt; threshold (e.g., 0.7).</a:t>
            </a:r>
          </a:p>
        </p:txBody>
      </p:sp>
      <p:sp>
        <p:nvSpPr>
          <p:cNvPr id="5" name="Content Placeholder 2">
            <a:extLst>
              <a:ext uri="{FF2B5EF4-FFF2-40B4-BE49-F238E27FC236}">
                <a16:creationId xmlns:a16="http://schemas.microsoft.com/office/drawing/2014/main" id="{66A319AB-3A15-8B90-888B-85C357A416A3}"/>
              </a:ext>
            </a:extLst>
          </p:cNvPr>
          <p:cNvSpPr txBox="1">
            <a:spLocks/>
          </p:cNvSpPr>
          <p:nvPr/>
        </p:nvSpPr>
        <p:spPr>
          <a:xfrm>
            <a:off x="63246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Collisions: Multiple keys map to same index</a:t>
            </a:r>
          </a:p>
          <a:p>
            <a:r>
              <a:rPr lang="en-US" sz="2400" dirty="0"/>
              <a:t>Resolution Strategies:</a:t>
            </a:r>
          </a:p>
          <a:p>
            <a:pPr lvl="1"/>
            <a:r>
              <a:rPr lang="en-US" sz="2000" dirty="0"/>
              <a:t>Open Addressing</a:t>
            </a:r>
          </a:p>
          <a:p>
            <a:pPr lvl="2"/>
            <a:r>
              <a:rPr lang="en-US" sz="1600" dirty="0"/>
              <a:t>Linear Probing: (hash + </a:t>
            </a:r>
            <a:r>
              <a:rPr lang="en-US" sz="1600" dirty="0" err="1"/>
              <a:t>i</a:t>
            </a:r>
            <a:r>
              <a:rPr lang="en-US" sz="1600" dirty="0"/>
              <a:t>) % size</a:t>
            </a:r>
          </a:p>
          <a:p>
            <a:pPr lvl="2"/>
            <a:r>
              <a:rPr lang="en-US" sz="1600" dirty="0"/>
              <a:t>Others (won’t be covering)</a:t>
            </a:r>
            <a:endParaRPr lang="en-US" sz="1600" b="1" dirty="0"/>
          </a:p>
          <a:p>
            <a:pPr lvl="1"/>
            <a:r>
              <a:rPr lang="en-US" sz="2000" dirty="0"/>
              <a:t>Chaining</a:t>
            </a:r>
          </a:p>
          <a:p>
            <a:pPr lvl="2"/>
            <a:r>
              <a:rPr lang="en-US" sz="1600" dirty="0"/>
              <a:t>Each slot holds a linked list (or vector)</a:t>
            </a:r>
          </a:p>
          <a:p>
            <a:pPr lvl="2"/>
            <a:r>
              <a:rPr lang="en-US" sz="1600" dirty="0"/>
              <a:t>Simpler to implement, especially in C++.</a:t>
            </a:r>
          </a:p>
        </p:txBody>
      </p:sp>
    </p:spTree>
    <p:extLst>
      <p:ext uri="{BB962C8B-B14F-4D97-AF65-F5344CB8AC3E}">
        <p14:creationId xmlns:p14="http://schemas.microsoft.com/office/powerpoint/2010/main" val="2665712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06B2C-3A11-89F6-DB98-B1B9BE6A014D}"/>
              </a:ext>
            </a:extLst>
          </p:cNvPr>
          <p:cNvSpPr>
            <a:spLocks noGrp="1"/>
          </p:cNvSpPr>
          <p:nvPr>
            <p:ph type="title"/>
          </p:nvPr>
        </p:nvSpPr>
        <p:spPr/>
        <p:txBody>
          <a:bodyPr/>
          <a:lstStyle/>
          <a:p>
            <a:r>
              <a:rPr lang="en-US" dirty="0"/>
              <a:t>Hash Tables – Recap (5)</a:t>
            </a:r>
          </a:p>
        </p:txBody>
      </p:sp>
      <p:sp>
        <p:nvSpPr>
          <p:cNvPr id="3" name="Content Placeholder 2">
            <a:extLst>
              <a:ext uri="{FF2B5EF4-FFF2-40B4-BE49-F238E27FC236}">
                <a16:creationId xmlns:a16="http://schemas.microsoft.com/office/drawing/2014/main" id="{9D3589F4-30E6-4FC3-D72E-88EFDA333AEA}"/>
              </a:ext>
            </a:extLst>
          </p:cNvPr>
          <p:cNvSpPr>
            <a:spLocks noGrp="1"/>
          </p:cNvSpPr>
          <p:nvPr>
            <p:ph idx="1"/>
          </p:nvPr>
        </p:nvSpPr>
        <p:spPr/>
        <p:txBody>
          <a:bodyPr>
            <a:normAutofit/>
          </a:bodyPr>
          <a:lstStyle/>
          <a:p>
            <a:r>
              <a:rPr lang="en-US" dirty="0"/>
              <a:t>Real Life Applications</a:t>
            </a:r>
          </a:p>
          <a:p>
            <a:pPr lvl="1"/>
            <a:r>
              <a:rPr lang="en-US" dirty="0"/>
              <a:t>Databases: Indexing</a:t>
            </a:r>
          </a:p>
          <a:p>
            <a:pPr lvl="1"/>
            <a:r>
              <a:rPr lang="en-US" dirty="0"/>
              <a:t>Password Storage: With cryptographic hashing</a:t>
            </a:r>
          </a:p>
          <a:p>
            <a:pPr lvl="2"/>
            <a:r>
              <a:rPr lang="en-US" dirty="0"/>
              <a:t>User passwords are hashed using secure hash functions (e.g., SHA-256).</a:t>
            </a:r>
          </a:p>
          <a:p>
            <a:pPr lvl="2"/>
            <a:r>
              <a:rPr lang="en-US" dirty="0"/>
              <a:t>Stored hashes are compared (not the original password) during login to prevent leaks.</a:t>
            </a:r>
          </a:p>
          <a:p>
            <a:pPr lvl="1"/>
            <a:r>
              <a:rPr lang="en-US" dirty="0"/>
              <a:t>Spell Checkers</a:t>
            </a:r>
          </a:p>
        </p:txBody>
      </p:sp>
      <p:pic>
        <p:nvPicPr>
          <p:cNvPr id="5" name="Picture 4">
            <a:extLst>
              <a:ext uri="{FF2B5EF4-FFF2-40B4-BE49-F238E27FC236}">
                <a16:creationId xmlns:a16="http://schemas.microsoft.com/office/drawing/2014/main" id="{596A6881-E365-8F4F-DCBC-451B46A48FEA}"/>
              </a:ext>
            </a:extLst>
          </p:cNvPr>
          <p:cNvPicPr>
            <a:picLocks noChangeAspect="1"/>
          </p:cNvPicPr>
          <p:nvPr/>
        </p:nvPicPr>
        <p:blipFill>
          <a:blip r:embed="rId2"/>
          <a:stretch>
            <a:fillRect/>
          </a:stretch>
        </p:blipFill>
        <p:spPr>
          <a:xfrm>
            <a:off x="6974958" y="4769554"/>
            <a:ext cx="5035513" cy="1542346"/>
          </a:xfrm>
          <a:prstGeom prst="rect">
            <a:avLst/>
          </a:prstGeom>
        </p:spPr>
      </p:pic>
    </p:spTree>
    <p:extLst>
      <p:ext uri="{BB962C8B-B14F-4D97-AF65-F5344CB8AC3E}">
        <p14:creationId xmlns:p14="http://schemas.microsoft.com/office/powerpoint/2010/main" val="1135572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D894-242A-0107-3E0E-79C659EE14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FC25BC-5EF9-AEEC-3652-05132D2117CD}"/>
              </a:ext>
            </a:extLst>
          </p:cNvPr>
          <p:cNvSpPr>
            <a:spLocks noGrp="1"/>
          </p:cNvSpPr>
          <p:nvPr>
            <p:ph idx="1"/>
          </p:nvPr>
        </p:nvSpPr>
        <p:spPr/>
        <p:txBody>
          <a:bodyPr/>
          <a:lstStyle/>
          <a:p>
            <a:r>
              <a:rPr lang="en-US"/>
              <a:t>Any Questions?</a:t>
            </a:r>
          </a:p>
        </p:txBody>
      </p:sp>
    </p:spTree>
    <p:extLst>
      <p:ext uri="{BB962C8B-B14F-4D97-AF65-F5344CB8AC3E}">
        <p14:creationId xmlns:p14="http://schemas.microsoft.com/office/powerpoint/2010/main" val="1068528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32123</TotalTime>
  <Words>1153</Words>
  <Application>Microsoft Office PowerPoint</Application>
  <PresentationFormat>Widescreen</PresentationFormat>
  <Paragraphs>138</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Data Structures &amp; Algorithms (CSC-214)</vt:lpstr>
      <vt:lpstr>Hash tables</vt:lpstr>
      <vt:lpstr>Hash tables</vt:lpstr>
      <vt:lpstr>Hash operations</vt:lpstr>
      <vt:lpstr>Hash operations</vt:lpstr>
      <vt:lpstr>Hash operations</vt:lpstr>
      <vt:lpstr>Hash operations</vt:lpstr>
      <vt:lpstr>Hash operations</vt:lpstr>
      <vt:lpstr>Hash operations – Example (1)</vt:lpstr>
      <vt:lpstr>Hash operations – Example (2)</vt:lpstr>
      <vt:lpstr>Chaining with Lists - Searching</vt:lpstr>
      <vt:lpstr>Index Generation more Complex for Non-Integer Keys</vt:lpstr>
      <vt:lpstr>Index Generation more Complex for Non-Integer Keys</vt:lpstr>
      <vt:lpstr>Hash tables – Issue (1)</vt:lpstr>
      <vt:lpstr>Hash tables – Issue (2)</vt:lpstr>
      <vt:lpstr>Hash tables – Issue (2)</vt:lpstr>
      <vt:lpstr>Hash functions</vt:lpstr>
      <vt:lpstr>Hash tables – Issue (3)</vt:lpstr>
      <vt:lpstr>Hash tables – Recap (1)</vt:lpstr>
      <vt:lpstr>Hash tables – Recap(2)</vt:lpstr>
      <vt:lpstr>Hash Tables – Recap (5)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227</cp:revision>
  <dcterms:created xsi:type="dcterms:W3CDTF">2025-04-23T14:23:37Z</dcterms:created>
  <dcterms:modified xsi:type="dcterms:W3CDTF">2025-05-30T11:01:44Z</dcterms:modified>
</cp:coreProperties>
</file>