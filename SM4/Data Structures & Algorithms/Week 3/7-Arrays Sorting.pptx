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63" r:id="rId5"/>
    <p:sldId id="260" r:id="rId6"/>
    <p:sldId id="261" r:id="rId7"/>
    <p:sldId id="262" r:id="rId8"/>
    <p:sldId id="264" r:id="rId9"/>
    <p:sldId id="286" r:id="rId10"/>
    <p:sldId id="265" r:id="rId11"/>
    <p:sldId id="287" r:id="rId12"/>
    <p:sldId id="266" r:id="rId13"/>
    <p:sldId id="268" r:id="rId14"/>
    <p:sldId id="267" r:id="rId15"/>
    <p:sldId id="269" r:id="rId16"/>
    <p:sldId id="270" r:id="rId17"/>
    <p:sldId id="271" r:id="rId18"/>
    <p:sldId id="281" r:id="rId19"/>
    <p:sldId id="288" r:id="rId20"/>
    <p:sldId id="275" r:id="rId21"/>
    <p:sldId id="274" r:id="rId22"/>
    <p:sldId id="285" r:id="rId23"/>
    <p:sldId id="277" r:id="rId24"/>
    <p:sldId id="278" r:id="rId25"/>
    <p:sldId id="279" r:id="rId26"/>
    <p:sldId id="291" r:id="rId27"/>
    <p:sldId id="272" r:id="rId28"/>
    <p:sldId id="292" r:id="rId29"/>
    <p:sldId id="293" r:id="rId30"/>
    <p:sldId id="294" r:id="rId31"/>
    <p:sldId id="295" r:id="rId32"/>
    <p:sldId id="297" r:id="rId33"/>
    <p:sldId id="296" r:id="rId34"/>
    <p:sldId id="284" r:id="rId35"/>
    <p:sldId id="28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194" autoAdjust="0"/>
  </p:normalViewPr>
  <p:slideViewPr>
    <p:cSldViewPr snapToGrid="0">
      <p:cViewPr varScale="1">
        <p:scale>
          <a:sx n="90" d="100"/>
          <a:sy n="9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87C1B8-1C43-4E9F-B979-7F93F3C79012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DC26F-E97C-4A89-A2C0-6F02F6B348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39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k </a:t>
            </a:r>
            <a:r>
              <a:rPr lang="en-US" dirty="0" err="1"/>
              <a:t>th</a:t>
            </a:r>
            <a:r>
              <a:rPr lang="en-US" dirty="0"/>
              <a:t> “bubble up”, we only need to do SIZE - k comparisons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This is the 4th “bubble up”</a:t>
            </a:r>
          </a:p>
          <a:p>
            <a:pPr lvl="1"/>
            <a:r>
              <a:rPr lang="en-US" dirty="0"/>
              <a:t>SIZE of the array is 6</a:t>
            </a:r>
          </a:p>
          <a:p>
            <a:pPr lvl="1"/>
            <a:r>
              <a:rPr lang="en-US" dirty="0"/>
              <a:t>Thus, we have 2 comparisons to do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6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size – 1 passes</a:t>
            </a:r>
          </a:p>
          <a:p>
            <a:r>
              <a:rPr lang="en-US" dirty="0"/>
              <a:t>Q2: 0 -&gt; (size – pass)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78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FCC49-FFC7-BBF8-06E8-E790870F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4F212-7CB8-7080-A065-8148C2719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6694C-BE7F-ADFF-4C7F-3DFFA7B68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6D6C4-6B33-DB9F-5132-01F6894D3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DC26F-E97C-4A89-A2C0-6F02F6B34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65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DE86-4735-3512-6D9D-AAF196362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111DF9-E39F-1B59-86BD-EC6E75DCB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B399-21FE-2022-8769-C4BC360C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F964-3CD6-5A61-AA55-1C0024835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909C1-8F81-3FE7-AB98-75FFB675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7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91AC-3855-9889-16C1-F290000D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FD50F-FE6D-1EF1-652C-439080FFB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A31F1-23A4-9BC5-313D-3206CDF5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41994-1D22-6E16-7465-14FE136A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7C521-D7BB-9951-F592-5061C8A2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7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8EF2-AACC-E275-58F1-0BEBCF0A5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1F43A-9654-4490-CA5E-FA92A88E6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A5BE1-EFD5-A0FC-DA99-1BB1FD68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6C889-F6DB-6DC5-02E5-E918E8C3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1C8B5-3CF6-71C0-478C-F8C75A84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5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031AA-5974-1AB8-6874-D6BDFE2E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85BB-15B7-B6DE-892B-46DEFFDDB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3C3EB-18DB-9574-EB82-DE9B9D264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F9551-77C2-41EC-00E7-36737A69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DFF6-2803-5A50-97BE-74FF7FA5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51A81-1E09-038D-31FD-3C7579DB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8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3929-04C5-3A6E-1804-47E42BBD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7588A-6D39-6919-C572-B6E06AAFD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8238A-6437-8DB2-0D67-71D8EB9DF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82D6B-47BC-7354-1A88-FECCB1B5F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E217C-1EB0-2D3D-FAE7-20C7F7752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7D499-624C-03F0-ECC4-1564D17ED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E56CA-4D11-10EB-67B7-D214AA4D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7715E-74A5-42F0-8BE5-8D8711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C7B4-75C2-A7A7-B58E-E4EE6587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08D7BB-9AE1-DFA8-DB3A-7783333F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FC732-22F0-6C79-B4C4-A229B81A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B99A1-21E1-2995-00A1-F1A3B40D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60082-13B1-98FA-2CBD-11C1729A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A7753-2304-164A-5C8A-7FC8EB52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82F41-7460-5AA2-39D5-02672C40B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B00D-BD5D-DAEE-50EA-FEA8DE8F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3EA9-5D3D-FE47-60B2-E7A20D3F6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6976D-D37D-E6EE-97D5-E91A1BC97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FA7A4-EC2C-791D-66A5-D1ABCB16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A7920-1141-7F65-A48E-4AE18CE0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3928D-2B59-4FE0-3017-2DFD45D8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8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641C-ABEE-9484-44B7-23DD80A5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DF20C-2F28-0C67-84C4-430176459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20132-36EA-9D0B-C242-8FD2865A7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C228A-438F-C362-F6BC-C9EEA7AD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FFBEC-E5E5-B748-EDAE-F5434B07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FD513-FD68-8003-BFC1-A7E12335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4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FC86-2F7C-FF18-373C-8E170DD06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4A1C0-7124-7589-4BB4-E4509A1E4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6B706-5E23-6107-8DE1-BD4B74F5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D54BD-BFC5-55F4-9333-55B6E6E4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703B1-E2A2-FD52-0701-FB09DE0E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4DA84-B17D-1C2E-1E04-903A5F0C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2D95A-01F2-803D-A29E-B804098AE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3D65-BD63-FAD9-83DB-38AF754B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550C0-49B9-258F-C183-6E852769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D7B5C-D0AB-6D11-FEA4-949FF4C4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C02FC-620E-3C79-8D44-B4A57D0B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48FF-5A0D-BDFA-AA05-9EADDACEF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711BA-BCA3-3AC3-6FA2-655956DEE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E4425-8FAF-4774-9F17-93329F6DC939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0215C-11CB-B71F-D655-6ECF7CCBE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7D93F-CE89-8678-7ECD-4B1BF69AB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32252-C9CB-4874-B49A-77F22408D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0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-PGLbMth_g" TargetMode="External"/><Relationship Id="rId2" Type="http://schemas.openxmlformats.org/officeDocument/2006/relationships/hyperlink" Target="https://www.youtube.com/watch?v=xli_FI7Cuz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s.usfca.edu/~galles/visualization/ComparisonSort.html" TargetMode="External"/><Relationship Id="rId4" Type="http://schemas.openxmlformats.org/officeDocument/2006/relationships/hyperlink" Target="https://visualgo.net/en/sorting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321D-DCE4-5B1F-4C67-F624B65CE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6D06A-D504-54D7-8F91-F772F83968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5: Array Sorting</a:t>
            </a:r>
          </a:p>
        </p:txBody>
      </p:sp>
    </p:spTree>
    <p:extLst>
      <p:ext uri="{BB962C8B-B14F-4D97-AF65-F5344CB8AC3E}">
        <p14:creationId xmlns:p14="http://schemas.microsoft.com/office/powerpoint/2010/main" val="18335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738A-2698-2513-CEEC-0C97363D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7B04-A1F9-F4B5-4ED4-CDDB6C89F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Sorting takes an unordered collection and makes its an ordered one</a:t>
            </a:r>
          </a:p>
          <a:p>
            <a:pPr lvl="1"/>
            <a:r>
              <a:rPr lang="en-US" dirty="0"/>
              <a:t>Ascending order </a:t>
            </a:r>
          </a:p>
          <a:p>
            <a:pPr lvl="1"/>
            <a:r>
              <a:rPr lang="en-US" dirty="0"/>
              <a:t>Descending 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4DFA4-AA81-D028-C479-84C47C4B3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237" y="3583534"/>
            <a:ext cx="4737525" cy="156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9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80F3-BD64-EECC-1687-B934F6A2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BD8C-2800-9D33-FBF3-BAA90761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  <a:p>
            <a:r>
              <a:rPr lang="en-US" dirty="0"/>
              <a:t>Selection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Insertion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Merge sort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Quick sort (very efficient method for most applications)</a:t>
            </a:r>
          </a:p>
        </p:txBody>
      </p:sp>
    </p:spTree>
    <p:extLst>
      <p:ext uri="{BB962C8B-B14F-4D97-AF65-F5344CB8AC3E}">
        <p14:creationId xmlns:p14="http://schemas.microsoft.com/office/powerpoint/2010/main" val="347729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6EBE-3A96-56FA-A489-BF3729DE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FB46A-DB2A-9C6E-0BB4-59F07C7C1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40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E9FE-6C44-8C3E-D306-F9F263EF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C261-BD62-68C5-F5C6-72ADB53CA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Traverse a collection of elements</a:t>
            </a:r>
          </a:p>
          <a:p>
            <a:r>
              <a:rPr lang="en-US" dirty="0"/>
              <a:t>Move from the front to the end</a:t>
            </a:r>
          </a:p>
          <a:p>
            <a:r>
              <a:rPr lang="en-US" dirty="0"/>
              <a:t>“Bubble” the largest value to the end using the operations</a:t>
            </a:r>
          </a:p>
          <a:p>
            <a:pPr lvl="1"/>
            <a:r>
              <a:rPr lang="en-US" dirty="0"/>
              <a:t>Pair-wise comparison</a:t>
            </a:r>
          </a:p>
          <a:p>
            <a:pPr lvl="1"/>
            <a:r>
              <a:rPr lang="en-US" dirty="0"/>
              <a:t>Swapping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C0B5D-4572-2221-3BCA-499AD62F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037" y="4623712"/>
            <a:ext cx="6009926" cy="110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0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2462-B991-0EC0-DA9F-C5251BBD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Idea: Bubbling Up the Largest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8262-00C3-C517-A4BF-8C69EBF95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Traverse a collection of elements</a:t>
            </a:r>
          </a:p>
          <a:p>
            <a:r>
              <a:rPr lang="en-US" dirty="0"/>
              <a:t>Move from the front to the end</a:t>
            </a:r>
          </a:p>
          <a:p>
            <a:r>
              <a:rPr lang="en-US" dirty="0"/>
              <a:t>“Bubble” the largest value to the end using the operations</a:t>
            </a:r>
          </a:p>
          <a:p>
            <a:pPr lvl="1"/>
            <a:r>
              <a:rPr lang="en-US" dirty="0"/>
              <a:t>Pair-wise comparison</a:t>
            </a:r>
          </a:p>
          <a:p>
            <a:pPr lvl="1"/>
            <a:r>
              <a:rPr lang="en-US" dirty="0"/>
              <a:t>Swapping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212CF-65EF-6E6C-29B3-F5AF8FD4E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617" y="1307649"/>
            <a:ext cx="4789488" cy="882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613143-FB7D-8DF9-D2A2-D18FEA43A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10" y="2154133"/>
            <a:ext cx="5015266" cy="1124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D4F1F-306B-9633-1B8F-2B1FB5107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764" y="2997789"/>
            <a:ext cx="5015266" cy="1202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E46476-70C6-AE32-643A-73591A15C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343" y="3888916"/>
            <a:ext cx="4947533" cy="11856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5F4EAA-2B25-3D42-397E-AC36C2B50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076" y="4953693"/>
            <a:ext cx="4877800" cy="9007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30C481-BFC8-77F7-DCBF-3C5342BD84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76" y="5873011"/>
            <a:ext cx="4923954" cy="9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7178-27DF-BC1D-64DE-9D85A63E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58BF-3E67-C463-B824-E31A81D7F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Notice that only the largest value is correctly placed</a:t>
            </a:r>
          </a:p>
          <a:p>
            <a:r>
              <a:rPr lang="en-US" dirty="0"/>
              <a:t>All other values are still out of order</a:t>
            </a:r>
          </a:p>
          <a:p>
            <a:r>
              <a:rPr lang="en-US" dirty="0"/>
              <a:t>We need to repeat this process ,i.e., repeat “bubble up”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2DE2C6-1480-7B3F-8E41-8BEF8E2F7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401" y="4012583"/>
            <a:ext cx="4523197" cy="124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30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668E0-D6EE-4666-6C9E-FF04D602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to 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ABA7D-6054-7B1A-62D3-4AE3226F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we bubble an element, we place it in its correct location</a:t>
            </a:r>
          </a:p>
          <a:p>
            <a:r>
              <a:rPr lang="en-US" dirty="0"/>
              <a:t>If we have n elements…</a:t>
            </a:r>
          </a:p>
          <a:p>
            <a:pPr lvl="1"/>
            <a:r>
              <a:rPr lang="en-US" dirty="0"/>
              <a:t>How many times will we need to repeat the “bubble up” process?</a:t>
            </a:r>
          </a:p>
        </p:txBody>
      </p:sp>
    </p:spTree>
    <p:extLst>
      <p:ext uri="{BB962C8B-B14F-4D97-AF65-F5344CB8AC3E}">
        <p14:creationId xmlns:p14="http://schemas.microsoft.com/office/powerpoint/2010/main" val="1405078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F88CE-F645-BA6D-A71D-E5AAC0C5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9278-6849-93D2-2326-79BA2BF6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Times to Repeat “Bubble Up”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E5D19-314E-CCEE-DCAE-8103E75CE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time we bubble an element, we place it in its correct location</a:t>
            </a:r>
          </a:p>
          <a:p>
            <a:r>
              <a:rPr lang="en-US" dirty="0"/>
              <a:t>If we have n elements…</a:t>
            </a:r>
          </a:p>
          <a:p>
            <a:pPr lvl="1"/>
            <a:r>
              <a:rPr lang="en-US" dirty="0"/>
              <a:t>How many times will we need to repeat the “bubble up” process?</a:t>
            </a:r>
          </a:p>
          <a:p>
            <a:pPr lvl="1"/>
            <a:r>
              <a:rPr lang="en-US" dirty="0"/>
              <a:t>n – 1 times</a:t>
            </a:r>
          </a:p>
        </p:txBody>
      </p:sp>
    </p:spTree>
    <p:extLst>
      <p:ext uri="{BB962C8B-B14F-4D97-AF65-F5344CB8AC3E}">
        <p14:creationId xmlns:p14="http://schemas.microsoft.com/office/powerpoint/2010/main" val="202423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F421-BE93-5FDF-E089-8CAD77B44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C2BD49-5065-0BD9-1EE0-2BC2D0BBD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2684"/>
            <a:ext cx="4648200" cy="47339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42F05E-3131-5596-4ACD-C74D4F738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2" y="365125"/>
            <a:ext cx="4962525" cy="3143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8A4595-A32C-3746-596C-B481A8501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71" y="4887446"/>
            <a:ext cx="4223515" cy="102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DCA7-4A26-16A4-6D5D-73D60D5A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83FB-3D13-208E-05AE-4771792D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Bubble Sort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42EBC-9E28-347D-231D-FCFC5495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532" y="1825624"/>
            <a:ext cx="5578267" cy="4351339"/>
          </a:xfrm>
        </p:spPr>
        <p:txBody>
          <a:bodyPr/>
          <a:lstStyle/>
          <a:p>
            <a:r>
              <a:rPr lang="en-US" dirty="0"/>
              <a:t>Q1: what is the purpose of the outer loop?</a:t>
            </a:r>
          </a:p>
          <a:p>
            <a:r>
              <a:rPr lang="en-US" dirty="0"/>
              <a:t>Q2: why is the outer loop condition, I &lt; size – 1?</a:t>
            </a:r>
          </a:p>
          <a:p>
            <a:r>
              <a:rPr lang="en-US" dirty="0"/>
              <a:t>Q3: what is the purpose of the inner loop?</a:t>
            </a:r>
          </a:p>
          <a:p>
            <a:r>
              <a:rPr lang="en-US" dirty="0"/>
              <a:t>Q4: why is the inner loop condition, j &lt; size – 1?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0D26A-A9F9-BEC8-C0FD-535107068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2684"/>
            <a:ext cx="46482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62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40C2-0F9E-5D7B-BFF5-540D5B0DA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“Bubbling” All the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95B8-9BBB-92D0-8C0A-7EFA4CC93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DEC3C-D6DD-A408-50E9-C6C37C28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39" y="1690688"/>
            <a:ext cx="85725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38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8932-C922-39D3-2A2D-BD158553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F469-B092-71A0-F905-4E38AF7D6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0ADBA-7BC7-FF55-E619-1174381C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922" y="1825625"/>
            <a:ext cx="4773878" cy="1213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7F8787-1944-101F-C8FE-2A9C3CA3B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825625"/>
            <a:ext cx="46482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8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4E13-8013-8B49-32E9-F3369FA0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0FD3-BC3C-57F3-705F-415420C9C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A4025-B6B7-E292-CB99-29C4E6EF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1690688"/>
            <a:ext cx="73818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1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89217-2F34-818B-EF88-668B586F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Number of 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928BB-B52D-0E83-3BF1-4765A191B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431" y="1825625"/>
            <a:ext cx="5640301" cy="4351338"/>
          </a:xfrm>
        </p:spPr>
        <p:txBody>
          <a:bodyPr/>
          <a:lstStyle/>
          <a:p>
            <a:r>
              <a:rPr lang="en-US" dirty="0"/>
              <a:t>Q1: how many times will the outer loop run?</a:t>
            </a:r>
          </a:p>
          <a:p>
            <a:r>
              <a:rPr lang="en-US" dirty="0"/>
              <a:t>Q2: how many times will the inner loop run when </a:t>
            </a:r>
            <a:r>
              <a:rPr lang="en-US" dirty="0" err="1"/>
              <a:t>i</a:t>
            </a:r>
            <a:r>
              <a:rPr lang="en-US" dirty="0"/>
              <a:t> = 2? (size: 6)</a:t>
            </a:r>
          </a:p>
          <a:p>
            <a:r>
              <a:rPr lang="en-US" dirty="0"/>
              <a:t>Q3: why is the inner loop condition, j &lt; size – 1– </a:t>
            </a:r>
            <a:r>
              <a:rPr lang="en-US" dirty="0" err="1"/>
              <a:t>i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056B5-684C-44B7-DCEC-CEBB509E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53381"/>
            <a:ext cx="48672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03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D7AC-9E06-ABCD-74DA-43CBFAEF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76A2F-CE95-7CEC-8E4C-3701596E4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elements were already sorted?</a:t>
            </a:r>
          </a:p>
          <a:p>
            <a:r>
              <a:rPr lang="en-US" dirty="0"/>
              <a:t>What if only a few elements are out of place and after a couple of “bubble ups”, the collection is sorted?</a:t>
            </a:r>
          </a:p>
          <a:p>
            <a:r>
              <a:rPr lang="en-US" dirty="0"/>
              <a:t>We want to be able to detect this and “stop early”! </a:t>
            </a:r>
          </a:p>
        </p:txBody>
      </p:sp>
    </p:spTree>
    <p:extLst>
      <p:ext uri="{BB962C8B-B14F-4D97-AF65-F5344CB8AC3E}">
        <p14:creationId xmlns:p14="http://schemas.microsoft.com/office/powerpoint/2010/main" val="150703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007E-7D07-15D6-F453-7A1F3CB9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3377-00D5-3194-7CB6-8489C579C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Boolean Flag</a:t>
            </a:r>
          </a:p>
          <a:p>
            <a:pPr lvl="1"/>
            <a:r>
              <a:rPr lang="en-US" dirty="0"/>
              <a:t>We can use a </a:t>
            </a:r>
            <a:r>
              <a:rPr lang="en-US" dirty="0" err="1"/>
              <a:t>boolean</a:t>
            </a:r>
            <a:r>
              <a:rPr lang="en-US" dirty="0"/>
              <a:t> variable to determine if any swapping occurred during the “bubble up”</a:t>
            </a:r>
          </a:p>
          <a:p>
            <a:pPr lvl="1"/>
            <a:r>
              <a:rPr lang="en-US" dirty="0"/>
              <a:t>If no swapping occurred, then we know that the collection is already sorted!</a:t>
            </a:r>
          </a:p>
          <a:p>
            <a:pPr lvl="1"/>
            <a:r>
              <a:rPr lang="en-US" dirty="0"/>
              <a:t>This </a:t>
            </a:r>
            <a:r>
              <a:rPr lang="en-US" dirty="0" err="1"/>
              <a:t>boolean</a:t>
            </a:r>
            <a:r>
              <a:rPr lang="en-US" dirty="0"/>
              <a:t> “flag” needs to be reset after each “bubble up”</a:t>
            </a:r>
          </a:p>
        </p:txBody>
      </p:sp>
    </p:spTree>
    <p:extLst>
      <p:ext uri="{BB962C8B-B14F-4D97-AF65-F5344CB8AC3E}">
        <p14:creationId xmlns:p14="http://schemas.microsoft.com/office/powerpoint/2010/main" val="133473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AD2-7B98-A639-7CEC-37F18DE7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Already Sorted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EF56D-FB16-A862-D4F6-986D4758B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540" y="1825625"/>
            <a:ext cx="549526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DD141-9C20-0197-196D-D1DA0461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020340" cy="433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62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DC03-3E4B-801D-464B-49701FAD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C8A0A-5E3A-D455-4E68-82E3C4830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bubble sort algorithm is simple, but it is inefficient because values move by only one element at a time toward their final destination in the array</a:t>
            </a:r>
          </a:p>
          <a:p>
            <a:r>
              <a:rPr lang="en-US" dirty="0"/>
              <a:t>Slower and computationally expensive with larger arrays</a:t>
            </a:r>
          </a:p>
        </p:txBody>
      </p:sp>
    </p:spTree>
    <p:extLst>
      <p:ext uri="{BB962C8B-B14F-4D97-AF65-F5344CB8AC3E}">
        <p14:creationId xmlns:p14="http://schemas.microsoft.com/office/powerpoint/2010/main" val="1576049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2487-5507-E930-D1F1-2893726D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194C5-1666-7E47-06A3-155395081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40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C9D9-D325-F946-D5A0-E58308B98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7D045-600C-D95E-7735-DF025909F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entire array as the unsorted portion of the array</a:t>
            </a:r>
          </a:p>
          <a:p>
            <a:r>
              <a:rPr lang="en-US" dirty="0"/>
              <a:t>While the unsorted portion of the array has more than one element:</a:t>
            </a:r>
          </a:p>
          <a:p>
            <a:pPr lvl="1"/>
            <a:r>
              <a:rPr lang="en-US" dirty="0"/>
              <a:t>Find its largest element</a:t>
            </a:r>
          </a:p>
          <a:p>
            <a:pPr lvl="1"/>
            <a:r>
              <a:rPr lang="en-US" dirty="0"/>
              <a:t>Swap with last element (assuming their values are different)</a:t>
            </a:r>
          </a:p>
          <a:p>
            <a:pPr lvl="1"/>
            <a:r>
              <a:rPr lang="en-US" dirty="0"/>
              <a:t>Reduce the size of the unsorted portion of the array by 1.</a:t>
            </a:r>
          </a:p>
        </p:txBody>
      </p:sp>
    </p:spTree>
    <p:extLst>
      <p:ext uri="{BB962C8B-B14F-4D97-AF65-F5344CB8AC3E}">
        <p14:creationId xmlns:p14="http://schemas.microsoft.com/office/powerpoint/2010/main" val="2157362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0CA8-72E8-1FED-48F2-A1276E53B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-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87A7-4882-DCAA-96BC-A9FF7587D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F78D0-110B-BC2C-05B5-0092DDE79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1825625"/>
            <a:ext cx="36004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21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C3B1A-B90A-49D9-E080-C553ED64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33B01-48C6-FEF0-613D-3C5B61544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lang="en-US" dirty="0"/>
              <a:t>Q: Do we need a temp variable to exchange values?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93187-04D0-3A9A-7536-61E4F69EB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4992"/>
            <a:ext cx="4499344" cy="44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6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82D-FAB4-B7FA-57A2-25886FD6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54BD-3406-BF0A-8419-FC1805A75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bubble sort is inefficient for large arrays</a:t>
            </a:r>
          </a:p>
          <a:p>
            <a:pPr lvl="1"/>
            <a:r>
              <a:rPr lang="en-US" dirty="0"/>
              <a:t>Items only move by one element at a time</a:t>
            </a:r>
          </a:p>
          <a:p>
            <a:r>
              <a:rPr lang="en-US" dirty="0"/>
              <a:t>The selection sort moves items immediately to their final position</a:t>
            </a:r>
          </a:p>
          <a:p>
            <a:pPr lvl="1"/>
            <a:r>
              <a:rPr lang="en-US" dirty="0"/>
              <a:t>Makes fewer exchanges</a:t>
            </a:r>
          </a:p>
        </p:txBody>
      </p:sp>
    </p:spTree>
    <p:extLst>
      <p:ext uri="{BB962C8B-B14F-4D97-AF65-F5344CB8AC3E}">
        <p14:creationId xmlns:p14="http://schemas.microsoft.com/office/powerpoint/2010/main" val="449092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791A-7170-5AC4-42D3-4DD114247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F6E0E-1B71-1B7F-86BB-11AD3479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Comparison for the worst-case scenario</a:t>
            </a:r>
          </a:p>
          <a:p>
            <a:r>
              <a:rPr lang="en-US" dirty="0"/>
              <a:t>Number of Comparisons?</a:t>
            </a:r>
          </a:p>
          <a:p>
            <a:r>
              <a:rPr lang="en-US" dirty="0"/>
              <a:t>Number of Swaps? </a:t>
            </a:r>
          </a:p>
          <a:p>
            <a:r>
              <a:rPr lang="en-US" dirty="0"/>
              <a:t>Space complexity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97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9BB7-AC37-2CD6-42CB-3220C341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6EBC8-9507-4093-3DD5-114CC7C2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Selection Sort vs. Bubble Sort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51C7B-F926-5B5F-C0BC-5FB538D0E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Comparison for the worst-case scenario</a:t>
                </a:r>
              </a:p>
              <a:p>
                <a:r>
                  <a:rPr lang="en-US" dirty="0"/>
                  <a:t>Number of Comparisons?</a:t>
                </a:r>
              </a:p>
              <a:p>
                <a:pPr lvl="1"/>
                <a:r>
                  <a:rPr lang="en-US" dirty="0"/>
                  <a:t>Selection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Bubble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Number of Swaps? </a:t>
                </a:r>
              </a:p>
              <a:p>
                <a:pPr lvl="1"/>
                <a:r>
                  <a:rPr lang="en-US" dirty="0"/>
                  <a:t>Selection sort O(N)</a:t>
                </a:r>
              </a:p>
              <a:p>
                <a:pPr lvl="1"/>
                <a:r>
                  <a:rPr lang="en-US" dirty="0"/>
                  <a:t>Bubble sort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Space complexity</a:t>
                </a:r>
              </a:p>
              <a:p>
                <a:pPr lvl="1"/>
                <a:r>
                  <a:rPr lang="en-US" dirty="0"/>
                  <a:t>O(1) for both</a:t>
                </a:r>
              </a:p>
              <a:p>
                <a:pPr lvl="1"/>
                <a:r>
                  <a:rPr lang="en-US" dirty="0"/>
                  <a:t>In-place sorting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251C7B-F926-5B5F-C0BC-5FB538D0E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782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D56A0-E806-219B-926C-5930C84F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characters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8504-48A5-F97B-6F42-1F2CE76F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Lexicographical Ascending Order</a:t>
            </a:r>
            <a:r>
              <a:rPr lang="en-US" dirty="0"/>
              <a:t> (Alphabetical Order)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Words or strings are arranged based on dictionary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  <a:br>
              <a:rPr lang="en-US" dirty="0"/>
            </a:br>
            <a:r>
              <a:rPr lang="en-US" b="1" dirty="0"/>
              <a:t>"apple", "banana", "grape", "mango", "orange"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single characters:</a:t>
            </a:r>
            <a:br>
              <a:rPr lang="en-US" dirty="0"/>
            </a:br>
            <a:r>
              <a:rPr lang="en-US" b="1" dirty="0"/>
              <a:t>'A', 'B', 'C', ..., 'Z'</a:t>
            </a:r>
            <a:r>
              <a:rPr lang="en-US" dirty="0"/>
              <a:t> (uppercase first)</a:t>
            </a:r>
            <a:br>
              <a:rPr lang="en-US" dirty="0"/>
            </a:br>
            <a:r>
              <a:rPr lang="en-US" b="1" dirty="0"/>
              <a:t>'a', 'b', 'c', ..., 'z'</a:t>
            </a:r>
            <a:r>
              <a:rPr lang="en-US" dirty="0"/>
              <a:t> (lowercase after uppercase)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numbers as strings:</a:t>
            </a:r>
            <a:br>
              <a:rPr lang="en-US" dirty="0"/>
            </a:br>
            <a:r>
              <a:rPr lang="en-US" b="1" dirty="0"/>
              <a:t>"10", "100", "2", "25", "5"</a:t>
            </a:r>
            <a:br>
              <a:rPr lang="en-US" dirty="0"/>
            </a:br>
            <a:r>
              <a:rPr lang="en-US" dirty="0"/>
              <a:t>(Here, "10" comes before "2" because strings are compared character by character.) (since '1' &lt; '2' in ASCII comparison)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16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B795-33C2-970A-FFEE-32D9947BE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characters and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6EA8-D843-FA26-57C4-86A11ED0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1A119-CAD3-AA6E-71EA-894FDC90F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228" y="1825625"/>
            <a:ext cx="7421543" cy="499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46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8259-313F-FDFD-D512-AAFCE275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7835D-364E-DC33-38FF-DAE24FC97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Dry run the code and show output after every iteration of the </a:t>
            </a:r>
            <a:r>
              <a:rPr lang="en-US" u="sng" dirty="0"/>
              <a:t>outer </a:t>
            </a:r>
            <a:r>
              <a:rPr lang="en-US" dirty="0"/>
              <a:t>loop</a:t>
            </a:r>
            <a:r>
              <a:rPr lang="en-US"/>
              <a:t>: </a:t>
            </a:r>
          </a:p>
          <a:p>
            <a:r>
              <a:rPr lang="en-US"/>
              <a:t>int </a:t>
            </a:r>
            <a:r>
              <a:rPr lang="en-US" dirty="0"/>
              <a:t>array[ ] = {45, 85, -1, 10, 2};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C6C19E-0511-97FE-2316-849D8F8DA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1494"/>
            <a:ext cx="6389299" cy="3716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9E86B-5D02-09A2-BC73-A1A4914FC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872" y="5243513"/>
            <a:ext cx="3205162" cy="1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47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B06A-0FE4-E63E-D0CF-BC9C408F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9614B-5A62-2689-5B3C-A35208138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3604" cy="4351338"/>
          </a:xfrm>
        </p:spPr>
        <p:txBody>
          <a:bodyPr/>
          <a:lstStyle/>
          <a:p>
            <a:r>
              <a:rPr lang="en-US" dirty="0"/>
              <a:t>Q: what does this function do?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562617-0D8D-30F7-F96A-985E0B4A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804" y="414338"/>
            <a:ext cx="463867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27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2475-474E-DECB-E3BF-05773087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15A1-22B9-12D7-3102-6B8012D7B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6256" cy="4351338"/>
          </a:xfrm>
        </p:spPr>
        <p:txBody>
          <a:bodyPr/>
          <a:lstStyle/>
          <a:p>
            <a:r>
              <a:rPr lang="en-US" dirty="0"/>
              <a:t>Q: This algorithm sorts arrays in an ascending order. Change it in a way that it sorts in descending order.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0D6E7A-ED35-237B-3DDD-EB0CFF2D4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456" y="1793672"/>
            <a:ext cx="4499344" cy="44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1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54AA-D06B-DF88-8DC2-7D1FD92F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DDCD-B18E-D799-4B7D-E36B13BF0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93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E10C-4C84-9A3E-5C21-5BD7B509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  <a:r>
              <a:rPr lang="en-US"/>
              <a:t>Question (5)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1717-3CAF-CF39-2F9E-916C1CC32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Uploaded on Google classroom</a:t>
            </a:r>
          </a:p>
        </p:txBody>
      </p:sp>
    </p:spTree>
    <p:extLst>
      <p:ext uri="{BB962C8B-B14F-4D97-AF65-F5344CB8AC3E}">
        <p14:creationId xmlns:p14="http://schemas.microsoft.com/office/powerpoint/2010/main" val="3290289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985B-240B-8B63-9FF8-F0C038C5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and Sorting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358A0-9F6C-68B3-92FB-AAE340523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8, Tony Gadis</a:t>
            </a:r>
          </a:p>
          <a:p>
            <a:r>
              <a:rPr lang="en-US" dirty="0"/>
              <a:t>Quick recap</a:t>
            </a:r>
          </a:p>
          <a:p>
            <a:pPr lvl="1"/>
            <a:r>
              <a:rPr lang="en-US" dirty="0"/>
              <a:t>Bubble sort: </a:t>
            </a:r>
            <a:r>
              <a:rPr lang="en-US" dirty="0">
                <a:hlinkClick r:id="rId2"/>
              </a:rPr>
              <a:t>https://www.youtube.com/watch?v=xli_FI7CuzA</a:t>
            </a:r>
            <a:endParaRPr lang="en-US" dirty="0"/>
          </a:p>
          <a:p>
            <a:pPr lvl="1"/>
            <a:r>
              <a:rPr lang="en-US" dirty="0"/>
              <a:t>Selection sort: </a:t>
            </a:r>
            <a:r>
              <a:rPr lang="en-US" dirty="0">
                <a:hlinkClick r:id="rId3"/>
              </a:rPr>
              <a:t>https://www.youtube.com/watch?v=g-PGLbMth_g</a:t>
            </a:r>
            <a:endParaRPr lang="en-US" dirty="0"/>
          </a:p>
          <a:p>
            <a:r>
              <a:rPr lang="en-US" dirty="0"/>
              <a:t>Sorting Visualizations</a:t>
            </a:r>
          </a:p>
          <a:p>
            <a:pPr lvl="1"/>
            <a:r>
              <a:rPr lang="en-US" dirty="0">
                <a:hlinkClick r:id="rId4"/>
              </a:rPr>
              <a:t>https://visualgo.net/en/sorting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https://www.cs.usfca.edu/~galles/visualization/ComparisonSort.html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2647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D46E3-2CE0-C095-2127-109DD2CF4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3F4C-B819-80D7-0E69-324DB3162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3986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4283</TotalTime>
  <Words>1059</Words>
  <Application>Microsoft Office PowerPoint</Application>
  <PresentationFormat>Widescreen</PresentationFormat>
  <Paragraphs>132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Office Theme</vt:lpstr>
      <vt:lpstr>Data Structures &amp; Algorithms (CSC-214)</vt:lpstr>
      <vt:lpstr>Sorting</vt:lpstr>
      <vt:lpstr>Sorting Algorithms </vt:lpstr>
      <vt:lpstr>Bubble Sort </vt:lpstr>
      <vt:lpstr>Idea: Bubbling Up the Largest Element</vt:lpstr>
      <vt:lpstr>Idea: Bubbling Up the Largest Element</vt:lpstr>
      <vt:lpstr>Repeat “Bubble Up” </vt:lpstr>
      <vt:lpstr>How Many Times to Repeat “Bubble Up” </vt:lpstr>
      <vt:lpstr>How Many Times to Repeat “Bubble Up” </vt:lpstr>
      <vt:lpstr>Bubble Sort Algorithm</vt:lpstr>
      <vt:lpstr>Bubble Sort Algorithm</vt:lpstr>
      <vt:lpstr>“Bubbling” All the Elements</vt:lpstr>
      <vt:lpstr>Reducing Number of Comparisons</vt:lpstr>
      <vt:lpstr>Reducing Number of Comparisons</vt:lpstr>
      <vt:lpstr>Reducing Number of Comparisons</vt:lpstr>
      <vt:lpstr>Already Sorted Elements</vt:lpstr>
      <vt:lpstr>Already Sorted Elements</vt:lpstr>
      <vt:lpstr>Already Sorted Elements</vt:lpstr>
      <vt:lpstr>Bubble Sort Drawbacks</vt:lpstr>
      <vt:lpstr>Selection Sort </vt:lpstr>
      <vt:lpstr>Selection Sort</vt:lpstr>
      <vt:lpstr>Selection Sort - Example </vt:lpstr>
      <vt:lpstr>Selection Sort Algorithm </vt:lpstr>
      <vt:lpstr>Selection Sort vs. Bubble Sort</vt:lpstr>
      <vt:lpstr>Selection Sort vs. Bubble Sort</vt:lpstr>
      <vt:lpstr>Selection Sort vs. Bubble Sort</vt:lpstr>
      <vt:lpstr>Sorting characters and strings</vt:lpstr>
      <vt:lpstr>Sorting characters and strings</vt:lpstr>
      <vt:lpstr>Practice Question (1)</vt:lpstr>
      <vt:lpstr>Practice Question (2)</vt:lpstr>
      <vt:lpstr>Practice Question (3)</vt:lpstr>
      <vt:lpstr>Practice Question (4)</vt:lpstr>
      <vt:lpstr>Practice Question (5)</vt:lpstr>
      <vt:lpstr>Searching and Sorting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115</cp:revision>
  <dcterms:created xsi:type="dcterms:W3CDTF">2025-02-17T10:45:12Z</dcterms:created>
  <dcterms:modified xsi:type="dcterms:W3CDTF">2025-02-25T06:15:19Z</dcterms:modified>
</cp:coreProperties>
</file>