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301" r:id="rId15"/>
    <p:sldId id="280" r:id="rId16"/>
    <p:sldId id="281" r:id="rId17"/>
    <p:sldId id="302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4611" y="3500628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35273" y="2352243"/>
            <a:ext cx="247345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1459" y="1053083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437" y="349707"/>
            <a:ext cx="80295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742" y="1105255"/>
            <a:ext cx="6030595" cy="1818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22040" y="6414530"/>
            <a:ext cx="190563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1384" y="6414530"/>
            <a:ext cx="28447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8738" y="6278067"/>
            <a:ext cx="1905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latin typeface="Tahoma"/>
                <a:cs typeface="Tahoma"/>
              </a:rPr>
              <a:t>16-</a:t>
            </a:r>
            <a:r>
              <a:rPr sz="1400" spc="-25" dirty="0">
                <a:latin typeface="Tahoma"/>
                <a:cs typeface="Tahoma"/>
              </a:rPr>
              <a:t>Tree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Implementation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4869" y="6278067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44876" y="3748227"/>
            <a:ext cx="431800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ahoma"/>
                <a:cs typeface="Tahoma"/>
              </a:rPr>
              <a:t>16.</a:t>
            </a:r>
            <a:r>
              <a:rPr sz="2100" b="1" spc="-40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Binary</a:t>
            </a:r>
            <a:r>
              <a:rPr sz="2100" b="1" spc="-40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Tree</a:t>
            </a:r>
            <a:r>
              <a:rPr sz="2100" b="1" spc="-50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Implementation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Tree</a:t>
            </a:r>
            <a:r>
              <a:rPr spc="-60" dirty="0"/>
              <a:t> </a:t>
            </a:r>
            <a:r>
              <a:rPr spc="-25" dirty="0"/>
              <a:t>ADT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783705" cy="512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Data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Type: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Any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type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objects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Accessor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methods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80"/>
              </a:spcBef>
              <a:buFont typeface="Tahoma"/>
              <a:buChar char="–"/>
              <a:tabLst>
                <a:tab pos="756285" algn="l"/>
              </a:tabLst>
            </a:pPr>
            <a:r>
              <a:rPr sz="1900" dirty="0">
                <a:latin typeface="Consolas"/>
                <a:cs typeface="Consolas"/>
              </a:rPr>
              <a:t>root()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–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Font typeface="Tahoma"/>
              <a:buChar char="–"/>
              <a:tabLst>
                <a:tab pos="756285" algn="l"/>
                <a:tab pos="2373630" algn="l"/>
              </a:tabLst>
            </a:pPr>
            <a:r>
              <a:rPr sz="1900" dirty="0">
                <a:latin typeface="Consolas"/>
                <a:cs typeface="Consolas"/>
              </a:rPr>
              <a:t>parent(p)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returns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parent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node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Font typeface="Tahoma"/>
              <a:buChar char="–"/>
              <a:tabLst>
                <a:tab pos="756285" algn="l"/>
              </a:tabLst>
            </a:pPr>
            <a:r>
              <a:rPr sz="1900" dirty="0">
                <a:latin typeface="Consolas"/>
                <a:cs typeface="Consolas"/>
              </a:rPr>
              <a:t>children(p)</a:t>
            </a:r>
            <a:r>
              <a:rPr sz="1900" spc="-10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–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children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node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Query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methods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380"/>
              </a:spcBef>
              <a:buFont typeface="Tahoma"/>
              <a:buChar char="–"/>
              <a:tabLst>
                <a:tab pos="756285" algn="l"/>
              </a:tabLst>
            </a:pPr>
            <a:r>
              <a:rPr sz="1900" dirty="0">
                <a:latin typeface="Consolas"/>
                <a:cs typeface="Consolas"/>
              </a:rPr>
              <a:t>size()</a:t>
            </a:r>
            <a:r>
              <a:rPr sz="1900" spc="-45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–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number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Font typeface="Tahoma"/>
              <a:buChar char="–"/>
              <a:tabLst>
                <a:tab pos="756285" algn="l"/>
                <a:tab pos="2373630" algn="l"/>
              </a:tabLst>
            </a:pPr>
            <a:r>
              <a:rPr sz="1900" dirty="0">
                <a:latin typeface="Consolas"/>
                <a:cs typeface="Consolas"/>
              </a:rPr>
              <a:t>isEmpty()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returns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true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empty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Font typeface="Tahoma"/>
              <a:buChar char="–"/>
              <a:tabLst>
                <a:tab pos="756285" algn="l"/>
              </a:tabLst>
            </a:pPr>
            <a:r>
              <a:rPr sz="1900" dirty="0">
                <a:latin typeface="Consolas"/>
                <a:cs typeface="Consolas"/>
              </a:rPr>
              <a:t>elements()</a:t>
            </a:r>
            <a:r>
              <a:rPr sz="1900" spc="-25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–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elements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Font typeface="Tahoma"/>
              <a:buChar char="–"/>
              <a:tabLst>
                <a:tab pos="756285" algn="l"/>
              </a:tabLst>
            </a:pPr>
            <a:r>
              <a:rPr sz="1900" dirty="0">
                <a:latin typeface="Consolas"/>
                <a:cs typeface="Consolas"/>
              </a:rPr>
              <a:t>isRoot(p)</a:t>
            </a:r>
            <a:r>
              <a:rPr sz="1900" spc="-10" dirty="0">
                <a:latin typeface="Consolas"/>
                <a:cs typeface="Consolas"/>
              </a:rPr>
              <a:t> </a:t>
            </a:r>
            <a:r>
              <a:rPr sz="1900" dirty="0">
                <a:latin typeface="Tahoma"/>
                <a:cs typeface="Tahoma"/>
              </a:rPr>
              <a:t>–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true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root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44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Other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methods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Tree</a:t>
            </a:r>
            <a:r>
              <a:rPr sz="1900" spc="-7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traversal,</a:t>
            </a:r>
            <a:r>
              <a:rPr sz="1900" spc="-6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7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addition/deletion,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create/destroy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Tree</a:t>
            </a:r>
            <a:r>
              <a:rPr spc="-80" dirty="0"/>
              <a:t> </a:t>
            </a:r>
            <a:r>
              <a:rPr spc="-10" dirty="0"/>
              <a:t>Storage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3284854" cy="79375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Contiguous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storage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Linked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list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based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storage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4560" y="3317240"/>
            <a:ext cx="2998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Linked</a:t>
            </a:r>
            <a:r>
              <a:rPr spc="-60" dirty="0"/>
              <a:t> </a:t>
            </a:r>
            <a:r>
              <a:rPr dirty="0"/>
              <a:t>List</a:t>
            </a:r>
            <a:r>
              <a:rPr spc="-75" dirty="0"/>
              <a:t> </a:t>
            </a:r>
            <a:r>
              <a:rPr spc="-10" dirty="0"/>
              <a:t>Storage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As</a:t>
            </a:r>
            <a:r>
              <a:rPr spc="-70" dirty="0"/>
              <a:t> </a:t>
            </a:r>
            <a:r>
              <a:rPr dirty="0"/>
              <a:t>Linked</a:t>
            </a:r>
            <a:r>
              <a:rPr spc="-70" dirty="0"/>
              <a:t> </a:t>
            </a:r>
            <a:r>
              <a:rPr dirty="0"/>
              <a:t>List</a:t>
            </a:r>
            <a:r>
              <a:rPr spc="-70" dirty="0"/>
              <a:t> </a:t>
            </a:r>
            <a:r>
              <a:rPr dirty="0"/>
              <a:t>Structure</a:t>
            </a:r>
            <a:r>
              <a:rPr spc="-60" dirty="0"/>
              <a:t> </a:t>
            </a:r>
            <a:r>
              <a:rPr spc="-25" dirty="0"/>
              <a:t>(1)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851140" cy="145542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implement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using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struct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which</a:t>
            </a:r>
            <a:r>
              <a:rPr sz="2100" spc="-10" dirty="0">
                <a:latin typeface="Tahoma"/>
                <a:cs typeface="Tahoma"/>
              </a:rPr>
              <a:t> stores: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An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element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pointer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(pointer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first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child)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pointer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(pointer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second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child)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4438390"/>
            <a:ext cx="8208645" cy="113220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root</a:t>
            </a:r>
            <a:r>
              <a:rPr sz="21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pointer</a:t>
            </a:r>
            <a:r>
              <a:rPr sz="21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points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root</a:t>
            </a:r>
            <a:r>
              <a:rPr sz="2100" spc="-20" dirty="0">
                <a:latin typeface="Tahoma"/>
                <a:cs typeface="Tahoma"/>
              </a:rPr>
              <a:t> node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4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Follow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pointers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find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every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other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14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Leaf</a:t>
            </a:r>
            <a:r>
              <a:rPr sz="21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nodes </a:t>
            </a:r>
            <a:r>
              <a:rPr sz="2100" dirty="0">
                <a:latin typeface="Tahoma"/>
                <a:cs typeface="Tahoma"/>
              </a:rPr>
              <a:t>have </a:t>
            </a:r>
            <a:r>
              <a:rPr sz="2100" spc="-10" dirty="0">
                <a:latin typeface="Consolas"/>
                <a:cs typeface="Consolas"/>
              </a:rPr>
              <a:t>LeftChild</a:t>
            </a:r>
            <a:r>
              <a:rPr sz="2100" spc="-509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spc="-10" dirty="0">
                <a:latin typeface="Consolas"/>
                <a:cs typeface="Consolas"/>
              </a:rPr>
              <a:t>RightChild</a:t>
            </a:r>
            <a:r>
              <a:rPr sz="2100" spc="-509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pointers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0" dirty="0">
                <a:latin typeface="Consolas"/>
                <a:cs typeface="Consolas"/>
              </a:rPr>
              <a:t>NULL</a:t>
            </a:r>
            <a:endParaRPr sz="21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96083" y="2852927"/>
            <a:ext cx="4175760" cy="120142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66090" marR="2322195" indent="-37528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onsolas"/>
                <a:cs typeface="Consolas"/>
              </a:rPr>
              <a:t>struct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20" dirty="0">
                <a:latin typeface="Consolas"/>
                <a:cs typeface="Consolas"/>
              </a:rPr>
              <a:t>Node{ </a:t>
            </a:r>
            <a:r>
              <a:rPr sz="1800" dirty="0">
                <a:latin typeface="Consolas"/>
                <a:cs typeface="Consolas"/>
              </a:rPr>
              <a:t>Type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value;</a:t>
            </a:r>
            <a:endParaRPr sz="1800">
              <a:latin typeface="Consolas"/>
              <a:cs typeface="Consolas"/>
            </a:endParaRPr>
          </a:p>
          <a:p>
            <a:pPr marL="46609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Node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*LeftChild,*RightChild;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Consolas"/>
                <a:cs typeface="Consolas"/>
              </a:rPr>
              <a:t>}*root;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As</a:t>
            </a:r>
            <a:r>
              <a:rPr spc="-70" dirty="0"/>
              <a:t> </a:t>
            </a:r>
            <a:r>
              <a:rPr dirty="0"/>
              <a:t>Linked</a:t>
            </a:r>
            <a:r>
              <a:rPr spc="-70" dirty="0"/>
              <a:t> </a:t>
            </a:r>
            <a:r>
              <a:rPr dirty="0"/>
              <a:t>List</a:t>
            </a:r>
            <a:r>
              <a:rPr spc="-55" dirty="0"/>
              <a:t> </a:t>
            </a:r>
            <a:r>
              <a:rPr dirty="0"/>
              <a:t>Structure:</a:t>
            </a:r>
            <a:r>
              <a:rPr spc="-6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67302" y="1543558"/>
            <a:ext cx="267335" cy="322580"/>
            <a:chOff x="4067302" y="1543558"/>
            <a:chExt cx="267335" cy="322580"/>
          </a:xfrm>
        </p:grpSpPr>
        <p:sp>
          <p:nvSpPr>
            <p:cNvPr id="4" name="object 4"/>
            <p:cNvSpPr/>
            <p:nvPr/>
          </p:nvSpPr>
          <p:spPr>
            <a:xfrm>
              <a:off x="4077462" y="1553718"/>
              <a:ext cx="247015" cy="302260"/>
            </a:xfrm>
            <a:custGeom>
              <a:avLst/>
              <a:gdLst/>
              <a:ahLst/>
              <a:cxnLst/>
              <a:rect l="l" t="t" r="r" b="b"/>
              <a:pathLst>
                <a:path w="247014" h="302260">
                  <a:moveTo>
                    <a:pt x="0" y="301751"/>
                  </a:moveTo>
                  <a:lnTo>
                    <a:pt x="246887" y="301751"/>
                  </a:lnTo>
                  <a:lnTo>
                    <a:pt x="246887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1376" y="1642872"/>
              <a:ext cx="100583" cy="12039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890261" y="1540510"/>
            <a:ext cx="266065" cy="323850"/>
            <a:chOff x="4890261" y="1540510"/>
            <a:chExt cx="266065" cy="323850"/>
          </a:xfrm>
        </p:grpSpPr>
        <p:sp>
          <p:nvSpPr>
            <p:cNvPr id="7" name="object 7"/>
            <p:cNvSpPr/>
            <p:nvPr/>
          </p:nvSpPr>
          <p:spPr>
            <a:xfrm>
              <a:off x="4900421" y="1550670"/>
              <a:ext cx="245745" cy="303530"/>
            </a:xfrm>
            <a:custGeom>
              <a:avLst/>
              <a:gdLst/>
              <a:ahLst/>
              <a:cxnLst/>
              <a:rect l="l" t="t" r="r" b="b"/>
              <a:pathLst>
                <a:path w="245745" h="303530">
                  <a:moveTo>
                    <a:pt x="0" y="303275"/>
                  </a:moveTo>
                  <a:lnTo>
                    <a:pt x="245363" y="303275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2811" y="1639824"/>
              <a:ext cx="100583" cy="12039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25111" y="1550669"/>
            <a:ext cx="575310" cy="30353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onsolas"/>
                <a:cs typeface="Consolas"/>
              </a:rPr>
              <a:t>a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38501" y="2534157"/>
            <a:ext cx="266065" cy="322580"/>
            <a:chOff x="2238501" y="2534157"/>
            <a:chExt cx="266065" cy="322580"/>
          </a:xfrm>
        </p:grpSpPr>
        <p:sp>
          <p:nvSpPr>
            <p:cNvPr id="11" name="object 11"/>
            <p:cNvSpPr/>
            <p:nvPr/>
          </p:nvSpPr>
          <p:spPr>
            <a:xfrm>
              <a:off x="2248661" y="2544317"/>
              <a:ext cx="245745" cy="302260"/>
            </a:xfrm>
            <a:custGeom>
              <a:avLst/>
              <a:gdLst/>
              <a:ahLst/>
              <a:cxnLst/>
              <a:rect l="l" t="t" r="r" b="b"/>
              <a:pathLst>
                <a:path w="245744" h="302260">
                  <a:moveTo>
                    <a:pt x="0" y="301751"/>
                  </a:moveTo>
                  <a:lnTo>
                    <a:pt x="245363" y="301751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2575" y="2633471"/>
              <a:ext cx="100584" cy="12039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059938" y="2531110"/>
            <a:ext cx="266065" cy="323850"/>
            <a:chOff x="3059938" y="2531110"/>
            <a:chExt cx="266065" cy="323850"/>
          </a:xfrm>
        </p:grpSpPr>
        <p:sp>
          <p:nvSpPr>
            <p:cNvPr id="14" name="object 14"/>
            <p:cNvSpPr/>
            <p:nvPr/>
          </p:nvSpPr>
          <p:spPr>
            <a:xfrm>
              <a:off x="3070098" y="2541270"/>
              <a:ext cx="245745" cy="303530"/>
            </a:xfrm>
            <a:custGeom>
              <a:avLst/>
              <a:gdLst/>
              <a:ahLst/>
              <a:cxnLst/>
              <a:rect l="l" t="t" r="r" b="b"/>
              <a:pathLst>
                <a:path w="245745" h="303530">
                  <a:moveTo>
                    <a:pt x="0" y="303275"/>
                  </a:moveTo>
                  <a:lnTo>
                    <a:pt x="245363" y="303275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4012" y="2630424"/>
              <a:ext cx="99060" cy="1203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494788" y="2541270"/>
            <a:ext cx="575310" cy="303530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onsolas"/>
                <a:cs typeface="Consolas"/>
              </a:rPr>
              <a:t>b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20155" y="2534411"/>
            <a:ext cx="265430" cy="321945"/>
            <a:chOff x="5820155" y="2534411"/>
            <a:chExt cx="265430" cy="321945"/>
          </a:xfrm>
        </p:grpSpPr>
        <p:sp>
          <p:nvSpPr>
            <p:cNvPr id="18" name="object 18"/>
            <p:cNvSpPr/>
            <p:nvPr/>
          </p:nvSpPr>
          <p:spPr>
            <a:xfrm>
              <a:off x="5830061" y="2544317"/>
              <a:ext cx="245745" cy="302260"/>
            </a:xfrm>
            <a:custGeom>
              <a:avLst/>
              <a:gdLst/>
              <a:ahLst/>
              <a:cxnLst/>
              <a:rect l="l" t="t" r="r" b="b"/>
              <a:pathLst>
                <a:path w="245745" h="302260">
                  <a:moveTo>
                    <a:pt x="0" y="301751"/>
                  </a:moveTo>
                  <a:lnTo>
                    <a:pt x="245363" y="301751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3975" y="2633471"/>
              <a:ext cx="100583" cy="120395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641338" y="2531110"/>
            <a:ext cx="266065" cy="323850"/>
            <a:chOff x="6641338" y="2531110"/>
            <a:chExt cx="266065" cy="323850"/>
          </a:xfrm>
        </p:grpSpPr>
        <p:sp>
          <p:nvSpPr>
            <p:cNvPr id="21" name="object 21"/>
            <p:cNvSpPr/>
            <p:nvPr/>
          </p:nvSpPr>
          <p:spPr>
            <a:xfrm>
              <a:off x="6651498" y="2541270"/>
              <a:ext cx="245745" cy="303530"/>
            </a:xfrm>
            <a:custGeom>
              <a:avLst/>
              <a:gdLst/>
              <a:ahLst/>
              <a:cxnLst/>
              <a:rect l="l" t="t" r="r" b="b"/>
              <a:pathLst>
                <a:path w="245745" h="303530">
                  <a:moveTo>
                    <a:pt x="0" y="303275"/>
                  </a:moveTo>
                  <a:lnTo>
                    <a:pt x="245364" y="303275"/>
                  </a:lnTo>
                  <a:lnTo>
                    <a:pt x="245364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5412" y="2630424"/>
              <a:ext cx="99059" cy="12039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076188" y="2541270"/>
            <a:ext cx="575310" cy="30353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onsolas"/>
                <a:cs typeface="Consolas"/>
              </a:rPr>
              <a:t>c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24102" y="3828034"/>
            <a:ext cx="267335" cy="323850"/>
            <a:chOff x="1324102" y="3828034"/>
            <a:chExt cx="267335" cy="323850"/>
          </a:xfrm>
        </p:grpSpPr>
        <p:sp>
          <p:nvSpPr>
            <p:cNvPr id="25" name="object 25"/>
            <p:cNvSpPr/>
            <p:nvPr/>
          </p:nvSpPr>
          <p:spPr>
            <a:xfrm>
              <a:off x="1334262" y="3838194"/>
              <a:ext cx="247015" cy="303530"/>
            </a:xfrm>
            <a:custGeom>
              <a:avLst/>
              <a:gdLst/>
              <a:ahLst/>
              <a:cxnLst/>
              <a:rect l="l" t="t" r="r" b="b"/>
              <a:pathLst>
                <a:path w="247015" h="303529">
                  <a:moveTo>
                    <a:pt x="0" y="303275"/>
                  </a:moveTo>
                  <a:lnTo>
                    <a:pt x="246887" y="303275"/>
                  </a:lnTo>
                  <a:lnTo>
                    <a:pt x="246887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8176" y="3927348"/>
              <a:ext cx="100584" cy="120395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2147316" y="3825240"/>
            <a:ext cx="265430" cy="325120"/>
            <a:chOff x="2147316" y="3825240"/>
            <a:chExt cx="265430" cy="325120"/>
          </a:xfrm>
        </p:grpSpPr>
        <p:sp>
          <p:nvSpPr>
            <p:cNvPr id="28" name="object 28"/>
            <p:cNvSpPr/>
            <p:nvPr/>
          </p:nvSpPr>
          <p:spPr>
            <a:xfrm>
              <a:off x="2157222" y="3835146"/>
              <a:ext cx="245745" cy="304800"/>
            </a:xfrm>
            <a:custGeom>
              <a:avLst/>
              <a:gdLst/>
              <a:ahLst/>
              <a:cxnLst/>
              <a:rect l="l" t="t" r="r" b="b"/>
              <a:pathLst>
                <a:path w="245744" h="304800">
                  <a:moveTo>
                    <a:pt x="0" y="304799"/>
                  </a:moveTo>
                  <a:lnTo>
                    <a:pt x="245363" y="304799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9612" y="3925824"/>
              <a:ext cx="100583" cy="118871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81911" y="3835146"/>
            <a:ext cx="575310" cy="304800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latin typeface="Consolas"/>
                <a:cs typeface="Consolas"/>
              </a:rPr>
              <a:t>d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00501" y="3829558"/>
            <a:ext cx="267335" cy="322580"/>
            <a:chOff x="3000501" y="3829558"/>
            <a:chExt cx="267335" cy="322580"/>
          </a:xfrm>
        </p:grpSpPr>
        <p:sp>
          <p:nvSpPr>
            <p:cNvPr id="32" name="object 32"/>
            <p:cNvSpPr/>
            <p:nvPr/>
          </p:nvSpPr>
          <p:spPr>
            <a:xfrm>
              <a:off x="3010661" y="3839718"/>
              <a:ext cx="247015" cy="302260"/>
            </a:xfrm>
            <a:custGeom>
              <a:avLst/>
              <a:gdLst/>
              <a:ahLst/>
              <a:cxnLst/>
              <a:rect l="l" t="t" r="r" b="b"/>
              <a:pathLst>
                <a:path w="247014" h="302260">
                  <a:moveTo>
                    <a:pt x="0" y="301751"/>
                  </a:moveTo>
                  <a:lnTo>
                    <a:pt x="246887" y="301751"/>
                  </a:lnTo>
                  <a:lnTo>
                    <a:pt x="246887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4575" y="3928872"/>
              <a:ext cx="100584" cy="120396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823461" y="3826509"/>
            <a:ext cx="266065" cy="323850"/>
            <a:chOff x="3823461" y="3826509"/>
            <a:chExt cx="266065" cy="323850"/>
          </a:xfrm>
        </p:grpSpPr>
        <p:sp>
          <p:nvSpPr>
            <p:cNvPr id="35" name="object 35"/>
            <p:cNvSpPr/>
            <p:nvPr/>
          </p:nvSpPr>
          <p:spPr>
            <a:xfrm>
              <a:off x="3833621" y="3836669"/>
              <a:ext cx="245745" cy="303530"/>
            </a:xfrm>
            <a:custGeom>
              <a:avLst/>
              <a:gdLst/>
              <a:ahLst/>
              <a:cxnLst/>
              <a:rect l="l" t="t" r="r" b="b"/>
              <a:pathLst>
                <a:path w="245745" h="303529">
                  <a:moveTo>
                    <a:pt x="0" y="303275"/>
                  </a:moveTo>
                  <a:lnTo>
                    <a:pt x="245363" y="303275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6011" y="3925823"/>
              <a:ext cx="100583" cy="12039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258311" y="3836670"/>
            <a:ext cx="575310" cy="30353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onsolas"/>
                <a:cs typeface="Consolas"/>
              </a:rPr>
              <a:t>e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9976" y="4995671"/>
            <a:ext cx="100584" cy="120396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411" y="4992623"/>
            <a:ext cx="100584" cy="120395"/>
          </a:xfrm>
          <a:prstGeom prst="rect">
            <a:avLst/>
          </a:prstGeom>
        </p:spPr>
      </p:pic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86155" y="4893564"/>
          <a:ext cx="1068069" cy="302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g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776" y="4995671"/>
            <a:ext cx="100584" cy="12039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0211" y="4992623"/>
            <a:ext cx="99059" cy="120395"/>
          </a:xfrm>
          <a:prstGeom prst="rect">
            <a:avLst/>
          </a:prstGeom>
        </p:spPr>
      </p:pic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314955" y="4893564"/>
          <a:ext cx="1066797" cy="302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h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4" name="object 44"/>
          <p:cNvGrpSpPr/>
          <p:nvPr/>
        </p:nvGrpSpPr>
        <p:grpSpPr>
          <a:xfrm>
            <a:off x="3914902" y="4896358"/>
            <a:ext cx="266065" cy="322580"/>
            <a:chOff x="3914902" y="4896358"/>
            <a:chExt cx="266065" cy="322580"/>
          </a:xfrm>
        </p:grpSpPr>
        <p:sp>
          <p:nvSpPr>
            <p:cNvPr id="45" name="object 45"/>
            <p:cNvSpPr/>
            <p:nvPr/>
          </p:nvSpPr>
          <p:spPr>
            <a:xfrm>
              <a:off x="3925062" y="4906518"/>
              <a:ext cx="245745" cy="302260"/>
            </a:xfrm>
            <a:custGeom>
              <a:avLst/>
              <a:gdLst/>
              <a:ahLst/>
              <a:cxnLst/>
              <a:rect l="l" t="t" r="r" b="b"/>
              <a:pathLst>
                <a:path w="245745" h="302260">
                  <a:moveTo>
                    <a:pt x="0" y="301751"/>
                  </a:moveTo>
                  <a:lnTo>
                    <a:pt x="245363" y="301751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8976" y="4995672"/>
              <a:ext cx="100583" cy="120396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4736591" y="4893564"/>
            <a:ext cx="265430" cy="323215"/>
            <a:chOff x="4736591" y="4893564"/>
            <a:chExt cx="265430" cy="323215"/>
          </a:xfrm>
        </p:grpSpPr>
        <p:sp>
          <p:nvSpPr>
            <p:cNvPr id="48" name="object 48"/>
            <p:cNvSpPr/>
            <p:nvPr/>
          </p:nvSpPr>
          <p:spPr>
            <a:xfrm>
              <a:off x="4746497" y="4903470"/>
              <a:ext cx="245745" cy="303530"/>
            </a:xfrm>
            <a:custGeom>
              <a:avLst/>
              <a:gdLst/>
              <a:ahLst/>
              <a:cxnLst/>
              <a:rect l="l" t="t" r="r" b="b"/>
              <a:pathLst>
                <a:path w="245745" h="303529">
                  <a:moveTo>
                    <a:pt x="0" y="303275"/>
                  </a:moveTo>
                  <a:lnTo>
                    <a:pt x="245363" y="303275"/>
                  </a:lnTo>
                  <a:lnTo>
                    <a:pt x="245363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0411" y="4992624"/>
              <a:ext cx="99059" cy="120395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171188" y="4903470"/>
            <a:ext cx="575310" cy="30353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"/>
              </a:spcBef>
            </a:pPr>
            <a:r>
              <a:rPr sz="1800" spc="-50" dirty="0">
                <a:latin typeface="Consolas"/>
                <a:cs typeface="Consolas"/>
              </a:rPr>
              <a:t>i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1" name="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24555" y="6038088"/>
            <a:ext cx="248412" cy="24841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88079" y="6036564"/>
            <a:ext cx="248411" cy="248411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3164585" y="6046470"/>
            <a:ext cx="533400" cy="2286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spc="-50" dirty="0">
                <a:latin typeface="Consolas"/>
                <a:cs typeface="Consolas"/>
              </a:rPr>
              <a:t>l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810502" y="3829558"/>
            <a:ext cx="266065" cy="322580"/>
            <a:chOff x="6810502" y="3829558"/>
            <a:chExt cx="266065" cy="322580"/>
          </a:xfrm>
        </p:grpSpPr>
        <p:sp>
          <p:nvSpPr>
            <p:cNvPr id="55" name="object 55"/>
            <p:cNvSpPr/>
            <p:nvPr/>
          </p:nvSpPr>
          <p:spPr>
            <a:xfrm>
              <a:off x="6820662" y="3839718"/>
              <a:ext cx="245745" cy="302260"/>
            </a:xfrm>
            <a:custGeom>
              <a:avLst/>
              <a:gdLst/>
              <a:ahLst/>
              <a:cxnLst/>
              <a:rect l="l" t="t" r="r" b="b"/>
              <a:pathLst>
                <a:path w="245745" h="302260">
                  <a:moveTo>
                    <a:pt x="0" y="301751"/>
                  </a:moveTo>
                  <a:lnTo>
                    <a:pt x="245364" y="301751"/>
                  </a:lnTo>
                  <a:lnTo>
                    <a:pt x="245364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4576" y="3928872"/>
              <a:ext cx="100583" cy="120396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7631938" y="3826509"/>
            <a:ext cx="266065" cy="323850"/>
            <a:chOff x="7631938" y="3826509"/>
            <a:chExt cx="266065" cy="323850"/>
          </a:xfrm>
        </p:grpSpPr>
        <p:sp>
          <p:nvSpPr>
            <p:cNvPr id="58" name="object 58"/>
            <p:cNvSpPr/>
            <p:nvPr/>
          </p:nvSpPr>
          <p:spPr>
            <a:xfrm>
              <a:off x="7642098" y="3836669"/>
              <a:ext cx="245745" cy="303530"/>
            </a:xfrm>
            <a:custGeom>
              <a:avLst/>
              <a:gdLst/>
              <a:ahLst/>
              <a:cxnLst/>
              <a:rect l="l" t="t" r="r" b="b"/>
              <a:pathLst>
                <a:path w="245745" h="303529">
                  <a:moveTo>
                    <a:pt x="0" y="303275"/>
                  </a:moveTo>
                  <a:lnTo>
                    <a:pt x="245364" y="303275"/>
                  </a:lnTo>
                  <a:lnTo>
                    <a:pt x="245364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6012" y="3925823"/>
              <a:ext cx="99059" cy="120395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7066788" y="3836670"/>
            <a:ext cx="575310" cy="30353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onsolas"/>
                <a:cs typeface="Consolas"/>
              </a:rPr>
              <a:t>f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61" name="object 6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47232" y="4895088"/>
            <a:ext cx="248411" cy="24841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10756" y="4893564"/>
            <a:ext cx="248411" cy="248412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6287261" y="4903470"/>
            <a:ext cx="533400" cy="2286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spc="-50" dirty="0">
                <a:latin typeface="Consolas"/>
                <a:cs typeface="Consolas"/>
              </a:rPr>
              <a:t>j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64" name="object 6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47431" y="4895088"/>
            <a:ext cx="248411" cy="248412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10956" y="4893564"/>
            <a:ext cx="248411" cy="248412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7887461" y="4903470"/>
            <a:ext cx="533400" cy="22860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spc="-50" dirty="0">
                <a:latin typeface="Consolas"/>
                <a:cs typeface="Consolas"/>
              </a:rPr>
              <a:t>k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858261" y="1694433"/>
            <a:ext cx="1376680" cy="770890"/>
          </a:xfrm>
          <a:custGeom>
            <a:avLst/>
            <a:gdLst/>
            <a:ahLst/>
            <a:cxnLst/>
            <a:rect l="l" t="t" r="r" b="b"/>
            <a:pathLst>
              <a:path w="1376679" h="770889">
                <a:moveTo>
                  <a:pt x="48132" y="700277"/>
                </a:moveTo>
                <a:lnTo>
                  <a:pt x="0" y="770636"/>
                </a:lnTo>
                <a:lnTo>
                  <a:pt x="85089" y="766952"/>
                </a:lnTo>
                <a:lnTo>
                  <a:pt x="74812" y="748411"/>
                </a:lnTo>
                <a:lnTo>
                  <a:pt x="60325" y="748411"/>
                </a:lnTo>
                <a:lnTo>
                  <a:pt x="50673" y="731138"/>
                </a:lnTo>
                <a:lnTo>
                  <a:pt x="61809" y="724952"/>
                </a:lnTo>
                <a:lnTo>
                  <a:pt x="48132" y="700277"/>
                </a:lnTo>
                <a:close/>
              </a:path>
              <a:path w="1376679" h="770889">
                <a:moveTo>
                  <a:pt x="61809" y="724952"/>
                </a:moveTo>
                <a:lnTo>
                  <a:pt x="50673" y="731138"/>
                </a:lnTo>
                <a:lnTo>
                  <a:pt x="60325" y="748411"/>
                </a:lnTo>
                <a:lnTo>
                  <a:pt x="71401" y="742257"/>
                </a:lnTo>
                <a:lnTo>
                  <a:pt x="61809" y="724952"/>
                </a:lnTo>
                <a:close/>
              </a:path>
              <a:path w="1376679" h="770889">
                <a:moveTo>
                  <a:pt x="71401" y="742257"/>
                </a:moveTo>
                <a:lnTo>
                  <a:pt x="60325" y="748411"/>
                </a:lnTo>
                <a:lnTo>
                  <a:pt x="74812" y="748411"/>
                </a:lnTo>
                <a:lnTo>
                  <a:pt x="71401" y="742257"/>
                </a:lnTo>
                <a:close/>
              </a:path>
              <a:path w="1376679" h="770889">
                <a:moveTo>
                  <a:pt x="1366774" y="0"/>
                </a:moveTo>
                <a:lnTo>
                  <a:pt x="61809" y="724952"/>
                </a:lnTo>
                <a:lnTo>
                  <a:pt x="71401" y="742257"/>
                </a:lnTo>
                <a:lnTo>
                  <a:pt x="1376426" y="17271"/>
                </a:lnTo>
                <a:lnTo>
                  <a:pt x="1366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62272" y="1260855"/>
            <a:ext cx="1824989" cy="1204595"/>
          </a:xfrm>
          <a:custGeom>
            <a:avLst/>
            <a:gdLst/>
            <a:ahLst/>
            <a:cxnLst/>
            <a:rect l="l" t="t" r="r" b="b"/>
            <a:pathLst>
              <a:path w="1824989" h="1204595">
                <a:moveTo>
                  <a:pt x="449834" y="11176"/>
                </a:moveTo>
                <a:lnTo>
                  <a:pt x="443865" y="0"/>
                </a:lnTo>
                <a:lnTo>
                  <a:pt x="64604" y="198450"/>
                </a:lnTo>
                <a:lnTo>
                  <a:pt x="49911" y="170307"/>
                </a:lnTo>
                <a:lnTo>
                  <a:pt x="0" y="239395"/>
                </a:lnTo>
                <a:lnTo>
                  <a:pt x="85217" y="237871"/>
                </a:lnTo>
                <a:lnTo>
                  <a:pt x="73533" y="215519"/>
                </a:lnTo>
                <a:lnTo>
                  <a:pt x="70446" y="209626"/>
                </a:lnTo>
                <a:lnTo>
                  <a:pt x="449834" y="11176"/>
                </a:lnTo>
                <a:close/>
              </a:path>
              <a:path w="1824989" h="1204595">
                <a:moveTo>
                  <a:pt x="1824990" y="1204214"/>
                </a:moveTo>
                <a:lnTo>
                  <a:pt x="1809521" y="1178941"/>
                </a:lnTo>
                <a:lnTo>
                  <a:pt x="1780540" y="1131570"/>
                </a:lnTo>
                <a:lnTo>
                  <a:pt x="1765579" y="1155458"/>
                </a:lnTo>
                <a:lnTo>
                  <a:pt x="610997" y="433832"/>
                </a:lnTo>
                <a:lnTo>
                  <a:pt x="600583" y="450596"/>
                </a:lnTo>
                <a:lnTo>
                  <a:pt x="1755114" y="1172184"/>
                </a:lnTo>
                <a:lnTo>
                  <a:pt x="1740154" y="1196086"/>
                </a:lnTo>
                <a:lnTo>
                  <a:pt x="1824990" y="12042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867661" y="2689225"/>
            <a:ext cx="542290" cy="1071245"/>
          </a:xfrm>
          <a:custGeom>
            <a:avLst/>
            <a:gdLst/>
            <a:ahLst/>
            <a:cxnLst/>
            <a:rect l="l" t="t" r="r" b="b"/>
            <a:pathLst>
              <a:path w="542289" h="1071245">
                <a:moveTo>
                  <a:pt x="0" y="986027"/>
                </a:moveTo>
                <a:lnTo>
                  <a:pt x="0" y="1071245"/>
                </a:lnTo>
                <a:lnTo>
                  <a:pt x="68199" y="1020063"/>
                </a:lnTo>
                <a:lnTo>
                  <a:pt x="65908" y="1018920"/>
                </a:lnTo>
                <a:lnTo>
                  <a:pt x="37211" y="1018920"/>
                </a:lnTo>
                <a:lnTo>
                  <a:pt x="19557" y="1010031"/>
                </a:lnTo>
                <a:lnTo>
                  <a:pt x="25256" y="998632"/>
                </a:lnTo>
                <a:lnTo>
                  <a:pt x="0" y="986027"/>
                </a:lnTo>
                <a:close/>
              </a:path>
              <a:path w="542289" h="1071245">
                <a:moveTo>
                  <a:pt x="25256" y="998632"/>
                </a:moveTo>
                <a:lnTo>
                  <a:pt x="19557" y="1010031"/>
                </a:lnTo>
                <a:lnTo>
                  <a:pt x="37211" y="1018920"/>
                </a:lnTo>
                <a:lnTo>
                  <a:pt x="42942" y="1007459"/>
                </a:lnTo>
                <a:lnTo>
                  <a:pt x="25256" y="998632"/>
                </a:lnTo>
                <a:close/>
              </a:path>
              <a:path w="542289" h="1071245">
                <a:moveTo>
                  <a:pt x="42942" y="1007459"/>
                </a:moveTo>
                <a:lnTo>
                  <a:pt x="37211" y="1018920"/>
                </a:lnTo>
                <a:lnTo>
                  <a:pt x="65908" y="1018920"/>
                </a:lnTo>
                <a:lnTo>
                  <a:pt x="42942" y="1007459"/>
                </a:lnTo>
                <a:close/>
              </a:path>
              <a:path w="542289" h="1071245">
                <a:moveTo>
                  <a:pt x="524510" y="0"/>
                </a:moveTo>
                <a:lnTo>
                  <a:pt x="25256" y="998632"/>
                </a:lnTo>
                <a:lnTo>
                  <a:pt x="42942" y="1007459"/>
                </a:lnTo>
                <a:lnTo>
                  <a:pt x="542289" y="8889"/>
                </a:lnTo>
                <a:lnTo>
                  <a:pt x="5245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53791" y="2690367"/>
            <a:ext cx="400685" cy="1070610"/>
          </a:xfrm>
          <a:custGeom>
            <a:avLst/>
            <a:gdLst/>
            <a:ahLst/>
            <a:cxnLst/>
            <a:rect l="l" t="t" r="r" b="b"/>
            <a:pathLst>
              <a:path w="400685" h="1070610">
                <a:moveTo>
                  <a:pt x="355293" y="1001702"/>
                </a:moveTo>
                <a:lnTo>
                  <a:pt x="328803" y="1011174"/>
                </a:lnTo>
                <a:lnTo>
                  <a:pt x="390270" y="1070102"/>
                </a:lnTo>
                <a:lnTo>
                  <a:pt x="397144" y="1013587"/>
                </a:lnTo>
                <a:lnTo>
                  <a:pt x="359536" y="1013587"/>
                </a:lnTo>
                <a:lnTo>
                  <a:pt x="355293" y="1001702"/>
                </a:lnTo>
                <a:close/>
              </a:path>
              <a:path w="400685" h="1070610">
                <a:moveTo>
                  <a:pt x="373939" y="995036"/>
                </a:moveTo>
                <a:lnTo>
                  <a:pt x="355293" y="1001702"/>
                </a:lnTo>
                <a:lnTo>
                  <a:pt x="359536" y="1013587"/>
                </a:lnTo>
                <a:lnTo>
                  <a:pt x="378206" y="1006983"/>
                </a:lnTo>
                <a:lnTo>
                  <a:pt x="373939" y="995036"/>
                </a:lnTo>
                <a:close/>
              </a:path>
              <a:path w="400685" h="1070610">
                <a:moveTo>
                  <a:pt x="400557" y="985520"/>
                </a:moveTo>
                <a:lnTo>
                  <a:pt x="373939" y="995036"/>
                </a:lnTo>
                <a:lnTo>
                  <a:pt x="378206" y="1006983"/>
                </a:lnTo>
                <a:lnTo>
                  <a:pt x="359536" y="1013587"/>
                </a:lnTo>
                <a:lnTo>
                  <a:pt x="397144" y="1013587"/>
                </a:lnTo>
                <a:lnTo>
                  <a:pt x="400557" y="985520"/>
                </a:lnTo>
                <a:close/>
              </a:path>
              <a:path w="400685" h="1070610">
                <a:moveTo>
                  <a:pt x="18541" y="0"/>
                </a:moveTo>
                <a:lnTo>
                  <a:pt x="0" y="6604"/>
                </a:lnTo>
                <a:lnTo>
                  <a:pt x="355293" y="1001702"/>
                </a:lnTo>
                <a:lnTo>
                  <a:pt x="373939" y="995036"/>
                </a:lnTo>
                <a:lnTo>
                  <a:pt x="18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29461" y="3984371"/>
            <a:ext cx="466090" cy="843280"/>
          </a:xfrm>
          <a:custGeom>
            <a:avLst/>
            <a:gdLst/>
            <a:ahLst/>
            <a:cxnLst/>
            <a:rect l="l" t="t" r="r" b="b"/>
            <a:pathLst>
              <a:path w="466090" h="843279">
                <a:moveTo>
                  <a:pt x="3035" y="757808"/>
                </a:moveTo>
                <a:lnTo>
                  <a:pt x="0" y="842898"/>
                </a:lnTo>
                <a:lnTo>
                  <a:pt x="69938" y="794257"/>
                </a:lnTo>
                <a:lnTo>
                  <a:pt x="65509" y="791844"/>
                </a:lnTo>
                <a:lnTo>
                  <a:pt x="39103" y="791844"/>
                </a:lnTo>
                <a:lnTo>
                  <a:pt x="21704" y="782446"/>
                </a:lnTo>
                <a:lnTo>
                  <a:pt x="27788" y="771294"/>
                </a:lnTo>
                <a:lnTo>
                  <a:pt x="3035" y="757808"/>
                </a:lnTo>
                <a:close/>
              </a:path>
              <a:path w="466090" h="843279">
                <a:moveTo>
                  <a:pt x="27788" y="771294"/>
                </a:moveTo>
                <a:lnTo>
                  <a:pt x="21704" y="782446"/>
                </a:lnTo>
                <a:lnTo>
                  <a:pt x="39103" y="791844"/>
                </a:lnTo>
                <a:lnTo>
                  <a:pt x="45152" y="780754"/>
                </a:lnTo>
                <a:lnTo>
                  <a:pt x="27788" y="771294"/>
                </a:lnTo>
                <a:close/>
              </a:path>
              <a:path w="466090" h="843279">
                <a:moveTo>
                  <a:pt x="45152" y="780754"/>
                </a:moveTo>
                <a:lnTo>
                  <a:pt x="39103" y="791844"/>
                </a:lnTo>
                <a:lnTo>
                  <a:pt x="65509" y="791844"/>
                </a:lnTo>
                <a:lnTo>
                  <a:pt x="45152" y="780754"/>
                </a:lnTo>
                <a:close/>
              </a:path>
              <a:path w="466090" h="843279">
                <a:moveTo>
                  <a:pt x="448563" y="0"/>
                </a:moveTo>
                <a:lnTo>
                  <a:pt x="27788" y="771294"/>
                </a:lnTo>
                <a:lnTo>
                  <a:pt x="45152" y="780754"/>
                </a:lnTo>
                <a:lnTo>
                  <a:pt x="465835" y="9397"/>
                </a:lnTo>
                <a:lnTo>
                  <a:pt x="448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848482" y="3985640"/>
            <a:ext cx="323850" cy="842010"/>
          </a:xfrm>
          <a:custGeom>
            <a:avLst/>
            <a:gdLst/>
            <a:ahLst/>
            <a:cxnLst/>
            <a:rect l="l" t="t" r="r" b="b"/>
            <a:pathLst>
              <a:path w="323850" h="842010">
                <a:moveTo>
                  <a:pt x="0" y="757046"/>
                </a:moveTo>
                <a:lnTo>
                  <a:pt x="9779" y="841628"/>
                </a:lnTo>
                <a:lnTo>
                  <a:pt x="69213" y="785367"/>
                </a:lnTo>
                <a:lnTo>
                  <a:pt x="40767" y="785367"/>
                </a:lnTo>
                <a:lnTo>
                  <a:pt x="22225" y="778509"/>
                </a:lnTo>
                <a:lnTo>
                  <a:pt x="26523" y="766687"/>
                </a:lnTo>
                <a:lnTo>
                  <a:pt x="0" y="757046"/>
                </a:lnTo>
                <a:close/>
              </a:path>
              <a:path w="323850" h="842010">
                <a:moveTo>
                  <a:pt x="26523" y="766687"/>
                </a:moveTo>
                <a:lnTo>
                  <a:pt x="22225" y="778509"/>
                </a:lnTo>
                <a:lnTo>
                  <a:pt x="40767" y="785367"/>
                </a:lnTo>
                <a:lnTo>
                  <a:pt x="45103" y="773441"/>
                </a:lnTo>
                <a:lnTo>
                  <a:pt x="26523" y="766687"/>
                </a:lnTo>
                <a:close/>
              </a:path>
              <a:path w="323850" h="842010">
                <a:moveTo>
                  <a:pt x="45103" y="773441"/>
                </a:moveTo>
                <a:lnTo>
                  <a:pt x="40767" y="785367"/>
                </a:lnTo>
                <a:lnTo>
                  <a:pt x="69213" y="785367"/>
                </a:lnTo>
                <a:lnTo>
                  <a:pt x="71628" y="783081"/>
                </a:lnTo>
                <a:lnTo>
                  <a:pt x="45103" y="773441"/>
                </a:lnTo>
                <a:close/>
              </a:path>
              <a:path w="323850" h="842010">
                <a:moveTo>
                  <a:pt x="305308" y="0"/>
                </a:moveTo>
                <a:lnTo>
                  <a:pt x="26523" y="766687"/>
                </a:lnTo>
                <a:lnTo>
                  <a:pt x="45103" y="773441"/>
                </a:lnTo>
                <a:lnTo>
                  <a:pt x="323850" y="6857"/>
                </a:lnTo>
                <a:lnTo>
                  <a:pt x="3053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916679" y="3983735"/>
            <a:ext cx="542290" cy="843915"/>
          </a:xfrm>
          <a:custGeom>
            <a:avLst/>
            <a:gdLst/>
            <a:ahLst/>
            <a:cxnLst/>
            <a:rect l="l" t="t" r="r" b="b"/>
            <a:pathLst>
              <a:path w="542289" h="843914">
                <a:moveTo>
                  <a:pt x="492574" y="784606"/>
                </a:moveTo>
                <a:lnTo>
                  <a:pt x="468757" y="799719"/>
                </a:lnTo>
                <a:lnTo>
                  <a:pt x="541782" y="843533"/>
                </a:lnTo>
                <a:lnTo>
                  <a:pt x="536789" y="795274"/>
                </a:lnTo>
                <a:lnTo>
                  <a:pt x="499364" y="795274"/>
                </a:lnTo>
                <a:lnTo>
                  <a:pt x="492574" y="784606"/>
                </a:lnTo>
                <a:close/>
              </a:path>
              <a:path w="542289" h="843914">
                <a:moveTo>
                  <a:pt x="509229" y="773963"/>
                </a:moveTo>
                <a:lnTo>
                  <a:pt x="492574" y="784606"/>
                </a:lnTo>
                <a:lnTo>
                  <a:pt x="499364" y="795274"/>
                </a:lnTo>
                <a:lnTo>
                  <a:pt x="516000" y="784606"/>
                </a:lnTo>
                <a:lnTo>
                  <a:pt x="509229" y="773963"/>
                </a:lnTo>
                <a:close/>
              </a:path>
              <a:path w="542289" h="843914">
                <a:moveTo>
                  <a:pt x="533019" y="758825"/>
                </a:moveTo>
                <a:lnTo>
                  <a:pt x="509229" y="773963"/>
                </a:lnTo>
                <a:lnTo>
                  <a:pt x="516000" y="784606"/>
                </a:lnTo>
                <a:lnTo>
                  <a:pt x="499364" y="795274"/>
                </a:lnTo>
                <a:lnTo>
                  <a:pt x="536789" y="795274"/>
                </a:lnTo>
                <a:lnTo>
                  <a:pt x="533019" y="758825"/>
                </a:lnTo>
                <a:close/>
              </a:path>
              <a:path w="542289" h="843914">
                <a:moveTo>
                  <a:pt x="16764" y="0"/>
                </a:moveTo>
                <a:lnTo>
                  <a:pt x="0" y="10668"/>
                </a:lnTo>
                <a:lnTo>
                  <a:pt x="492574" y="784606"/>
                </a:lnTo>
                <a:lnTo>
                  <a:pt x="509229" y="773963"/>
                </a:lnTo>
                <a:lnTo>
                  <a:pt x="16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467861" y="5050409"/>
            <a:ext cx="617855" cy="920115"/>
          </a:xfrm>
          <a:custGeom>
            <a:avLst/>
            <a:gdLst/>
            <a:ahLst/>
            <a:cxnLst/>
            <a:rect l="l" t="t" r="r" b="b"/>
            <a:pathLst>
              <a:path w="617854" h="920114">
                <a:moveTo>
                  <a:pt x="10540" y="835317"/>
                </a:moveTo>
                <a:lnTo>
                  <a:pt x="0" y="919861"/>
                </a:lnTo>
                <a:lnTo>
                  <a:pt x="73913" y="877595"/>
                </a:lnTo>
                <a:lnTo>
                  <a:pt x="66299" y="872515"/>
                </a:lnTo>
                <a:lnTo>
                  <a:pt x="43434" y="872515"/>
                </a:lnTo>
                <a:lnTo>
                  <a:pt x="26924" y="861529"/>
                </a:lnTo>
                <a:lnTo>
                  <a:pt x="33976" y="850951"/>
                </a:lnTo>
                <a:lnTo>
                  <a:pt x="10540" y="835317"/>
                </a:lnTo>
                <a:close/>
              </a:path>
              <a:path w="617854" h="920114">
                <a:moveTo>
                  <a:pt x="33976" y="850951"/>
                </a:moveTo>
                <a:lnTo>
                  <a:pt x="26924" y="861529"/>
                </a:lnTo>
                <a:lnTo>
                  <a:pt x="43434" y="872515"/>
                </a:lnTo>
                <a:lnTo>
                  <a:pt x="50473" y="861957"/>
                </a:lnTo>
                <a:lnTo>
                  <a:pt x="33976" y="850951"/>
                </a:lnTo>
                <a:close/>
              </a:path>
              <a:path w="617854" h="920114">
                <a:moveTo>
                  <a:pt x="50473" y="861957"/>
                </a:moveTo>
                <a:lnTo>
                  <a:pt x="43434" y="872515"/>
                </a:lnTo>
                <a:lnTo>
                  <a:pt x="66299" y="872515"/>
                </a:lnTo>
                <a:lnTo>
                  <a:pt x="50473" y="861957"/>
                </a:lnTo>
                <a:close/>
              </a:path>
              <a:path w="617854" h="920114">
                <a:moveTo>
                  <a:pt x="601345" y="0"/>
                </a:moveTo>
                <a:lnTo>
                  <a:pt x="33976" y="850951"/>
                </a:lnTo>
                <a:lnTo>
                  <a:pt x="50473" y="861957"/>
                </a:lnTo>
                <a:lnTo>
                  <a:pt x="617854" y="10922"/>
                </a:lnTo>
                <a:lnTo>
                  <a:pt x="601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735571" y="2689225"/>
            <a:ext cx="542290" cy="1071245"/>
          </a:xfrm>
          <a:custGeom>
            <a:avLst/>
            <a:gdLst/>
            <a:ahLst/>
            <a:cxnLst/>
            <a:rect l="l" t="t" r="r" b="b"/>
            <a:pathLst>
              <a:path w="542290" h="1071245">
                <a:moveTo>
                  <a:pt x="499379" y="1007523"/>
                </a:moveTo>
                <a:lnTo>
                  <a:pt x="474091" y="1020191"/>
                </a:lnTo>
                <a:lnTo>
                  <a:pt x="542289" y="1071245"/>
                </a:lnTo>
                <a:lnTo>
                  <a:pt x="542289" y="1018920"/>
                </a:lnTo>
                <a:lnTo>
                  <a:pt x="505078" y="1018920"/>
                </a:lnTo>
                <a:lnTo>
                  <a:pt x="499379" y="1007523"/>
                </a:lnTo>
                <a:close/>
              </a:path>
              <a:path w="542290" h="1071245">
                <a:moveTo>
                  <a:pt x="517052" y="998670"/>
                </a:moveTo>
                <a:lnTo>
                  <a:pt x="499379" y="1007523"/>
                </a:lnTo>
                <a:lnTo>
                  <a:pt x="505078" y="1018920"/>
                </a:lnTo>
                <a:lnTo>
                  <a:pt x="522731" y="1010031"/>
                </a:lnTo>
                <a:lnTo>
                  <a:pt x="517052" y="998670"/>
                </a:lnTo>
                <a:close/>
              </a:path>
              <a:path w="542290" h="1071245">
                <a:moveTo>
                  <a:pt x="542289" y="986027"/>
                </a:moveTo>
                <a:lnTo>
                  <a:pt x="517052" y="998670"/>
                </a:lnTo>
                <a:lnTo>
                  <a:pt x="522731" y="1010031"/>
                </a:lnTo>
                <a:lnTo>
                  <a:pt x="505078" y="1018920"/>
                </a:lnTo>
                <a:lnTo>
                  <a:pt x="542289" y="1018920"/>
                </a:lnTo>
                <a:lnTo>
                  <a:pt x="542289" y="986027"/>
                </a:lnTo>
                <a:close/>
              </a:path>
              <a:path w="542290" h="1071245">
                <a:moveTo>
                  <a:pt x="17779" y="0"/>
                </a:moveTo>
                <a:lnTo>
                  <a:pt x="0" y="8889"/>
                </a:lnTo>
                <a:lnTo>
                  <a:pt x="499379" y="1007523"/>
                </a:lnTo>
                <a:lnTo>
                  <a:pt x="517052" y="998670"/>
                </a:lnTo>
                <a:lnTo>
                  <a:pt x="17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588886" y="3985005"/>
            <a:ext cx="393700" cy="842644"/>
          </a:xfrm>
          <a:custGeom>
            <a:avLst/>
            <a:gdLst/>
            <a:ahLst/>
            <a:cxnLst/>
            <a:rect l="l" t="t" r="r" b="b"/>
            <a:pathLst>
              <a:path w="393700" h="842645">
                <a:moveTo>
                  <a:pt x="0" y="757174"/>
                </a:moveTo>
                <a:lnTo>
                  <a:pt x="3175" y="842264"/>
                </a:lnTo>
                <a:lnTo>
                  <a:pt x="69342" y="788670"/>
                </a:lnTo>
                <a:lnTo>
                  <a:pt x="38762" y="788670"/>
                </a:lnTo>
                <a:lnTo>
                  <a:pt x="20447" y="780415"/>
                </a:lnTo>
                <a:lnTo>
                  <a:pt x="25703" y="768849"/>
                </a:lnTo>
                <a:lnTo>
                  <a:pt x="0" y="757174"/>
                </a:lnTo>
                <a:close/>
              </a:path>
              <a:path w="393700" h="842645">
                <a:moveTo>
                  <a:pt x="25703" y="768849"/>
                </a:moveTo>
                <a:lnTo>
                  <a:pt x="20447" y="780415"/>
                </a:lnTo>
                <a:lnTo>
                  <a:pt x="38762" y="788670"/>
                </a:lnTo>
                <a:lnTo>
                  <a:pt x="38423" y="788670"/>
                </a:lnTo>
                <a:lnTo>
                  <a:pt x="43714" y="777029"/>
                </a:lnTo>
                <a:lnTo>
                  <a:pt x="25703" y="768849"/>
                </a:lnTo>
                <a:close/>
              </a:path>
              <a:path w="393700" h="842645">
                <a:moveTo>
                  <a:pt x="43714" y="777029"/>
                </a:moveTo>
                <a:lnTo>
                  <a:pt x="38423" y="788670"/>
                </a:lnTo>
                <a:lnTo>
                  <a:pt x="69342" y="788670"/>
                </a:lnTo>
                <a:lnTo>
                  <a:pt x="43714" y="777029"/>
                </a:lnTo>
                <a:close/>
              </a:path>
              <a:path w="393700" h="842645">
                <a:moveTo>
                  <a:pt x="375158" y="0"/>
                </a:moveTo>
                <a:lnTo>
                  <a:pt x="25703" y="768849"/>
                </a:lnTo>
                <a:lnTo>
                  <a:pt x="43714" y="777029"/>
                </a:lnTo>
                <a:lnTo>
                  <a:pt x="393192" y="8128"/>
                </a:lnTo>
                <a:lnTo>
                  <a:pt x="3751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726044" y="3985005"/>
            <a:ext cx="393700" cy="842644"/>
          </a:xfrm>
          <a:custGeom>
            <a:avLst/>
            <a:gdLst/>
            <a:ahLst/>
            <a:cxnLst/>
            <a:rect l="l" t="t" r="r" b="b"/>
            <a:pathLst>
              <a:path w="393700" h="842645">
                <a:moveTo>
                  <a:pt x="349477" y="777029"/>
                </a:moveTo>
                <a:lnTo>
                  <a:pt x="323850" y="788670"/>
                </a:lnTo>
                <a:lnTo>
                  <a:pt x="390016" y="842264"/>
                </a:lnTo>
                <a:lnTo>
                  <a:pt x="392016" y="788670"/>
                </a:lnTo>
                <a:lnTo>
                  <a:pt x="354768" y="788670"/>
                </a:lnTo>
                <a:lnTo>
                  <a:pt x="349477" y="777029"/>
                </a:lnTo>
                <a:close/>
              </a:path>
              <a:path w="393700" h="842645">
                <a:moveTo>
                  <a:pt x="367488" y="768849"/>
                </a:moveTo>
                <a:lnTo>
                  <a:pt x="349477" y="777029"/>
                </a:lnTo>
                <a:lnTo>
                  <a:pt x="354768" y="788670"/>
                </a:lnTo>
                <a:lnTo>
                  <a:pt x="354429" y="788670"/>
                </a:lnTo>
                <a:lnTo>
                  <a:pt x="372745" y="780415"/>
                </a:lnTo>
                <a:lnTo>
                  <a:pt x="367488" y="768849"/>
                </a:lnTo>
                <a:close/>
              </a:path>
              <a:path w="393700" h="842645">
                <a:moveTo>
                  <a:pt x="393191" y="757174"/>
                </a:moveTo>
                <a:lnTo>
                  <a:pt x="367488" y="768849"/>
                </a:lnTo>
                <a:lnTo>
                  <a:pt x="372745" y="780415"/>
                </a:lnTo>
                <a:lnTo>
                  <a:pt x="354429" y="788670"/>
                </a:lnTo>
                <a:lnTo>
                  <a:pt x="392016" y="788670"/>
                </a:lnTo>
                <a:lnTo>
                  <a:pt x="393191" y="757174"/>
                </a:lnTo>
                <a:close/>
              </a:path>
              <a:path w="393700" h="842645">
                <a:moveTo>
                  <a:pt x="18033" y="0"/>
                </a:moveTo>
                <a:lnTo>
                  <a:pt x="0" y="8128"/>
                </a:lnTo>
                <a:lnTo>
                  <a:pt x="349477" y="777029"/>
                </a:lnTo>
                <a:lnTo>
                  <a:pt x="367488" y="768849"/>
                </a:lnTo>
                <a:lnTo>
                  <a:pt x="180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982717" y="1084579"/>
            <a:ext cx="1266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Root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pointer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0801" y="3317240"/>
            <a:ext cx="2206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Tree</a:t>
            </a:r>
            <a:r>
              <a:rPr spc="-155" dirty="0"/>
              <a:t> </a:t>
            </a:r>
            <a:r>
              <a:rPr spc="-40" dirty="0"/>
              <a:t>Traversal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Tree</a:t>
            </a:r>
            <a:r>
              <a:rPr spc="-60" dirty="0"/>
              <a:t> </a:t>
            </a:r>
            <a:r>
              <a:rPr spc="-10" dirty="0"/>
              <a:t>Traversal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7595870" cy="278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To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traverse</a:t>
            </a:r>
            <a:r>
              <a:rPr sz="21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(or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walk</a:t>
            </a:r>
            <a:r>
              <a:rPr sz="2100" dirty="0">
                <a:latin typeface="Tahoma"/>
                <a:cs typeface="Tahoma"/>
              </a:rPr>
              <a:t>)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visit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each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tree </a:t>
            </a:r>
            <a:r>
              <a:rPr sz="2100" dirty="0">
                <a:latin typeface="Tahoma"/>
                <a:cs typeface="Tahoma"/>
              </a:rPr>
              <a:t>exactly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once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Traversal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must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start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node</a:t>
            </a:r>
            <a:endParaRPr sz="1900" dirty="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There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pointer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to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root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node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binary</a:t>
            </a:r>
            <a:r>
              <a:rPr sz="1700" spc="-20" dirty="0">
                <a:latin typeface="Tahoma"/>
                <a:cs typeface="Tahoma"/>
              </a:rPr>
              <a:t> tree</a:t>
            </a:r>
            <a:endParaRPr sz="1700" dirty="0">
              <a:latin typeface="Tahoma"/>
              <a:cs typeface="Tahoma"/>
            </a:endParaRPr>
          </a:p>
          <a:p>
            <a:pPr lvl="2">
              <a:lnSpc>
                <a:spcPct val="100000"/>
              </a:lnSpc>
              <a:spcBef>
                <a:spcPts val="1470"/>
              </a:spcBef>
              <a:buFont typeface="Wingdings"/>
              <a:buChar char=""/>
            </a:pPr>
            <a:endParaRPr sz="17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Two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types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traversals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spc="-20" dirty="0">
                <a:latin typeface="Tahoma"/>
                <a:cs typeface="Tahoma"/>
              </a:rPr>
              <a:t>Breadth-</a:t>
            </a:r>
            <a:r>
              <a:rPr sz="1900" dirty="0">
                <a:latin typeface="Tahoma"/>
                <a:cs typeface="Tahoma"/>
              </a:rPr>
              <a:t>First</a:t>
            </a:r>
            <a:r>
              <a:rPr sz="1900" spc="6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Traversal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spc="-20" dirty="0">
                <a:latin typeface="Tahoma"/>
                <a:cs typeface="Tahoma"/>
              </a:rPr>
              <a:t>Depth-</a:t>
            </a:r>
            <a:r>
              <a:rPr sz="1900" dirty="0">
                <a:latin typeface="Tahoma"/>
                <a:cs typeface="Tahoma"/>
              </a:rPr>
              <a:t>First</a:t>
            </a:r>
            <a:r>
              <a:rPr sz="1900" spc="4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Traversal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Breadth-</a:t>
            </a:r>
            <a:r>
              <a:rPr dirty="0"/>
              <a:t>First</a:t>
            </a:r>
            <a:r>
              <a:rPr spc="-75" dirty="0"/>
              <a:t> </a:t>
            </a:r>
            <a:r>
              <a:rPr dirty="0"/>
              <a:t>Traversal</a:t>
            </a:r>
            <a:r>
              <a:rPr spc="-55" dirty="0"/>
              <a:t> </a:t>
            </a:r>
            <a:r>
              <a:rPr dirty="0"/>
              <a:t>(For</a:t>
            </a:r>
            <a:r>
              <a:rPr spc="-80" dirty="0"/>
              <a:t> </a:t>
            </a:r>
            <a:r>
              <a:rPr dirty="0"/>
              <a:t>Arbitrary</a:t>
            </a:r>
            <a:r>
              <a:rPr spc="-85" dirty="0"/>
              <a:t> </a:t>
            </a:r>
            <a:r>
              <a:rPr spc="-10" dirty="0"/>
              <a:t>Trees)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71118"/>
            <a:ext cx="7776209" cy="8153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All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given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depth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d</a:t>
            </a:r>
            <a:r>
              <a:rPr sz="2100" spc="-500" dirty="0">
                <a:latin typeface="Consolas"/>
                <a:cs typeface="Consolas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traversed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before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Consolas"/>
                <a:cs typeface="Consolas"/>
              </a:rPr>
              <a:t>d+1</a:t>
            </a:r>
            <a:endParaRPr sz="210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implemented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using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queue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5381955"/>
            <a:ext cx="38125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1285875" algn="l"/>
              </a:tabLst>
            </a:pPr>
            <a:r>
              <a:rPr sz="2100" spc="-10" dirty="0">
                <a:latin typeface="Tahoma"/>
                <a:cs typeface="Tahoma"/>
              </a:rPr>
              <a:t>Order:</a:t>
            </a:r>
            <a:r>
              <a:rPr sz="2100" dirty="0">
                <a:latin typeface="Tahoma"/>
                <a:cs typeface="Tahoma"/>
              </a:rPr>
              <a:t>	A</a:t>
            </a:r>
            <a:r>
              <a:rPr sz="2100" spc="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 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 J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K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4699" y="2248913"/>
            <a:ext cx="4829679" cy="24318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Breadth-</a:t>
            </a:r>
            <a:r>
              <a:rPr dirty="0"/>
              <a:t>First</a:t>
            </a:r>
            <a:r>
              <a:rPr spc="-35" dirty="0"/>
              <a:t> </a:t>
            </a:r>
            <a:r>
              <a:rPr dirty="0"/>
              <a:t>Traversal</a:t>
            </a:r>
            <a:r>
              <a:rPr spc="-2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7127875" cy="149034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Create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queue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push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root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onto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queue</a:t>
            </a: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While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queue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not</a:t>
            </a:r>
            <a:r>
              <a:rPr sz="2100" spc="-10" dirty="0">
                <a:latin typeface="Tahoma"/>
                <a:cs typeface="Tahoma"/>
              </a:rPr>
              <a:t> empty: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Enqueue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all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children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front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onto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queue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Dequeue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front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node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155DE94-62FA-6E7D-E32D-C88BA8B1C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293" y="4188814"/>
            <a:ext cx="3247708" cy="430887"/>
          </a:xfrm>
        </p:spPr>
        <p:txBody>
          <a:bodyPr/>
          <a:lstStyle/>
          <a:p>
            <a:r>
              <a:rPr lang="pt-BR" sz="1400" spc="-10" dirty="0">
                <a:latin typeface="Tahoma"/>
                <a:cs typeface="Tahoma"/>
              </a:rPr>
              <a:t>Order:</a:t>
            </a:r>
            <a:r>
              <a:rPr lang="pt-BR" sz="1400" dirty="0">
                <a:latin typeface="Tahoma"/>
                <a:cs typeface="Tahoma"/>
              </a:rPr>
              <a:t>	A</a:t>
            </a:r>
            <a:r>
              <a:rPr lang="pt-BR" sz="1400" spc="10" dirty="0">
                <a:latin typeface="Tahoma"/>
                <a:cs typeface="Tahoma"/>
              </a:rPr>
              <a:t> </a:t>
            </a:r>
            <a:r>
              <a:rPr lang="pt-BR" sz="1400" dirty="0">
                <a:latin typeface="Tahoma"/>
                <a:cs typeface="Tahoma"/>
              </a:rPr>
              <a:t>B</a:t>
            </a:r>
            <a:r>
              <a:rPr lang="pt-BR" sz="1400" spc="-5" dirty="0">
                <a:latin typeface="Tahoma"/>
                <a:cs typeface="Tahoma"/>
              </a:rPr>
              <a:t> </a:t>
            </a:r>
            <a:r>
              <a:rPr lang="pt-BR" sz="1400" dirty="0">
                <a:latin typeface="Tahoma"/>
                <a:cs typeface="Tahoma"/>
              </a:rPr>
              <a:t>H</a:t>
            </a:r>
            <a:r>
              <a:rPr lang="pt-BR" sz="1400" spc="-10" dirty="0">
                <a:latin typeface="Tahoma"/>
                <a:cs typeface="Tahoma"/>
              </a:rPr>
              <a:t> </a:t>
            </a:r>
            <a:r>
              <a:rPr lang="pt-BR" sz="1400" dirty="0">
                <a:latin typeface="Tahoma"/>
                <a:cs typeface="Tahoma"/>
              </a:rPr>
              <a:t>C</a:t>
            </a:r>
            <a:r>
              <a:rPr lang="pt-BR" sz="1400" spc="5" dirty="0">
                <a:latin typeface="Tahoma"/>
                <a:cs typeface="Tahoma"/>
              </a:rPr>
              <a:t> </a:t>
            </a:r>
            <a:r>
              <a:rPr lang="pt-BR" sz="1400" dirty="0">
                <a:latin typeface="Tahoma"/>
                <a:cs typeface="Tahoma"/>
              </a:rPr>
              <a:t>D</a:t>
            </a:r>
            <a:r>
              <a:rPr lang="pt-BR" sz="1400" spc="-10" dirty="0">
                <a:latin typeface="Tahoma"/>
                <a:cs typeface="Tahoma"/>
              </a:rPr>
              <a:t> </a:t>
            </a:r>
            <a:r>
              <a:rPr lang="pt-BR" sz="1400" dirty="0">
                <a:latin typeface="Tahoma"/>
                <a:cs typeface="Tahoma"/>
              </a:rPr>
              <a:t>I E</a:t>
            </a:r>
            <a:r>
              <a:rPr lang="pt-BR" sz="1400" spc="-5" dirty="0">
                <a:latin typeface="Tahoma"/>
                <a:cs typeface="Tahoma"/>
              </a:rPr>
              <a:t> </a:t>
            </a:r>
            <a:r>
              <a:rPr lang="pt-BR" sz="1400" dirty="0">
                <a:latin typeface="Tahoma"/>
                <a:cs typeface="Tahoma"/>
              </a:rPr>
              <a:t>F J</a:t>
            </a:r>
            <a:r>
              <a:rPr lang="pt-BR" sz="1400" spc="-5" dirty="0">
                <a:latin typeface="Tahoma"/>
                <a:cs typeface="Tahoma"/>
              </a:rPr>
              <a:t> </a:t>
            </a:r>
            <a:r>
              <a:rPr lang="pt-BR" sz="1400" spc="-50" dirty="0">
                <a:latin typeface="Tahoma"/>
                <a:cs typeface="Tahoma"/>
              </a:rPr>
              <a:t>K</a:t>
            </a:r>
            <a:endParaRPr lang="pt-BR" sz="1400" dirty="0">
              <a:latin typeface="Tahoma"/>
              <a:cs typeface="Tahoma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867758-B9AE-BBE9-2D67-25AE4F17E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208864"/>
            <a:ext cx="4905375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Depth-</a:t>
            </a:r>
            <a:r>
              <a:rPr dirty="0"/>
              <a:t>First</a:t>
            </a:r>
            <a:r>
              <a:rPr spc="-85" dirty="0"/>
              <a:t> </a:t>
            </a:r>
            <a:r>
              <a:rPr dirty="0"/>
              <a:t>Traversal</a:t>
            </a:r>
            <a:r>
              <a:rPr spc="-55" dirty="0"/>
              <a:t> </a:t>
            </a:r>
            <a:r>
              <a:rPr dirty="0"/>
              <a:t>(For</a:t>
            </a:r>
            <a:r>
              <a:rPr spc="-90" dirty="0"/>
              <a:t> </a:t>
            </a:r>
            <a:r>
              <a:rPr dirty="0"/>
              <a:t>Arbitrary</a:t>
            </a:r>
            <a:r>
              <a:rPr spc="-70" dirty="0"/>
              <a:t> </a:t>
            </a:r>
            <a:r>
              <a:rPr spc="-10" dirty="0"/>
              <a:t>Trees)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319134" cy="247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Traverse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much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possible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along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branch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each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child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before </a:t>
            </a:r>
            <a:r>
              <a:rPr sz="2100" dirty="0">
                <a:latin typeface="Tahoma"/>
                <a:cs typeface="Tahoma"/>
              </a:rPr>
              <a:t>going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next </a:t>
            </a:r>
            <a:r>
              <a:rPr sz="2100" spc="-10" dirty="0">
                <a:latin typeface="Tahoma"/>
                <a:cs typeface="Tahoma"/>
              </a:rPr>
              <a:t>sibling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Nodes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along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branch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traversed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before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backtracking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1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node</a:t>
            </a:r>
            <a:r>
              <a:rPr sz="21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could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visited</a:t>
            </a:r>
            <a:r>
              <a:rPr sz="21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multiple</a:t>
            </a:r>
            <a:r>
              <a:rPr sz="21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times</a:t>
            </a:r>
            <a:r>
              <a:rPr sz="21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such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scheme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first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time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approached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(before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any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children)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last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time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approached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(after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children)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3304" y="3803903"/>
            <a:ext cx="3541776" cy="25603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Depth-</a:t>
            </a:r>
            <a:r>
              <a:rPr dirty="0"/>
              <a:t>First</a:t>
            </a:r>
            <a:r>
              <a:rPr spc="-75" dirty="0"/>
              <a:t> </a:t>
            </a:r>
            <a:r>
              <a:rPr dirty="0"/>
              <a:t>Tree</a:t>
            </a:r>
            <a:r>
              <a:rPr spc="-85" dirty="0"/>
              <a:t> </a:t>
            </a:r>
            <a:r>
              <a:rPr dirty="0"/>
              <a:t>Traversal</a:t>
            </a:r>
            <a:r>
              <a:rPr spc="-50" dirty="0"/>
              <a:t> </a:t>
            </a:r>
            <a:r>
              <a:rPr dirty="0"/>
              <a:t>(Binary</a:t>
            </a:r>
            <a:r>
              <a:rPr spc="-60" dirty="0"/>
              <a:t> </a:t>
            </a:r>
            <a:r>
              <a:rPr spc="-10" dirty="0"/>
              <a:t>Trees)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166609" cy="326580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each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tree,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there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three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choices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first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after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after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both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subtrees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These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choices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three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commonly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used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traversals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Char char="–"/>
              <a:tabLst>
                <a:tab pos="756285" algn="l"/>
                <a:tab pos="5506720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Preorder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traversal:</a:t>
            </a:r>
            <a:r>
              <a:rPr sz="19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visit</a:t>
            </a:r>
            <a:r>
              <a:rPr sz="19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Root</a:t>
            </a:r>
            <a:r>
              <a:rPr sz="19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(Left</a:t>
            </a:r>
            <a:r>
              <a:rPr sz="1900" spc="-6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subtree)</a:t>
            </a:r>
            <a:r>
              <a:rPr sz="1900" dirty="0">
                <a:latin typeface="Tahoma"/>
                <a:cs typeface="Tahoma"/>
              </a:rPr>
              <a:t>	(Right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subtree)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Inorder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traversal: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(Left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subtree)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visit</a:t>
            </a:r>
            <a:r>
              <a:rPr sz="19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Root</a:t>
            </a:r>
            <a:r>
              <a:rPr sz="19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(Right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subtree)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Postorder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traversal:</a:t>
            </a:r>
            <a:r>
              <a:rPr sz="19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(Left</a:t>
            </a:r>
            <a:r>
              <a:rPr sz="19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subtree)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(Right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subtree)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visit</a:t>
            </a:r>
            <a:r>
              <a:rPr sz="19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Root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Inorder</a:t>
            </a:r>
            <a:r>
              <a:rPr spc="-90" dirty="0"/>
              <a:t> </a:t>
            </a:r>
            <a:r>
              <a:rPr spc="-1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4823460" cy="145542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Algorithm</a:t>
            </a:r>
            <a:endParaRPr sz="2100">
              <a:latin typeface="Tahoma"/>
              <a:cs typeface="Tahoma"/>
            </a:endParaRPr>
          </a:p>
          <a:p>
            <a:pPr marL="926465" lvl="1" indent="-456565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inorder</a:t>
            </a:r>
            <a:endParaRPr sz="1900">
              <a:latin typeface="Tahoma"/>
              <a:cs typeface="Tahoma"/>
            </a:endParaRPr>
          </a:p>
          <a:p>
            <a:pPr marL="926465" lvl="1" indent="-45656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root</a:t>
            </a:r>
            <a:endParaRPr sz="1900">
              <a:latin typeface="Tahoma"/>
              <a:cs typeface="Tahoma"/>
            </a:endParaRPr>
          </a:p>
          <a:p>
            <a:pPr marL="926465" lvl="1" indent="-45656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inorder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0207" y="3033789"/>
            <a:ext cx="3568235" cy="23874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84930" y="5622442"/>
            <a:ext cx="2827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A,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B,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C,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D,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E,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F,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G,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H,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I,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J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9DEEBC-161F-6B56-6F21-F6E33D82D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C316-CE00-35F7-F7D9-BB4FA81F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0F5D35-16C3-662B-C104-B60A06888C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Inorder</a:t>
            </a:r>
            <a:r>
              <a:rPr spc="-90" dirty="0"/>
              <a:t> </a:t>
            </a:r>
            <a:r>
              <a:rPr spc="-10" dirty="0"/>
              <a:t>Traversal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2CF0D2C-6E9F-2A6C-0CD8-884112DCDF6E}"/>
              </a:ext>
            </a:extLst>
          </p:cNvPr>
          <p:cNvSpPr txBox="1"/>
          <p:nvPr/>
        </p:nvSpPr>
        <p:spPr>
          <a:xfrm>
            <a:off x="402742" y="1090631"/>
            <a:ext cx="4823460" cy="145542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Algorithm</a:t>
            </a:r>
            <a:endParaRPr sz="2100">
              <a:latin typeface="Tahoma"/>
              <a:cs typeface="Tahoma"/>
            </a:endParaRPr>
          </a:p>
          <a:p>
            <a:pPr marL="926465" lvl="1" indent="-456565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inorder</a:t>
            </a:r>
            <a:endParaRPr sz="1900">
              <a:latin typeface="Tahoma"/>
              <a:cs typeface="Tahoma"/>
            </a:endParaRPr>
          </a:p>
          <a:p>
            <a:pPr marL="926465" lvl="1" indent="-45656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root</a:t>
            </a:r>
            <a:endParaRPr sz="1900">
              <a:latin typeface="Tahoma"/>
              <a:cs typeface="Tahoma"/>
            </a:endParaRPr>
          </a:p>
          <a:p>
            <a:pPr marL="926465" lvl="1" indent="-45656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9264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inorder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B7D22C-A085-7E18-6FE7-1DF8C6A7A6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0034B35-340B-D748-5D7E-F341AD78A4B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EE244B-EDDE-5B22-B141-4494C09DF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293" y="4188814"/>
            <a:ext cx="3247708" cy="430887"/>
          </a:xfrm>
        </p:spPr>
        <p:txBody>
          <a:bodyPr/>
          <a:lstStyle/>
          <a:p>
            <a:r>
              <a:rPr lang="pt-BR" sz="1400" spc="-10" dirty="0">
                <a:latin typeface="Tahoma"/>
                <a:cs typeface="Tahoma"/>
              </a:rPr>
              <a:t>Order:</a:t>
            </a:r>
            <a:r>
              <a:rPr lang="pt-BR" sz="1400" dirty="0">
                <a:latin typeface="Tahoma"/>
                <a:cs typeface="Tahoma"/>
              </a:rPr>
              <a:t>	????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5C4D7A-ACC5-F321-8944-515DA047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049887"/>
            <a:ext cx="49053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2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Inorder</a:t>
            </a:r>
            <a:r>
              <a:rPr spc="-90" dirty="0"/>
              <a:t> </a:t>
            </a:r>
            <a:r>
              <a:rPr spc="-1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15005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Algorithm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942" y="1477035"/>
            <a:ext cx="4366260" cy="10687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inorder</a:t>
            </a:r>
            <a:endParaRPr sz="19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root</a:t>
            </a:r>
            <a:endParaRPr sz="19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inorder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3284977"/>
            <a:ext cx="3995420" cy="18034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Example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[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dirty="0">
                <a:latin typeface="Tahoma"/>
                <a:cs typeface="Tahoma"/>
              </a:rPr>
              <a:t>]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10" dirty="0">
                <a:latin typeface="Tahoma"/>
                <a:cs typeface="Tahoma"/>
              </a:rPr>
              <a:t>]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(A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B)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[(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dirty="0">
                <a:latin typeface="Tahoma"/>
                <a:cs typeface="Tahoma"/>
              </a:rPr>
              <a:t>)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E)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(A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B)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[(C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D)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 </a:t>
            </a:r>
            <a:r>
              <a:rPr sz="1900" spc="-25" dirty="0">
                <a:latin typeface="Tahoma"/>
                <a:cs typeface="Tahoma"/>
              </a:rPr>
              <a:t>E]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90753" y="1552765"/>
            <a:ext cx="466725" cy="466725"/>
            <a:chOff x="6790753" y="1552765"/>
            <a:chExt cx="466725" cy="466725"/>
          </a:xfrm>
        </p:grpSpPr>
        <p:sp>
          <p:nvSpPr>
            <p:cNvPr id="7" name="object 7"/>
            <p:cNvSpPr/>
            <p:nvPr/>
          </p:nvSpPr>
          <p:spPr>
            <a:xfrm>
              <a:off x="6795516" y="1557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95516" y="1557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46772" y="1628394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04953" y="2238565"/>
            <a:ext cx="466725" cy="466725"/>
            <a:chOff x="6104953" y="2238565"/>
            <a:chExt cx="466725" cy="466725"/>
          </a:xfrm>
        </p:grpSpPr>
        <p:sp>
          <p:nvSpPr>
            <p:cNvPr id="11" name="object 11"/>
            <p:cNvSpPr/>
            <p:nvPr/>
          </p:nvSpPr>
          <p:spPr>
            <a:xfrm>
              <a:off x="6109715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9715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68592" y="231419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8953" y="2238565"/>
            <a:ext cx="466725" cy="466725"/>
            <a:chOff x="7628953" y="2238565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7633716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33716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84972" y="2314194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47753" y="3076765"/>
            <a:ext cx="466725" cy="466725"/>
            <a:chOff x="5647753" y="3076765"/>
            <a:chExt cx="466725" cy="466725"/>
          </a:xfrm>
        </p:grpSpPr>
        <p:sp>
          <p:nvSpPr>
            <p:cNvPr id="19" name="object 19"/>
            <p:cNvSpPr/>
            <p:nvPr/>
          </p:nvSpPr>
          <p:spPr>
            <a:xfrm>
              <a:off x="5652515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52515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86754" y="31526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38353" y="3076765"/>
            <a:ext cx="1000125" cy="466725"/>
            <a:chOff x="6638353" y="3076765"/>
            <a:chExt cx="1000125" cy="466725"/>
          </a:xfrm>
        </p:grpSpPr>
        <p:sp>
          <p:nvSpPr>
            <p:cNvPr id="23" name="object 23"/>
            <p:cNvSpPr/>
            <p:nvPr/>
          </p:nvSpPr>
          <p:spPr>
            <a:xfrm>
              <a:off x="6643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43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765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765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783705" y="3152647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3880" algn="l"/>
              </a:tabLst>
            </a:pP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62353" y="3076765"/>
            <a:ext cx="466725" cy="466725"/>
            <a:chOff x="8162353" y="3076765"/>
            <a:chExt cx="466725" cy="466725"/>
          </a:xfrm>
        </p:grpSpPr>
        <p:sp>
          <p:nvSpPr>
            <p:cNvPr id="29" name="object 29"/>
            <p:cNvSpPr/>
            <p:nvPr/>
          </p:nvSpPr>
          <p:spPr>
            <a:xfrm>
              <a:off x="8167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67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14181" y="3152647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52553" y="1933765"/>
            <a:ext cx="2371725" cy="2447925"/>
            <a:chOff x="5952553" y="1933765"/>
            <a:chExt cx="2371725" cy="2447925"/>
          </a:xfrm>
        </p:grpSpPr>
        <p:sp>
          <p:nvSpPr>
            <p:cNvPr id="33" name="object 33"/>
            <p:cNvSpPr/>
            <p:nvPr/>
          </p:nvSpPr>
          <p:spPr>
            <a:xfrm>
              <a:off x="5957315" y="1938527"/>
              <a:ext cx="2362200" cy="1143000"/>
            </a:xfrm>
            <a:custGeom>
              <a:avLst/>
              <a:gdLst/>
              <a:ahLst/>
              <a:cxnLst/>
              <a:rect l="l" t="t" r="r" b="b"/>
              <a:pathLst>
                <a:path w="2362200" h="1143000">
                  <a:moveTo>
                    <a:pt x="914400" y="0"/>
                  </a:moveTo>
                  <a:lnTo>
                    <a:pt x="533400" y="381000"/>
                  </a:lnTo>
                </a:path>
                <a:path w="2362200" h="1143000">
                  <a:moveTo>
                    <a:pt x="1295400" y="0"/>
                  </a:moveTo>
                  <a:lnTo>
                    <a:pt x="1752600" y="304800"/>
                  </a:lnTo>
                </a:path>
                <a:path w="2362200" h="1143000">
                  <a:moveTo>
                    <a:pt x="228600" y="762000"/>
                  </a:moveTo>
                  <a:lnTo>
                    <a:pt x="0" y="1143000"/>
                  </a:lnTo>
                </a:path>
                <a:path w="2362200" h="1143000">
                  <a:moveTo>
                    <a:pt x="533400" y="685800"/>
                  </a:moveTo>
                  <a:lnTo>
                    <a:pt x="838200" y="1143000"/>
                  </a:lnTo>
                </a:path>
                <a:path w="2362200" h="1143000">
                  <a:moveTo>
                    <a:pt x="1828800" y="762000"/>
                  </a:moveTo>
                  <a:lnTo>
                    <a:pt x="1600200" y="1143000"/>
                  </a:lnTo>
                </a:path>
                <a:path w="2362200" h="1143000">
                  <a:moveTo>
                    <a:pt x="2057400" y="685800"/>
                  </a:moveTo>
                  <a:lnTo>
                    <a:pt x="23622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95515" y="39197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95515" y="39197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936105" y="3990847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781353" y="3914965"/>
            <a:ext cx="466725" cy="466725"/>
            <a:chOff x="7781353" y="3914965"/>
            <a:chExt cx="466725" cy="466725"/>
          </a:xfrm>
        </p:grpSpPr>
        <p:sp>
          <p:nvSpPr>
            <p:cNvPr id="38" name="object 38"/>
            <p:cNvSpPr/>
            <p:nvPr/>
          </p:nvSpPr>
          <p:spPr>
            <a:xfrm>
              <a:off x="7786116" y="39197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6116" y="39197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920608" y="39908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00316" y="3462528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228600" y="76200"/>
                </a:moveTo>
                <a:lnTo>
                  <a:pt x="0" y="457200"/>
                </a:lnTo>
              </a:path>
              <a:path w="838200" h="457200">
                <a:moveTo>
                  <a:pt x="533400" y="0"/>
                </a:moveTo>
                <a:lnTo>
                  <a:pt x="83820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Inorder</a:t>
            </a:r>
            <a:r>
              <a:rPr spc="-55" dirty="0"/>
              <a:t> </a:t>
            </a:r>
            <a:r>
              <a:rPr dirty="0"/>
              <a:t>Traversal</a:t>
            </a:r>
            <a:r>
              <a:rPr spc="-65" dirty="0"/>
              <a:t> </a:t>
            </a:r>
            <a:r>
              <a:rPr dirty="0"/>
              <a:t>–</a:t>
            </a:r>
            <a:r>
              <a:rPr spc="-9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89406"/>
            <a:ext cx="8138642" cy="518218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latin typeface="Consolas"/>
                <a:cs typeface="Consolas"/>
              </a:rPr>
              <a:t>-Take hint from the following code…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latin typeface="Consolas"/>
                <a:cs typeface="Consolas"/>
              </a:rPr>
              <a:t>-Will we have 1 base case and 1 recursive case as below?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endParaRPr lang="en-US" sz="1800" dirty="0">
              <a:latin typeface="Consolas"/>
              <a:cs typeface="Consolas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printReverse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printReverse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-&gt;next);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cout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-&gt;data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  <a:cs typeface="Consolas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print(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-&gt;data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print(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-&gt;next);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800" dirty="0">
                <a:latin typeface="Consolas"/>
                <a:cs typeface="Consolas"/>
              </a:rPr>
              <a:t> 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93243-0144-7AAC-89FA-5E969DF4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4ADEA6-817D-41C3-0340-51AA806EE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Inorder</a:t>
            </a:r>
            <a:r>
              <a:rPr spc="-55" dirty="0"/>
              <a:t> </a:t>
            </a:r>
            <a:r>
              <a:rPr dirty="0"/>
              <a:t>Traversal</a:t>
            </a:r>
            <a:r>
              <a:rPr spc="-65" dirty="0"/>
              <a:t> </a:t>
            </a:r>
            <a:r>
              <a:rPr dirty="0"/>
              <a:t>–</a:t>
            </a:r>
            <a:r>
              <a:rPr spc="-9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E3D368D-D14F-3472-7C84-94F9EC7C45A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FD09CC-1E3F-D976-3B95-6F4D9E5022C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0E4FB3D-53CB-435F-6FB5-BC31ABED67A1}"/>
              </a:ext>
            </a:extLst>
          </p:cNvPr>
          <p:cNvSpPr txBox="1"/>
          <p:nvPr/>
        </p:nvSpPr>
        <p:spPr>
          <a:xfrm>
            <a:off x="402742" y="1089406"/>
            <a:ext cx="3659504" cy="46355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onsolas"/>
                <a:cs typeface="Consolas"/>
              </a:rPr>
              <a:t>void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inorder</a:t>
            </a:r>
            <a:r>
              <a:rPr sz="1800" dirty="0">
                <a:latin typeface="Consolas"/>
                <a:cs typeface="Consolas"/>
              </a:rPr>
              <a:t>(Node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*p)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const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if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(p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!=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NULL)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763905" marR="5080">
              <a:lnSpc>
                <a:spcPct val="120000"/>
              </a:lnSpc>
            </a:pP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inorder</a:t>
            </a:r>
            <a:r>
              <a:rPr sz="1800" spc="-10" dirty="0">
                <a:latin typeface="Consolas"/>
                <a:cs typeface="Consolas"/>
              </a:rPr>
              <a:t>(p-&gt;leftChild); </a:t>
            </a:r>
            <a:r>
              <a:rPr sz="1800" dirty="0">
                <a:latin typeface="Consolas"/>
                <a:cs typeface="Consolas"/>
              </a:rPr>
              <a:t>cout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p-</a:t>
            </a:r>
            <a:r>
              <a:rPr sz="1800" dirty="0">
                <a:latin typeface="Consolas"/>
                <a:cs typeface="Consolas"/>
              </a:rPr>
              <a:t>&gt;info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"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";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inorder</a:t>
            </a:r>
            <a:r>
              <a:rPr sz="1800" spc="-10" dirty="0">
                <a:latin typeface="Consolas"/>
                <a:cs typeface="Consolas"/>
              </a:rPr>
              <a:t>(p-&gt;rightChild);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void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main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()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.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.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.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inorder</a:t>
            </a:r>
            <a:r>
              <a:rPr sz="18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(root);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18317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Preorder</a:t>
            </a:r>
            <a:r>
              <a:rPr spc="-135" dirty="0"/>
              <a:t> </a:t>
            </a:r>
            <a:r>
              <a:rPr spc="-1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15005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Algorithm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942" y="1477035"/>
            <a:ext cx="3265804" cy="10687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node</a:t>
            </a:r>
            <a:endParaRPr sz="19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3284977"/>
            <a:ext cx="4071620" cy="18034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Example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70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+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endParaRPr sz="19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+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dirty="0">
                <a:latin typeface="Tahoma"/>
                <a:cs typeface="Tahoma"/>
              </a:rPr>
              <a:t>]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[+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Right</a:t>
            </a:r>
            <a:r>
              <a:rPr sz="1900" spc="-10" dirty="0">
                <a:latin typeface="Tahoma"/>
                <a:cs typeface="Tahoma"/>
              </a:rPr>
              <a:t>]</a:t>
            </a:r>
            <a:endParaRPr sz="19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+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AB)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[+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 Right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E]</a:t>
            </a:r>
            <a:endParaRPr sz="19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+*AB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*C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E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90753" y="1552765"/>
            <a:ext cx="466725" cy="466725"/>
            <a:chOff x="6790753" y="1552765"/>
            <a:chExt cx="466725" cy="466725"/>
          </a:xfrm>
        </p:grpSpPr>
        <p:sp>
          <p:nvSpPr>
            <p:cNvPr id="7" name="object 7"/>
            <p:cNvSpPr/>
            <p:nvPr/>
          </p:nvSpPr>
          <p:spPr>
            <a:xfrm>
              <a:off x="6795516" y="1557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95516" y="1557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46772" y="1628394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04953" y="2238565"/>
            <a:ext cx="466725" cy="466725"/>
            <a:chOff x="6104953" y="2238565"/>
            <a:chExt cx="466725" cy="466725"/>
          </a:xfrm>
        </p:grpSpPr>
        <p:sp>
          <p:nvSpPr>
            <p:cNvPr id="11" name="object 11"/>
            <p:cNvSpPr/>
            <p:nvPr/>
          </p:nvSpPr>
          <p:spPr>
            <a:xfrm>
              <a:off x="6109715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9715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68592" y="231419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8953" y="2238565"/>
            <a:ext cx="466725" cy="466725"/>
            <a:chOff x="7628953" y="2238565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7633716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33716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84972" y="2314194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47753" y="3076765"/>
            <a:ext cx="466725" cy="466725"/>
            <a:chOff x="5647753" y="3076765"/>
            <a:chExt cx="466725" cy="466725"/>
          </a:xfrm>
        </p:grpSpPr>
        <p:sp>
          <p:nvSpPr>
            <p:cNvPr id="19" name="object 19"/>
            <p:cNvSpPr/>
            <p:nvPr/>
          </p:nvSpPr>
          <p:spPr>
            <a:xfrm>
              <a:off x="5652515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52515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86754" y="31526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38353" y="3076765"/>
            <a:ext cx="1000125" cy="466725"/>
            <a:chOff x="6638353" y="3076765"/>
            <a:chExt cx="1000125" cy="466725"/>
          </a:xfrm>
        </p:grpSpPr>
        <p:sp>
          <p:nvSpPr>
            <p:cNvPr id="23" name="object 23"/>
            <p:cNvSpPr/>
            <p:nvPr/>
          </p:nvSpPr>
          <p:spPr>
            <a:xfrm>
              <a:off x="6643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43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765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765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783705" y="3152647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3880" algn="l"/>
              </a:tabLst>
            </a:pP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62353" y="3076765"/>
            <a:ext cx="466725" cy="466725"/>
            <a:chOff x="8162353" y="3076765"/>
            <a:chExt cx="466725" cy="466725"/>
          </a:xfrm>
        </p:grpSpPr>
        <p:sp>
          <p:nvSpPr>
            <p:cNvPr id="29" name="object 29"/>
            <p:cNvSpPr/>
            <p:nvPr/>
          </p:nvSpPr>
          <p:spPr>
            <a:xfrm>
              <a:off x="8167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67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14181" y="3152647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52553" y="1933765"/>
            <a:ext cx="2371725" cy="2447925"/>
            <a:chOff x="5952553" y="1933765"/>
            <a:chExt cx="2371725" cy="2447925"/>
          </a:xfrm>
        </p:grpSpPr>
        <p:sp>
          <p:nvSpPr>
            <p:cNvPr id="33" name="object 33"/>
            <p:cNvSpPr/>
            <p:nvPr/>
          </p:nvSpPr>
          <p:spPr>
            <a:xfrm>
              <a:off x="5957315" y="1938527"/>
              <a:ext cx="2362200" cy="1143000"/>
            </a:xfrm>
            <a:custGeom>
              <a:avLst/>
              <a:gdLst/>
              <a:ahLst/>
              <a:cxnLst/>
              <a:rect l="l" t="t" r="r" b="b"/>
              <a:pathLst>
                <a:path w="2362200" h="1143000">
                  <a:moveTo>
                    <a:pt x="914400" y="0"/>
                  </a:moveTo>
                  <a:lnTo>
                    <a:pt x="533400" y="381000"/>
                  </a:lnTo>
                </a:path>
                <a:path w="2362200" h="1143000">
                  <a:moveTo>
                    <a:pt x="1295400" y="0"/>
                  </a:moveTo>
                  <a:lnTo>
                    <a:pt x="1752600" y="304800"/>
                  </a:lnTo>
                </a:path>
                <a:path w="2362200" h="1143000">
                  <a:moveTo>
                    <a:pt x="228600" y="762000"/>
                  </a:moveTo>
                  <a:lnTo>
                    <a:pt x="0" y="1143000"/>
                  </a:lnTo>
                </a:path>
                <a:path w="2362200" h="1143000">
                  <a:moveTo>
                    <a:pt x="533400" y="685800"/>
                  </a:moveTo>
                  <a:lnTo>
                    <a:pt x="838200" y="1143000"/>
                  </a:lnTo>
                </a:path>
                <a:path w="2362200" h="1143000">
                  <a:moveTo>
                    <a:pt x="1828800" y="762000"/>
                  </a:moveTo>
                  <a:lnTo>
                    <a:pt x="1600200" y="1143000"/>
                  </a:lnTo>
                </a:path>
                <a:path w="2362200" h="1143000">
                  <a:moveTo>
                    <a:pt x="2057400" y="685800"/>
                  </a:moveTo>
                  <a:lnTo>
                    <a:pt x="23622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95515" y="39197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95515" y="39197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936105" y="3990847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781353" y="3914965"/>
            <a:ext cx="466725" cy="466725"/>
            <a:chOff x="7781353" y="3914965"/>
            <a:chExt cx="466725" cy="466725"/>
          </a:xfrm>
        </p:grpSpPr>
        <p:sp>
          <p:nvSpPr>
            <p:cNvPr id="38" name="object 38"/>
            <p:cNvSpPr/>
            <p:nvPr/>
          </p:nvSpPr>
          <p:spPr>
            <a:xfrm>
              <a:off x="7786116" y="39197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6116" y="39197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920608" y="39908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00316" y="3462528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228600" y="76200"/>
                </a:moveTo>
                <a:lnTo>
                  <a:pt x="0" y="457200"/>
                </a:lnTo>
              </a:path>
              <a:path w="838200" h="457200">
                <a:moveTo>
                  <a:pt x="533400" y="0"/>
                </a:moveTo>
                <a:lnTo>
                  <a:pt x="83820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Preorder</a:t>
            </a:r>
            <a:r>
              <a:rPr spc="-85" dirty="0"/>
              <a:t> </a:t>
            </a:r>
            <a:r>
              <a:rPr dirty="0"/>
              <a:t>Traversal</a:t>
            </a:r>
            <a:r>
              <a:rPr spc="-5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89406"/>
            <a:ext cx="3787775" cy="46355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onsolas"/>
                <a:cs typeface="Consolas"/>
              </a:rPr>
              <a:t>void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preorder</a:t>
            </a:r>
            <a:r>
              <a:rPr sz="1800" dirty="0">
                <a:latin typeface="Consolas"/>
                <a:cs typeface="Consolas"/>
              </a:rPr>
              <a:t>(Node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*p)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const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if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(p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!=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NULL)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763905" marR="5080" algn="just">
              <a:lnSpc>
                <a:spcPct val="120000"/>
              </a:lnSpc>
            </a:pPr>
            <a:r>
              <a:rPr sz="1800" dirty="0">
                <a:latin typeface="Consolas"/>
                <a:cs typeface="Consolas"/>
              </a:rPr>
              <a:t>cout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p-</a:t>
            </a:r>
            <a:r>
              <a:rPr sz="1800" dirty="0">
                <a:latin typeface="Consolas"/>
                <a:cs typeface="Consolas"/>
              </a:rPr>
              <a:t>&gt;info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"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";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preorder</a:t>
            </a:r>
            <a:r>
              <a:rPr sz="1800" spc="-10" dirty="0">
                <a:latin typeface="Consolas"/>
                <a:cs typeface="Consolas"/>
              </a:rPr>
              <a:t>(p-&gt;leftChild);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preorder</a:t>
            </a:r>
            <a:r>
              <a:rPr sz="1800" spc="-10" dirty="0">
                <a:latin typeface="Consolas"/>
                <a:cs typeface="Consolas"/>
              </a:rPr>
              <a:t>(p-&gt;rightChild);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void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main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()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.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.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.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preorder</a:t>
            </a:r>
            <a:r>
              <a:rPr sz="18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(root);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Postorder</a:t>
            </a:r>
            <a:r>
              <a:rPr spc="-135" dirty="0"/>
              <a:t> </a:t>
            </a:r>
            <a:r>
              <a:rPr spc="-1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15005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Algorithm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942" y="1477035"/>
            <a:ext cx="3267075" cy="10687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55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Traverse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69265" algn="l"/>
              </a:tabLst>
            </a:pPr>
            <a:r>
              <a:rPr sz="1900" dirty="0">
                <a:latin typeface="Tahoma"/>
                <a:cs typeface="Tahoma"/>
              </a:rPr>
              <a:t>Visit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node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3284977"/>
            <a:ext cx="3919854" cy="215138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Example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+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[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*]</a:t>
            </a:r>
            <a:r>
              <a:rPr sz="19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dirty="0">
                <a:latin typeface="Tahoma"/>
                <a:cs typeface="Tahoma"/>
              </a:rPr>
              <a:t>+]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+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(AB*)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[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]+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(AB*) [C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 </a:t>
            </a:r>
            <a:r>
              <a:rPr sz="1900" spc="-25" dirty="0">
                <a:latin typeface="Tahoma"/>
                <a:cs typeface="Tahoma"/>
              </a:rPr>
              <a:t>]+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AB* C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* 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+ </a:t>
            </a:r>
            <a:r>
              <a:rPr sz="1900" spc="-50" dirty="0">
                <a:latin typeface="Tahoma"/>
                <a:cs typeface="Tahoma"/>
              </a:rPr>
              <a:t>+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90753" y="1552765"/>
            <a:ext cx="466725" cy="466725"/>
            <a:chOff x="6790753" y="1552765"/>
            <a:chExt cx="466725" cy="466725"/>
          </a:xfrm>
        </p:grpSpPr>
        <p:sp>
          <p:nvSpPr>
            <p:cNvPr id="7" name="object 7"/>
            <p:cNvSpPr/>
            <p:nvPr/>
          </p:nvSpPr>
          <p:spPr>
            <a:xfrm>
              <a:off x="6795516" y="1557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95516" y="1557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46772" y="1628394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04953" y="2238565"/>
            <a:ext cx="466725" cy="466725"/>
            <a:chOff x="6104953" y="2238565"/>
            <a:chExt cx="466725" cy="466725"/>
          </a:xfrm>
        </p:grpSpPr>
        <p:sp>
          <p:nvSpPr>
            <p:cNvPr id="11" name="object 11"/>
            <p:cNvSpPr/>
            <p:nvPr/>
          </p:nvSpPr>
          <p:spPr>
            <a:xfrm>
              <a:off x="6109715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9715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68592" y="231419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8953" y="2238565"/>
            <a:ext cx="466725" cy="466725"/>
            <a:chOff x="7628953" y="2238565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7633716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33716" y="22433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84972" y="2314194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47753" y="3076765"/>
            <a:ext cx="466725" cy="466725"/>
            <a:chOff x="5647753" y="3076765"/>
            <a:chExt cx="466725" cy="466725"/>
          </a:xfrm>
        </p:grpSpPr>
        <p:sp>
          <p:nvSpPr>
            <p:cNvPr id="19" name="object 19"/>
            <p:cNvSpPr/>
            <p:nvPr/>
          </p:nvSpPr>
          <p:spPr>
            <a:xfrm>
              <a:off x="5652515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52515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86754" y="31526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38353" y="3076765"/>
            <a:ext cx="1000125" cy="466725"/>
            <a:chOff x="6638353" y="3076765"/>
            <a:chExt cx="1000125" cy="466725"/>
          </a:xfrm>
        </p:grpSpPr>
        <p:sp>
          <p:nvSpPr>
            <p:cNvPr id="23" name="object 23"/>
            <p:cNvSpPr/>
            <p:nvPr/>
          </p:nvSpPr>
          <p:spPr>
            <a:xfrm>
              <a:off x="6643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43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765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765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783705" y="3152647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3880" algn="l"/>
              </a:tabLst>
            </a:pPr>
            <a:r>
              <a:rPr sz="1800" spc="-50" dirty="0">
                <a:latin typeface="Times New Roman"/>
                <a:cs typeface="Times New Roman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62353" y="3076765"/>
            <a:ext cx="466725" cy="466725"/>
            <a:chOff x="8162353" y="3076765"/>
            <a:chExt cx="466725" cy="466725"/>
          </a:xfrm>
        </p:grpSpPr>
        <p:sp>
          <p:nvSpPr>
            <p:cNvPr id="29" name="object 29"/>
            <p:cNvSpPr/>
            <p:nvPr/>
          </p:nvSpPr>
          <p:spPr>
            <a:xfrm>
              <a:off x="8167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67116" y="30815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14181" y="3152647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52553" y="1933765"/>
            <a:ext cx="2371725" cy="2447925"/>
            <a:chOff x="5952553" y="1933765"/>
            <a:chExt cx="2371725" cy="2447925"/>
          </a:xfrm>
        </p:grpSpPr>
        <p:sp>
          <p:nvSpPr>
            <p:cNvPr id="33" name="object 33"/>
            <p:cNvSpPr/>
            <p:nvPr/>
          </p:nvSpPr>
          <p:spPr>
            <a:xfrm>
              <a:off x="5957315" y="1938527"/>
              <a:ext cx="2362200" cy="1143000"/>
            </a:xfrm>
            <a:custGeom>
              <a:avLst/>
              <a:gdLst/>
              <a:ahLst/>
              <a:cxnLst/>
              <a:rect l="l" t="t" r="r" b="b"/>
              <a:pathLst>
                <a:path w="2362200" h="1143000">
                  <a:moveTo>
                    <a:pt x="914400" y="0"/>
                  </a:moveTo>
                  <a:lnTo>
                    <a:pt x="533400" y="381000"/>
                  </a:lnTo>
                </a:path>
                <a:path w="2362200" h="1143000">
                  <a:moveTo>
                    <a:pt x="1295400" y="0"/>
                  </a:moveTo>
                  <a:lnTo>
                    <a:pt x="1752600" y="304800"/>
                  </a:lnTo>
                </a:path>
                <a:path w="2362200" h="1143000">
                  <a:moveTo>
                    <a:pt x="228600" y="762000"/>
                  </a:moveTo>
                  <a:lnTo>
                    <a:pt x="0" y="1143000"/>
                  </a:lnTo>
                </a:path>
                <a:path w="2362200" h="1143000">
                  <a:moveTo>
                    <a:pt x="533400" y="685800"/>
                  </a:moveTo>
                  <a:lnTo>
                    <a:pt x="838200" y="1143000"/>
                  </a:lnTo>
                </a:path>
                <a:path w="2362200" h="1143000">
                  <a:moveTo>
                    <a:pt x="1828800" y="762000"/>
                  </a:moveTo>
                  <a:lnTo>
                    <a:pt x="1600200" y="1143000"/>
                  </a:lnTo>
                </a:path>
                <a:path w="2362200" h="1143000">
                  <a:moveTo>
                    <a:pt x="2057400" y="685800"/>
                  </a:moveTo>
                  <a:lnTo>
                    <a:pt x="23622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95515" y="39197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95515" y="391972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936105" y="3990847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781353" y="3914965"/>
            <a:ext cx="466725" cy="466725"/>
            <a:chOff x="7781353" y="3914965"/>
            <a:chExt cx="466725" cy="466725"/>
          </a:xfrm>
        </p:grpSpPr>
        <p:sp>
          <p:nvSpPr>
            <p:cNvPr id="38" name="object 38"/>
            <p:cNvSpPr/>
            <p:nvPr/>
          </p:nvSpPr>
          <p:spPr>
            <a:xfrm>
              <a:off x="7786116" y="39197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6116" y="391972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920608" y="39908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00316" y="3462528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228600" y="76200"/>
                </a:moveTo>
                <a:lnTo>
                  <a:pt x="0" y="457200"/>
                </a:lnTo>
              </a:path>
              <a:path w="838200" h="457200">
                <a:moveTo>
                  <a:pt x="533400" y="0"/>
                </a:moveTo>
                <a:lnTo>
                  <a:pt x="83820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Postorder</a:t>
            </a:r>
            <a:r>
              <a:rPr spc="-80" dirty="0"/>
              <a:t> </a:t>
            </a:r>
            <a:r>
              <a:rPr dirty="0"/>
              <a:t>Traversal</a:t>
            </a:r>
            <a:r>
              <a:rPr spc="-70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89406"/>
            <a:ext cx="3910965" cy="46355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onsolas"/>
                <a:cs typeface="Consolas"/>
              </a:rPr>
              <a:t>void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postorder</a:t>
            </a:r>
            <a:r>
              <a:rPr sz="1800" dirty="0">
                <a:latin typeface="Consolas"/>
                <a:cs typeface="Consolas"/>
              </a:rPr>
              <a:t>(Node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*p)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const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if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(p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!=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NULL)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 marR="5080">
              <a:lnSpc>
                <a:spcPct val="120000"/>
              </a:lnSpc>
            </a:pP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postorder</a:t>
            </a:r>
            <a:r>
              <a:rPr sz="1800" spc="-10" dirty="0">
                <a:latin typeface="Consolas"/>
                <a:cs typeface="Consolas"/>
              </a:rPr>
              <a:t>(p-&gt;leftChild);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postorder</a:t>
            </a:r>
            <a:r>
              <a:rPr sz="1800" spc="-10" dirty="0">
                <a:latin typeface="Consolas"/>
                <a:cs typeface="Consolas"/>
              </a:rPr>
              <a:t>(p-&gt;rightChild); </a:t>
            </a:r>
            <a:r>
              <a:rPr sz="1800" dirty="0">
                <a:latin typeface="Consolas"/>
                <a:cs typeface="Consolas"/>
              </a:rPr>
              <a:t>cout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p-</a:t>
            </a:r>
            <a:r>
              <a:rPr sz="1800" dirty="0">
                <a:latin typeface="Consolas"/>
                <a:cs typeface="Consolas"/>
              </a:rPr>
              <a:t>&gt;info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"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";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void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main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()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.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.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.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postorder</a:t>
            </a:r>
            <a:r>
              <a:rPr sz="18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(root);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65" dirty="0"/>
              <a:t> </a:t>
            </a:r>
            <a:r>
              <a:rPr dirty="0"/>
              <a:t>Printing</a:t>
            </a:r>
            <a:r>
              <a:rPr spc="-8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Directory</a:t>
            </a:r>
            <a:r>
              <a:rPr spc="-75" dirty="0"/>
              <a:t> </a:t>
            </a:r>
            <a:r>
              <a:rPr spc="-10" dirty="0"/>
              <a:t>Hierarchy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5289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directory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structure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presented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left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Which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traversal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should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used?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984" y="2635509"/>
            <a:ext cx="4952363" cy="14908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33031" y="2202179"/>
            <a:ext cx="1943100" cy="230886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800" spc="-50" dirty="0">
                <a:latin typeface="Consolas"/>
                <a:cs typeface="Consolas"/>
              </a:rPr>
              <a:t>/</a:t>
            </a:r>
            <a:endParaRPr sz="1800">
              <a:latin typeface="Consolas"/>
              <a:cs typeface="Consolas"/>
            </a:endParaRPr>
          </a:p>
          <a:p>
            <a:pPr marL="466725">
              <a:lnSpc>
                <a:spcPct val="100000"/>
              </a:lnSpc>
            </a:pPr>
            <a:r>
              <a:rPr sz="1800" spc="-20" dirty="0">
                <a:latin typeface="Consolas"/>
                <a:cs typeface="Consolas"/>
              </a:rPr>
              <a:t>usr/</a:t>
            </a:r>
            <a:endParaRPr sz="1800">
              <a:latin typeface="Consolas"/>
              <a:cs typeface="Consolas"/>
            </a:endParaRPr>
          </a:p>
          <a:p>
            <a:pPr marL="843280" marR="339725">
              <a:lnSpc>
                <a:spcPct val="100000"/>
              </a:lnSpc>
            </a:pPr>
            <a:r>
              <a:rPr sz="1800" spc="-20" dirty="0">
                <a:latin typeface="Consolas"/>
                <a:cs typeface="Consolas"/>
              </a:rPr>
              <a:t>bin/ </a:t>
            </a:r>
            <a:r>
              <a:rPr sz="1800" spc="-10" dirty="0">
                <a:latin typeface="Consolas"/>
                <a:cs typeface="Consolas"/>
              </a:rPr>
              <a:t>local/</a:t>
            </a:r>
            <a:endParaRPr sz="1800">
              <a:latin typeface="Consolas"/>
              <a:cs typeface="Consolas"/>
            </a:endParaRPr>
          </a:p>
          <a:p>
            <a:pPr marL="466725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Consolas"/>
                <a:cs typeface="Consolas"/>
              </a:rPr>
              <a:t>var/</a:t>
            </a:r>
            <a:endParaRPr sz="1800">
              <a:latin typeface="Consolas"/>
              <a:cs typeface="Consolas"/>
            </a:endParaRPr>
          </a:p>
          <a:p>
            <a:pPr marL="843280" marR="464184">
              <a:lnSpc>
                <a:spcPct val="100000"/>
              </a:lnSpc>
            </a:pPr>
            <a:r>
              <a:rPr sz="1800" spc="-20" dirty="0">
                <a:latin typeface="Consolas"/>
                <a:cs typeface="Consolas"/>
              </a:rPr>
              <a:t>adm/ </a:t>
            </a:r>
            <a:r>
              <a:rPr sz="1800" spc="-10" dirty="0">
                <a:latin typeface="Consolas"/>
                <a:cs typeface="Consolas"/>
              </a:rPr>
              <a:t>cron/ </a:t>
            </a:r>
            <a:r>
              <a:rPr sz="1800" spc="-20" dirty="0">
                <a:latin typeface="Consolas"/>
                <a:cs typeface="Consolas"/>
              </a:rPr>
              <a:t>log/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9069" y="3317240"/>
            <a:ext cx="2487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Expression</a:t>
            </a:r>
            <a:r>
              <a:rPr spc="-135" dirty="0"/>
              <a:t> </a:t>
            </a:r>
            <a:r>
              <a:rPr spc="-40" dirty="0"/>
              <a:t>Tree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Expression</a:t>
            </a:r>
            <a:r>
              <a:rPr spc="-114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7502525" cy="267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Each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algebraic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expression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inherent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tree-like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structure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An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expression</a:t>
            </a:r>
            <a:r>
              <a:rPr sz="21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21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1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21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which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ahoma"/>
              <a:buChar char="•"/>
            </a:pP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parentheses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expression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do</a:t>
            </a:r>
            <a:r>
              <a:rPr sz="19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appear</a:t>
            </a:r>
            <a:endParaRPr sz="1900" dirty="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Tree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representation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captures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intent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parenthesis</a:t>
            </a:r>
            <a:endParaRPr sz="1700" dirty="0">
              <a:latin typeface="Tahoma"/>
              <a:cs typeface="Tahoma"/>
            </a:endParaRPr>
          </a:p>
          <a:p>
            <a:pPr lvl="2">
              <a:lnSpc>
                <a:spcPct val="100000"/>
              </a:lnSpc>
              <a:spcBef>
                <a:spcPts val="565"/>
              </a:spcBef>
              <a:buFont typeface="Wingdings"/>
              <a:buChar char=""/>
            </a:pPr>
            <a:endParaRPr sz="17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leaves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19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constants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expression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942" y="4076831"/>
            <a:ext cx="6195695" cy="6819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40"/>
              </a:spcBef>
              <a:buChar char="–"/>
              <a:tabLst>
                <a:tab pos="2990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non-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leaf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operators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expression</a:t>
            </a:r>
            <a:endParaRPr sz="1900" dirty="0">
              <a:latin typeface="Tahoma"/>
              <a:cs typeface="Tahoma"/>
            </a:endParaRPr>
          </a:p>
          <a:p>
            <a:pPr marL="697230" lvl="1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697230" algn="l"/>
              </a:tabLst>
            </a:pPr>
            <a:r>
              <a:rPr sz="170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17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006FC0"/>
                </a:solidFill>
                <a:latin typeface="Tahoma"/>
                <a:cs typeface="Tahoma"/>
              </a:rPr>
              <a:t>operator</a:t>
            </a:r>
            <a:r>
              <a:rPr sz="17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has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two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non-empty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subtrees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7116" y="4784216"/>
            <a:ext cx="43903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dirty="0">
                <a:solidFill>
                  <a:srgbClr val="006FC0"/>
                </a:solidFill>
                <a:latin typeface="Tahoma"/>
                <a:cs typeface="Tahoma"/>
              </a:rPr>
              <a:t>Unary</a:t>
            </a:r>
            <a:r>
              <a:rPr sz="17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006FC0"/>
                </a:solidFill>
                <a:latin typeface="Tahoma"/>
                <a:cs typeface="Tahoma"/>
              </a:rPr>
              <a:t>operator</a:t>
            </a:r>
            <a:r>
              <a:rPr sz="17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has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one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non-empty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subtree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63868" y="4584191"/>
            <a:ext cx="422275" cy="314325"/>
          </a:xfrm>
          <a:custGeom>
            <a:avLst/>
            <a:gdLst/>
            <a:ahLst/>
            <a:cxnLst/>
            <a:rect l="l" t="t" r="r" b="b"/>
            <a:pathLst>
              <a:path w="422275" h="314325">
                <a:moveTo>
                  <a:pt x="0" y="156971"/>
                </a:moveTo>
                <a:lnTo>
                  <a:pt x="7538" y="115226"/>
                </a:lnTo>
                <a:lnTo>
                  <a:pt x="28814" y="77723"/>
                </a:lnTo>
                <a:lnTo>
                  <a:pt x="61817" y="45958"/>
                </a:lnTo>
                <a:lnTo>
                  <a:pt x="104535" y="21420"/>
                </a:lnTo>
                <a:lnTo>
                  <a:pt x="154957" y="5603"/>
                </a:lnTo>
                <a:lnTo>
                  <a:pt x="211074" y="0"/>
                </a:lnTo>
                <a:lnTo>
                  <a:pt x="267190" y="5603"/>
                </a:lnTo>
                <a:lnTo>
                  <a:pt x="317612" y="21420"/>
                </a:lnTo>
                <a:lnTo>
                  <a:pt x="360330" y="45958"/>
                </a:lnTo>
                <a:lnTo>
                  <a:pt x="393333" y="77723"/>
                </a:lnTo>
                <a:lnTo>
                  <a:pt x="414609" y="115226"/>
                </a:lnTo>
                <a:lnTo>
                  <a:pt x="422148" y="156971"/>
                </a:lnTo>
                <a:lnTo>
                  <a:pt x="414609" y="198717"/>
                </a:lnTo>
                <a:lnTo>
                  <a:pt x="393333" y="236219"/>
                </a:lnTo>
                <a:lnTo>
                  <a:pt x="360330" y="267985"/>
                </a:lnTo>
                <a:lnTo>
                  <a:pt x="317612" y="292523"/>
                </a:lnTo>
                <a:lnTo>
                  <a:pt x="267190" y="308340"/>
                </a:lnTo>
                <a:lnTo>
                  <a:pt x="211074" y="313943"/>
                </a:lnTo>
                <a:lnTo>
                  <a:pt x="154957" y="308340"/>
                </a:lnTo>
                <a:lnTo>
                  <a:pt x="104535" y="292523"/>
                </a:lnTo>
                <a:lnTo>
                  <a:pt x="61817" y="267985"/>
                </a:lnTo>
                <a:lnTo>
                  <a:pt x="28814" y="236219"/>
                </a:lnTo>
                <a:lnTo>
                  <a:pt x="7538" y="198717"/>
                </a:lnTo>
                <a:lnTo>
                  <a:pt x="0" y="15697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71564" y="4575809"/>
            <a:ext cx="210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+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97852" y="5056632"/>
            <a:ext cx="422275" cy="315595"/>
          </a:xfrm>
          <a:custGeom>
            <a:avLst/>
            <a:gdLst/>
            <a:ahLst/>
            <a:cxnLst/>
            <a:rect l="l" t="t" r="r" b="b"/>
            <a:pathLst>
              <a:path w="422275" h="315595">
                <a:moveTo>
                  <a:pt x="0" y="157734"/>
                </a:moveTo>
                <a:lnTo>
                  <a:pt x="7538" y="115799"/>
                </a:lnTo>
                <a:lnTo>
                  <a:pt x="28814" y="78119"/>
                </a:lnTo>
                <a:lnTo>
                  <a:pt x="61817" y="46196"/>
                </a:lnTo>
                <a:lnTo>
                  <a:pt x="104535" y="21533"/>
                </a:lnTo>
                <a:lnTo>
                  <a:pt x="154957" y="5633"/>
                </a:lnTo>
                <a:lnTo>
                  <a:pt x="211074" y="0"/>
                </a:lnTo>
                <a:lnTo>
                  <a:pt x="267190" y="5633"/>
                </a:lnTo>
                <a:lnTo>
                  <a:pt x="317612" y="21533"/>
                </a:lnTo>
                <a:lnTo>
                  <a:pt x="360330" y="46196"/>
                </a:lnTo>
                <a:lnTo>
                  <a:pt x="393333" y="78119"/>
                </a:lnTo>
                <a:lnTo>
                  <a:pt x="414609" y="115799"/>
                </a:lnTo>
                <a:lnTo>
                  <a:pt x="422148" y="157734"/>
                </a:lnTo>
                <a:lnTo>
                  <a:pt x="414609" y="199668"/>
                </a:lnTo>
                <a:lnTo>
                  <a:pt x="393333" y="237348"/>
                </a:lnTo>
                <a:lnTo>
                  <a:pt x="360330" y="269271"/>
                </a:lnTo>
                <a:lnTo>
                  <a:pt x="317612" y="293934"/>
                </a:lnTo>
                <a:lnTo>
                  <a:pt x="267190" y="309834"/>
                </a:lnTo>
                <a:lnTo>
                  <a:pt x="211074" y="315468"/>
                </a:lnTo>
                <a:lnTo>
                  <a:pt x="154957" y="309834"/>
                </a:lnTo>
                <a:lnTo>
                  <a:pt x="104535" y="293934"/>
                </a:lnTo>
                <a:lnTo>
                  <a:pt x="61817" y="269271"/>
                </a:lnTo>
                <a:lnTo>
                  <a:pt x="28814" y="237348"/>
                </a:lnTo>
                <a:lnTo>
                  <a:pt x="7538" y="199668"/>
                </a:lnTo>
                <a:lnTo>
                  <a:pt x="0" y="1577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52792" y="5048250"/>
            <a:ext cx="118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-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29884" y="5056632"/>
            <a:ext cx="422275" cy="315595"/>
          </a:xfrm>
          <a:custGeom>
            <a:avLst/>
            <a:gdLst/>
            <a:ahLst/>
            <a:cxnLst/>
            <a:rect l="l" t="t" r="r" b="b"/>
            <a:pathLst>
              <a:path w="422275" h="315595">
                <a:moveTo>
                  <a:pt x="0" y="157734"/>
                </a:moveTo>
                <a:lnTo>
                  <a:pt x="7538" y="115799"/>
                </a:lnTo>
                <a:lnTo>
                  <a:pt x="28814" y="78119"/>
                </a:lnTo>
                <a:lnTo>
                  <a:pt x="61817" y="46196"/>
                </a:lnTo>
                <a:lnTo>
                  <a:pt x="104535" y="21533"/>
                </a:lnTo>
                <a:lnTo>
                  <a:pt x="154957" y="5633"/>
                </a:lnTo>
                <a:lnTo>
                  <a:pt x="211074" y="0"/>
                </a:lnTo>
                <a:lnTo>
                  <a:pt x="267190" y="5633"/>
                </a:lnTo>
                <a:lnTo>
                  <a:pt x="317612" y="21533"/>
                </a:lnTo>
                <a:lnTo>
                  <a:pt x="360330" y="46196"/>
                </a:lnTo>
                <a:lnTo>
                  <a:pt x="393333" y="78119"/>
                </a:lnTo>
                <a:lnTo>
                  <a:pt x="414609" y="115799"/>
                </a:lnTo>
                <a:lnTo>
                  <a:pt x="422148" y="157734"/>
                </a:lnTo>
                <a:lnTo>
                  <a:pt x="414609" y="199668"/>
                </a:lnTo>
                <a:lnTo>
                  <a:pt x="393333" y="237348"/>
                </a:lnTo>
                <a:lnTo>
                  <a:pt x="360330" y="269271"/>
                </a:lnTo>
                <a:lnTo>
                  <a:pt x="317612" y="293934"/>
                </a:lnTo>
                <a:lnTo>
                  <a:pt x="267190" y="309834"/>
                </a:lnTo>
                <a:lnTo>
                  <a:pt x="211074" y="315468"/>
                </a:lnTo>
                <a:lnTo>
                  <a:pt x="154957" y="309834"/>
                </a:lnTo>
                <a:lnTo>
                  <a:pt x="104535" y="293934"/>
                </a:lnTo>
                <a:lnTo>
                  <a:pt x="61817" y="269271"/>
                </a:lnTo>
                <a:lnTo>
                  <a:pt x="28814" y="237348"/>
                </a:lnTo>
                <a:lnTo>
                  <a:pt x="7538" y="199668"/>
                </a:lnTo>
                <a:lnTo>
                  <a:pt x="0" y="1577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60440" y="5048250"/>
            <a:ext cx="164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89547" y="4847335"/>
            <a:ext cx="969644" cy="996315"/>
            <a:chOff x="6289547" y="4847335"/>
            <a:chExt cx="969644" cy="996315"/>
          </a:xfrm>
        </p:grpSpPr>
        <p:sp>
          <p:nvSpPr>
            <p:cNvPr id="13" name="object 13"/>
            <p:cNvSpPr/>
            <p:nvPr/>
          </p:nvSpPr>
          <p:spPr>
            <a:xfrm>
              <a:off x="6289548" y="4847335"/>
              <a:ext cx="969644" cy="255270"/>
            </a:xfrm>
            <a:custGeom>
              <a:avLst/>
              <a:gdLst/>
              <a:ahLst/>
              <a:cxnLst/>
              <a:rect l="l" t="t" r="r" b="b"/>
              <a:pathLst>
                <a:path w="969645" h="255270">
                  <a:moveTo>
                    <a:pt x="339344" y="10160"/>
                  </a:moveTo>
                  <a:lnTo>
                    <a:pt x="331724" y="0"/>
                  </a:lnTo>
                  <a:lnTo>
                    <a:pt x="57277" y="204635"/>
                  </a:lnTo>
                  <a:lnTo>
                    <a:pt x="38354" y="179197"/>
                  </a:lnTo>
                  <a:lnTo>
                    <a:pt x="0" y="255270"/>
                  </a:lnTo>
                  <a:lnTo>
                    <a:pt x="83820" y="240284"/>
                  </a:lnTo>
                  <a:lnTo>
                    <a:pt x="70485" y="222377"/>
                  </a:lnTo>
                  <a:lnTo>
                    <a:pt x="64858" y="214833"/>
                  </a:lnTo>
                  <a:lnTo>
                    <a:pt x="339344" y="10160"/>
                  </a:lnTo>
                  <a:close/>
                </a:path>
                <a:path w="969645" h="255270">
                  <a:moveTo>
                    <a:pt x="969518" y="255270"/>
                  </a:moveTo>
                  <a:lnTo>
                    <a:pt x="952982" y="222377"/>
                  </a:lnTo>
                  <a:lnTo>
                    <a:pt x="931291" y="179197"/>
                  </a:lnTo>
                  <a:lnTo>
                    <a:pt x="912279" y="204673"/>
                  </a:lnTo>
                  <a:lnTo>
                    <a:pt x="637794" y="0"/>
                  </a:lnTo>
                  <a:lnTo>
                    <a:pt x="630174" y="10160"/>
                  </a:lnTo>
                  <a:lnTo>
                    <a:pt x="904722" y="214795"/>
                  </a:lnTo>
                  <a:lnTo>
                    <a:pt x="885698" y="240284"/>
                  </a:lnTo>
                  <a:lnTo>
                    <a:pt x="969518" y="255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49211" y="5522975"/>
              <a:ext cx="422275" cy="315595"/>
            </a:xfrm>
            <a:custGeom>
              <a:avLst/>
              <a:gdLst/>
              <a:ahLst/>
              <a:cxnLst/>
              <a:rect l="l" t="t" r="r" b="b"/>
              <a:pathLst>
                <a:path w="422275" h="315595">
                  <a:moveTo>
                    <a:pt x="0" y="157734"/>
                  </a:moveTo>
                  <a:lnTo>
                    <a:pt x="7538" y="115803"/>
                  </a:lnTo>
                  <a:lnTo>
                    <a:pt x="28814" y="78124"/>
                  </a:lnTo>
                  <a:lnTo>
                    <a:pt x="61817" y="46201"/>
                  </a:lnTo>
                  <a:lnTo>
                    <a:pt x="104535" y="21536"/>
                  </a:lnTo>
                  <a:lnTo>
                    <a:pt x="154957" y="5634"/>
                  </a:lnTo>
                  <a:lnTo>
                    <a:pt x="211074" y="0"/>
                  </a:lnTo>
                  <a:lnTo>
                    <a:pt x="267190" y="5634"/>
                  </a:lnTo>
                  <a:lnTo>
                    <a:pt x="317612" y="21536"/>
                  </a:lnTo>
                  <a:lnTo>
                    <a:pt x="360330" y="46201"/>
                  </a:lnTo>
                  <a:lnTo>
                    <a:pt x="393333" y="78124"/>
                  </a:lnTo>
                  <a:lnTo>
                    <a:pt x="414609" y="115803"/>
                  </a:lnTo>
                  <a:lnTo>
                    <a:pt x="422148" y="157734"/>
                  </a:lnTo>
                  <a:lnTo>
                    <a:pt x="414609" y="199664"/>
                  </a:lnTo>
                  <a:lnTo>
                    <a:pt x="393333" y="237343"/>
                  </a:lnTo>
                  <a:lnTo>
                    <a:pt x="360330" y="269266"/>
                  </a:lnTo>
                  <a:lnTo>
                    <a:pt x="317612" y="293931"/>
                  </a:lnTo>
                  <a:lnTo>
                    <a:pt x="267190" y="309833"/>
                  </a:lnTo>
                  <a:lnTo>
                    <a:pt x="211074" y="315468"/>
                  </a:lnTo>
                  <a:lnTo>
                    <a:pt x="154957" y="309833"/>
                  </a:lnTo>
                  <a:lnTo>
                    <a:pt x="104535" y="293931"/>
                  </a:lnTo>
                  <a:lnTo>
                    <a:pt x="61817" y="269266"/>
                  </a:lnTo>
                  <a:lnTo>
                    <a:pt x="28814" y="237343"/>
                  </a:lnTo>
                  <a:lnTo>
                    <a:pt x="7538" y="199664"/>
                  </a:lnTo>
                  <a:lnTo>
                    <a:pt x="0" y="15773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80403" y="5515762"/>
            <a:ext cx="164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*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16752" y="5993891"/>
            <a:ext cx="1313815" cy="315595"/>
          </a:xfrm>
          <a:custGeom>
            <a:avLst/>
            <a:gdLst/>
            <a:ahLst/>
            <a:cxnLst/>
            <a:rect l="l" t="t" r="r" b="b"/>
            <a:pathLst>
              <a:path w="1313815" h="315595">
                <a:moveTo>
                  <a:pt x="891540" y="157734"/>
                </a:moveTo>
                <a:lnTo>
                  <a:pt x="899078" y="115803"/>
                </a:lnTo>
                <a:lnTo>
                  <a:pt x="920354" y="78124"/>
                </a:lnTo>
                <a:lnTo>
                  <a:pt x="953357" y="46201"/>
                </a:lnTo>
                <a:lnTo>
                  <a:pt x="996075" y="21536"/>
                </a:lnTo>
                <a:lnTo>
                  <a:pt x="1046497" y="5634"/>
                </a:lnTo>
                <a:lnTo>
                  <a:pt x="1102614" y="0"/>
                </a:lnTo>
                <a:lnTo>
                  <a:pt x="1158730" y="5634"/>
                </a:lnTo>
                <a:lnTo>
                  <a:pt x="1209152" y="21536"/>
                </a:lnTo>
                <a:lnTo>
                  <a:pt x="1251870" y="46201"/>
                </a:lnTo>
                <a:lnTo>
                  <a:pt x="1284873" y="78124"/>
                </a:lnTo>
                <a:lnTo>
                  <a:pt x="1306149" y="115803"/>
                </a:lnTo>
                <a:lnTo>
                  <a:pt x="1313688" y="157734"/>
                </a:lnTo>
                <a:lnTo>
                  <a:pt x="1306149" y="199664"/>
                </a:lnTo>
                <a:lnTo>
                  <a:pt x="1284873" y="237343"/>
                </a:lnTo>
                <a:lnTo>
                  <a:pt x="1251870" y="269266"/>
                </a:lnTo>
                <a:lnTo>
                  <a:pt x="1209152" y="293931"/>
                </a:lnTo>
                <a:lnTo>
                  <a:pt x="1158730" y="309833"/>
                </a:lnTo>
                <a:lnTo>
                  <a:pt x="1102614" y="315468"/>
                </a:lnTo>
                <a:lnTo>
                  <a:pt x="1046497" y="309833"/>
                </a:lnTo>
                <a:lnTo>
                  <a:pt x="996075" y="293931"/>
                </a:lnTo>
                <a:lnTo>
                  <a:pt x="953357" y="269266"/>
                </a:lnTo>
                <a:lnTo>
                  <a:pt x="920354" y="237343"/>
                </a:lnTo>
                <a:lnTo>
                  <a:pt x="899078" y="199664"/>
                </a:lnTo>
                <a:lnTo>
                  <a:pt x="891540" y="157734"/>
                </a:lnTo>
                <a:close/>
              </a:path>
              <a:path w="1313815" h="315595">
                <a:moveTo>
                  <a:pt x="0" y="157734"/>
                </a:moveTo>
                <a:lnTo>
                  <a:pt x="7538" y="115803"/>
                </a:lnTo>
                <a:lnTo>
                  <a:pt x="28814" y="78124"/>
                </a:lnTo>
                <a:lnTo>
                  <a:pt x="61817" y="46201"/>
                </a:lnTo>
                <a:lnTo>
                  <a:pt x="104535" y="21536"/>
                </a:lnTo>
                <a:lnTo>
                  <a:pt x="154957" y="5634"/>
                </a:lnTo>
                <a:lnTo>
                  <a:pt x="211074" y="0"/>
                </a:lnTo>
                <a:lnTo>
                  <a:pt x="267190" y="5634"/>
                </a:lnTo>
                <a:lnTo>
                  <a:pt x="317612" y="21536"/>
                </a:lnTo>
                <a:lnTo>
                  <a:pt x="360330" y="46201"/>
                </a:lnTo>
                <a:lnTo>
                  <a:pt x="393333" y="78124"/>
                </a:lnTo>
                <a:lnTo>
                  <a:pt x="414609" y="115803"/>
                </a:lnTo>
                <a:lnTo>
                  <a:pt x="422148" y="157734"/>
                </a:lnTo>
                <a:lnTo>
                  <a:pt x="414609" y="199664"/>
                </a:lnTo>
                <a:lnTo>
                  <a:pt x="393333" y="237343"/>
                </a:lnTo>
                <a:lnTo>
                  <a:pt x="360330" y="269266"/>
                </a:lnTo>
                <a:lnTo>
                  <a:pt x="317612" y="293931"/>
                </a:lnTo>
                <a:lnTo>
                  <a:pt x="267190" y="309833"/>
                </a:lnTo>
                <a:lnTo>
                  <a:pt x="211074" y="315468"/>
                </a:lnTo>
                <a:lnTo>
                  <a:pt x="154957" y="309833"/>
                </a:lnTo>
                <a:lnTo>
                  <a:pt x="104535" y="293931"/>
                </a:lnTo>
                <a:lnTo>
                  <a:pt x="61817" y="269266"/>
                </a:lnTo>
                <a:lnTo>
                  <a:pt x="28814" y="237343"/>
                </a:lnTo>
                <a:lnTo>
                  <a:pt x="7538" y="199664"/>
                </a:lnTo>
                <a:lnTo>
                  <a:pt x="0" y="1577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48578" y="5986678"/>
            <a:ext cx="164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74891" y="5516689"/>
            <a:ext cx="1780539" cy="525780"/>
            <a:chOff x="6374891" y="5516689"/>
            <a:chExt cx="1780539" cy="5257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4994" y="5791733"/>
              <a:ext cx="75310" cy="25024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74891" y="5787631"/>
              <a:ext cx="338455" cy="254635"/>
            </a:xfrm>
            <a:custGeom>
              <a:avLst/>
              <a:gdLst/>
              <a:ahLst/>
              <a:cxnLst/>
              <a:rect l="l" t="t" r="r" b="b"/>
              <a:pathLst>
                <a:path w="338454" h="254635">
                  <a:moveTo>
                    <a:pt x="38354" y="178269"/>
                  </a:moveTo>
                  <a:lnTo>
                    <a:pt x="0" y="254342"/>
                  </a:lnTo>
                  <a:lnTo>
                    <a:pt x="83820" y="239369"/>
                  </a:lnTo>
                  <a:lnTo>
                    <a:pt x="70523" y="221500"/>
                  </a:lnTo>
                  <a:lnTo>
                    <a:pt x="54737" y="221500"/>
                  </a:lnTo>
                  <a:lnTo>
                    <a:pt x="47117" y="211315"/>
                  </a:lnTo>
                  <a:lnTo>
                    <a:pt x="57298" y="203728"/>
                  </a:lnTo>
                  <a:lnTo>
                    <a:pt x="38354" y="178269"/>
                  </a:lnTo>
                  <a:close/>
                </a:path>
                <a:path w="338454" h="254635">
                  <a:moveTo>
                    <a:pt x="57298" y="203728"/>
                  </a:moveTo>
                  <a:lnTo>
                    <a:pt x="47117" y="211315"/>
                  </a:lnTo>
                  <a:lnTo>
                    <a:pt x="54737" y="221500"/>
                  </a:lnTo>
                  <a:lnTo>
                    <a:pt x="64892" y="213933"/>
                  </a:lnTo>
                  <a:lnTo>
                    <a:pt x="57298" y="203728"/>
                  </a:lnTo>
                  <a:close/>
                </a:path>
                <a:path w="338454" h="254635">
                  <a:moveTo>
                    <a:pt x="64892" y="213933"/>
                  </a:moveTo>
                  <a:lnTo>
                    <a:pt x="54737" y="221500"/>
                  </a:lnTo>
                  <a:lnTo>
                    <a:pt x="70523" y="221500"/>
                  </a:lnTo>
                  <a:lnTo>
                    <a:pt x="64892" y="213933"/>
                  </a:lnTo>
                  <a:close/>
                </a:path>
                <a:path w="338454" h="254635">
                  <a:moveTo>
                    <a:pt x="330708" y="0"/>
                  </a:moveTo>
                  <a:lnTo>
                    <a:pt x="57298" y="203728"/>
                  </a:lnTo>
                  <a:lnTo>
                    <a:pt x="64892" y="213933"/>
                  </a:lnTo>
                  <a:lnTo>
                    <a:pt x="338328" y="10185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29727" y="5521452"/>
              <a:ext cx="421005" cy="315595"/>
            </a:xfrm>
            <a:custGeom>
              <a:avLst/>
              <a:gdLst/>
              <a:ahLst/>
              <a:cxnLst/>
              <a:rect l="l" t="t" r="r" b="b"/>
              <a:pathLst>
                <a:path w="421004" h="315595">
                  <a:moveTo>
                    <a:pt x="0" y="157734"/>
                  </a:moveTo>
                  <a:lnTo>
                    <a:pt x="7508" y="115803"/>
                  </a:lnTo>
                  <a:lnTo>
                    <a:pt x="28701" y="78124"/>
                  </a:lnTo>
                  <a:lnTo>
                    <a:pt x="61579" y="46201"/>
                  </a:lnTo>
                  <a:lnTo>
                    <a:pt x="104140" y="21536"/>
                  </a:lnTo>
                  <a:lnTo>
                    <a:pt x="154384" y="5634"/>
                  </a:lnTo>
                  <a:lnTo>
                    <a:pt x="210312" y="0"/>
                  </a:lnTo>
                  <a:lnTo>
                    <a:pt x="266239" y="5634"/>
                  </a:lnTo>
                  <a:lnTo>
                    <a:pt x="316483" y="21536"/>
                  </a:lnTo>
                  <a:lnTo>
                    <a:pt x="359044" y="46201"/>
                  </a:lnTo>
                  <a:lnTo>
                    <a:pt x="391921" y="78124"/>
                  </a:lnTo>
                  <a:lnTo>
                    <a:pt x="413115" y="115803"/>
                  </a:lnTo>
                  <a:lnTo>
                    <a:pt x="420624" y="157734"/>
                  </a:lnTo>
                  <a:lnTo>
                    <a:pt x="413115" y="199664"/>
                  </a:lnTo>
                  <a:lnTo>
                    <a:pt x="391922" y="237343"/>
                  </a:lnTo>
                  <a:lnTo>
                    <a:pt x="359044" y="269266"/>
                  </a:lnTo>
                  <a:lnTo>
                    <a:pt x="316484" y="293931"/>
                  </a:lnTo>
                  <a:lnTo>
                    <a:pt x="266239" y="309833"/>
                  </a:lnTo>
                  <a:lnTo>
                    <a:pt x="210312" y="315468"/>
                  </a:lnTo>
                  <a:lnTo>
                    <a:pt x="154384" y="309833"/>
                  </a:lnTo>
                  <a:lnTo>
                    <a:pt x="104139" y="293931"/>
                  </a:lnTo>
                  <a:lnTo>
                    <a:pt x="61579" y="269266"/>
                  </a:lnTo>
                  <a:lnTo>
                    <a:pt x="28701" y="237343"/>
                  </a:lnTo>
                  <a:lnTo>
                    <a:pt x="7508" y="199664"/>
                  </a:lnTo>
                  <a:lnTo>
                    <a:pt x="0" y="15773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38058" y="5513933"/>
            <a:ext cx="210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+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98764" y="5992367"/>
            <a:ext cx="422275" cy="315595"/>
          </a:xfrm>
          <a:custGeom>
            <a:avLst/>
            <a:gdLst/>
            <a:ahLst/>
            <a:cxnLst/>
            <a:rect l="l" t="t" r="r" b="b"/>
            <a:pathLst>
              <a:path w="422275" h="315595">
                <a:moveTo>
                  <a:pt x="0" y="157733"/>
                </a:moveTo>
                <a:lnTo>
                  <a:pt x="7538" y="115803"/>
                </a:lnTo>
                <a:lnTo>
                  <a:pt x="28814" y="78124"/>
                </a:lnTo>
                <a:lnTo>
                  <a:pt x="61817" y="46201"/>
                </a:lnTo>
                <a:lnTo>
                  <a:pt x="104535" y="21536"/>
                </a:lnTo>
                <a:lnTo>
                  <a:pt x="154957" y="5634"/>
                </a:lnTo>
                <a:lnTo>
                  <a:pt x="211074" y="0"/>
                </a:lnTo>
                <a:lnTo>
                  <a:pt x="267190" y="5634"/>
                </a:lnTo>
                <a:lnTo>
                  <a:pt x="317612" y="21536"/>
                </a:lnTo>
                <a:lnTo>
                  <a:pt x="360330" y="46201"/>
                </a:lnTo>
                <a:lnTo>
                  <a:pt x="393333" y="78124"/>
                </a:lnTo>
                <a:lnTo>
                  <a:pt x="414609" y="115803"/>
                </a:lnTo>
                <a:lnTo>
                  <a:pt x="422147" y="157733"/>
                </a:lnTo>
                <a:lnTo>
                  <a:pt x="414609" y="199664"/>
                </a:lnTo>
                <a:lnTo>
                  <a:pt x="393333" y="237343"/>
                </a:lnTo>
                <a:lnTo>
                  <a:pt x="360330" y="269266"/>
                </a:lnTo>
                <a:lnTo>
                  <a:pt x="317612" y="293931"/>
                </a:lnTo>
                <a:lnTo>
                  <a:pt x="267190" y="309833"/>
                </a:lnTo>
                <a:lnTo>
                  <a:pt x="211074" y="315467"/>
                </a:lnTo>
                <a:lnTo>
                  <a:pt x="154957" y="309833"/>
                </a:lnTo>
                <a:lnTo>
                  <a:pt x="104535" y="293931"/>
                </a:lnTo>
                <a:lnTo>
                  <a:pt x="61817" y="269266"/>
                </a:lnTo>
                <a:lnTo>
                  <a:pt x="28814" y="237343"/>
                </a:lnTo>
                <a:lnTo>
                  <a:pt x="7538" y="199664"/>
                </a:lnTo>
                <a:lnTo>
                  <a:pt x="0" y="157733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529955" y="5984849"/>
            <a:ext cx="164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Tahoma"/>
                <a:cs typeface="Tahoma"/>
              </a:rPr>
              <a:t>6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05116" y="5992367"/>
            <a:ext cx="422275" cy="315595"/>
          </a:xfrm>
          <a:custGeom>
            <a:avLst/>
            <a:gdLst/>
            <a:ahLst/>
            <a:cxnLst/>
            <a:rect l="l" t="t" r="r" b="b"/>
            <a:pathLst>
              <a:path w="422275" h="315595">
                <a:moveTo>
                  <a:pt x="0" y="157733"/>
                </a:moveTo>
                <a:lnTo>
                  <a:pt x="7538" y="115803"/>
                </a:lnTo>
                <a:lnTo>
                  <a:pt x="28814" y="78124"/>
                </a:lnTo>
                <a:lnTo>
                  <a:pt x="61817" y="46201"/>
                </a:lnTo>
                <a:lnTo>
                  <a:pt x="104535" y="21536"/>
                </a:lnTo>
                <a:lnTo>
                  <a:pt x="154957" y="5634"/>
                </a:lnTo>
                <a:lnTo>
                  <a:pt x="211074" y="0"/>
                </a:lnTo>
                <a:lnTo>
                  <a:pt x="267190" y="5634"/>
                </a:lnTo>
                <a:lnTo>
                  <a:pt x="317612" y="21536"/>
                </a:lnTo>
                <a:lnTo>
                  <a:pt x="360330" y="46201"/>
                </a:lnTo>
                <a:lnTo>
                  <a:pt x="393333" y="78124"/>
                </a:lnTo>
                <a:lnTo>
                  <a:pt x="414609" y="115803"/>
                </a:lnTo>
                <a:lnTo>
                  <a:pt x="422148" y="157733"/>
                </a:lnTo>
                <a:lnTo>
                  <a:pt x="414609" y="199664"/>
                </a:lnTo>
                <a:lnTo>
                  <a:pt x="393333" y="237343"/>
                </a:lnTo>
                <a:lnTo>
                  <a:pt x="360330" y="269266"/>
                </a:lnTo>
                <a:lnTo>
                  <a:pt x="317612" y="293931"/>
                </a:lnTo>
                <a:lnTo>
                  <a:pt x="267190" y="309833"/>
                </a:lnTo>
                <a:lnTo>
                  <a:pt x="211074" y="315467"/>
                </a:lnTo>
                <a:lnTo>
                  <a:pt x="154957" y="309833"/>
                </a:lnTo>
                <a:lnTo>
                  <a:pt x="104535" y="293931"/>
                </a:lnTo>
                <a:lnTo>
                  <a:pt x="61817" y="269266"/>
                </a:lnTo>
                <a:lnTo>
                  <a:pt x="28814" y="237343"/>
                </a:lnTo>
                <a:lnTo>
                  <a:pt x="7538" y="199664"/>
                </a:lnTo>
                <a:lnTo>
                  <a:pt x="0" y="15773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40626" y="5986678"/>
            <a:ext cx="661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34" algn="l"/>
              </a:tabLst>
            </a:pPr>
            <a:r>
              <a:rPr sz="2000" spc="-50" dirty="0">
                <a:latin typeface="Tahoma"/>
                <a:cs typeface="Tahoma"/>
              </a:rPr>
              <a:t>5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9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08876" y="5314315"/>
            <a:ext cx="1450340" cy="725170"/>
            <a:chOff x="7008876" y="5314315"/>
            <a:chExt cx="1450340" cy="725170"/>
          </a:xfrm>
        </p:grpSpPr>
        <p:sp>
          <p:nvSpPr>
            <p:cNvPr id="28" name="object 28"/>
            <p:cNvSpPr/>
            <p:nvPr/>
          </p:nvSpPr>
          <p:spPr>
            <a:xfrm>
              <a:off x="8085836" y="5784405"/>
              <a:ext cx="373380" cy="254635"/>
            </a:xfrm>
            <a:custGeom>
              <a:avLst/>
              <a:gdLst/>
              <a:ahLst/>
              <a:cxnLst/>
              <a:rect l="l" t="t" r="r" b="b"/>
              <a:pathLst>
                <a:path w="373379" h="254635">
                  <a:moveTo>
                    <a:pt x="306377" y="217207"/>
                  </a:moveTo>
                  <a:lnTo>
                    <a:pt x="288671" y="243497"/>
                  </a:lnTo>
                  <a:lnTo>
                    <a:pt x="373125" y="254520"/>
                  </a:lnTo>
                  <a:lnTo>
                    <a:pt x="356044" y="224281"/>
                  </a:lnTo>
                  <a:lnTo>
                    <a:pt x="316865" y="224281"/>
                  </a:lnTo>
                  <a:lnTo>
                    <a:pt x="306377" y="217207"/>
                  </a:lnTo>
                  <a:close/>
                </a:path>
                <a:path w="373379" h="254635">
                  <a:moveTo>
                    <a:pt x="313474" y="206669"/>
                  </a:moveTo>
                  <a:lnTo>
                    <a:pt x="306377" y="217207"/>
                  </a:lnTo>
                  <a:lnTo>
                    <a:pt x="316865" y="224281"/>
                  </a:lnTo>
                  <a:lnTo>
                    <a:pt x="323977" y="213753"/>
                  </a:lnTo>
                  <a:lnTo>
                    <a:pt x="313474" y="206669"/>
                  </a:lnTo>
                  <a:close/>
                </a:path>
                <a:path w="373379" h="254635">
                  <a:moveTo>
                    <a:pt x="331216" y="180327"/>
                  </a:moveTo>
                  <a:lnTo>
                    <a:pt x="313474" y="206669"/>
                  </a:lnTo>
                  <a:lnTo>
                    <a:pt x="323977" y="213753"/>
                  </a:lnTo>
                  <a:lnTo>
                    <a:pt x="316865" y="224281"/>
                  </a:lnTo>
                  <a:lnTo>
                    <a:pt x="356044" y="224281"/>
                  </a:lnTo>
                  <a:lnTo>
                    <a:pt x="331216" y="180327"/>
                  </a:lnTo>
                  <a:close/>
                </a:path>
                <a:path w="373379" h="254635">
                  <a:moveTo>
                    <a:pt x="7112" y="0"/>
                  </a:moveTo>
                  <a:lnTo>
                    <a:pt x="0" y="10528"/>
                  </a:lnTo>
                  <a:lnTo>
                    <a:pt x="306377" y="217207"/>
                  </a:lnTo>
                  <a:lnTo>
                    <a:pt x="313474" y="206669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5697" y="5789066"/>
              <a:ext cx="75819" cy="24985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008876" y="5314442"/>
              <a:ext cx="238760" cy="255270"/>
            </a:xfrm>
            <a:custGeom>
              <a:avLst/>
              <a:gdLst/>
              <a:ahLst/>
              <a:cxnLst/>
              <a:rect l="l" t="t" r="r" b="b"/>
              <a:pathLst>
                <a:path w="238759" h="255270">
                  <a:moveTo>
                    <a:pt x="24129" y="173609"/>
                  </a:moveTo>
                  <a:lnTo>
                    <a:pt x="0" y="255270"/>
                  </a:lnTo>
                  <a:lnTo>
                    <a:pt x="79882" y="225552"/>
                  </a:lnTo>
                  <a:lnTo>
                    <a:pt x="66660" y="213233"/>
                  </a:lnTo>
                  <a:lnTo>
                    <a:pt x="48005" y="213233"/>
                  </a:lnTo>
                  <a:lnTo>
                    <a:pt x="38607" y="204470"/>
                  </a:lnTo>
                  <a:lnTo>
                    <a:pt x="47278" y="195175"/>
                  </a:lnTo>
                  <a:lnTo>
                    <a:pt x="24129" y="173609"/>
                  </a:lnTo>
                  <a:close/>
                </a:path>
                <a:path w="238759" h="255270">
                  <a:moveTo>
                    <a:pt x="47278" y="195175"/>
                  </a:moveTo>
                  <a:lnTo>
                    <a:pt x="38607" y="204470"/>
                  </a:lnTo>
                  <a:lnTo>
                    <a:pt x="48005" y="213233"/>
                  </a:lnTo>
                  <a:lnTo>
                    <a:pt x="56674" y="203929"/>
                  </a:lnTo>
                  <a:lnTo>
                    <a:pt x="47278" y="195175"/>
                  </a:lnTo>
                  <a:close/>
                </a:path>
                <a:path w="238759" h="255270">
                  <a:moveTo>
                    <a:pt x="56674" y="203929"/>
                  </a:moveTo>
                  <a:lnTo>
                    <a:pt x="48005" y="213233"/>
                  </a:lnTo>
                  <a:lnTo>
                    <a:pt x="66660" y="213233"/>
                  </a:lnTo>
                  <a:lnTo>
                    <a:pt x="56674" y="203929"/>
                  </a:lnTo>
                  <a:close/>
                </a:path>
                <a:path w="238759" h="255270">
                  <a:moveTo>
                    <a:pt x="229362" y="0"/>
                  </a:moveTo>
                  <a:lnTo>
                    <a:pt x="47278" y="195175"/>
                  </a:lnTo>
                  <a:lnTo>
                    <a:pt x="56674" y="203929"/>
                  </a:lnTo>
                  <a:lnTo>
                    <a:pt x="238632" y="8636"/>
                  </a:lnTo>
                  <a:lnTo>
                    <a:pt x="229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9228" y="5314315"/>
              <a:ext cx="251714" cy="253746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4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60" dirty="0"/>
              <a:t> </a:t>
            </a:r>
            <a:r>
              <a:rPr dirty="0"/>
              <a:t>Expression</a:t>
            </a:r>
            <a:r>
              <a:rPr spc="-50" dirty="0"/>
              <a:t> </a:t>
            </a:r>
            <a:r>
              <a:rPr dirty="0"/>
              <a:t>Tree</a:t>
            </a:r>
            <a:r>
              <a:rPr spc="-5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7940"/>
            <a:ext cx="7252334" cy="50012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484"/>
              </a:spcBef>
              <a:buClr>
                <a:srgbClr val="000000"/>
              </a:buClr>
              <a:buFont typeface="Consolas"/>
              <a:buAutoNum type="arabicPlain"/>
              <a:tabLst>
                <a:tab pos="233679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600" dirty="0">
                <a:latin typeface="Consolas"/>
                <a:cs typeface="Consolas"/>
              </a:rPr>
              <a:t>(not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end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of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expression)</a:t>
            </a:r>
            <a:endParaRPr sz="1600" dirty="0">
              <a:latin typeface="Consolas"/>
              <a:cs typeface="Consolas"/>
            </a:endParaRPr>
          </a:p>
          <a:p>
            <a:pPr marL="233679" indent="-220979">
              <a:lnSpc>
                <a:spcPct val="100000"/>
              </a:lnSpc>
              <a:spcBef>
                <a:spcPts val="380"/>
              </a:spcBef>
              <a:buAutoNum type="arabicPlain"/>
              <a:tabLst>
                <a:tab pos="233679" algn="l"/>
              </a:tabLst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680085" indent="-667385">
              <a:lnSpc>
                <a:spcPct val="100000"/>
              </a:lnSpc>
              <a:spcBef>
                <a:spcPts val="385"/>
              </a:spcBef>
              <a:buClr>
                <a:srgbClr val="000000"/>
              </a:buClr>
              <a:buFont typeface="Consolas"/>
              <a:buAutoNum type="arabicPlain"/>
              <a:tabLst>
                <a:tab pos="680085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600" dirty="0">
                <a:latin typeface="Consolas"/>
                <a:cs typeface="Consolas"/>
              </a:rPr>
              <a:t>(the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next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symbol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expression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is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an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operand)</a:t>
            </a:r>
            <a:endParaRPr sz="1600" dirty="0">
              <a:latin typeface="Consolas"/>
              <a:cs typeface="Consolas"/>
            </a:endParaRPr>
          </a:p>
          <a:p>
            <a:pPr marL="680085" indent="-667385">
              <a:lnSpc>
                <a:spcPct val="100000"/>
              </a:lnSpc>
              <a:spcBef>
                <a:spcPts val="390"/>
              </a:spcBef>
              <a:buAutoNum type="arabicPlain"/>
              <a:tabLst>
                <a:tab pos="680085" algn="l"/>
              </a:tabLst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0"/>
              </a:spcBef>
              <a:buAutoNum type="arabicPlain"/>
              <a:tabLst>
                <a:tab pos="902335" algn="l"/>
              </a:tabLst>
            </a:pPr>
            <a:r>
              <a:rPr sz="1600" dirty="0">
                <a:latin typeface="Consolas"/>
                <a:cs typeface="Consolas"/>
              </a:rPr>
              <a:t>create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node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for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operand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5"/>
              </a:spcBef>
              <a:buClr>
                <a:srgbClr val="000000"/>
              </a:buClr>
              <a:buFont typeface="Consolas"/>
              <a:buAutoNum type="arabicPlain"/>
              <a:tabLst>
                <a:tab pos="902335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6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reference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to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created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node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onto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stack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680085" algn="l"/>
              </a:tabLst>
            </a:pPr>
            <a:r>
              <a:rPr sz="1600" spc="-50" dirty="0">
                <a:latin typeface="Consolas"/>
                <a:cs typeface="Consolas"/>
              </a:rPr>
              <a:t>7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680085" indent="-667385">
              <a:lnSpc>
                <a:spcPct val="100000"/>
              </a:lnSpc>
              <a:spcBef>
                <a:spcPts val="385"/>
              </a:spcBef>
              <a:buClr>
                <a:srgbClr val="000000"/>
              </a:buClr>
              <a:buFont typeface="Consolas"/>
              <a:buAutoNum type="arabicPlain" startAt="8"/>
              <a:tabLst>
                <a:tab pos="680085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600" dirty="0">
                <a:latin typeface="Consolas"/>
                <a:cs typeface="Consolas"/>
              </a:rPr>
              <a:t>(the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next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symbol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expression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is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binary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operator)</a:t>
            </a:r>
            <a:endParaRPr sz="1600" dirty="0">
              <a:latin typeface="Consolas"/>
              <a:cs typeface="Consolas"/>
            </a:endParaRPr>
          </a:p>
          <a:p>
            <a:pPr marL="680085" indent="-667385">
              <a:lnSpc>
                <a:spcPct val="100000"/>
              </a:lnSpc>
              <a:spcBef>
                <a:spcPts val="385"/>
              </a:spcBef>
              <a:buAutoNum type="arabicPlain" startAt="8"/>
              <a:tabLst>
                <a:tab pos="680085" algn="l"/>
              </a:tabLst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5"/>
              </a:spcBef>
              <a:buAutoNum type="arabicPlain" startAt="8"/>
              <a:tabLst>
                <a:tab pos="902335" algn="l"/>
              </a:tabLst>
            </a:pPr>
            <a:r>
              <a:rPr sz="1600" dirty="0">
                <a:latin typeface="Consolas"/>
                <a:cs typeface="Consolas"/>
              </a:rPr>
              <a:t>create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node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for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operator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4"/>
              </a:spcBef>
              <a:buClr>
                <a:srgbClr val="000000"/>
              </a:buClr>
              <a:buFont typeface="Consolas"/>
              <a:buAutoNum type="arabicPlain" startAt="8"/>
              <a:tabLst>
                <a:tab pos="902335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6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from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stack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reference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to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operand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0"/>
              </a:spcBef>
              <a:buAutoNum type="arabicPlain" startAt="8"/>
              <a:tabLst>
                <a:tab pos="902335" algn="l"/>
              </a:tabLst>
            </a:pPr>
            <a:r>
              <a:rPr sz="1600" dirty="0">
                <a:latin typeface="Consolas"/>
                <a:cs typeface="Consolas"/>
              </a:rPr>
              <a:t>make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operand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right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subtree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of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operator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node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5"/>
              </a:spcBef>
              <a:buClr>
                <a:srgbClr val="000000"/>
              </a:buClr>
              <a:buFont typeface="Consolas"/>
              <a:buAutoNum type="arabicPlain" startAt="8"/>
              <a:tabLst>
                <a:tab pos="902335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6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from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stack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reference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to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operand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5"/>
              </a:spcBef>
              <a:buAutoNum type="arabicPlain" startAt="8"/>
              <a:tabLst>
                <a:tab pos="902335" algn="l"/>
              </a:tabLst>
            </a:pPr>
            <a:r>
              <a:rPr sz="1600" dirty="0">
                <a:latin typeface="Consolas"/>
                <a:cs typeface="Consolas"/>
              </a:rPr>
              <a:t>make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operand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left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subtree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of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operator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node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902335" indent="-889635">
              <a:lnSpc>
                <a:spcPct val="100000"/>
              </a:lnSpc>
              <a:spcBef>
                <a:spcPts val="385"/>
              </a:spcBef>
              <a:buClr>
                <a:srgbClr val="000000"/>
              </a:buClr>
              <a:buFont typeface="Consolas"/>
              <a:buAutoNum type="arabicPlain" startAt="8"/>
              <a:tabLst>
                <a:tab pos="902335" algn="l"/>
              </a:tabLst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6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reference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to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operator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node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onto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stack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568325" algn="l"/>
              </a:tabLst>
            </a:pPr>
            <a:r>
              <a:rPr sz="1600" spc="-25" dirty="0">
                <a:latin typeface="Consolas"/>
                <a:cs typeface="Consolas"/>
              </a:rPr>
              <a:t>16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nsolas"/>
                <a:cs typeface="Consolas"/>
              </a:rPr>
              <a:t>17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5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Expression</a:t>
            </a:r>
            <a:r>
              <a:rPr spc="-55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35667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400" dirty="0">
                <a:latin typeface="Consolas"/>
                <a:cs typeface="Consolas"/>
              </a:rPr>
              <a:t>(not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of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expression)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1403350"/>
            <a:ext cx="123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495" y="1530096"/>
            <a:ext cx="5836920" cy="1394460"/>
          </a:xfrm>
          <a:prstGeom prst="rect">
            <a:avLst/>
          </a:prstGeom>
          <a:ln w="12192">
            <a:solidFill>
              <a:srgbClr val="006FC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12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operand)</a:t>
            </a:r>
            <a:endParaRPr sz="1400">
              <a:latin typeface="Consolas"/>
              <a:cs typeface="Consolas"/>
            </a:endParaRPr>
          </a:p>
          <a:p>
            <a:pPr marL="169545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465455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46545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reference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to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created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169545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338" y="2897860"/>
            <a:ext cx="4159885" cy="23304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434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binary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operator)</a:t>
            </a:r>
            <a:endParaRPr sz="1400" dirty="0">
              <a:latin typeface="Consolas"/>
              <a:cs typeface="Consolas"/>
            </a:endParaRPr>
          </a:p>
          <a:p>
            <a:pPr marL="109855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node;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right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left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5244846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1195" y="2449067"/>
            <a:ext cx="215519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* </a:t>
            </a:r>
            <a:r>
              <a:rPr sz="1800" b="1" spc="-50" dirty="0">
                <a:solidFill>
                  <a:srgbClr val="006FC0"/>
                </a:solidFill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2099" y="4633159"/>
            <a:ext cx="2419662" cy="154038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5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Expression</a:t>
            </a:r>
            <a:r>
              <a:rPr spc="-55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dirty="0"/>
              <a:t>(not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end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expression)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dirty="0"/>
              <a:t>(the</a:t>
            </a:r>
            <a:r>
              <a:rPr spc="-25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symbol</a:t>
            </a:r>
            <a:r>
              <a:rPr spc="-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operand)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601980">
              <a:lnSpc>
                <a:spcPct val="100000"/>
              </a:lnSpc>
              <a:spcBef>
                <a:spcPts val="34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node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operand</a:t>
            </a:r>
            <a:r>
              <a:rPr spc="-25" dirty="0"/>
              <a:t> </a:t>
            </a:r>
            <a:r>
              <a:rPr spc="-50" dirty="0"/>
              <a:t>;</a:t>
            </a:r>
          </a:p>
          <a:p>
            <a:pPr marL="601980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reference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created</a:t>
            </a:r>
            <a:r>
              <a:rPr spc="-25" dirty="0"/>
              <a:t> </a:t>
            </a:r>
            <a:r>
              <a:rPr dirty="0"/>
              <a:t>node</a:t>
            </a:r>
            <a:r>
              <a:rPr spc="-15" dirty="0"/>
              <a:t> </a:t>
            </a:r>
            <a:r>
              <a:rPr dirty="0"/>
              <a:t>onto</a:t>
            </a:r>
            <a:r>
              <a:rPr spc="-1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stack</a:t>
            </a:r>
            <a:r>
              <a:rPr spc="-15" dirty="0"/>
              <a:t> </a:t>
            </a:r>
            <a:r>
              <a:rPr spc="-50" dirty="0"/>
              <a:t>;</a:t>
            </a:r>
          </a:p>
          <a:p>
            <a:pPr marL="306705">
              <a:lnSpc>
                <a:spcPct val="100000"/>
              </a:lnSpc>
              <a:spcBef>
                <a:spcPts val="340"/>
              </a:spcBef>
            </a:pPr>
            <a:r>
              <a:rPr spc="-50" dirty="0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868" y="2955035"/>
            <a:ext cx="4320540" cy="2273935"/>
          </a:xfrm>
          <a:prstGeom prst="rect">
            <a:avLst/>
          </a:prstGeom>
          <a:ln w="12192">
            <a:solidFill>
              <a:srgbClr val="006F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1664"/>
              </a:lnSpc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binary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operator)</a:t>
            </a:r>
            <a:endParaRPr sz="1400" dirty="0">
              <a:latin typeface="Consolas"/>
              <a:cs typeface="Consolas"/>
            </a:endParaRPr>
          </a:p>
          <a:p>
            <a:pPr marL="2413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node;</a:t>
            </a:r>
            <a:endParaRPr sz="1400" dirty="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 dirty="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right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 dirty="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 dirty="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left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 dirty="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 dirty="0">
              <a:latin typeface="Consolas"/>
              <a:cs typeface="Consolas"/>
            </a:endParaRPr>
          </a:p>
          <a:p>
            <a:pPr marL="144145">
              <a:lnSpc>
                <a:spcPct val="100000"/>
              </a:lnSpc>
              <a:spcBef>
                <a:spcPts val="34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5244846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1195" y="2449067"/>
            <a:ext cx="215519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* </a:t>
            </a:r>
            <a:r>
              <a:rPr sz="1800" b="1" spc="-50" dirty="0">
                <a:solidFill>
                  <a:srgbClr val="006FC0"/>
                </a:solidFill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862" y="4076700"/>
            <a:ext cx="2591444" cy="198924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5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Expression</a:t>
            </a:r>
            <a:r>
              <a:rPr spc="-55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35667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400" dirty="0">
                <a:latin typeface="Consolas"/>
                <a:cs typeface="Consolas"/>
              </a:rPr>
              <a:t>(not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of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expression)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1403350"/>
            <a:ext cx="123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495" y="1530096"/>
            <a:ext cx="5836920" cy="1394460"/>
          </a:xfrm>
          <a:prstGeom prst="rect">
            <a:avLst/>
          </a:prstGeom>
          <a:ln w="12192">
            <a:solidFill>
              <a:srgbClr val="006FC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12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operand)</a:t>
            </a:r>
            <a:endParaRPr sz="1400">
              <a:latin typeface="Consolas"/>
              <a:cs typeface="Consolas"/>
            </a:endParaRPr>
          </a:p>
          <a:p>
            <a:pPr marL="169545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465455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46545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reference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to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created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169545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338" y="2897860"/>
            <a:ext cx="4159885" cy="23304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Consolas"/>
                <a:cs typeface="Consolas"/>
              </a:rPr>
              <a:t>if(the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binary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operator)</a:t>
            </a:r>
            <a:endParaRPr sz="1400">
              <a:latin typeface="Consolas"/>
              <a:cs typeface="Consolas"/>
            </a:endParaRPr>
          </a:p>
          <a:p>
            <a:pPr marL="109855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node;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right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left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42" y="5244846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1195" y="2449067"/>
            <a:ext cx="215519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* </a:t>
            </a:r>
            <a:r>
              <a:rPr sz="1800" b="1" spc="-50" dirty="0">
                <a:solidFill>
                  <a:srgbClr val="006FC0"/>
                </a:solidFill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2837" y="4168542"/>
            <a:ext cx="3606936" cy="206113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5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Expression</a:t>
            </a:r>
            <a:r>
              <a:rPr spc="-55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5" dirty="0"/>
              <a:t> </a:t>
            </a:r>
            <a:r>
              <a:rPr spc="-25" dirty="0"/>
              <a:t>(4)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dirty="0"/>
              <a:t>(not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end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expression)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dirty="0"/>
              <a:t>(the</a:t>
            </a:r>
            <a:r>
              <a:rPr spc="-25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symbol</a:t>
            </a:r>
            <a:r>
              <a:rPr spc="-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operand)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601980">
              <a:lnSpc>
                <a:spcPct val="100000"/>
              </a:lnSpc>
              <a:spcBef>
                <a:spcPts val="34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node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operand</a:t>
            </a:r>
            <a:r>
              <a:rPr spc="-25" dirty="0"/>
              <a:t> </a:t>
            </a:r>
            <a:r>
              <a:rPr spc="-50" dirty="0"/>
              <a:t>;</a:t>
            </a:r>
          </a:p>
          <a:p>
            <a:pPr marL="601980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reference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created</a:t>
            </a:r>
            <a:r>
              <a:rPr spc="-25" dirty="0"/>
              <a:t> </a:t>
            </a:r>
            <a:r>
              <a:rPr dirty="0"/>
              <a:t>node</a:t>
            </a:r>
            <a:r>
              <a:rPr spc="-15" dirty="0"/>
              <a:t> </a:t>
            </a:r>
            <a:r>
              <a:rPr dirty="0"/>
              <a:t>onto</a:t>
            </a:r>
            <a:r>
              <a:rPr spc="-1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stack</a:t>
            </a:r>
            <a:r>
              <a:rPr spc="-15" dirty="0"/>
              <a:t> </a:t>
            </a:r>
            <a:r>
              <a:rPr spc="-50" dirty="0"/>
              <a:t>;</a:t>
            </a:r>
          </a:p>
          <a:p>
            <a:pPr marL="306705">
              <a:lnSpc>
                <a:spcPct val="100000"/>
              </a:lnSpc>
              <a:spcBef>
                <a:spcPts val="340"/>
              </a:spcBef>
            </a:pPr>
            <a:r>
              <a:rPr spc="-50" dirty="0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868" y="2955035"/>
            <a:ext cx="4320540" cy="2273935"/>
          </a:xfrm>
          <a:prstGeom prst="rect">
            <a:avLst/>
          </a:prstGeom>
          <a:ln w="12192">
            <a:solidFill>
              <a:srgbClr val="006F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1664"/>
              </a:lnSpc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binary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operator)</a:t>
            </a:r>
            <a:endParaRPr sz="1400">
              <a:latin typeface="Consolas"/>
              <a:cs typeface="Consolas"/>
            </a:endParaRPr>
          </a:p>
          <a:p>
            <a:pPr marL="2413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node;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right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left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144145">
              <a:lnSpc>
                <a:spcPct val="100000"/>
              </a:lnSpc>
              <a:spcBef>
                <a:spcPts val="34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5244846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1195" y="2449067"/>
            <a:ext cx="215519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* </a:t>
            </a:r>
            <a:r>
              <a:rPr sz="1800" b="1" spc="-50" dirty="0">
                <a:solidFill>
                  <a:srgbClr val="006FC0"/>
                </a:solidFill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5505" y="4149101"/>
            <a:ext cx="3713109" cy="205547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5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Expression</a:t>
            </a:r>
            <a:r>
              <a:rPr spc="-55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5" dirty="0"/>
              <a:t> </a:t>
            </a:r>
            <a:r>
              <a:rPr spc="-25" dirty="0"/>
              <a:t>(5)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dirty="0"/>
              <a:t>(not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end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expression)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dirty="0"/>
              <a:t>(the</a:t>
            </a:r>
            <a:r>
              <a:rPr spc="-25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symbol</a:t>
            </a:r>
            <a:r>
              <a:rPr spc="-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operand)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601980">
              <a:lnSpc>
                <a:spcPct val="100000"/>
              </a:lnSpc>
              <a:spcBef>
                <a:spcPts val="34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node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operand</a:t>
            </a:r>
            <a:r>
              <a:rPr spc="-25" dirty="0"/>
              <a:t> </a:t>
            </a:r>
            <a:r>
              <a:rPr spc="-50" dirty="0"/>
              <a:t>;</a:t>
            </a:r>
          </a:p>
          <a:p>
            <a:pPr marL="601980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reference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created</a:t>
            </a:r>
            <a:r>
              <a:rPr spc="-25" dirty="0"/>
              <a:t> </a:t>
            </a:r>
            <a:r>
              <a:rPr dirty="0"/>
              <a:t>node</a:t>
            </a:r>
            <a:r>
              <a:rPr spc="-15" dirty="0"/>
              <a:t> </a:t>
            </a:r>
            <a:r>
              <a:rPr dirty="0"/>
              <a:t>onto</a:t>
            </a:r>
            <a:r>
              <a:rPr spc="-1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stack</a:t>
            </a:r>
            <a:r>
              <a:rPr spc="-15" dirty="0"/>
              <a:t> </a:t>
            </a:r>
            <a:r>
              <a:rPr spc="-50" dirty="0"/>
              <a:t>;</a:t>
            </a:r>
          </a:p>
          <a:p>
            <a:pPr marL="306705">
              <a:lnSpc>
                <a:spcPct val="100000"/>
              </a:lnSpc>
              <a:spcBef>
                <a:spcPts val="340"/>
              </a:spcBef>
            </a:pPr>
            <a:r>
              <a:rPr spc="-50" dirty="0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868" y="2955035"/>
            <a:ext cx="4320540" cy="2273935"/>
          </a:xfrm>
          <a:prstGeom prst="rect">
            <a:avLst/>
          </a:prstGeom>
          <a:ln w="12192">
            <a:solidFill>
              <a:srgbClr val="006F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1664"/>
              </a:lnSpc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binary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operator)</a:t>
            </a:r>
            <a:endParaRPr sz="1400">
              <a:latin typeface="Consolas"/>
              <a:cs typeface="Consolas"/>
            </a:endParaRPr>
          </a:p>
          <a:p>
            <a:pPr marL="2413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node;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right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left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144145">
              <a:lnSpc>
                <a:spcPct val="100000"/>
              </a:lnSpc>
              <a:spcBef>
                <a:spcPts val="34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5244846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1195" y="2449067"/>
            <a:ext cx="215519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* </a:t>
            </a:r>
            <a:r>
              <a:rPr sz="1800" b="1" spc="-50" dirty="0">
                <a:solidFill>
                  <a:srgbClr val="006FC0"/>
                </a:solidFill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3544" y="3500627"/>
            <a:ext cx="4410456" cy="334517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Convert</a:t>
            </a:r>
            <a:r>
              <a:rPr spc="-55" dirty="0"/>
              <a:t> </a:t>
            </a:r>
            <a:r>
              <a:rPr dirty="0"/>
              <a:t>Postfix</a:t>
            </a:r>
            <a:r>
              <a:rPr spc="-75" dirty="0"/>
              <a:t> </a:t>
            </a:r>
            <a:r>
              <a:rPr dirty="0"/>
              <a:t>into</a:t>
            </a:r>
            <a:r>
              <a:rPr spc="-70" dirty="0"/>
              <a:t> </a:t>
            </a:r>
            <a:r>
              <a:rPr dirty="0"/>
              <a:t>Expression</a:t>
            </a:r>
            <a:r>
              <a:rPr spc="-55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5" dirty="0"/>
              <a:t> </a:t>
            </a:r>
            <a:r>
              <a:rPr spc="-25" dirty="0"/>
              <a:t>(6)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dirty="0"/>
              <a:t>(not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end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expression)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dirty="0"/>
              <a:t>(the</a:t>
            </a:r>
            <a:r>
              <a:rPr spc="-25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symbol</a:t>
            </a:r>
            <a:r>
              <a:rPr spc="-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operand)</a:t>
            </a:r>
          </a:p>
          <a:p>
            <a:pPr marL="306705">
              <a:lnSpc>
                <a:spcPct val="100000"/>
              </a:lnSpc>
              <a:spcBef>
                <a:spcPts val="335"/>
              </a:spcBef>
            </a:pPr>
            <a:r>
              <a:rPr spc="-50" dirty="0"/>
              <a:t>{</a:t>
            </a:r>
          </a:p>
          <a:p>
            <a:pPr marL="601980">
              <a:lnSpc>
                <a:spcPct val="100000"/>
              </a:lnSpc>
              <a:spcBef>
                <a:spcPts val="34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node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operand</a:t>
            </a:r>
            <a:r>
              <a:rPr spc="-25" dirty="0"/>
              <a:t> </a:t>
            </a:r>
            <a:r>
              <a:rPr spc="-50" dirty="0"/>
              <a:t>;</a:t>
            </a:r>
          </a:p>
          <a:p>
            <a:pPr marL="601980">
              <a:lnSpc>
                <a:spcPct val="100000"/>
              </a:lnSpc>
              <a:spcBef>
                <a:spcPts val="335"/>
              </a:spcBef>
            </a:pP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reference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created</a:t>
            </a:r>
            <a:r>
              <a:rPr spc="-25" dirty="0"/>
              <a:t> </a:t>
            </a:r>
            <a:r>
              <a:rPr dirty="0"/>
              <a:t>node</a:t>
            </a:r>
            <a:r>
              <a:rPr spc="-15" dirty="0"/>
              <a:t> </a:t>
            </a:r>
            <a:r>
              <a:rPr dirty="0"/>
              <a:t>onto</a:t>
            </a:r>
            <a:r>
              <a:rPr spc="-1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stack</a:t>
            </a:r>
            <a:r>
              <a:rPr spc="-15" dirty="0"/>
              <a:t> </a:t>
            </a:r>
            <a:r>
              <a:rPr spc="-50" dirty="0"/>
              <a:t>;</a:t>
            </a:r>
          </a:p>
          <a:p>
            <a:pPr marL="306705">
              <a:lnSpc>
                <a:spcPct val="100000"/>
              </a:lnSpc>
              <a:spcBef>
                <a:spcPts val="340"/>
              </a:spcBef>
            </a:pPr>
            <a:r>
              <a:rPr spc="-50" dirty="0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868" y="2955035"/>
            <a:ext cx="4320540" cy="2273935"/>
          </a:xfrm>
          <a:prstGeom prst="rect">
            <a:avLst/>
          </a:prstGeom>
          <a:ln w="12192">
            <a:solidFill>
              <a:srgbClr val="006F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1664"/>
              </a:lnSpc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400" dirty="0">
                <a:latin typeface="Consolas"/>
                <a:cs typeface="Consolas"/>
              </a:rPr>
              <a:t>(the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next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symbol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is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binary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operator)</a:t>
            </a:r>
            <a:endParaRPr sz="1400">
              <a:latin typeface="Consolas"/>
              <a:cs typeface="Consolas"/>
            </a:endParaRPr>
          </a:p>
          <a:p>
            <a:pPr marL="2413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create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45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node;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right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pop</a:t>
            </a:r>
            <a:r>
              <a:rPr sz="14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from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onsolas"/>
                <a:cs typeface="Consolas"/>
              </a:rPr>
              <a:t>make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operand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left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subtree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53721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solidFill>
                  <a:srgbClr val="006FC0"/>
                </a:solidFill>
                <a:latin typeface="Consolas"/>
                <a:cs typeface="Consolas"/>
              </a:rPr>
              <a:t>push</a:t>
            </a:r>
            <a:r>
              <a:rPr sz="14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operator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node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onto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stack;</a:t>
            </a:r>
            <a:endParaRPr sz="1400">
              <a:latin typeface="Consolas"/>
              <a:cs typeface="Consolas"/>
            </a:endParaRPr>
          </a:p>
          <a:p>
            <a:pPr marL="144145">
              <a:lnSpc>
                <a:spcPct val="100000"/>
              </a:lnSpc>
              <a:spcBef>
                <a:spcPts val="34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5244846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1195" y="2449067"/>
            <a:ext cx="215519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1800" b="1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1800" b="1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ahoma"/>
                <a:cs typeface="Tahoma"/>
              </a:rPr>
              <a:t>* </a:t>
            </a:r>
            <a:r>
              <a:rPr sz="1800" b="1" spc="-50" dirty="0">
                <a:solidFill>
                  <a:srgbClr val="006FC0"/>
                </a:solidFill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3964" y="3834383"/>
            <a:ext cx="4841747" cy="30236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100" dirty="0"/>
              <a:t> </a:t>
            </a:r>
            <a:r>
              <a:rPr dirty="0"/>
              <a:t>Expression</a:t>
            </a:r>
            <a:r>
              <a:rPr spc="-75" dirty="0"/>
              <a:t> </a:t>
            </a:r>
            <a:r>
              <a:rPr spc="-10" dirty="0"/>
              <a:t>Tree?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8265159" cy="4572406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Expression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impose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hierarchy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operations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Terms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deeper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get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evaluated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first</a:t>
            </a:r>
            <a:r>
              <a:rPr lang="en-US" sz="1900" spc="-10" dirty="0">
                <a:latin typeface="Tahoma"/>
                <a:cs typeface="Tahoma"/>
              </a:rPr>
              <a:t> (nested expressions get solved first)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Establish</a:t>
            </a:r>
            <a:r>
              <a:rPr sz="19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correct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precedence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8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operations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without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using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parentheses</a:t>
            </a:r>
            <a:r>
              <a:rPr lang="en-US" sz="1900" spc="-10" dirty="0">
                <a:latin typeface="Tahoma"/>
                <a:cs typeface="Tahoma"/>
              </a:rPr>
              <a:t> (deeper the term-&gt; higher the precedence -&gt; </a:t>
            </a:r>
            <a:r>
              <a:rPr lang="en-US" sz="1900" spc="-10">
                <a:latin typeface="Tahoma"/>
                <a:cs typeface="Tahoma"/>
              </a:rPr>
              <a:t>gets evaluated first)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5600" marR="39116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compiler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read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expression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language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like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C++/Java,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transform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expression</a:t>
            </a:r>
            <a:r>
              <a:rPr sz="2100" spc="-20" dirty="0">
                <a:latin typeface="Tahoma"/>
                <a:cs typeface="Tahoma"/>
              </a:rPr>
              <a:t> tree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Expression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very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useful</a:t>
            </a:r>
            <a:r>
              <a:rPr sz="2100" spc="-20" dirty="0">
                <a:latin typeface="Tahoma"/>
                <a:cs typeface="Tahoma"/>
              </a:rPr>
              <a:t> for: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Evaluation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expression</a:t>
            </a:r>
            <a:endParaRPr sz="19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Generating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correct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compiler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code</a:t>
            </a:r>
            <a:r>
              <a:rPr sz="1900" spc="-6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actually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compute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expression's </a:t>
            </a:r>
            <a:r>
              <a:rPr sz="1900" dirty="0">
                <a:latin typeface="Tahoma"/>
                <a:cs typeface="Tahoma"/>
              </a:rPr>
              <a:t>value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execution</a:t>
            </a:r>
            <a:r>
              <a:rPr sz="1900" spc="-20" dirty="0">
                <a:latin typeface="Tahoma"/>
                <a:cs typeface="Tahoma"/>
              </a:rPr>
              <a:t> time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Evaluating</a:t>
            </a:r>
            <a:r>
              <a:rPr spc="-65" dirty="0"/>
              <a:t> </a:t>
            </a:r>
            <a:r>
              <a:rPr dirty="0"/>
              <a:t>an</a:t>
            </a:r>
            <a:r>
              <a:rPr spc="-100" dirty="0"/>
              <a:t> </a:t>
            </a:r>
            <a:r>
              <a:rPr dirty="0"/>
              <a:t>Expression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/>
          <p:nvPr/>
        </p:nvSpPr>
        <p:spPr>
          <a:xfrm>
            <a:off x="6388608" y="41148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215645"/>
                </a:moveTo>
                <a:lnTo>
                  <a:pt x="5693" y="166191"/>
                </a:lnTo>
                <a:lnTo>
                  <a:pt x="21913" y="120798"/>
                </a:lnTo>
                <a:lnTo>
                  <a:pt x="47366" y="80758"/>
                </a:lnTo>
                <a:lnTo>
                  <a:pt x="80758" y="47366"/>
                </a:lnTo>
                <a:lnTo>
                  <a:pt x="120798" y="21913"/>
                </a:lnTo>
                <a:lnTo>
                  <a:pt x="166191" y="5693"/>
                </a:lnTo>
                <a:lnTo>
                  <a:pt x="215645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1" y="215645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5" y="431292"/>
                </a:lnTo>
                <a:lnTo>
                  <a:pt x="166191" y="425598"/>
                </a:lnTo>
                <a:lnTo>
                  <a:pt x="120798" y="409378"/>
                </a:lnTo>
                <a:lnTo>
                  <a:pt x="80758" y="383925"/>
                </a:lnTo>
                <a:lnTo>
                  <a:pt x="47366" y="350533"/>
                </a:lnTo>
                <a:lnTo>
                  <a:pt x="21913" y="310493"/>
                </a:lnTo>
                <a:lnTo>
                  <a:pt x="5693" y="265100"/>
                </a:lnTo>
                <a:lnTo>
                  <a:pt x="0" y="21564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2742" y="1090631"/>
            <a:ext cx="7901305" cy="338962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Perform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post-order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traversal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Ask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each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evaluate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itself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3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operand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evaluates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itself</a:t>
            </a:r>
            <a:r>
              <a:rPr sz="2100" spc="-6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just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returning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its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value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operator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apply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operator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To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results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evaluations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from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900">
              <a:latin typeface="Tahoma"/>
              <a:cs typeface="Tahoma"/>
            </a:endParaRPr>
          </a:p>
          <a:p>
            <a:pPr marR="1607185" algn="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74407" y="47244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215645"/>
                </a:moveTo>
                <a:lnTo>
                  <a:pt x="5693" y="166191"/>
                </a:lnTo>
                <a:lnTo>
                  <a:pt x="21913" y="120798"/>
                </a:lnTo>
                <a:lnTo>
                  <a:pt x="47366" y="80758"/>
                </a:lnTo>
                <a:lnTo>
                  <a:pt x="80758" y="47366"/>
                </a:lnTo>
                <a:lnTo>
                  <a:pt x="120798" y="21913"/>
                </a:lnTo>
                <a:lnTo>
                  <a:pt x="166191" y="5693"/>
                </a:lnTo>
                <a:lnTo>
                  <a:pt x="215646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2" y="215645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6" y="431292"/>
                </a:lnTo>
                <a:lnTo>
                  <a:pt x="166191" y="425598"/>
                </a:lnTo>
                <a:lnTo>
                  <a:pt x="120798" y="409378"/>
                </a:lnTo>
                <a:lnTo>
                  <a:pt x="80758" y="383925"/>
                </a:lnTo>
                <a:lnTo>
                  <a:pt x="47366" y="350533"/>
                </a:lnTo>
                <a:lnTo>
                  <a:pt x="21913" y="310493"/>
                </a:lnTo>
                <a:lnTo>
                  <a:pt x="5693" y="265100"/>
                </a:lnTo>
                <a:lnTo>
                  <a:pt x="0" y="21564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15631" y="4790058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*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47003" y="47244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215645"/>
                </a:moveTo>
                <a:lnTo>
                  <a:pt x="5693" y="166191"/>
                </a:lnTo>
                <a:lnTo>
                  <a:pt x="21913" y="120798"/>
                </a:lnTo>
                <a:lnTo>
                  <a:pt x="47366" y="80758"/>
                </a:lnTo>
                <a:lnTo>
                  <a:pt x="80758" y="47366"/>
                </a:lnTo>
                <a:lnTo>
                  <a:pt x="120798" y="21913"/>
                </a:lnTo>
                <a:lnTo>
                  <a:pt x="166191" y="5693"/>
                </a:lnTo>
                <a:lnTo>
                  <a:pt x="215646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2" y="215645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6" y="431292"/>
                </a:lnTo>
                <a:lnTo>
                  <a:pt x="166191" y="425598"/>
                </a:lnTo>
                <a:lnTo>
                  <a:pt x="120798" y="409378"/>
                </a:lnTo>
                <a:lnTo>
                  <a:pt x="80758" y="383925"/>
                </a:lnTo>
                <a:lnTo>
                  <a:pt x="47366" y="350533"/>
                </a:lnTo>
                <a:lnTo>
                  <a:pt x="21913" y="310493"/>
                </a:lnTo>
                <a:lnTo>
                  <a:pt x="5693" y="265100"/>
                </a:lnTo>
                <a:lnTo>
                  <a:pt x="0" y="21564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88228" y="4790058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15811" y="4478654"/>
            <a:ext cx="2042795" cy="1177290"/>
            <a:chOff x="6115811" y="4478654"/>
            <a:chExt cx="2042795" cy="1177290"/>
          </a:xfrm>
        </p:grpSpPr>
        <p:sp>
          <p:nvSpPr>
            <p:cNvPr id="10" name="object 10"/>
            <p:cNvSpPr/>
            <p:nvPr/>
          </p:nvSpPr>
          <p:spPr>
            <a:xfrm>
              <a:off x="6115812" y="4478654"/>
              <a:ext cx="1021080" cy="309880"/>
            </a:xfrm>
            <a:custGeom>
              <a:avLst/>
              <a:gdLst/>
              <a:ahLst/>
              <a:cxnLst/>
              <a:rect l="l" t="t" r="r" b="b"/>
              <a:pathLst>
                <a:path w="1021079" h="309879">
                  <a:moveTo>
                    <a:pt x="340868" y="9652"/>
                  </a:moveTo>
                  <a:lnTo>
                    <a:pt x="332232" y="254"/>
                  </a:lnTo>
                  <a:lnTo>
                    <a:pt x="52158" y="253911"/>
                  </a:lnTo>
                  <a:lnTo>
                    <a:pt x="30861" y="230378"/>
                  </a:lnTo>
                  <a:lnTo>
                    <a:pt x="0" y="309753"/>
                  </a:lnTo>
                  <a:lnTo>
                    <a:pt x="82042" y="286893"/>
                  </a:lnTo>
                  <a:lnTo>
                    <a:pt x="68351" y="271780"/>
                  </a:lnTo>
                  <a:lnTo>
                    <a:pt x="60667" y="263309"/>
                  </a:lnTo>
                  <a:lnTo>
                    <a:pt x="340868" y="9652"/>
                  </a:lnTo>
                  <a:close/>
                </a:path>
                <a:path w="1021079" h="309879">
                  <a:moveTo>
                    <a:pt x="1021080" y="309753"/>
                  </a:moveTo>
                  <a:lnTo>
                    <a:pt x="1005078" y="275082"/>
                  </a:lnTo>
                  <a:lnTo>
                    <a:pt x="985393" y="232410"/>
                  </a:lnTo>
                  <a:lnTo>
                    <a:pt x="965517" y="257213"/>
                  </a:lnTo>
                  <a:lnTo>
                    <a:pt x="644017" y="0"/>
                  </a:lnTo>
                  <a:lnTo>
                    <a:pt x="636143" y="9906"/>
                  </a:lnTo>
                  <a:lnTo>
                    <a:pt x="957554" y="267144"/>
                  </a:lnTo>
                  <a:lnTo>
                    <a:pt x="937768" y="291846"/>
                  </a:lnTo>
                  <a:lnTo>
                    <a:pt x="1021080" y="3097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22108" y="521969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6"/>
                  </a:moveTo>
                  <a:lnTo>
                    <a:pt x="5693" y="166191"/>
                  </a:lnTo>
                  <a:lnTo>
                    <a:pt x="21913" y="120798"/>
                  </a:lnTo>
                  <a:lnTo>
                    <a:pt x="47366" y="80758"/>
                  </a:lnTo>
                  <a:lnTo>
                    <a:pt x="80758" y="47366"/>
                  </a:lnTo>
                  <a:lnTo>
                    <a:pt x="120798" y="21913"/>
                  </a:lnTo>
                  <a:lnTo>
                    <a:pt x="166191" y="5693"/>
                  </a:lnTo>
                  <a:lnTo>
                    <a:pt x="215646" y="0"/>
                  </a:lnTo>
                  <a:lnTo>
                    <a:pt x="265100" y="5693"/>
                  </a:lnTo>
                  <a:lnTo>
                    <a:pt x="310493" y="21913"/>
                  </a:lnTo>
                  <a:lnTo>
                    <a:pt x="350533" y="47366"/>
                  </a:lnTo>
                  <a:lnTo>
                    <a:pt x="383925" y="80758"/>
                  </a:lnTo>
                  <a:lnTo>
                    <a:pt x="409378" y="120798"/>
                  </a:lnTo>
                  <a:lnTo>
                    <a:pt x="425598" y="166191"/>
                  </a:lnTo>
                  <a:lnTo>
                    <a:pt x="431292" y="215646"/>
                  </a:lnTo>
                  <a:lnTo>
                    <a:pt x="425598" y="265100"/>
                  </a:lnTo>
                  <a:lnTo>
                    <a:pt x="409378" y="310493"/>
                  </a:lnTo>
                  <a:lnTo>
                    <a:pt x="383925" y="350533"/>
                  </a:lnTo>
                  <a:lnTo>
                    <a:pt x="350533" y="383925"/>
                  </a:lnTo>
                  <a:lnTo>
                    <a:pt x="310493" y="409378"/>
                  </a:lnTo>
                  <a:lnTo>
                    <a:pt x="265100" y="425598"/>
                  </a:lnTo>
                  <a:lnTo>
                    <a:pt x="215646" y="431291"/>
                  </a:lnTo>
                  <a:lnTo>
                    <a:pt x="166191" y="425598"/>
                  </a:lnTo>
                  <a:lnTo>
                    <a:pt x="120798" y="409378"/>
                  </a:lnTo>
                  <a:lnTo>
                    <a:pt x="80758" y="383925"/>
                  </a:lnTo>
                  <a:lnTo>
                    <a:pt x="47366" y="350533"/>
                  </a:lnTo>
                  <a:lnTo>
                    <a:pt x="21913" y="310493"/>
                  </a:lnTo>
                  <a:lnTo>
                    <a:pt x="5693" y="265100"/>
                  </a:lnTo>
                  <a:lnTo>
                    <a:pt x="0" y="215646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63331" y="5285358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26708" y="52197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215646"/>
                </a:moveTo>
                <a:lnTo>
                  <a:pt x="5693" y="166191"/>
                </a:lnTo>
                <a:lnTo>
                  <a:pt x="21913" y="120798"/>
                </a:lnTo>
                <a:lnTo>
                  <a:pt x="47366" y="80758"/>
                </a:lnTo>
                <a:lnTo>
                  <a:pt x="80758" y="47366"/>
                </a:lnTo>
                <a:lnTo>
                  <a:pt x="120798" y="21913"/>
                </a:lnTo>
                <a:lnTo>
                  <a:pt x="166191" y="5693"/>
                </a:lnTo>
                <a:lnTo>
                  <a:pt x="215645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1" y="215646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5" y="431291"/>
                </a:lnTo>
                <a:lnTo>
                  <a:pt x="166191" y="425598"/>
                </a:lnTo>
                <a:lnTo>
                  <a:pt x="120798" y="409378"/>
                </a:lnTo>
                <a:lnTo>
                  <a:pt x="80758" y="383925"/>
                </a:lnTo>
                <a:lnTo>
                  <a:pt x="47366" y="350533"/>
                </a:lnTo>
                <a:lnTo>
                  <a:pt x="21913" y="310493"/>
                </a:lnTo>
                <a:lnTo>
                  <a:pt x="5693" y="265100"/>
                </a:lnTo>
                <a:lnTo>
                  <a:pt x="0" y="21564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89014" y="5285358"/>
            <a:ext cx="108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69607" y="5073903"/>
            <a:ext cx="1015365" cy="1229995"/>
            <a:chOff x="6769607" y="5073903"/>
            <a:chExt cx="1015365" cy="1229995"/>
          </a:xfrm>
        </p:grpSpPr>
        <p:sp>
          <p:nvSpPr>
            <p:cNvPr id="16" name="object 16"/>
            <p:cNvSpPr/>
            <p:nvPr/>
          </p:nvSpPr>
          <p:spPr>
            <a:xfrm>
              <a:off x="6769608" y="5073903"/>
              <a:ext cx="1015365" cy="210185"/>
            </a:xfrm>
            <a:custGeom>
              <a:avLst/>
              <a:gdLst/>
              <a:ahLst/>
              <a:cxnLst/>
              <a:rect l="l" t="t" r="r" b="b"/>
              <a:pathLst>
                <a:path w="1015365" h="210185">
                  <a:moveTo>
                    <a:pt x="345948" y="11176"/>
                  </a:moveTo>
                  <a:lnTo>
                    <a:pt x="339852" y="0"/>
                  </a:lnTo>
                  <a:lnTo>
                    <a:pt x="63512" y="153492"/>
                  </a:lnTo>
                  <a:lnTo>
                    <a:pt x="48133" y="125730"/>
                  </a:lnTo>
                  <a:lnTo>
                    <a:pt x="0" y="196088"/>
                  </a:lnTo>
                  <a:lnTo>
                    <a:pt x="85090" y="192405"/>
                  </a:lnTo>
                  <a:lnTo>
                    <a:pt x="73113" y="170815"/>
                  </a:lnTo>
                  <a:lnTo>
                    <a:pt x="69684" y="164630"/>
                  </a:lnTo>
                  <a:lnTo>
                    <a:pt x="345948" y="11176"/>
                  </a:lnTo>
                  <a:close/>
                </a:path>
                <a:path w="1015365" h="210185">
                  <a:moveTo>
                    <a:pt x="1014984" y="209804"/>
                  </a:moveTo>
                  <a:lnTo>
                    <a:pt x="997686" y="184531"/>
                  </a:lnTo>
                  <a:lnTo>
                    <a:pt x="966851" y="139446"/>
                  </a:lnTo>
                  <a:lnTo>
                    <a:pt x="951458" y="167208"/>
                  </a:lnTo>
                  <a:lnTo>
                    <a:pt x="675132" y="13716"/>
                  </a:lnTo>
                  <a:lnTo>
                    <a:pt x="669036" y="24892"/>
                  </a:lnTo>
                  <a:lnTo>
                    <a:pt x="945286" y="178346"/>
                  </a:lnTo>
                  <a:lnTo>
                    <a:pt x="929894" y="206121"/>
                  </a:lnTo>
                  <a:lnTo>
                    <a:pt x="1014984" y="209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01255" y="586739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5"/>
                  </a:moveTo>
                  <a:lnTo>
                    <a:pt x="5693" y="166199"/>
                  </a:lnTo>
                  <a:lnTo>
                    <a:pt x="21913" y="120809"/>
                  </a:lnTo>
                  <a:lnTo>
                    <a:pt x="47366" y="80769"/>
                  </a:lnTo>
                  <a:lnTo>
                    <a:pt x="80758" y="47374"/>
                  </a:lnTo>
                  <a:lnTo>
                    <a:pt x="120798" y="21918"/>
                  </a:lnTo>
                  <a:lnTo>
                    <a:pt x="166191" y="5695"/>
                  </a:lnTo>
                  <a:lnTo>
                    <a:pt x="215646" y="0"/>
                  </a:lnTo>
                  <a:lnTo>
                    <a:pt x="265100" y="5695"/>
                  </a:lnTo>
                  <a:lnTo>
                    <a:pt x="310493" y="21918"/>
                  </a:lnTo>
                  <a:lnTo>
                    <a:pt x="350533" y="47374"/>
                  </a:lnTo>
                  <a:lnTo>
                    <a:pt x="383925" y="80769"/>
                  </a:lnTo>
                  <a:lnTo>
                    <a:pt x="409378" y="120809"/>
                  </a:lnTo>
                  <a:lnTo>
                    <a:pt x="425598" y="166199"/>
                  </a:lnTo>
                  <a:lnTo>
                    <a:pt x="431292" y="215645"/>
                  </a:lnTo>
                  <a:lnTo>
                    <a:pt x="425598" y="265092"/>
                  </a:lnTo>
                  <a:lnTo>
                    <a:pt x="409378" y="310482"/>
                  </a:lnTo>
                  <a:lnTo>
                    <a:pt x="383925" y="350522"/>
                  </a:lnTo>
                  <a:lnTo>
                    <a:pt x="350533" y="383917"/>
                  </a:lnTo>
                  <a:lnTo>
                    <a:pt x="310493" y="409373"/>
                  </a:lnTo>
                  <a:lnTo>
                    <a:pt x="265100" y="425596"/>
                  </a:lnTo>
                  <a:lnTo>
                    <a:pt x="215646" y="431292"/>
                  </a:lnTo>
                  <a:lnTo>
                    <a:pt x="166191" y="425596"/>
                  </a:lnTo>
                  <a:lnTo>
                    <a:pt x="120798" y="409373"/>
                  </a:lnTo>
                  <a:lnTo>
                    <a:pt x="80758" y="383917"/>
                  </a:lnTo>
                  <a:lnTo>
                    <a:pt x="47366" y="350522"/>
                  </a:lnTo>
                  <a:lnTo>
                    <a:pt x="21913" y="310482"/>
                  </a:lnTo>
                  <a:lnTo>
                    <a:pt x="5693" y="265092"/>
                  </a:lnTo>
                  <a:lnTo>
                    <a:pt x="0" y="21564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42480" y="5933033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79008" y="58674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215645"/>
                </a:moveTo>
                <a:lnTo>
                  <a:pt x="5693" y="166199"/>
                </a:lnTo>
                <a:lnTo>
                  <a:pt x="21913" y="120809"/>
                </a:lnTo>
                <a:lnTo>
                  <a:pt x="47366" y="80769"/>
                </a:lnTo>
                <a:lnTo>
                  <a:pt x="80758" y="47374"/>
                </a:lnTo>
                <a:lnTo>
                  <a:pt x="120798" y="21918"/>
                </a:lnTo>
                <a:lnTo>
                  <a:pt x="166191" y="5695"/>
                </a:lnTo>
                <a:lnTo>
                  <a:pt x="215645" y="0"/>
                </a:lnTo>
                <a:lnTo>
                  <a:pt x="265100" y="5695"/>
                </a:lnTo>
                <a:lnTo>
                  <a:pt x="310493" y="21918"/>
                </a:lnTo>
                <a:lnTo>
                  <a:pt x="350533" y="47374"/>
                </a:lnTo>
                <a:lnTo>
                  <a:pt x="383925" y="80769"/>
                </a:lnTo>
                <a:lnTo>
                  <a:pt x="409378" y="120809"/>
                </a:lnTo>
                <a:lnTo>
                  <a:pt x="425598" y="166199"/>
                </a:lnTo>
                <a:lnTo>
                  <a:pt x="431291" y="215645"/>
                </a:lnTo>
                <a:lnTo>
                  <a:pt x="425598" y="265092"/>
                </a:lnTo>
                <a:lnTo>
                  <a:pt x="409378" y="310482"/>
                </a:lnTo>
                <a:lnTo>
                  <a:pt x="383925" y="350522"/>
                </a:lnTo>
                <a:lnTo>
                  <a:pt x="350533" y="383917"/>
                </a:lnTo>
                <a:lnTo>
                  <a:pt x="310493" y="409373"/>
                </a:lnTo>
                <a:lnTo>
                  <a:pt x="265100" y="425596"/>
                </a:lnTo>
                <a:lnTo>
                  <a:pt x="215645" y="431292"/>
                </a:lnTo>
                <a:lnTo>
                  <a:pt x="166191" y="425596"/>
                </a:lnTo>
                <a:lnTo>
                  <a:pt x="120798" y="409373"/>
                </a:lnTo>
                <a:lnTo>
                  <a:pt x="80758" y="383917"/>
                </a:lnTo>
                <a:lnTo>
                  <a:pt x="47366" y="350522"/>
                </a:lnTo>
                <a:lnTo>
                  <a:pt x="21913" y="310482"/>
                </a:lnTo>
                <a:lnTo>
                  <a:pt x="5693" y="265092"/>
                </a:lnTo>
                <a:lnTo>
                  <a:pt x="0" y="21564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19978" y="5933033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46292" y="5584063"/>
            <a:ext cx="917575" cy="347345"/>
          </a:xfrm>
          <a:custGeom>
            <a:avLst/>
            <a:gdLst/>
            <a:ahLst/>
            <a:cxnLst/>
            <a:rect l="l" t="t" r="r" b="b"/>
            <a:pathLst>
              <a:path w="917575" h="347345">
                <a:moveTo>
                  <a:pt x="347345" y="8928"/>
                </a:moveTo>
                <a:lnTo>
                  <a:pt x="338455" y="0"/>
                </a:lnTo>
                <a:lnTo>
                  <a:pt x="49364" y="288988"/>
                </a:lnTo>
                <a:lnTo>
                  <a:pt x="26924" y="266522"/>
                </a:lnTo>
                <a:lnTo>
                  <a:pt x="0" y="347345"/>
                </a:lnTo>
                <a:lnTo>
                  <a:pt x="80772" y="320408"/>
                </a:lnTo>
                <a:lnTo>
                  <a:pt x="67297" y="306933"/>
                </a:lnTo>
                <a:lnTo>
                  <a:pt x="58356" y="297980"/>
                </a:lnTo>
                <a:lnTo>
                  <a:pt x="347345" y="8928"/>
                </a:lnTo>
                <a:close/>
              </a:path>
              <a:path w="917575" h="347345">
                <a:moveTo>
                  <a:pt x="917575" y="347345"/>
                </a:moveTo>
                <a:lnTo>
                  <a:pt x="908126" y="301371"/>
                </a:lnTo>
                <a:lnTo>
                  <a:pt x="900430" y="263906"/>
                </a:lnTo>
                <a:lnTo>
                  <a:pt x="875436" y="283552"/>
                </a:lnTo>
                <a:lnTo>
                  <a:pt x="652653" y="508"/>
                </a:lnTo>
                <a:lnTo>
                  <a:pt x="642747" y="8369"/>
                </a:lnTo>
                <a:lnTo>
                  <a:pt x="865416" y="291426"/>
                </a:lnTo>
                <a:lnTo>
                  <a:pt x="840486" y="311023"/>
                </a:lnTo>
                <a:lnTo>
                  <a:pt x="917575" y="3473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2627" y="4687823"/>
            <a:ext cx="4916805" cy="784860"/>
          </a:xfrm>
          <a:custGeom>
            <a:avLst/>
            <a:gdLst/>
            <a:ahLst/>
            <a:cxnLst/>
            <a:rect l="l" t="t" r="r" b="b"/>
            <a:pathLst>
              <a:path w="4916805" h="784860">
                <a:moveTo>
                  <a:pt x="0" y="784860"/>
                </a:moveTo>
                <a:lnTo>
                  <a:pt x="4916424" y="784860"/>
                </a:lnTo>
                <a:lnTo>
                  <a:pt x="4916424" y="0"/>
                </a:lnTo>
                <a:lnTo>
                  <a:pt x="0" y="0"/>
                </a:lnTo>
                <a:lnTo>
                  <a:pt x="0" y="784860"/>
                </a:lnTo>
                <a:close/>
              </a:path>
            </a:pathLst>
          </a:custGeom>
          <a:ln w="9144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4677" y="4719650"/>
            <a:ext cx="2037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Order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evaluation: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3330828" y="4582113"/>
            <a:ext cx="1883410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185"/>
              </a:spcBef>
              <a:tabLst>
                <a:tab pos="851535" algn="l"/>
                <a:tab pos="1464310" algn="l"/>
              </a:tabLst>
            </a:pPr>
            <a:r>
              <a:rPr sz="1800" b="1" spc="-50" dirty="0">
                <a:solidFill>
                  <a:srgbClr val="FF0000"/>
                </a:solidFill>
                <a:latin typeface="Tahoma"/>
                <a:cs typeface="Tahoma"/>
              </a:rPr>
              <a:t>3</a:t>
            </a:r>
            <a:r>
              <a:rPr sz="1800" b="1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b="1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ahoma"/>
                <a:cs typeface="Tahoma"/>
              </a:rPr>
              <a:t>(2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+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((5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1)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*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3))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Evaluating</a:t>
            </a:r>
            <a:r>
              <a:rPr spc="-35" dirty="0"/>
              <a:t> </a:t>
            </a:r>
            <a:r>
              <a:rPr dirty="0"/>
              <a:t>an</a:t>
            </a:r>
            <a:r>
              <a:rPr spc="-75" dirty="0"/>
              <a:t> </a:t>
            </a:r>
            <a:r>
              <a:rPr dirty="0"/>
              <a:t>Expression</a:t>
            </a:r>
            <a:r>
              <a:rPr spc="-65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dirty="0"/>
              <a:t>–</a:t>
            </a:r>
            <a:r>
              <a:rPr spc="-8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1722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Expression: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9538" y="1092454"/>
            <a:ext cx="212026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>
              <a:lnSpc>
                <a:spcPct val="120000"/>
              </a:lnSpc>
              <a:spcBef>
                <a:spcPts val="100"/>
              </a:spcBef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+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 +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*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* </a:t>
            </a:r>
            <a:r>
              <a:rPr sz="2100" dirty="0">
                <a:latin typeface="Tahoma"/>
                <a:cs typeface="Tahoma"/>
              </a:rPr>
              <a:t>1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2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+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3 4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5 + * </a:t>
            </a:r>
            <a:r>
              <a:rPr sz="2100" spc="-50" dirty="0">
                <a:latin typeface="Tahoma"/>
                <a:cs typeface="Tahoma"/>
              </a:rPr>
              <a:t>*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2564892"/>
            <a:ext cx="5455834" cy="33723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Evaluating</a:t>
            </a:r>
            <a:r>
              <a:rPr spc="-35" dirty="0"/>
              <a:t> </a:t>
            </a:r>
            <a:r>
              <a:rPr dirty="0"/>
              <a:t>an</a:t>
            </a:r>
            <a:r>
              <a:rPr spc="-75" dirty="0"/>
              <a:t> </a:t>
            </a:r>
            <a:r>
              <a:rPr dirty="0"/>
              <a:t>Expression</a:t>
            </a:r>
            <a:r>
              <a:rPr spc="-65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89406"/>
            <a:ext cx="7672705" cy="29889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Consolas"/>
              <a:buAutoNum type="arabicPlain"/>
              <a:tabLst>
                <a:tab pos="387350" algn="l"/>
              </a:tabLst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evaluate</a:t>
            </a:r>
            <a:r>
              <a:rPr sz="1800" dirty="0">
                <a:latin typeface="Consolas"/>
                <a:cs typeface="Consolas"/>
              </a:rPr>
              <a:t>(ExpressionTree</a:t>
            </a:r>
            <a:r>
              <a:rPr sz="1800" spc="-95" dirty="0">
                <a:latin typeface="Consolas"/>
                <a:cs typeface="Consolas"/>
              </a:rPr>
              <a:t> </a:t>
            </a:r>
            <a:r>
              <a:rPr sz="1800" spc="-25" dirty="0">
                <a:latin typeface="Consolas"/>
                <a:cs typeface="Consolas"/>
              </a:rPr>
              <a:t>t){</a:t>
            </a:r>
            <a:endParaRPr sz="1800">
              <a:latin typeface="Consolas"/>
              <a:cs typeface="Consolas"/>
            </a:endParaRPr>
          </a:p>
          <a:p>
            <a:pPr marL="763905" indent="-751205">
              <a:lnSpc>
                <a:spcPct val="100000"/>
              </a:lnSpc>
              <a:spcBef>
                <a:spcPts val="430"/>
              </a:spcBef>
              <a:buClr>
                <a:srgbClr val="000000"/>
              </a:buClr>
              <a:buFont typeface="Consolas"/>
              <a:buAutoNum type="arabicPlain"/>
              <a:tabLst>
                <a:tab pos="763905" algn="l"/>
              </a:tabLst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dirty="0">
                <a:latin typeface="Consolas"/>
                <a:cs typeface="Consolas"/>
              </a:rPr>
              <a:t>(t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is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a</a:t>
            </a:r>
            <a:r>
              <a:rPr sz="1800" spc="-20" dirty="0">
                <a:latin typeface="Consolas"/>
                <a:cs typeface="Consolas"/>
              </a:rPr>
              <a:t> leaf)</a:t>
            </a:r>
            <a:endParaRPr sz="1800">
              <a:latin typeface="Consolas"/>
              <a:cs typeface="Consolas"/>
            </a:endParaRPr>
          </a:p>
          <a:p>
            <a:pPr marL="1139825" indent="-1127125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Consolas"/>
              <a:buAutoNum type="arabicPlain"/>
              <a:tabLst>
                <a:tab pos="1139825" algn="l"/>
              </a:tabLst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return</a:t>
            </a:r>
            <a:r>
              <a:rPr sz="1800" b="1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value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of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t's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operand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763905" indent="-751205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Consolas"/>
              <a:buAutoNum type="arabicPlain"/>
              <a:tabLst>
                <a:tab pos="763905" algn="l"/>
              </a:tabLst>
            </a:pPr>
            <a:r>
              <a:rPr sz="1800" b="1" spc="-1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0" dirty="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139825" indent="-1127125">
              <a:lnSpc>
                <a:spcPct val="100000"/>
              </a:lnSpc>
              <a:spcBef>
                <a:spcPts val="430"/>
              </a:spcBef>
              <a:buAutoNum type="arabicPlain"/>
              <a:tabLst>
                <a:tab pos="1139825" algn="l"/>
                <a:tab pos="2644775" algn="l"/>
              </a:tabLst>
            </a:pPr>
            <a:r>
              <a:rPr sz="1800" dirty="0">
                <a:latin typeface="Consolas"/>
                <a:cs typeface="Consolas"/>
              </a:rPr>
              <a:t>operator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=</a:t>
            </a:r>
            <a:r>
              <a:rPr sz="1800" dirty="0">
                <a:latin typeface="Consolas"/>
                <a:cs typeface="Consolas"/>
              </a:rPr>
              <a:t>	t.element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139825" indent="-1127125">
              <a:lnSpc>
                <a:spcPct val="100000"/>
              </a:lnSpc>
              <a:spcBef>
                <a:spcPts val="434"/>
              </a:spcBef>
              <a:buAutoNum type="arabicPlain"/>
              <a:tabLst>
                <a:tab pos="1139825" algn="l"/>
              </a:tabLst>
            </a:pPr>
            <a:r>
              <a:rPr sz="1800" dirty="0">
                <a:latin typeface="Consolas"/>
                <a:cs typeface="Consolas"/>
              </a:rPr>
              <a:t>operand1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evaluate(t.left)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139825" indent="-1127125">
              <a:lnSpc>
                <a:spcPct val="100000"/>
              </a:lnSpc>
              <a:spcBef>
                <a:spcPts val="430"/>
              </a:spcBef>
              <a:buAutoNum type="arabicPlain"/>
              <a:tabLst>
                <a:tab pos="1139825" algn="l"/>
              </a:tabLst>
            </a:pPr>
            <a:r>
              <a:rPr sz="1800" dirty="0">
                <a:latin typeface="Consolas"/>
                <a:cs typeface="Consolas"/>
              </a:rPr>
              <a:t>operand2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evaluate(t.right)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 marR="5080" indent="1127125">
              <a:lnSpc>
                <a:spcPct val="120000"/>
              </a:lnSpc>
              <a:buClr>
                <a:srgbClr val="000000"/>
              </a:buClr>
              <a:buFont typeface="Consolas"/>
              <a:buAutoNum type="arabicPlain"/>
              <a:tabLst>
                <a:tab pos="1139825" algn="l"/>
              </a:tabLst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return</a:t>
            </a:r>
            <a:r>
              <a:rPr sz="1800" dirty="0">
                <a:latin typeface="Consolas"/>
                <a:cs typeface="Consolas"/>
              </a:rPr>
              <a:t>(applyOperator(operand1,</a:t>
            </a:r>
            <a:r>
              <a:rPr sz="1800" spc="-7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operator,</a:t>
            </a:r>
            <a:r>
              <a:rPr sz="1800" spc="-7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operand2)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; 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4074" y="3778377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4107560"/>
            <a:ext cx="526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olas"/>
                <a:cs typeface="Consolas"/>
              </a:rPr>
              <a:t>10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Any</a:t>
            </a:r>
            <a:r>
              <a:rPr spc="-70" dirty="0"/>
              <a:t> </a:t>
            </a:r>
            <a:r>
              <a:rPr dirty="0"/>
              <a:t>Question</a:t>
            </a:r>
            <a:r>
              <a:rPr spc="-55" dirty="0"/>
              <a:t> </a:t>
            </a:r>
            <a:r>
              <a:rPr dirty="0"/>
              <a:t>So</a:t>
            </a:r>
            <a:r>
              <a:rPr spc="-65" dirty="0"/>
              <a:t> </a:t>
            </a:r>
            <a:r>
              <a:rPr spc="-20" dirty="0"/>
              <a:t>Far?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0" y="1412843"/>
            <a:ext cx="3641010" cy="46802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16-</a:t>
            </a:r>
            <a:r>
              <a:rPr spc="-25" dirty="0"/>
              <a:t>Tree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2332</Words>
  <Application>Microsoft Office PowerPoint</Application>
  <PresentationFormat>On-screen Show (4:3)</PresentationFormat>
  <Paragraphs>491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Cascadia Mono</vt:lpstr>
      <vt:lpstr>Consolas</vt:lpstr>
      <vt:lpstr>Tahoma</vt:lpstr>
      <vt:lpstr>Times New Roman</vt:lpstr>
      <vt:lpstr>Wingdings</vt:lpstr>
      <vt:lpstr>Office Theme</vt:lpstr>
      <vt:lpstr>Data Structures</vt:lpstr>
      <vt:lpstr>Tree ADT</vt:lpstr>
      <vt:lpstr>Binary Tree Storage</vt:lpstr>
      <vt:lpstr>Linked List Storage</vt:lpstr>
      <vt:lpstr>As Linked List Structure (1)</vt:lpstr>
      <vt:lpstr>As Linked List Structure: Example</vt:lpstr>
      <vt:lpstr>Tree Traversal</vt:lpstr>
      <vt:lpstr>Tree Traversal</vt:lpstr>
      <vt:lpstr>Breadth-First Traversal (For Arbitrary Trees)</vt:lpstr>
      <vt:lpstr>Breadth-First Traversal – Implementation</vt:lpstr>
      <vt:lpstr>Depth-First Traversal (For Arbitrary Trees)</vt:lpstr>
      <vt:lpstr>Depth-First Tree Traversal (Binary Trees)</vt:lpstr>
      <vt:lpstr>Inorder Traversal</vt:lpstr>
      <vt:lpstr>Inorder Traversal</vt:lpstr>
      <vt:lpstr>Inorder Traversal</vt:lpstr>
      <vt:lpstr>Inorder Traversal – Implementation</vt:lpstr>
      <vt:lpstr>Inorder Traversal – Implementation</vt:lpstr>
      <vt:lpstr>Preorder Traversal</vt:lpstr>
      <vt:lpstr>Preorder Traversal – Implementation</vt:lpstr>
      <vt:lpstr>Postorder Traversal</vt:lpstr>
      <vt:lpstr>Postorder Traversal – Implementation</vt:lpstr>
      <vt:lpstr>Example: Printing a Directory Hierarchy</vt:lpstr>
      <vt:lpstr>Expression Tree</vt:lpstr>
      <vt:lpstr>Expression Tree</vt:lpstr>
      <vt:lpstr>Convert Postfix into Expression Tree – Algorithm</vt:lpstr>
      <vt:lpstr>Convert Postfix into Expression Tree – Example (1)</vt:lpstr>
      <vt:lpstr>Convert Postfix into Expression Tree – Example (2)</vt:lpstr>
      <vt:lpstr>Convert Postfix into Expression Tree – Example (3)</vt:lpstr>
      <vt:lpstr>Convert Postfix into Expression Tree – Example (4)</vt:lpstr>
      <vt:lpstr>Convert Postfix into Expression Tree – Example (5)</vt:lpstr>
      <vt:lpstr>Convert Postfix into Expression Tree – Example (6)</vt:lpstr>
      <vt:lpstr>Why Expression Tree?</vt:lpstr>
      <vt:lpstr>Evaluating an Expression Tree</vt:lpstr>
      <vt:lpstr>Evaluating an Expression Tree – Example</vt:lpstr>
      <vt:lpstr>Evaluating an Expression Tree - Implementation</vt:lpstr>
      <vt:lpstr>Any Question So Far?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user</cp:lastModifiedBy>
  <cp:revision>8</cp:revision>
  <dcterms:created xsi:type="dcterms:W3CDTF">2025-05-15T03:44:18Z</dcterms:created>
  <dcterms:modified xsi:type="dcterms:W3CDTF">2025-05-15T08:45:05Z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2025-05-15T00:00:00Z</vt:filetime>
  </property>
  <property fmtid="{D5CDD505-2E9C-101B-9397-08002B2CF9AE}" pid="5" name="Producer">
    <vt:lpwstr>Microsoft® PowerPoint® 2016</vt:lpwstr>
  </property>
</Properties>
</file>