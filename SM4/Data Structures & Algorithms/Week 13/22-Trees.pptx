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92" r:id="rId25"/>
    <p:sldId id="279" r:id="rId26"/>
    <p:sldId id="293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4611" y="3500628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35273" y="2352243"/>
            <a:ext cx="2473452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69941" y="1349120"/>
            <a:ext cx="2972434" cy="3812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1459" y="1053083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0200" y="308229"/>
            <a:ext cx="8059267" cy="493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7948930" cy="1875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8470" y="6414530"/>
            <a:ext cx="611504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1384" y="6414530"/>
            <a:ext cx="284479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66438" y="6278067"/>
            <a:ext cx="6115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0" dirty="0">
                <a:latin typeface="Tahoma"/>
                <a:cs typeface="Tahoma"/>
              </a:rPr>
              <a:t>15-</a:t>
            </a:r>
            <a:r>
              <a:rPr sz="1400" spc="-25" dirty="0">
                <a:latin typeface="Tahoma"/>
                <a:cs typeface="Tahoma"/>
              </a:rPr>
              <a:t>Tree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4869" y="6278067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50" dirty="0"/>
              <a:t> </a:t>
            </a:r>
            <a:r>
              <a:rPr spc="-10" dirty="0"/>
              <a:t>Structures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14852" y="3748227"/>
            <a:ext cx="31781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Tahoma"/>
                <a:cs typeface="Tahoma"/>
              </a:rPr>
              <a:t>15.</a:t>
            </a:r>
            <a:r>
              <a:rPr sz="2100" b="1" spc="-25" dirty="0">
                <a:latin typeface="Tahoma"/>
                <a:cs typeface="Tahoma"/>
              </a:rPr>
              <a:t> </a:t>
            </a:r>
            <a:r>
              <a:rPr sz="2100" b="1" dirty="0">
                <a:latin typeface="Tahoma"/>
                <a:cs typeface="Tahoma"/>
              </a:rPr>
              <a:t>Tree</a:t>
            </a:r>
            <a:r>
              <a:rPr sz="2100" b="1" spc="-35" dirty="0">
                <a:latin typeface="Tahoma"/>
                <a:cs typeface="Tahoma"/>
              </a:rPr>
              <a:t> </a:t>
            </a:r>
            <a:r>
              <a:rPr sz="2100" b="1" dirty="0">
                <a:latin typeface="Tahoma"/>
                <a:cs typeface="Tahoma"/>
              </a:rPr>
              <a:t>Data</a:t>
            </a:r>
            <a:r>
              <a:rPr sz="2100" b="1" spc="-35" dirty="0">
                <a:latin typeface="Tahoma"/>
                <a:cs typeface="Tahoma"/>
              </a:rPr>
              <a:t> </a:t>
            </a:r>
            <a:r>
              <a:rPr sz="2100" b="1" spc="-10" dirty="0">
                <a:latin typeface="Tahoma"/>
                <a:cs typeface="Tahoma"/>
              </a:rPr>
              <a:t>Structure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312726"/>
            <a:ext cx="5328920" cy="25196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"/>
              </a:spcBef>
              <a:buSzPct val="95454"/>
              <a:buFont typeface="Tahoma"/>
              <a:buChar char="•"/>
              <a:tabLst>
                <a:tab pos="354965" algn="l"/>
              </a:tabLst>
            </a:pPr>
            <a:r>
              <a:rPr sz="2200" i="1" spc="-45" dirty="0">
                <a:latin typeface="Tahoma"/>
                <a:cs typeface="Tahoma"/>
              </a:rPr>
              <a:t>Hierarchical</a:t>
            </a:r>
            <a:r>
              <a:rPr sz="2200" i="1" spc="-6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data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structure</a:t>
            </a: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75"/>
              </a:spcBef>
              <a:buFont typeface="Tahoma"/>
              <a:buChar char="•"/>
            </a:pP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Examples: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TOC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book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shallow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structure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family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894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sz="1900" spc="-10" dirty="0">
                <a:latin typeface="Tahoma"/>
                <a:cs typeface="Tahoma"/>
              </a:rPr>
              <a:t>Others?</a:t>
            </a:r>
            <a:endParaRPr sz="19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Unix</a:t>
            </a:r>
            <a:r>
              <a:rPr spc="-5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dirty="0"/>
              <a:t>Windows</a:t>
            </a:r>
            <a:r>
              <a:rPr spc="-30" dirty="0"/>
              <a:t> </a:t>
            </a:r>
            <a:r>
              <a:rPr dirty="0"/>
              <a:t>file</a:t>
            </a:r>
            <a:r>
              <a:rPr spc="-60" dirty="0"/>
              <a:t> </a:t>
            </a:r>
            <a:r>
              <a:rPr spc="-10" dirty="0"/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270" y="2196792"/>
            <a:ext cx="5435717" cy="39663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7919084" cy="183768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rooted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data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structure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stores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information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Similar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lists: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There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first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or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root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Each</a:t>
            </a:r>
            <a:r>
              <a:rPr sz="1900" spc="-6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variable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number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references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19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successors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Each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other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root,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exactly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one</a:t>
            </a:r>
            <a:r>
              <a:rPr sz="19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node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pointing</a:t>
            </a:r>
            <a:r>
              <a:rPr sz="19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19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it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9914" y="3183502"/>
            <a:ext cx="3804170" cy="28318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105" dirty="0"/>
              <a:t> </a:t>
            </a:r>
            <a:r>
              <a:rPr dirty="0"/>
              <a:t>Parent</a:t>
            </a:r>
            <a:r>
              <a:rPr spc="-95" dirty="0"/>
              <a:t> </a:t>
            </a:r>
            <a:r>
              <a:rPr dirty="0"/>
              <a:t>Child</a:t>
            </a:r>
            <a:r>
              <a:rPr spc="-105" dirty="0"/>
              <a:t> </a:t>
            </a:r>
            <a:r>
              <a:rPr spc="-10" dirty="0"/>
              <a:t>Relations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dirty="0"/>
              <a:t>All</a:t>
            </a:r>
            <a:r>
              <a:rPr spc="-20" dirty="0"/>
              <a:t> </a:t>
            </a:r>
            <a:r>
              <a:rPr dirty="0"/>
              <a:t>nodes</a:t>
            </a:r>
            <a:r>
              <a:rPr spc="-30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have</a:t>
            </a:r>
            <a:r>
              <a:rPr spc="-15" dirty="0"/>
              <a:t> </a:t>
            </a:r>
            <a:r>
              <a:rPr dirty="0"/>
              <a:t>zero</a:t>
            </a:r>
            <a:r>
              <a:rPr spc="-10" dirty="0"/>
              <a:t> </a:t>
            </a:r>
            <a:r>
              <a:rPr dirty="0"/>
              <a:t>or</a:t>
            </a:r>
            <a:r>
              <a:rPr spc="-15" dirty="0"/>
              <a:t> </a:t>
            </a:r>
            <a:r>
              <a:rPr dirty="0"/>
              <a:t>more</a:t>
            </a:r>
            <a:r>
              <a:rPr spc="-15" dirty="0"/>
              <a:t> </a:t>
            </a:r>
            <a:r>
              <a:rPr dirty="0"/>
              <a:t>child</a:t>
            </a:r>
            <a:r>
              <a:rPr spc="-10" dirty="0"/>
              <a:t> </a:t>
            </a:r>
            <a:r>
              <a:rPr dirty="0"/>
              <a:t>nodes</a:t>
            </a:r>
            <a:r>
              <a:rPr spc="-35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spc="-10" dirty="0"/>
              <a:t>children</a:t>
            </a: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  <a:tab pos="3078480" algn="l"/>
              </a:tabLst>
            </a:pPr>
            <a:r>
              <a:rPr sz="1900" dirty="0">
                <a:latin typeface="Tahoma"/>
                <a:cs typeface="Tahoma"/>
              </a:rPr>
              <a:t>I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three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children:</a:t>
            </a:r>
            <a:r>
              <a:rPr sz="1900" dirty="0">
                <a:latin typeface="Tahoma"/>
                <a:cs typeface="Tahoma"/>
              </a:rPr>
              <a:t>	J,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K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L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30"/>
              </a:spcBef>
              <a:buFont typeface="Tahoma"/>
              <a:buChar char="–"/>
            </a:pPr>
            <a:endParaRPr sz="1900"/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/>
              <a:t>For</a:t>
            </a:r>
            <a:r>
              <a:rPr spc="-1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nodes</a:t>
            </a:r>
            <a:r>
              <a:rPr spc="-20" dirty="0"/>
              <a:t> </a:t>
            </a:r>
            <a:r>
              <a:rPr dirty="0"/>
              <a:t>other</a:t>
            </a:r>
            <a:r>
              <a:rPr spc="-20" dirty="0"/>
              <a:t> </a:t>
            </a:r>
            <a:r>
              <a:rPr dirty="0"/>
              <a:t>than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root</a:t>
            </a:r>
            <a:r>
              <a:rPr spc="-20" dirty="0"/>
              <a:t> </a:t>
            </a:r>
            <a:r>
              <a:rPr dirty="0"/>
              <a:t>node,</a:t>
            </a:r>
            <a:r>
              <a:rPr spc="-20" dirty="0"/>
              <a:t> </a:t>
            </a:r>
            <a:r>
              <a:rPr dirty="0"/>
              <a:t>there</a:t>
            </a:r>
            <a:r>
              <a:rPr spc="-3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one</a:t>
            </a:r>
            <a:r>
              <a:rPr spc="-20" dirty="0"/>
              <a:t> </a:t>
            </a:r>
            <a:r>
              <a:rPr dirty="0"/>
              <a:t>parent</a:t>
            </a:r>
            <a:r>
              <a:rPr spc="-25" dirty="0"/>
              <a:t> </a:t>
            </a:r>
            <a:r>
              <a:rPr spc="-20" dirty="0"/>
              <a:t>node</a:t>
            </a: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H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parent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I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7608" y="3267488"/>
            <a:ext cx="1719071" cy="25008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150" dirty="0"/>
              <a:t> </a:t>
            </a:r>
            <a:r>
              <a:rPr spc="-10" dirty="0"/>
              <a:t>Degree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599045" cy="1875789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degree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defined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number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its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deg(I)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=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3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3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Nodes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same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parent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10" dirty="0">
                <a:latin typeface="Tahoma"/>
                <a:cs typeface="Tahoma"/>
              </a:rPr>
              <a:t> siblings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J,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K,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 L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 </a:t>
            </a:r>
            <a:r>
              <a:rPr sz="1900" spc="-10" dirty="0">
                <a:latin typeface="Tahoma"/>
                <a:cs typeface="Tahoma"/>
              </a:rPr>
              <a:t>siblings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6752" y="3124200"/>
            <a:ext cx="1719072" cy="24993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65" dirty="0"/>
              <a:t> </a:t>
            </a:r>
            <a:r>
              <a:rPr dirty="0"/>
              <a:t>Leaf</a:t>
            </a:r>
            <a:r>
              <a:rPr spc="-8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Internal</a:t>
            </a:r>
            <a:r>
              <a:rPr spc="-55" dirty="0"/>
              <a:t> </a:t>
            </a:r>
            <a:r>
              <a:rPr spc="-10" dirty="0"/>
              <a:t>Nodes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7626350" cy="111442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Nodes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degree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zero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also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called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leaf</a:t>
            </a:r>
            <a:r>
              <a:rPr sz="21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spc="-10" dirty="0">
                <a:solidFill>
                  <a:srgbClr val="006FC0"/>
                </a:solidFill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05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All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other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said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internal</a:t>
            </a:r>
            <a:r>
              <a:rPr sz="21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nodes</a:t>
            </a:r>
            <a:r>
              <a:rPr sz="2100" dirty="0">
                <a:latin typeface="Tahoma"/>
                <a:cs typeface="Tahoma"/>
              </a:rPr>
              <a:t>,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is,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they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are </a:t>
            </a:r>
            <a:r>
              <a:rPr sz="2100" dirty="0">
                <a:latin typeface="Tahoma"/>
                <a:cs typeface="Tahoma"/>
              </a:rPr>
              <a:t>internal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 the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3951" y="2752321"/>
            <a:ext cx="3816096" cy="283925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150" dirty="0"/>
              <a:t> </a:t>
            </a:r>
            <a:r>
              <a:rPr spc="-20" dirty="0"/>
              <a:t>Path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042" y="1079963"/>
            <a:ext cx="6275705" cy="188658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path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sequence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(</a:t>
            </a:r>
            <a:r>
              <a:rPr sz="2100" dirty="0">
                <a:latin typeface="Consolas"/>
                <a:cs typeface="Consolas"/>
              </a:rPr>
              <a:t>a</a:t>
            </a:r>
            <a:r>
              <a:rPr sz="2100" baseline="-19841" dirty="0">
                <a:latin typeface="Consolas"/>
                <a:cs typeface="Consolas"/>
              </a:rPr>
              <a:t>0</a:t>
            </a:r>
            <a:r>
              <a:rPr sz="2100" dirty="0">
                <a:latin typeface="Consolas"/>
                <a:cs typeface="Consolas"/>
              </a:rPr>
              <a:t>,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a</a:t>
            </a:r>
            <a:r>
              <a:rPr sz="2100" baseline="-19841" dirty="0">
                <a:latin typeface="Consolas"/>
                <a:cs typeface="Consolas"/>
              </a:rPr>
              <a:t>1</a:t>
            </a:r>
            <a:r>
              <a:rPr sz="2100" dirty="0">
                <a:latin typeface="Consolas"/>
                <a:cs typeface="Consolas"/>
              </a:rPr>
              <a:t>,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...,</a:t>
            </a:r>
            <a:r>
              <a:rPr sz="2100" spc="-45" dirty="0">
                <a:latin typeface="Consolas"/>
                <a:cs typeface="Consolas"/>
              </a:rPr>
              <a:t> </a:t>
            </a:r>
            <a:r>
              <a:rPr sz="2100" spc="-25" dirty="0">
                <a:latin typeface="Consolas"/>
                <a:cs typeface="Consolas"/>
              </a:rPr>
              <a:t>a</a:t>
            </a:r>
            <a:r>
              <a:rPr sz="2100" spc="-37" baseline="-19841" dirty="0">
                <a:latin typeface="Consolas"/>
                <a:cs typeface="Consolas"/>
              </a:rPr>
              <a:t>n</a:t>
            </a:r>
            <a:r>
              <a:rPr sz="2100" spc="-25" dirty="0">
                <a:latin typeface="Tahoma"/>
                <a:cs typeface="Tahoma"/>
              </a:rPr>
              <a:t>)</a:t>
            </a:r>
            <a:endParaRPr sz="2100">
              <a:latin typeface="Tahoma"/>
              <a:cs typeface="Tahoma"/>
            </a:endParaRPr>
          </a:p>
          <a:p>
            <a:pPr marL="7689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68985" algn="l"/>
                <a:tab pos="2072005" algn="l"/>
              </a:tabLst>
            </a:pPr>
            <a:r>
              <a:rPr sz="1900" dirty="0">
                <a:latin typeface="Tahoma"/>
                <a:cs typeface="Tahoma"/>
              </a:rPr>
              <a:t>Where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spc="-20" dirty="0">
                <a:latin typeface="Consolas"/>
                <a:cs typeface="Consolas"/>
              </a:rPr>
              <a:t>a</a:t>
            </a:r>
            <a:r>
              <a:rPr sz="1875" spc="-30" baseline="-20000" dirty="0">
                <a:latin typeface="Consolas"/>
                <a:cs typeface="Consolas"/>
              </a:rPr>
              <a:t>k+1</a:t>
            </a:r>
            <a:r>
              <a:rPr sz="1875" baseline="-20000" dirty="0">
                <a:latin typeface="Consolas"/>
                <a:cs typeface="Consolas"/>
              </a:rPr>
              <a:t>	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spc="-25" dirty="0">
                <a:latin typeface="Consolas"/>
                <a:cs typeface="Consolas"/>
              </a:rPr>
              <a:t>a</a:t>
            </a:r>
            <a:r>
              <a:rPr sz="1875" spc="-37" baseline="-20000" dirty="0">
                <a:latin typeface="Consolas"/>
                <a:cs typeface="Consolas"/>
              </a:rPr>
              <a:t>k</a:t>
            </a:r>
            <a:endParaRPr sz="1875" baseline="-2000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spcBef>
                <a:spcPts val="1380"/>
              </a:spcBef>
              <a:buFont typeface="Tahoma"/>
              <a:buChar char="–"/>
            </a:pPr>
            <a:endParaRPr sz="1900">
              <a:latin typeface="Consolas"/>
              <a:cs typeface="Consolas"/>
            </a:endParaRPr>
          </a:p>
          <a:p>
            <a:pPr marL="3676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length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this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path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n</a:t>
            </a:r>
            <a:endParaRPr sz="2100">
              <a:latin typeface="Tahoma"/>
              <a:cs typeface="Tahoma"/>
            </a:endParaRPr>
          </a:p>
          <a:p>
            <a:pPr marL="7689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68985" algn="l"/>
              </a:tabLst>
            </a:pPr>
            <a:r>
              <a:rPr sz="1900" dirty="0">
                <a:latin typeface="Tahoma"/>
                <a:cs typeface="Tahoma"/>
              </a:rPr>
              <a:t>For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example,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path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(B,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E,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G)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length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2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3951" y="3255264"/>
            <a:ext cx="3816096" cy="28407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66784" y="6414530"/>
            <a:ext cx="220979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80" dirty="0"/>
              <a:t> </a:t>
            </a:r>
            <a:r>
              <a:rPr dirty="0"/>
              <a:t>Depth</a:t>
            </a:r>
            <a:r>
              <a:rPr spc="-85" dirty="0"/>
              <a:t> </a:t>
            </a:r>
            <a:r>
              <a:rPr dirty="0"/>
              <a:t>(or</a:t>
            </a:r>
            <a:r>
              <a:rPr spc="-85" dirty="0"/>
              <a:t> </a:t>
            </a:r>
            <a:r>
              <a:rPr spc="-10" dirty="0"/>
              <a:t>Level)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8004175" cy="213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For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each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there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exists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unique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path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from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root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node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length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this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path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depth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e.g.,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depth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2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depth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3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12335" y="3186661"/>
            <a:ext cx="4464050" cy="2839720"/>
            <a:chOff x="4212335" y="3186661"/>
            <a:chExt cx="4464050" cy="28397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0955" y="3186661"/>
              <a:ext cx="3816095" cy="28392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12335" y="5015483"/>
              <a:ext cx="4464050" cy="850900"/>
            </a:xfrm>
            <a:custGeom>
              <a:avLst/>
              <a:gdLst/>
              <a:ahLst/>
              <a:cxnLst/>
              <a:rect l="l" t="t" r="r" b="b"/>
              <a:pathLst>
                <a:path w="4464050" h="850900">
                  <a:moveTo>
                    <a:pt x="0" y="850392"/>
                  </a:moveTo>
                  <a:lnTo>
                    <a:pt x="4174236" y="850392"/>
                  </a:lnTo>
                </a:path>
                <a:path w="4464050" h="850900">
                  <a:moveTo>
                    <a:pt x="70103" y="0"/>
                  </a:moveTo>
                  <a:lnTo>
                    <a:pt x="4463795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66784" y="6414530"/>
            <a:ext cx="220979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Tahoma"/>
                <a:cs typeface="Tahoma"/>
              </a:rPr>
              <a:t>12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150" dirty="0"/>
              <a:t> </a:t>
            </a:r>
            <a:r>
              <a:rPr spc="-10" dirty="0"/>
              <a:t>Height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8213725" cy="2550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defined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maximum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depth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any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node </a:t>
            </a:r>
            <a:r>
              <a:rPr sz="2100" dirty="0">
                <a:latin typeface="Tahoma"/>
                <a:cs typeface="Tahoma"/>
              </a:rPr>
              <a:t>within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tree</a:t>
            </a: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1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0</a:t>
            </a:r>
            <a:endParaRPr sz="21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Just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root</a:t>
            </a:r>
            <a:r>
              <a:rPr sz="1900" spc="-20" dirty="0">
                <a:latin typeface="Tahoma"/>
                <a:cs typeface="Tahoma"/>
              </a:rPr>
              <a:t> node</a:t>
            </a:r>
            <a:endParaRPr sz="1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  <a:tab pos="7861934" algn="l"/>
              </a:tabLst>
            </a:pPr>
            <a:r>
              <a:rPr sz="2100" dirty="0">
                <a:latin typeface="Tahoma"/>
                <a:cs typeface="Tahoma"/>
              </a:rPr>
              <a:t>For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convenience,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define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empty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25" dirty="0">
                <a:latin typeface="Tahoma"/>
                <a:cs typeface="Tahoma"/>
              </a:rPr>
              <a:t> be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-25" dirty="0">
                <a:latin typeface="Tahoma"/>
                <a:cs typeface="Tahoma"/>
              </a:rPr>
              <a:t>–1</a:t>
            </a:r>
            <a:endParaRPr sz="21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4524" y="1788414"/>
            <a:ext cx="86995" cy="4032250"/>
          </a:xfrm>
          <a:custGeom>
            <a:avLst/>
            <a:gdLst/>
            <a:ahLst/>
            <a:cxnLst/>
            <a:rect l="l" t="t" r="r" b="b"/>
            <a:pathLst>
              <a:path w="86994" h="4032250">
                <a:moveTo>
                  <a:pt x="0" y="3945382"/>
                </a:moveTo>
                <a:lnTo>
                  <a:pt x="43434" y="4032250"/>
                </a:lnTo>
                <a:lnTo>
                  <a:pt x="72389" y="3974338"/>
                </a:lnTo>
                <a:lnTo>
                  <a:pt x="28956" y="3974338"/>
                </a:lnTo>
                <a:lnTo>
                  <a:pt x="28956" y="3964686"/>
                </a:lnTo>
                <a:lnTo>
                  <a:pt x="0" y="3945382"/>
                </a:lnTo>
                <a:close/>
              </a:path>
              <a:path w="86994" h="4032250">
                <a:moveTo>
                  <a:pt x="28956" y="3964686"/>
                </a:moveTo>
                <a:lnTo>
                  <a:pt x="28956" y="3974338"/>
                </a:lnTo>
                <a:lnTo>
                  <a:pt x="43434" y="3974338"/>
                </a:lnTo>
                <a:lnTo>
                  <a:pt x="28956" y="3964686"/>
                </a:lnTo>
                <a:close/>
              </a:path>
              <a:path w="86994" h="4032250">
                <a:moveTo>
                  <a:pt x="43434" y="57912"/>
                </a:moveTo>
                <a:lnTo>
                  <a:pt x="28956" y="67564"/>
                </a:lnTo>
                <a:lnTo>
                  <a:pt x="28956" y="3964686"/>
                </a:lnTo>
                <a:lnTo>
                  <a:pt x="43434" y="3974338"/>
                </a:lnTo>
                <a:lnTo>
                  <a:pt x="57912" y="3964686"/>
                </a:lnTo>
                <a:lnTo>
                  <a:pt x="57912" y="67564"/>
                </a:lnTo>
                <a:lnTo>
                  <a:pt x="43434" y="57912"/>
                </a:lnTo>
                <a:close/>
              </a:path>
              <a:path w="86994" h="4032250">
                <a:moveTo>
                  <a:pt x="57912" y="3964686"/>
                </a:moveTo>
                <a:lnTo>
                  <a:pt x="43434" y="3974338"/>
                </a:lnTo>
                <a:lnTo>
                  <a:pt x="57912" y="3974338"/>
                </a:lnTo>
                <a:lnTo>
                  <a:pt x="57912" y="3964686"/>
                </a:lnTo>
                <a:close/>
              </a:path>
              <a:path w="86994" h="4032250">
                <a:moveTo>
                  <a:pt x="86867" y="3945382"/>
                </a:moveTo>
                <a:lnTo>
                  <a:pt x="57912" y="3964686"/>
                </a:lnTo>
                <a:lnTo>
                  <a:pt x="57912" y="3974338"/>
                </a:lnTo>
                <a:lnTo>
                  <a:pt x="72389" y="3974338"/>
                </a:lnTo>
                <a:lnTo>
                  <a:pt x="86867" y="3945382"/>
                </a:lnTo>
                <a:close/>
              </a:path>
              <a:path w="86994" h="4032250">
                <a:moveTo>
                  <a:pt x="43434" y="0"/>
                </a:moveTo>
                <a:lnTo>
                  <a:pt x="0" y="86868"/>
                </a:lnTo>
                <a:lnTo>
                  <a:pt x="28955" y="67564"/>
                </a:lnTo>
                <a:lnTo>
                  <a:pt x="28956" y="57912"/>
                </a:lnTo>
                <a:lnTo>
                  <a:pt x="72389" y="57912"/>
                </a:lnTo>
                <a:lnTo>
                  <a:pt x="43434" y="0"/>
                </a:lnTo>
                <a:close/>
              </a:path>
              <a:path w="86994" h="4032250">
                <a:moveTo>
                  <a:pt x="72389" y="57912"/>
                </a:moveTo>
                <a:lnTo>
                  <a:pt x="57912" y="57912"/>
                </a:lnTo>
                <a:lnTo>
                  <a:pt x="57912" y="67564"/>
                </a:lnTo>
                <a:lnTo>
                  <a:pt x="86867" y="86868"/>
                </a:lnTo>
                <a:lnTo>
                  <a:pt x="72389" y="57912"/>
                </a:lnTo>
                <a:close/>
              </a:path>
              <a:path w="86994" h="4032250">
                <a:moveTo>
                  <a:pt x="43434" y="57912"/>
                </a:moveTo>
                <a:lnTo>
                  <a:pt x="28956" y="57912"/>
                </a:lnTo>
                <a:lnTo>
                  <a:pt x="28956" y="67564"/>
                </a:lnTo>
                <a:lnTo>
                  <a:pt x="43434" y="57912"/>
                </a:lnTo>
                <a:close/>
              </a:path>
              <a:path w="86994" h="4032250">
                <a:moveTo>
                  <a:pt x="57912" y="57912"/>
                </a:moveTo>
                <a:lnTo>
                  <a:pt x="43434" y="57912"/>
                </a:lnTo>
                <a:lnTo>
                  <a:pt x="57912" y="67564"/>
                </a:lnTo>
                <a:lnTo>
                  <a:pt x="57912" y="57912"/>
                </a:lnTo>
                <a:close/>
              </a:path>
            </a:pathLst>
          </a:custGeom>
          <a:solidFill>
            <a:srgbClr val="B6DC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99922" y="1760220"/>
            <a:ext cx="6049645" cy="4101465"/>
            <a:chOff x="899922" y="1760220"/>
            <a:chExt cx="6049645" cy="41014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5626" y="1761658"/>
              <a:ext cx="5443899" cy="40524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99922" y="1774698"/>
              <a:ext cx="4967605" cy="4072254"/>
            </a:xfrm>
            <a:custGeom>
              <a:avLst/>
              <a:gdLst/>
              <a:ahLst/>
              <a:cxnLst/>
              <a:rect l="l" t="t" r="r" b="b"/>
              <a:pathLst>
                <a:path w="4967605" h="4072254">
                  <a:moveTo>
                    <a:pt x="0" y="4072128"/>
                  </a:moveTo>
                  <a:lnTo>
                    <a:pt x="4967224" y="4072128"/>
                  </a:lnTo>
                </a:path>
                <a:path w="4967605" h="4072254">
                  <a:moveTo>
                    <a:pt x="71628" y="0"/>
                  </a:moveTo>
                  <a:lnTo>
                    <a:pt x="2087752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125" dirty="0"/>
              <a:t> </a:t>
            </a:r>
            <a:r>
              <a:rPr dirty="0"/>
              <a:t>Height</a:t>
            </a:r>
            <a:r>
              <a:rPr spc="-13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2742" y="1156461"/>
            <a:ext cx="29908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Height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10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3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6408" y="3692093"/>
            <a:ext cx="1651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90" dirty="0"/>
              <a:t> </a:t>
            </a:r>
            <a:r>
              <a:rPr dirty="0"/>
              <a:t>Ancestors</a:t>
            </a:r>
            <a:r>
              <a:rPr spc="-100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Descendants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729855" cy="33381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path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exists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from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 </a:t>
            </a:r>
            <a:r>
              <a:rPr sz="2100" spc="-50" dirty="0">
                <a:latin typeface="Tahoma"/>
                <a:cs typeface="Tahoma"/>
              </a:rPr>
              <a:t>b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ancestor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b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b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descendent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a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Thus,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both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ancestor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descendant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itself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We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can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add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adjective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b="1" dirty="0">
                <a:latin typeface="Tahoma"/>
                <a:cs typeface="Tahoma"/>
              </a:rPr>
              <a:t>strict</a:t>
            </a:r>
            <a:r>
              <a:rPr sz="1900" b="1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exclude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equality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b="1" dirty="0">
                <a:latin typeface="Tahoma"/>
                <a:cs typeface="Tahoma"/>
              </a:rPr>
              <a:t>strict</a:t>
            </a:r>
            <a:r>
              <a:rPr sz="1900" b="1" spc="-25" dirty="0">
                <a:latin typeface="Tahoma"/>
                <a:cs typeface="Tahoma"/>
              </a:rPr>
              <a:t> </a:t>
            </a:r>
            <a:r>
              <a:rPr sz="1900" b="1" dirty="0">
                <a:latin typeface="Tahoma"/>
                <a:cs typeface="Tahoma"/>
              </a:rPr>
              <a:t>descendent</a:t>
            </a:r>
            <a:r>
              <a:rPr sz="1900" b="1" spc="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if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descendant</a:t>
            </a:r>
            <a:r>
              <a:rPr sz="1900" spc="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but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≠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b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30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root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ancestor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110" dirty="0"/>
              <a:t> </a:t>
            </a:r>
            <a:r>
              <a:rPr dirty="0"/>
              <a:t>Ancestors</a:t>
            </a:r>
            <a:r>
              <a:rPr spc="-11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dirty="0"/>
              <a:t>Descendants</a:t>
            </a:r>
            <a:r>
              <a:rPr spc="-114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61144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descendants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C,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E,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F,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G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3461384"/>
            <a:ext cx="46697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ancestors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 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A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6714" y="1583671"/>
            <a:ext cx="2555238" cy="18649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4717" y="3936630"/>
            <a:ext cx="2843467" cy="207541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Terminology:</a:t>
            </a:r>
            <a:r>
              <a:rPr spc="-125" dirty="0"/>
              <a:t> </a:t>
            </a:r>
            <a:r>
              <a:rPr spc="-20" dirty="0"/>
              <a:t>Sub-Tree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963534" cy="392366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Another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approach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define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1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recursively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degree-</a:t>
            </a:r>
            <a:r>
              <a:rPr sz="1900" dirty="0">
                <a:latin typeface="Tahoma"/>
                <a:cs typeface="Tahoma"/>
              </a:rPr>
              <a:t>0</a:t>
            </a:r>
            <a:r>
              <a:rPr sz="1900" spc="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30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degree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children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disjoint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(i.e.,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intersecting</a:t>
            </a:r>
            <a:r>
              <a:rPr sz="1900" spc="-10" dirty="0">
                <a:latin typeface="Tahoma"/>
                <a:cs typeface="Tahoma"/>
              </a:rPr>
              <a:t> nodes)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5600" marR="3583304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Given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any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node</a:t>
            </a:r>
            <a:r>
              <a:rPr sz="21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1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within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root r</a:t>
            </a:r>
            <a:r>
              <a:rPr sz="2100" dirty="0">
                <a:latin typeface="Tahoma"/>
                <a:cs typeface="Tahoma"/>
              </a:rPr>
              <a:t>, the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collection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1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and </a:t>
            </a:r>
            <a:r>
              <a:rPr sz="2100" dirty="0">
                <a:latin typeface="Tahoma"/>
                <a:cs typeface="Tahoma"/>
              </a:rPr>
              <a:t>all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its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descendants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said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to</a:t>
            </a:r>
            <a:endParaRPr sz="21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100" dirty="0">
                <a:latin typeface="Tahoma"/>
                <a:cs typeface="Tahoma"/>
              </a:rPr>
              <a:t>be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subtree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with</a:t>
            </a:r>
            <a:endParaRPr sz="21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root</a:t>
            </a:r>
            <a:r>
              <a:rPr sz="21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spc="-5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4202" y="3183502"/>
            <a:ext cx="3804170" cy="28318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Tree</a:t>
            </a:r>
            <a:r>
              <a:rPr spc="-60" dirty="0"/>
              <a:t> </a:t>
            </a:r>
            <a:r>
              <a:rPr spc="-10" dirty="0"/>
              <a:t>Properties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28837" y="1595437"/>
            <a:ext cx="390525" cy="390525"/>
            <a:chOff x="2128837" y="1595437"/>
            <a:chExt cx="390525" cy="390525"/>
          </a:xfrm>
        </p:grpSpPr>
        <p:sp>
          <p:nvSpPr>
            <p:cNvPr id="4" name="object 4"/>
            <p:cNvSpPr/>
            <p:nvPr/>
          </p:nvSpPr>
          <p:spPr>
            <a:xfrm>
              <a:off x="2133600" y="1600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33600" y="1600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42185" y="1639570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800" y="2438400"/>
            <a:ext cx="381000" cy="457200"/>
          </a:xfrm>
          <a:prstGeom prst="rect">
            <a:avLst/>
          </a:prstGeom>
          <a:solidFill>
            <a:srgbClr val="DDDDDD"/>
          </a:solidFill>
          <a:ln w="9144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710"/>
              </a:spcBef>
            </a:pPr>
            <a:r>
              <a:rPr sz="1800" spc="-50" dirty="0"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90837" y="2433637"/>
            <a:ext cx="390525" cy="390525"/>
            <a:chOff x="2890837" y="2433637"/>
            <a:chExt cx="390525" cy="390525"/>
          </a:xfrm>
        </p:grpSpPr>
        <p:sp>
          <p:nvSpPr>
            <p:cNvPr id="9" name="object 9"/>
            <p:cNvSpPr/>
            <p:nvPr/>
          </p:nvSpPr>
          <p:spPr>
            <a:xfrm>
              <a:off x="2895600" y="2438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95600" y="2438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04566" y="2478151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2437" y="3500437"/>
            <a:ext cx="390525" cy="390525"/>
            <a:chOff x="452437" y="3500437"/>
            <a:chExt cx="390525" cy="390525"/>
          </a:xfrm>
        </p:grpSpPr>
        <p:sp>
          <p:nvSpPr>
            <p:cNvPr id="13" name="object 13"/>
            <p:cNvSpPr/>
            <p:nvPr/>
          </p:nvSpPr>
          <p:spPr>
            <a:xfrm>
              <a:off x="457200" y="3505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3505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6361" y="3544646"/>
            <a:ext cx="180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43037" y="4719637"/>
            <a:ext cx="390525" cy="390525"/>
            <a:chOff x="1443037" y="4719637"/>
            <a:chExt cx="390525" cy="390525"/>
          </a:xfrm>
        </p:grpSpPr>
        <p:sp>
          <p:nvSpPr>
            <p:cNvPr id="17" name="object 17"/>
            <p:cNvSpPr/>
            <p:nvPr/>
          </p:nvSpPr>
          <p:spPr>
            <a:xfrm>
              <a:off x="1447800" y="4724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47800" y="4724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48764" y="476440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G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43037" y="3500437"/>
            <a:ext cx="390525" cy="390525"/>
            <a:chOff x="1443037" y="3500437"/>
            <a:chExt cx="390525" cy="390525"/>
          </a:xfrm>
        </p:grpSpPr>
        <p:sp>
          <p:nvSpPr>
            <p:cNvPr id="21" name="object 21"/>
            <p:cNvSpPr/>
            <p:nvPr/>
          </p:nvSpPr>
          <p:spPr>
            <a:xfrm>
              <a:off x="1447800" y="3505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47800" y="3505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60957" y="3544646"/>
            <a:ext cx="154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509837" y="3500437"/>
            <a:ext cx="390525" cy="390525"/>
            <a:chOff x="2509837" y="3500437"/>
            <a:chExt cx="390525" cy="390525"/>
          </a:xfrm>
        </p:grpSpPr>
        <p:sp>
          <p:nvSpPr>
            <p:cNvPr id="25" name="object 25"/>
            <p:cNvSpPr/>
            <p:nvPr/>
          </p:nvSpPr>
          <p:spPr>
            <a:xfrm>
              <a:off x="2514600" y="3505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14600" y="3505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632710" y="3544646"/>
            <a:ext cx="144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76400" y="1981200"/>
            <a:ext cx="1295400" cy="459105"/>
          </a:xfrm>
          <a:custGeom>
            <a:avLst/>
            <a:gdLst/>
            <a:ahLst/>
            <a:cxnLst/>
            <a:rect l="l" t="t" r="r" b="b"/>
            <a:pathLst>
              <a:path w="1295400" h="459105">
                <a:moveTo>
                  <a:pt x="838200" y="1524"/>
                </a:moveTo>
                <a:lnTo>
                  <a:pt x="1295400" y="458724"/>
                </a:lnTo>
              </a:path>
              <a:path w="1295400" h="459105">
                <a:moveTo>
                  <a:pt x="457200" y="0"/>
                </a:moveTo>
                <a:lnTo>
                  <a:pt x="0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833437" y="2890837"/>
            <a:ext cx="1685925" cy="3057525"/>
            <a:chOff x="833437" y="2890837"/>
            <a:chExt cx="1685925" cy="3057525"/>
          </a:xfrm>
        </p:grpSpPr>
        <p:sp>
          <p:nvSpPr>
            <p:cNvPr id="30" name="object 30"/>
            <p:cNvSpPr/>
            <p:nvPr/>
          </p:nvSpPr>
          <p:spPr>
            <a:xfrm>
              <a:off x="838200" y="2895600"/>
              <a:ext cx="1676400" cy="1828800"/>
            </a:xfrm>
            <a:custGeom>
              <a:avLst/>
              <a:gdLst/>
              <a:ahLst/>
              <a:cxnLst/>
              <a:rect l="l" t="t" r="r" b="b"/>
              <a:pathLst>
                <a:path w="1676400" h="1828800">
                  <a:moveTo>
                    <a:pt x="762000" y="0"/>
                  </a:moveTo>
                  <a:lnTo>
                    <a:pt x="762000" y="609600"/>
                  </a:lnTo>
                </a:path>
                <a:path w="1676400" h="1828800">
                  <a:moveTo>
                    <a:pt x="609600" y="0"/>
                  </a:moveTo>
                  <a:lnTo>
                    <a:pt x="0" y="609600"/>
                  </a:lnTo>
                </a:path>
                <a:path w="1676400" h="1828800">
                  <a:moveTo>
                    <a:pt x="990600" y="0"/>
                  </a:moveTo>
                  <a:lnTo>
                    <a:pt x="1676400" y="609600"/>
                  </a:lnTo>
                </a:path>
                <a:path w="1676400" h="1828800">
                  <a:moveTo>
                    <a:pt x="838200" y="990600"/>
                  </a:moveTo>
                  <a:lnTo>
                    <a:pt x="838200" y="1828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33600" y="5562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33600" y="5562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268092" y="5602935"/>
            <a:ext cx="111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I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28637" y="5100637"/>
            <a:ext cx="1609725" cy="847725"/>
            <a:chOff x="528637" y="5100637"/>
            <a:chExt cx="1609725" cy="847725"/>
          </a:xfrm>
        </p:grpSpPr>
        <p:sp>
          <p:nvSpPr>
            <p:cNvPr id="35" name="object 35"/>
            <p:cNvSpPr/>
            <p:nvPr/>
          </p:nvSpPr>
          <p:spPr>
            <a:xfrm>
              <a:off x="1828800" y="5105400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0" y="0"/>
                  </a:moveTo>
                  <a:lnTo>
                    <a:pt x="304800" y="457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3400" y="5562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81000" y="3810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3400" y="5562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34390" y="5602935"/>
            <a:ext cx="180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14400" y="5105400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533400" y="0"/>
                </a:moveTo>
                <a:lnTo>
                  <a:pt x="0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498975" y="1812617"/>
            <a:ext cx="1852930" cy="2878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90805">
              <a:lnSpc>
                <a:spcPct val="116199"/>
              </a:lnSpc>
              <a:spcBef>
                <a:spcPts val="125"/>
              </a:spcBef>
            </a:pP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Property </a:t>
            </a:r>
            <a:r>
              <a:rPr sz="1800" dirty="0">
                <a:latin typeface="Tahoma"/>
                <a:cs typeface="Tahoma"/>
              </a:rPr>
              <a:t>Number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 Height</a:t>
            </a:r>
            <a:endParaRPr sz="1800" dirty="0">
              <a:latin typeface="Tahoma"/>
              <a:cs typeface="Tahoma"/>
            </a:endParaRPr>
          </a:p>
          <a:p>
            <a:pPr marL="12700" marR="292735">
              <a:lnSpc>
                <a:spcPct val="114999"/>
              </a:lnSpc>
              <a:tabLst>
                <a:tab pos="1397635" algn="l"/>
              </a:tabLst>
            </a:pPr>
            <a:r>
              <a:rPr sz="1800" dirty="0">
                <a:latin typeface="Tahoma"/>
                <a:cs typeface="Tahoma"/>
              </a:rPr>
              <a:t>Root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Node </a:t>
            </a:r>
            <a:r>
              <a:rPr sz="1800" spc="-10" dirty="0">
                <a:latin typeface="Tahoma"/>
                <a:cs typeface="Tahoma"/>
              </a:rPr>
              <a:t>Leaves </a:t>
            </a:r>
            <a:r>
              <a:rPr sz="1800" dirty="0">
                <a:latin typeface="Tahoma"/>
                <a:cs typeface="Tahoma"/>
              </a:rPr>
              <a:t>Ancestors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H</a:t>
            </a: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  <a:tabLst>
                <a:tab pos="1189355" algn="l"/>
                <a:tab pos="1704975" algn="l"/>
              </a:tabLst>
            </a:pPr>
            <a:r>
              <a:rPr sz="1800" dirty="0">
                <a:latin typeface="Tahoma"/>
                <a:cs typeface="Tahoma"/>
              </a:rPr>
              <a:t>Descendants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B </a:t>
            </a:r>
            <a:r>
              <a:rPr sz="1800" dirty="0">
                <a:latin typeface="Tahoma"/>
                <a:cs typeface="Tahoma"/>
              </a:rPr>
              <a:t>Siblings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E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Tahoma"/>
                <a:cs typeface="Tahoma"/>
              </a:rPr>
              <a:t>Left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subtree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21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7242809" y="1860245"/>
            <a:ext cx="668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Value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6540" y="3317240"/>
            <a:ext cx="1793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75" dirty="0"/>
              <a:t> </a:t>
            </a:r>
            <a:r>
              <a:rPr spc="-50" dirty="0"/>
              <a:t>Tree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496685" cy="1115049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each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most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Allows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label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children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right</a:t>
            </a:r>
            <a:endParaRPr lang="en-US" sz="1900" spc="-1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lang="en-US" sz="1900" spc="-10" dirty="0">
                <a:latin typeface="Tahoma"/>
                <a:cs typeface="Tahoma"/>
              </a:rPr>
              <a:t>- 0, 1, 2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3651586"/>
            <a:ext cx="5422265" cy="110744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Likewise,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sub-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referred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as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FF0000"/>
                </a:solidFill>
                <a:latin typeface="Tahoma"/>
                <a:cs typeface="Tahoma"/>
              </a:rPr>
              <a:t>Left</a:t>
            </a:r>
            <a:r>
              <a:rPr sz="19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Tahoma"/>
                <a:cs typeface="Tahoma"/>
              </a:rPr>
              <a:t>sub-</a:t>
            </a:r>
            <a:r>
              <a:rPr sz="1900" spc="-20" dirty="0">
                <a:solidFill>
                  <a:srgbClr val="FF0000"/>
                </a:solidFill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sub-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5691" y="1659142"/>
            <a:ext cx="2386846" cy="16220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367528" y="4407381"/>
            <a:ext cx="3624579" cy="1771014"/>
            <a:chOff x="5367528" y="4407381"/>
            <a:chExt cx="3624579" cy="177101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8216" y="4407381"/>
              <a:ext cx="3255263" cy="15301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80482" y="4737354"/>
              <a:ext cx="1858010" cy="1428115"/>
            </a:xfrm>
            <a:custGeom>
              <a:avLst/>
              <a:gdLst/>
              <a:ahLst/>
              <a:cxnLst/>
              <a:rect l="l" t="t" r="r" b="b"/>
              <a:pathLst>
                <a:path w="1858009" h="1428114">
                  <a:moveTo>
                    <a:pt x="0" y="713994"/>
                  </a:moveTo>
                  <a:lnTo>
                    <a:pt x="1577" y="672040"/>
                  </a:lnTo>
                  <a:lnTo>
                    <a:pt x="6249" y="630725"/>
                  </a:lnTo>
                  <a:lnTo>
                    <a:pt x="13931" y="590116"/>
                  </a:lnTo>
                  <a:lnTo>
                    <a:pt x="24535" y="550279"/>
                  </a:lnTo>
                  <a:lnTo>
                    <a:pt x="37972" y="511281"/>
                  </a:lnTo>
                  <a:lnTo>
                    <a:pt x="54157" y="473190"/>
                  </a:lnTo>
                  <a:lnTo>
                    <a:pt x="73003" y="436072"/>
                  </a:lnTo>
                  <a:lnTo>
                    <a:pt x="94421" y="399994"/>
                  </a:lnTo>
                  <a:lnTo>
                    <a:pt x="118325" y="365023"/>
                  </a:lnTo>
                  <a:lnTo>
                    <a:pt x="144627" y="331227"/>
                  </a:lnTo>
                  <a:lnTo>
                    <a:pt x="173242" y="298671"/>
                  </a:lnTo>
                  <a:lnTo>
                    <a:pt x="204080" y="267424"/>
                  </a:lnTo>
                  <a:lnTo>
                    <a:pt x="237056" y="237551"/>
                  </a:lnTo>
                  <a:lnTo>
                    <a:pt x="272081" y="209121"/>
                  </a:lnTo>
                  <a:lnTo>
                    <a:pt x="309070" y="182199"/>
                  </a:lnTo>
                  <a:lnTo>
                    <a:pt x="347934" y="156854"/>
                  </a:lnTo>
                  <a:lnTo>
                    <a:pt x="388586" y="133151"/>
                  </a:lnTo>
                  <a:lnTo>
                    <a:pt x="430940" y="111158"/>
                  </a:lnTo>
                  <a:lnTo>
                    <a:pt x="474908" y="90942"/>
                  </a:lnTo>
                  <a:lnTo>
                    <a:pt x="520403" y="72569"/>
                  </a:lnTo>
                  <a:lnTo>
                    <a:pt x="567338" y="56108"/>
                  </a:lnTo>
                  <a:lnTo>
                    <a:pt x="615626" y="41624"/>
                  </a:lnTo>
                  <a:lnTo>
                    <a:pt x="665179" y="29184"/>
                  </a:lnTo>
                  <a:lnTo>
                    <a:pt x="715911" y="18856"/>
                  </a:lnTo>
                  <a:lnTo>
                    <a:pt x="767734" y="10707"/>
                  </a:lnTo>
                  <a:lnTo>
                    <a:pt x="820560" y="4803"/>
                  </a:lnTo>
                  <a:lnTo>
                    <a:pt x="874304" y="1212"/>
                  </a:lnTo>
                  <a:lnTo>
                    <a:pt x="928877" y="0"/>
                  </a:lnTo>
                  <a:lnTo>
                    <a:pt x="983451" y="1212"/>
                  </a:lnTo>
                  <a:lnTo>
                    <a:pt x="1037195" y="4803"/>
                  </a:lnTo>
                  <a:lnTo>
                    <a:pt x="1090021" y="10707"/>
                  </a:lnTo>
                  <a:lnTo>
                    <a:pt x="1141844" y="18856"/>
                  </a:lnTo>
                  <a:lnTo>
                    <a:pt x="1192576" y="29184"/>
                  </a:lnTo>
                  <a:lnTo>
                    <a:pt x="1242129" y="41624"/>
                  </a:lnTo>
                  <a:lnTo>
                    <a:pt x="1290417" y="56108"/>
                  </a:lnTo>
                  <a:lnTo>
                    <a:pt x="1337352" y="72569"/>
                  </a:lnTo>
                  <a:lnTo>
                    <a:pt x="1382847" y="90942"/>
                  </a:lnTo>
                  <a:lnTo>
                    <a:pt x="1426815" y="111158"/>
                  </a:lnTo>
                  <a:lnTo>
                    <a:pt x="1469169" y="133151"/>
                  </a:lnTo>
                  <a:lnTo>
                    <a:pt x="1509821" y="156854"/>
                  </a:lnTo>
                  <a:lnTo>
                    <a:pt x="1548685" y="182199"/>
                  </a:lnTo>
                  <a:lnTo>
                    <a:pt x="1585674" y="209121"/>
                  </a:lnTo>
                  <a:lnTo>
                    <a:pt x="1620699" y="237551"/>
                  </a:lnTo>
                  <a:lnTo>
                    <a:pt x="1653675" y="267424"/>
                  </a:lnTo>
                  <a:lnTo>
                    <a:pt x="1684513" y="298671"/>
                  </a:lnTo>
                  <a:lnTo>
                    <a:pt x="1713128" y="331227"/>
                  </a:lnTo>
                  <a:lnTo>
                    <a:pt x="1739430" y="365023"/>
                  </a:lnTo>
                  <a:lnTo>
                    <a:pt x="1763334" y="399994"/>
                  </a:lnTo>
                  <a:lnTo>
                    <a:pt x="1784752" y="436072"/>
                  </a:lnTo>
                  <a:lnTo>
                    <a:pt x="1803598" y="473190"/>
                  </a:lnTo>
                  <a:lnTo>
                    <a:pt x="1819783" y="511281"/>
                  </a:lnTo>
                  <a:lnTo>
                    <a:pt x="1833220" y="550279"/>
                  </a:lnTo>
                  <a:lnTo>
                    <a:pt x="1843824" y="590116"/>
                  </a:lnTo>
                  <a:lnTo>
                    <a:pt x="1851506" y="630725"/>
                  </a:lnTo>
                  <a:lnTo>
                    <a:pt x="1856178" y="672040"/>
                  </a:lnTo>
                  <a:lnTo>
                    <a:pt x="1857756" y="713994"/>
                  </a:lnTo>
                  <a:lnTo>
                    <a:pt x="1856178" y="755946"/>
                  </a:lnTo>
                  <a:lnTo>
                    <a:pt x="1851506" y="797259"/>
                  </a:lnTo>
                  <a:lnTo>
                    <a:pt x="1843824" y="837868"/>
                  </a:lnTo>
                  <a:lnTo>
                    <a:pt x="1833220" y="877704"/>
                  </a:lnTo>
                  <a:lnTo>
                    <a:pt x="1819783" y="916701"/>
                  </a:lnTo>
                  <a:lnTo>
                    <a:pt x="1803598" y="954792"/>
                  </a:lnTo>
                  <a:lnTo>
                    <a:pt x="1784752" y="991910"/>
                  </a:lnTo>
                  <a:lnTo>
                    <a:pt x="1763334" y="1027987"/>
                  </a:lnTo>
                  <a:lnTo>
                    <a:pt x="1739430" y="1062958"/>
                  </a:lnTo>
                  <a:lnTo>
                    <a:pt x="1713128" y="1096755"/>
                  </a:lnTo>
                  <a:lnTo>
                    <a:pt x="1684513" y="1129310"/>
                  </a:lnTo>
                  <a:lnTo>
                    <a:pt x="1653675" y="1160558"/>
                  </a:lnTo>
                  <a:lnTo>
                    <a:pt x="1620699" y="1190431"/>
                  </a:lnTo>
                  <a:lnTo>
                    <a:pt x="1585674" y="1218861"/>
                  </a:lnTo>
                  <a:lnTo>
                    <a:pt x="1548685" y="1245783"/>
                  </a:lnTo>
                  <a:lnTo>
                    <a:pt x="1509821" y="1271129"/>
                  </a:lnTo>
                  <a:lnTo>
                    <a:pt x="1469169" y="1294832"/>
                  </a:lnTo>
                  <a:lnTo>
                    <a:pt x="1426815" y="1316826"/>
                  </a:lnTo>
                  <a:lnTo>
                    <a:pt x="1382847" y="1337042"/>
                  </a:lnTo>
                  <a:lnTo>
                    <a:pt x="1337352" y="1355415"/>
                  </a:lnTo>
                  <a:lnTo>
                    <a:pt x="1290417" y="1371878"/>
                  </a:lnTo>
                  <a:lnTo>
                    <a:pt x="1242129" y="1386362"/>
                  </a:lnTo>
                  <a:lnTo>
                    <a:pt x="1192576" y="1398802"/>
                  </a:lnTo>
                  <a:lnTo>
                    <a:pt x="1141844" y="1409130"/>
                  </a:lnTo>
                  <a:lnTo>
                    <a:pt x="1090021" y="1417280"/>
                  </a:lnTo>
                  <a:lnTo>
                    <a:pt x="1037195" y="1423184"/>
                  </a:lnTo>
                  <a:lnTo>
                    <a:pt x="983451" y="1426775"/>
                  </a:lnTo>
                  <a:lnTo>
                    <a:pt x="928877" y="1427988"/>
                  </a:lnTo>
                  <a:lnTo>
                    <a:pt x="874304" y="1426775"/>
                  </a:lnTo>
                  <a:lnTo>
                    <a:pt x="820560" y="1423184"/>
                  </a:lnTo>
                  <a:lnTo>
                    <a:pt x="767734" y="1417280"/>
                  </a:lnTo>
                  <a:lnTo>
                    <a:pt x="715911" y="1409130"/>
                  </a:lnTo>
                  <a:lnTo>
                    <a:pt x="665179" y="1398802"/>
                  </a:lnTo>
                  <a:lnTo>
                    <a:pt x="615626" y="1386362"/>
                  </a:lnTo>
                  <a:lnTo>
                    <a:pt x="567338" y="1371878"/>
                  </a:lnTo>
                  <a:lnTo>
                    <a:pt x="520403" y="1355415"/>
                  </a:lnTo>
                  <a:lnTo>
                    <a:pt x="474908" y="1337042"/>
                  </a:lnTo>
                  <a:lnTo>
                    <a:pt x="430940" y="1316826"/>
                  </a:lnTo>
                  <a:lnTo>
                    <a:pt x="388586" y="1294832"/>
                  </a:lnTo>
                  <a:lnTo>
                    <a:pt x="347934" y="1271129"/>
                  </a:lnTo>
                  <a:lnTo>
                    <a:pt x="309070" y="1245783"/>
                  </a:lnTo>
                  <a:lnTo>
                    <a:pt x="272081" y="1218861"/>
                  </a:lnTo>
                  <a:lnTo>
                    <a:pt x="237056" y="1190431"/>
                  </a:lnTo>
                  <a:lnTo>
                    <a:pt x="204080" y="1160558"/>
                  </a:lnTo>
                  <a:lnTo>
                    <a:pt x="173242" y="1129310"/>
                  </a:lnTo>
                  <a:lnTo>
                    <a:pt x="144627" y="1096755"/>
                  </a:lnTo>
                  <a:lnTo>
                    <a:pt x="118325" y="1062958"/>
                  </a:lnTo>
                  <a:lnTo>
                    <a:pt x="94421" y="1027987"/>
                  </a:lnTo>
                  <a:lnTo>
                    <a:pt x="73003" y="991910"/>
                  </a:lnTo>
                  <a:lnTo>
                    <a:pt x="54157" y="954792"/>
                  </a:lnTo>
                  <a:lnTo>
                    <a:pt x="37972" y="916701"/>
                  </a:lnTo>
                  <a:lnTo>
                    <a:pt x="24535" y="877704"/>
                  </a:lnTo>
                  <a:lnTo>
                    <a:pt x="13931" y="837868"/>
                  </a:lnTo>
                  <a:lnTo>
                    <a:pt x="6249" y="797259"/>
                  </a:lnTo>
                  <a:lnTo>
                    <a:pt x="1577" y="755946"/>
                  </a:lnTo>
                  <a:lnTo>
                    <a:pt x="0" y="713994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20890" y="4737354"/>
              <a:ext cx="1858010" cy="1428115"/>
            </a:xfrm>
            <a:custGeom>
              <a:avLst/>
              <a:gdLst/>
              <a:ahLst/>
              <a:cxnLst/>
              <a:rect l="l" t="t" r="r" b="b"/>
              <a:pathLst>
                <a:path w="1858009" h="1428114">
                  <a:moveTo>
                    <a:pt x="0" y="713994"/>
                  </a:moveTo>
                  <a:lnTo>
                    <a:pt x="1577" y="672040"/>
                  </a:lnTo>
                  <a:lnTo>
                    <a:pt x="6249" y="630725"/>
                  </a:lnTo>
                  <a:lnTo>
                    <a:pt x="13931" y="590116"/>
                  </a:lnTo>
                  <a:lnTo>
                    <a:pt x="24535" y="550279"/>
                  </a:lnTo>
                  <a:lnTo>
                    <a:pt x="37972" y="511281"/>
                  </a:lnTo>
                  <a:lnTo>
                    <a:pt x="54157" y="473190"/>
                  </a:lnTo>
                  <a:lnTo>
                    <a:pt x="73003" y="436072"/>
                  </a:lnTo>
                  <a:lnTo>
                    <a:pt x="94421" y="399994"/>
                  </a:lnTo>
                  <a:lnTo>
                    <a:pt x="118325" y="365023"/>
                  </a:lnTo>
                  <a:lnTo>
                    <a:pt x="144627" y="331227"/>
                  </a:lnTo>
                  <a:lnTo>
                    <a:pt x="173242" y="298671"/>
                  </a:lnTo>
                  <a:lnTo>
                    <a:pt x="204080" y="267424"/>
                  </a:lnTo>
                  <a:lnTo>
                    <a:pt x="237056" y="237551"/>
                  </a:lnTo>
                  <a:lnTo>
                    <a:pt x="272081" y="209121"/>
                  </a:lnTo>
                  <a:lnTo>
                    <a:pt x="309070" y="182199"/>
                  </a:lnTo>
                  <a:lnTo>
                    <a:pt x="347934" y="156854"/>
                  </a:lnTo>
                  <a:lnTo>
                    <a:pt x="388586" y="133151"/>
                  </a:lnTo>
                  <a:lnTo>
                    <a:pt x="430940" y="111158"/>
                  </a:lnTo>
                  <a:lnTo>
                    <a:pt x="474908" y="90942"/>
                  </a:lnTo>
                  <a:lnTo>
                    <a:pt x="520403" y="72569"/>
                  </a:lnTo>
                  <a:lnTo>
                    <a:pt x="567338" y="56108"/>
                  </a:lnTo>
                  <a:lnTo>
                    <a:pt x="615626" y="41624"/>
                  </a:lnTo>
                  <a:lnTo>
                    <a:pt x="665179" y="29184"/>
                  </a:lnTo>
                  <a:lnTo>
                    <a:pt x="715911" y="18856"/>
                  </a:lnTo>
                  <a:lnTo>
                    <a:pt x="767734" y="10707"/>
                  </a:lnTo>
                  <a:lnTo>
                    <a:pt x="820560" y="4803"/>
                  </a:lnTo>
                  <a:lnTo>
                    <a:pt x="874304" y="1212"/>
                  </a:lnTo>
                  <a:lnTo>
                    <a:pt x="928877" y="0"/>
                  </a:lnTo>
                  <a:lnTo>
                    <a:pt x="983451" y="1212"/>
                  </a:lnTo>
                  <a:lnTo>
                    <a:pt x="1037195" y="4803"/>
                  </a:lnTo>
                  <a:lnTo>
                    <a:pt x="1090021" y="10707"/>
                  </a:lnTo>
                  <a:lnTo>
                    <a:pt x="1141844" y="18856"/>
                  </a:lnTo>
                  <a:lnTo>
                    <a:pt x="1192576" y="29184"/>
                  </a:lnTo>
                  <a:lnTo>
                    <a:pt x="1242129" y="41624"/>
                  </a:lnTo>
                  <a:lnTo>
                    <a:pt x="1290417" y="56108"/>
                  </a:lnTo>
                  <a:lnTo>
                    <a:pt x="1337352" y="72569"/>
                  </a:lnTo>
                  <a:lnTo>
                    <a:pt x="1382847" y="90942"/>
                  </a:lnTo>
                  <a:lnTo>
                    <a:pt x="1426815" y="111158"/>
                  </a:lnTo>
                  <a:lnTo>
                    <a:pt x="1469169" y="133151"/>
                  </a:lnTo>
                  <a:lnTo>
                    <a:pt x="1509821" y="156854"/>
                  </a:lnTo>
                  <a:lnTo>
                    <a:pt x="1548685" y="182199"/>
                  </a:lnTo>
                  <a:lnTo>
                    <a:pt x="1585674" y="209121"/>
                  </a:lnTo>
                  <a:lnTo>
                    <a:pt x="1620699" y="237551"/>
                  </a:lnTo>
                  <a:lnTo>
                    <a:pt x="1653675" y="267424"/>
                  </a:lnTo>
                  <a:lnTo>
                    <a:pt x="1684513" y="298671"/>
                  </a:lnTo>
                  <a:lnTo>
                    <a:pt x="1713128" y="331227"/>
                  </a:lnTo>
                  <a:lnTo>
                    <a:pt x="1739430" y="365023"/>
                  </a:lnTo>
                  <a:lnTo>
                    <a:pt x="1763334" y="399994"/>
                  </a:lnTo>
                  <a:lnTo>
                    <a:pt x="1784752" y="436072"/>
                  </a:lnTo>
                  <a:lnTo>
                    <a:pt x="1803598" y="473190"/>
                  </a:lnTo>
                  <a:lnTo>
                    <a:pt x="1819783" y="511281"/>
                  </a:lnTo>
                  <a:lnTo>
                    <a:pt x="1833220" y="550279"/>
                  </a:lnTo>
                  <a:lnTo>
                    <a:pt x="1843824" y="590116"/>
                  </a:lnTo>
                  <a:lnTo>
                    <a:pt x="1851506" y="630725"/>
                  </a:lnTo>
                  <a:lnTo>
                    <a:pt x="1856178" y="672040"/>
                  </a:lnTo>
                  <a:lnTo>
                    <a:pt x="1857755" y="713994"/>
                  </a:lnTo>
                  <a:lnTo>
                    <a:pt x="1856178" y="755946"/>
                  </a:lnTo>
                  <a:lnTo>
                    <a:pt x="1851506" y="797259"/>
                  </a:lnTo>
                  <a:lnTo>
                    <a:pt x="1843824" y="837868"/>
                  </a:lnTo>
                  <a:lnTo>
                    <a:pt x="1833220" y="877704"/>
                  </a:lnTo>
                  <a:lnTo>
                    <a:pt x="1819783" y="916701"/>
                  </a:lnTo>
                  <a:lnTo>
                    <a:pt x="1803598" y="954792"/>
                  </a:lnTo>
                  <a:lnTo>
                    <a:pt x="1784752" y="991910"/>
                  </a:lnTo>
                  <a:lnTo>
                    <a:pt x="1763334" y="1027987"/>
                  </a:lnTo>
                  <a:lnTo>
                    <a:pt x="1739430" y="1062958"/>
                  </a:lnTo>
                  <a:lnTo>
                    <a:pt x="1713128" y="1096755"/>
                  </a:lnTo>
                  <a:lnTo>
                    <a:pt x="1684513" y="1129310"/>
                  </a:lnTo>
                  <a:lnTo>
                    <a:pt x="1653675" y="1160558"/>
                  </a:lnTo>
                  <a:lnTo>
                    <a:pt x="1620699" y="1190431"/>
                  </a:lnTo>
                  <a:lnTo>
                    <a:pt x="1585674" y="1218861"/>
                  </a:lnTo>
                  <a:lnTo>
                    <a:pt x="1548685" y="1245783"/>
                  </a:lnTo>
                  <a:lnTo>
                    <a:pt x="1509821" y="1271129"/>
                  </a:lnTo>
                  <a:lnTo>
                    <a:pt x="1469169" y="1294832"/>
                  </a:lnTo>
                  <a:lnTo>
                    <a:pt x="1426815" y="1316826"/>
                  </a:lnTo>
                  <a:lnTo>
                    <a:pt x="1382847" y="1337042"/>
                  </a:lnTo>
                  <a:lnTo>
                    <a:pt x="1337352" y="1355415"/>
                  </a:lnTo>
                  <a:lnTo>
                    <a:pt x="1290417" y="1371878"/>
                  </a:lnTo>
                  <a:lnTo>
                    <a:pt x="1242129" y="1386362"/>
                  </a:lnTo>
                  <a:lnTo>
                    <a:pt x="1192576" y="1398802"/>
                  </a:lnTo>
                  <a:lnTo>
                    <a:pt x="1141844" y="1409130"/>
                  </a:lnTo>
                  <a:lnTo>
                    <a:pt x="1090021" y="1417280"/>
                  </a:lnTo>
                  <a:lnTo>
                    <a:pt x="1037195" y="1423184"/>
                  </a:lnTo>
                  <a:lnTo>
                    <a:pt x="983451" y="1426775"/>
                  </a:lnTo>
                  <a:lnTo>
                    <a:pt x="928877" y="1427988"/>
                  </a:lnTo>
                  <a:lnTo>
                    <a:pt x="874304" y="1426775"/>
                  </a:lnTo>
                  <a:lnTo>
                    <a:pt x="820560" y="1423184"/>
                  </a:lnTo>
                  <a:lnTo>
                    <a:pt x="767734" y="1417280"/>
                  </a:lnTo>
                  <a:lnTo>
                    <a:pt x="715911" y="1409130"/>
                  </a:lnTo>
                  <a:lnTo>
                    <a:pt x="665179" y="1398802"/>
                  </a:lnTo>
                  <a:lnTo>
                    <a:pt x="615626" y="1386362"/>
                  </a:lnTo>
                  <a:lnTo>
                    <a:pt x="567338" y="1371878"/>
                  </a:lnTo>
                  <a:lnTo>
                    <a:pt x="520403" y="1355415"/>
                  </a:lnTo>
                  <a:lnTo>
                    <a:pt x="474908" y="1337042"/>
                  </a:lnTo>
                  <a:lnTo>
                    <a:pt x="430940" y="1316826"/>
                  </a:lnTo>
                  <a:lnTo>
                    <a:pt x="388586" y="1294832"/>
                  </a:lnTo>
                  <a:lnTo>
                    <a:pt x="347934" y="1271129"/>
                  </a:lnTo>
                  <a:lnTo>
                    <a:pt x="309070" y="1245783"/>
                  </a:lnTo>
                  <a:lnTo>
                    <a:pt x="272081" y="1218861"/>
                  </a:lnTo>
                  <a:lnTo>
                    <a:pt x="237056" y="1190431"/>
                  </a:lnTo>
                  <a:lnTo>
                    <a:pt x="204080" y="1160558"/>
                  </a:lnTo>
                  <a:lnTo>
                    <a:pt x="173242" y="1129310"/>
                  </a:lnTo>
                  <a:lnTo>
                    <a:pt x="144627" y="1096755"/>
                  </a:lnTo>
                  <a:lnTo>
                    <a:pt x="118325" y="1062958"/>
                  </a:lnTo>
                  <a:lnTo>
                    <a:pt x="94421" y="1027987"/>
                  </a:lnTo>
                  <a:lnTo>
                    <a:pt x="73003" y="991910"/>
                  </a:lnTo>
                  <a:lnTo>
                    <a:pt x="54157" y="954792"/>
                  </a:lnTo>
                  <a:lnTo>
                    <a:pt x="37972" y="916701"/>
                  </a:lnTo>
                  <a:lnTo>
                    <a:pt x="24535" y="877704"/>
                  </a:lnTo>
                  <a:lnTo>
                    <a:pt x="13931" y="837868"/>
                  </a:lnTo>
                  <a:lnTo>
                    <a:pt x="6249" y="797259"/>
                  </a:lnTo>
                  <a:lnTo>
                    <a:pt x="1577" y="755946"/>
                  </a:lnTo>
                  <a:lnTo>
                    <a:pt x="0" y="713994"/>
                  </a:lnTo>
                  <a:close/>
                </a:path>
              </a:pathLst>
            </a:custGeom>
            <a:ln w="25908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0" dirty="0"/>
              <a:t> </a:t>
            </a:r>
            <a:r>
              <a:rPr dirty="0"/>
              <a:t>Tree:</a:t>
            </a:r>
            <a:r>
              <a:rPr spc="-6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59632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Some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variations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five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9901" y="1957136"/>
            <a:ext cx="4521308" cy="35022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40" dirty="0"/>
              <a:t> </a:t>
            </a:r>
            <a:r>
              <a:rPr dirty="0"/>
              <a:t>Tree:</a:t>
            </a:r>
            <a:r>
              <a:rPr spc="-55" dirty="0"/>
              <a:t> </a:t>
            </a:r>
            <a:r>
              <a:rPr dirty="0"/>
              <a:t>Full</a:t>
            </a:r>
            <a:r>
              <a:rPr spc="-60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791590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full</a:t>
            </a:r>
            <a:r>
              <a:rPr sz="21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node</a:t>
            </a:r>
            <a:r>
              <a:rPr sz="21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where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both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left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right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sub-trees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are </a:t>
            </a:r>
            <a:r>
              <a:rPr sz="2100" spc="-10" dirty="0">
                <a:latin typeface="Tahoma"/>
                <a:cs typeface="Tahoma"/>
              </a:rPr>
              <a:t>non-</a:t>
            </a:r>
            <a:r>
              <a:rPr sz="2100" dirty="0">
                <a:latin typeface="Tahoma"/>
                <a:cs typeface="Tahoma"/>
              </a:rPr>
              <a:t>empty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trees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462" y="2368633"/>
            <a:ext cx="6511344" cy="17563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0735" y="4818888"/>
            <a:ext cx="225552" cy="2255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5632" y="4821935"/>
            <a:ext cx="225552" cy="2255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35140" y="4818888"/>
            <a:ext cx="225552" cy="2255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71269" y="4804029"/>
            <a:ext cx="1000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full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28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18382" y="4804029"/>
            <a:ext cx="731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6FC0"/>
                </a:solidFill>
                <a:latin typeface="Tahoma"/>
                <a:cs typeface="Tahoma"/>
              </a:rPr>
              <a:t>neither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7144" y="4804029"/>
            <a:ext cx="1062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50"/>
                </a:solidFill>
                <a:latin typeface="Tahoma"/>
                <a:cs typeface="Tahoma"/>
              </a:rPr>
              <a:t>leaf</a:t>
            </a:r>
            <a:r>
              <a:rPr sz="1800" spc="-4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00AF50"/>
                </a:solidFill>
                <a:latin typeface="Tahoma"/>
                <a:cs typeface="Tahoma"/>
              </a:rPr>
              <a:t>nodes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Full</a:t>
            </a:r>
            <a:r>
              <a:rPr spc="-75" dirty="0"/>
              <a:t> </a:t>
            </a:r>
            <a:r>
              <a:rPr dirty="0"/>
              <a:t>Binary</a:t>
            </a:r>
            <a:r>
              <a:rPr spc="-50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8219440" cy="181102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full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where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each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is: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full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node,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or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0" dirty="0">
                <a:latin typeface="Tahoma"/>
                <a:cs typeface="Tahoma"/>
              </a:rPr>
              <a:t> node</a:t>
            </a:r>
            <a:endParaRPr sz="19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95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Full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also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called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proper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tree,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strictly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 </a:t>
            </a:r>
            <a:r>
              <a:rPr sz="2100" dirty="0">
                <a:latin typeface="Tahoma"/>
                <a:cs typeface="Tahoma"/>
              </a:rPr>
              <a:t>or </a:t>
            </a:r>
            <a:r>
              <a:rPr sz="2100" spc="-10" dirty="0">
                <a:latin typeface="Tahoma"/>
                <a:cs typeface="Tahoma"/>
              </a:rPr>
              <a:t>2-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454" y="3022878"/>
            <a:ext cx="7388016" cy="19614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29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D120C830-7291-ED97-4C44-3818AB9957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759" y="5047947"/>
            <a:ext cx="8184104" cy="14388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Complete</a:t>
            </a:r>
            <a:r>
              <a:rPr spc="-90" dirty="0"/>
              <a:t> </a:t>
            </a:r>
            <a:r>
              <a:rPr dirty="0"/>
              <a:t>(Or</a:t>
            </a:r>
            <a:r>
              <a:rPr spc="-95" dirty="0"/>
              <a:t> </a:t>
            </a:r>
            <a:r>
              <a:rPr dirty="0"/>
              <a:t>Perfect)</a:t>
            </a:r>
            <a:r>
              <a:rPr spc="-95" dirty="0"/>
              <a:t> </a:t>
            </a:r>
            <a:r>
              <a:rPr dirty="0"/>
              <a:t>Binary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061834" cy="1108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where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have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same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depth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h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other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full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723" y="2954941"/>
            <a:ext cx="8184104" cy="14388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Complete</a:t>
            </a:r>
            <a:r>
              <a:rPr spc="-90" dirty="0"/>
              <a:t> </a:t>
            </a:r>
            <a:r>
              <a:rPr dirty="0"/>
              <a:t>Binary</a:t>
            </a:r>
            <a:r>
              <a:rPr spc="-90" dirty="0"/>
              <a:t> </a:t>
            </a:r>
            <a:r>
              <a:rPr dirty="0"/>
              <a:t>Tree:</a:t>
            </a:r>
            <a:r>
              <a:rPr spc="-8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65106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= 0,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1,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2,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3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4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3878" y="1853573"/>
            <a:ext cx="5336243" cy="437310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Complete</a:t>
            </a:r>
            <a:r>
              <a:rPr spc="-85" dirty="0"/>
              <a:t> </a:t>
            </a:r>
            <a:r>
              <a:rPr dirty="0"/>
              <a:t>Binary</a:t>
            </a:r>
            <a:r>
              <a:rPr spc="-90" dirty="0"/>
              <a:t> </a:t>
            </a:r>
            <a:r>
              <a:rPr dirty="0"/>
              <a:t>Tree:</a:t>
            </a:r>
            <a:r>
              <a:rPr spc="-95" dirty="0"/>
              <a:t> </a:t>
            </a:r>
            <a:r>
              <a:rPr dirty="0"/>
              <a:t>Recursive</a:t>
            </a:r>
            <a:r>
              <a:rPr spc="-90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6796405" cy="142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=</a:t>
            </a:r>
            <a:r>
              <a:rPr sz="2100" spc="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0 is</a:t>
            </a:r>
            <a:r>
              <a:rPr sz="2100" spc="-10" dirty="0">
                <a:latin typeface="Tahoma"/>
                <a:cs typeface="Tahoma"/>
              </a:rPr>
              <a:t> perfect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&gt;</a:t>
            </a:r>
            <a:r>
              <a:rPr sz="2100" spc="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0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perfect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If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both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dirty="0">
                <a:latin typeface="Tahoma"/>
                <a:cs typeface="Tahoma"/>
              </a:rPr>
              <a:t>trees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prefect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height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–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1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A6E3-CBFC-8053-70BE-54163180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08229"/>
            <a:ext cx="8059267" cy="430887"/>
          </a:xfrm>
        </p:spPr>
        <p:txBody>
          <a:bodyPr/>
          <a:lstStyle/>
          <a:p>
            <a:r>
              <a:rPr lang="en-US" dirty="0"/>
              <a:t>Binary Tree: Definitions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A92E1-99A3-D676-56C9-DDC27C40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7948930" cy="39241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perfect binary tree is a binary tree in which: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All internal nodes have exactly two children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All leaf nodes are at the same level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Recursive Definition: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Base case: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 binary tree of height h = 0 (i.e., just a single node) is perfect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Recursive case: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 binary tree of height h &gt; 0 is perfect if: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Both its left and right subtrees are perfect binary trees, each of height h - 1.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7B5D4E3-5F7D-C74B-48EC-981CAE325E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47947"/>
            <a:ext cx="8184104" cy="143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37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85" dirty="0"/>
              <a:t> </a:t>
            </a:r>
            <a:r>
              <a:rPr dirty="0"/>
              <a:t>Tree:</a:t>
            </a:r>
            <a:r>
              <a:rPr spc="-100" dirty="0"/>
              <a:t> </a:t>
            </a:r>
            <a:r>
              <a:rPr dirty="0"/>
              <a:t>Properties</a:t>
            </a:r>
            <a:r>
              <a:rPr spc="-9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042" y="1145794"/>
            <a:ext cx="68116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179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18032" y="4177284"/>
            <a:ext cx="7096125" cy="1957070"/>
            <a:chOff x="1018032" y="4177284"/>
            <a:chExt cx="7096125" cy="1957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6612" y="4177284"/>
              <a:ext cx="7027163" cy="19568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8032" y="4924044"/>
              <a:ext cx="353695" cy="462280"/>
            </a:xfrm>
            <a:custGeom>
              <a:avLst/>
              <a:gdLst/>
              <a:ahLst/>
              <a:cxnLst/>
              <a:rect l="l" t="t" r="r" b="b"/>
              <a:pathLst>
                <a:path w="353694" h="462279">
                  <a:moveTo>
                    <a:pt x="353568" y="0"/>
                  </a:moveTo>
                  <a:lnTo>
                    <a:pt x="0" y="0"/>
                  </a:lnTo>
                  <a:lnTo>
                    <a:pt x="0" y="461771"/>
                  </a:lnTo>
                  <a:lnTo>
                    <a:pt x="353568" y="461771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96467" y="4941823"/>
            <a:ext cx="193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0" dirty="0">
                <a:latin typeface="Consolas"/>
                <a:cs typeface="Consolas"/>
              </a:rPr>
              <a:t>h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C2B0-254A-6221-0800-FC6E360B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DDF48A-D438-A382-97D7-76A5901D85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Complete</a:t>
            </a:r>
            <a:r>
              <a:rPr spc="-90" dirty="0"/>
              <a:t> </a:t>
            </a:r>
            <a:r>
              <a:rPr dirty="0"/>
              <a:t>Binary</a:t>
            </a:r>
            <a:r>
              <a:rPr spc="-90" dirty="0"/>
              <a:t> </a:t>
            </a:r>
            <a:r>
              <a:rPr dirty="0"/>
              <a:t>Tree:</a:t>
            </a:r>
            <a:r>
              <a:rPr spc="-8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B03415-4DA8-AA75-ED4B-C98977A23DA3}"/>
              </a:ext>
            </a:extLst>
          </p:cNvPr>
          <p:cNvSpPr txBox="1"/>
          <p:nvPr/>
        </p:nvSpPr>
        <p:spPr>
          <a:xfrm>
            <a:off x="402742" y="1156461"/>
            <a:ext cx="65106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= 0,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1,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2,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3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4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2A95428-54FE-11B1-9728-41A3FE8D1D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3878" y="1853573"/>
            <a:ext cx="5336243" cy="4373101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B51EF8B-BB4A-69B1-3A49-B9B5F448720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F39CE73-64BF-5AB5-A0C2-174D0BC63A8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78696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85" dirty="0"/>
              <a:t> </a:t>
            </a:r>
            <a:r>
              <a:rPr dirty="0"/>
              <a:t>Tree:</a:t>
            </a:r>
            <a:r>
              <a:rPr spc="-90" dirty="0"/>
              <a:t> </a:t>
            </a:r>
            <a:r>
              <a:rPr dirty="0"/>
              <a:t>Properties</a:t>
            </a:r>
            <a:r>
              <a:rPr spc="-9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042" y="1145794"/>
            <a:ext cx="68116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179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342" y="1914271"/>
            <a:ext cx="706691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803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15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+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1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–</a:t>
            </a:r>
            <a:r>
              <a:rPr sz="2100" spc="-25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1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spc="-20" dirty="0">
                <a:latin typeface="Tahoma"/>
                <a:cs typeface="Tahoma"/>
              </a:rPr>
              <a:t>nodes</a:t>
            </a:r>
            <a:endParaRPr sz="2100" dirty="0">
              <a:latin typeface="Tahoma"/>
              <a:cs typeface="Tahoma"/>
            </a:endParaRPr>
          </a:p>
          <a:p>
            <a:pPr marR="2253615" algn="r">
              <a:lnSpc>
                <a:spcPct val="100000"/>
              </a:lnSpc>
              <a:spcBef>
                <a:spcPts val="1550"/>
              </a:spcBef>
            </a:pPr>
            <a:r>
              <a:rPr sz="1400" spc="-50" dirty="0">
                <a:latin typeface="Consolas"/>
                <a:cs typeface="Consolas"/>
              </a:rPr>
              <a:t>h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7913" y="2613112"/>
            <a:ext cx="388620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-280" dirty="0">
                <a:latin typeface="Symbol"/>
                <a:cs typeface="Symbol"/>
              </a:rPr>
              <a:t>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340" dirty="0">
                <a:latin typeface="Consolas"/>
                <a:cs typeface="Consolas"/>
              </a:rPr>
              <a:t>1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3764" y="2475491"/>
            <a:ext cx="725805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600" spc="-419" baseline="-25462" dirty="0">
                <a:latin typeface="Symbol"/>
                <a:cs typeface="Symbol"/>
              </a:rPr>
              <a:t></a:t>
            </a:r>
            <a:r>
              <a:rPr sz="3600" spc="494" baseline="-25462" dirty="0">
                <a:latin typeface="Times New Roman"/>
                <a:cs typeface="Times New Roman"/>
              </a:rPr>
              <a:t> </a:t>
            </a:r>
            <a:r>
              <a:rPr sz="3600" spc="-352" baseline="-25462" dirty="0">
                <a:latin typeface="Consolas"/>
                <a:cs typeface="Consolas"/>
              </a:rPr>
              <a:t>2</a:t>
            </a:r>
            <a:r>
              <a:rPr sz="1400" spc="-235" dirty="0">
                <a:latin typeface="Consolas"/>
                <a:cs typeface="Consolas"/>
              </a:rPr>
              <a:t>h</a:t>
            </a:r>
            <a:r>
              <a:rPr sz="1400" spc="-635" dirty="0">
                <a:latin typeface="Consolas"/>
                <a:cs typeface="Consolas"/>
              </a:rPr>
              <a:t> </a:t>
            </a:r>
            <a:r>
              <a:rPr sz="1400" spc="-170" dirty="0">
                <a:latin typeface="Symbol"/>
                <a:cs typeface="Symbol"/>
              </a:rPr>
              <a:t></a:t>
            </a:r>
            <a:r>
              <a:rPr sz="1400" spc="-20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Consolas"/>
                <a:cs typeface="Consolas"/>
              </a:rPr>
              <a:t>1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8012" y="2403435"/>
            <a:ext cx="4171315" cy="87249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575"/>
              </a:spcBef>
              <a:tabLst>
                <a:tab pos="3324860" algn="l"/>
                <a:tab pos="3587750" algn="l"/>
              </a:tabLst>
            </a:pPr>
            <a:r>
              <a:rPr sz="2400" spc="-280" dirty="0">
                <a:latin typeface="Consolas"/>
                <a:cs typeface="Consolas"/>
              </a:rPr>
              <a:t>n</a:t>
            </a:r>
            <a:r>
              <a:rPr sz="2400" spc="-380" dirty="0">
                <a:latin typeface="Consolas"/>
                <a:cs typeface="Consolas"/>
              </a:rPr>
              <a:t> </a:t>
            </a:r>
            <a:r>
              <a:rPr sz="2400" spc="-280" dirty="0">
                <a:latin typeface="Symbol"/>
                <a:cs typeface="Symbol"/>
              </a:rPr>
              <a:t>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onsolas"/>
                <a:cs typeface="Consolas"/>
              </a:rPr>
              <a:t>2</a:t>
            </a:r>
            <a:r>
              <a:rPr sz="2100" spc="-52" baseline="43650" dirty="0">
                <a:latin typeface="Consolas"/>
                <a:cs typeface="Consolas"/>
              </a:rPr>
              <a:t>0</a:t>
            </a:r>
            <a:r>
              <a:rPr sz="2100" spc="-150" baseline="43650" dirty="0">
                <a:latin typeface="Consolas"/>
                <a:cs typeface="Consolas"/>
              </a:rPr>
              <a:t> </a:t>
            </a:r>
            <a:r>
              <a:rPr sz="2400" spc="-280" dirty="0">
                <a:latin typeface="Symbol"/>
                <a:cs typeface="Symbol"/>
              </a:rPr>
              <a:t>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onsolas"/>
                <a:cs typeface="Consolas"/>
              </a:rPr>
              <a:t>2</a:t>
            </a:r>
            <a:r>
              <a:rPr sz="2100" spc="-60" baseline="43650" dirty="0">
                <a:latin typeface="Consolas"/>
                <a:cs typeface="Consolas"/>
              </a:rPr>
              <a:t>1</a:t>
            </a:r>
            <a:r>
              <a:rPr sz="2100" spc="-15" baseline="43650" dirty="0">
                <a:latin typeface="Consolas"/>
                <a:cs typeface="Consolas"/>
              </a:rPr>
              <a:t> </a:t>
            </a:r>
            <a:r>
              <a:rPr sz="2400" spc="-280" dirty="0">
                <a:latin typeface="Symbol"/>
                <a:cs typeface="Symbol"/>
              </a:rPr>
              <a:t>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onsolas"/>
                <a:cs typeface="Consolas"/>
              </a:rPr>
              <a:t>2</a:t>
            </a:r>
            <a:r>
              <a:rPr sz="2100" spc="-75" baseline="43650" dirty="0">
                <a:latin typeface="Consolas"/>
                <a:cs typeface="Consolas"/>
              </a:rPr>
              <a:t>2</a:t>
            </a:r>
            <a:r>
              <a:rPr sz="2100" spc="209" baseline="43650" dirty="0">
                <a:latin typeface="Consolas"/>
                <a:cs typeface="Consolas"/>
              </a:rPr>
              <a:t> </a:t>
            </a:r>
            <a:r>
              <a:rPr sz="2400" spc="-280" dirty="0">
                <a:latin typeface="Symbol"/>
                <a:cs typeface="Symbol"/>
              </a:rPr>
              <a:t>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85" dirty="0">
                <a:latin typeface="Consolas"/>
                <a:cs typeface="Consolas"/>
              </a:rPr>
              <a:t>...</a:t>
            </a:r>
            <a:r>
              <a:rPr sz="2400" spc="-805" dirty="0">
                <a:latin typeface="Consolas"/>
                <a:cs typeface="Consolas"/>
              </a:rPr>
              <a:t> </a:t>
            </a:r>
            <a:r>
              <a:rPr sz="2400" spc="-280" dirty="0">
                <a:latin typeface="Symbol"/>
                <a:cs typeface="Symbol"/>
              </a:rPr>
              <a:t>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onsolas"/>
                <a:cs typeface="Consolas"/>
              </a:rPr>
              <a:t>2</a:t>
            </a:r>
            <a:r>
              <a:rPr sz="2100" spc="-37" baseline="43650" dirty="0">
                <a:latin typeface="Consolas"/>
                <a:cs typeface="Consolas"/>
              </a:rPr>
              <a:t>h</a:t>
            </a:r>
            <a:r>
              <a:rPr sz="2100" baseline="43650" dirty="0">
                <a:latin typeface="Consolas"/>
                <a:cs typeface="Consolas"/>
              </a:rPr>
              <a:t>	</a:t>
            </a:r>
            <a:r>
              <a:rPr sz="2400" spc="-330" dirty="0">
                <a:latin typeface="Symbol"/>
                <a:cs typeface="Symbol"/>
              </a:rPr>
              <a:t>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5400" spc="-810" baseline="-8487" dirty="0">
                <a:latin typeface="Symbol"/>
                <a:cs typeface="Symbol"/>
              </a:rPr>
              <a:t></a:t>
            </a:r>
            <a:r>
              <a:rPr sz="5400" spc="-622" baseline="-8487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onsolas"/>
                <a:cs typeface="Consolas"/>
              </a:rPr>
              <a:t>2</a:t>
            </a:r>
            <a:r>
              <a:rPr sz="2100" spc="-60" baseline="43650" dirty="0">
                <a:latin typeface="Consolas"/>
                <a:cs typeface="Consolas"/>
              </a:rPr>
              <a:t>j</a:t>
            </a:r>
            <a:endParaRPr sz="2100" baseline="43650" dirty="0">
              <a:latin typeface="Consolas"/>
              <a:cs typeface="Consolas"/>
            </a:endParaRPr>
          </a:p>
          <a:p>
            <a:pPr marR="318770" algn="r">
              <a:lnSpc>
                <a:spcPct val="100000"/>
              </a:lnSpc>
              <a:spcBef>
                <a:spcPts val="190"/>
              </a:spcBef>
            </a:pPr>
            <a:r>
              <a:rPr sz="1400" spc="-135" dirty="0">
                <a:latin typeface="Consolas"/>
                <a:cs typeface="Consolas"/>
              </a:rPr>
              <a:t>j</a:t>
            </a:r>
            <a:r>
              <a:rPr sz="1400" spc="-135" dirty="0">
                <a:latin typeface="Symbol"/>
                <a:cs typeface="Symbol"/>
              </a:rPr>
              <a:t></a:t>
            </a:r>
            <a:r>
              <a:rPr sz="1400" spc="-19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Consolas"/>
                <a:cs typeface="Consolas"/>
              </a:rPr>
              <a:t>0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18032" y="4177284"/>
            <a:ext cx="7096125" cy="1957070"/>
            <a:chOff x="1018032" y="4177284"/>
            <a:chExt cx="7096125" cy="19570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6612" y="4177284"/>
              <a:ext cx="7027163" cy="19568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18032" y="4924044"/>
              <a:ext cx="353695" cy="462280"/>
            </a:xfrm>
            <a:custGeom>
              <a:avLst/>
              <a:gdLst/>
              <a:ahLst/>
              <a:cxnLst/>
              <a:rect l="l" t="t" r="r" b="b"/>
              <a:pathLst>
                <a:path w="353694" h="462279">
                  <a:moveTo>
                    <a:pt x="353568" y="0"/>
                  </a:moveTo>
                  <a:lnTo>
                    <a:pt x="0" y="0"/>
                  </a:lnTo>
                  <a:lnTo>
                    <a:pt x="0" y="461771"/>
                  </a:lnTo>
                  <a:lnTo>
                    <a:pt x="353568" y="461771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6467" y="4941823"/>
            <a:ext cx="193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0" dirty="0">
                <a:latin typeface="Consolas"/>
                <a:cs typeface="Consolas"/>
              </a:rPr>
              <a:t>h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85" dirty="0"/>
              <a:t> </a:t>
            </a:r>
            <a:r>
              <a:rPr dirty="0"/>
              <a:t>Tree:</a:t>
            </a:r>
            <a:r>
              <a:rPr spc="-90" dirty="0"/>
              <a:t> </a:t>
            </a:r>
            <a:r>
              <a:rPr dirty="0"/>
              <a:t>Properties</a:t>
            </a:r>
            <a:r>
              <a:rPr spc="-90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042" y="1145794"/>
            <a:ext cx="7028815" cy="215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179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67665" indent="-342265">
              <a:lnSpc>
                <a:spcPct val="100000"/>
              </a:lnSpc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15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+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1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–</a:t>
            </a:r>
            <a:r>
              <a:rPr sz="2100" spc="-25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1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spc="-2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  <a:p>
            <a:pPr marL="7689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68985" algn="l"/>
              </a:tabLst>
            </a:pPr>
            <a:r>
              <a:rPr sz="1900" dirty="0">
                <a:latin typeface="Tahoma"/>
                <a:cs typeface="Tahoma"/>
              </a:rPr>
              <a:t>Number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nodes: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Consolas"/>
                <a:cs typeface="Consolas"/>
              </a:rPr>
              <a:t>L</a:t>
            </a:r>
            <a:r>
              <a:rPr sz="1900" spc="-4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=</a:t>
            </a:r>
            <a:r>
              <a:rPr sz="1900" spc="-40" dirty="0">
                <a:latin typeface="Consolas"/>
                <a:cs typeface="Consolas"/>
              </a:rPr>
              <a:t> 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h</a:t>
            </a:r>
            <a:endParaRPr sz="1875" baseline="26666">
              <a:latin typeface="Consolas"/>
              <a:cs typeface="Consolas"/>
            </a:endParaRPr>
          </a:p>
          <a:p>
            <a:pPr marL="7689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68985" algn="l"/>
                <a:tab pos="3709035" algn="l"/>
                <a:tab pos="4065904" algn="l"/>
              </a:tabLst>
            </a:pPr>
            <a:r>
              <a:rPr sz="1900" dirty="0">
                <a:latin typeface="Tahoma"/>
                <a:cs typeface="Tahoma"/>
              </a:rPr>
              <a:t>Number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internal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nodes:</a:t>
            </a:r>
            <a:r>
              <a:rPr sz="1900" dirty="0">
                <a:latin typeface="Tahoma"/>
                <a:cs typeface="Tahoma"/>
              </a:rPr>
              <a:t>	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h</a:t>
            </a:r>
            <a:r>
              <a:rPr sz="1875" baseline="26666" dirty="0">
                <a:latin typeface="Consolas"/>
                <a:cs typeface="Consolas"/>
              </a:rPr>
              <a:t>	</a:t>
            </a:r>
            <a:r>
              <a:rPr sz="1900" dirty="0">
                <a:latin typeface="Consolas"/>
                <a:cs typeface="Consolas"/>
              </a:rPr>
              <a:t>–</a:t>
            </a:r>
            <a:r>
              <a:rPr sz="1900" spc="-5" dirty="0"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1</a:t>
            </a:r>
            <a:endParaRPr sz="1900">
              <a:latin typeface="Consolas"/>
              <a:cs typeface="Consolas"/>
            </a:endParaRPr>
          </a:p>
          <a:p>
            <a:pPr marL="7689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68985" algn="l"/>
              </a:tabLst>
            </a:pPr>
            <a:r>
              <a:rPr sz="1900" dirty="0">
                <a:latin typeface="Tahoma"/>
                <a:cs typeface="Tahoma"/>
              </a:rPr>
              <a:t>Total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number</a:t>
            </a:r>
            <a:r>
              <a:rPr sz="1900" spc="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nodes:</a:t>
            </a:r>
            <a:r>
              <a:rPr sz="1900" spc="15" dirty="0">
                <a:latin typeface="Tahoma"/>
                <a:cs typeface="Tahoma"/>
              </a:rPr>
              <a:t> </a:t>
            </a:r>
            <a:r>
              <a:rPr sz="1900" spc="-20" dirty="0">
                <a:latin typeface="Consolas"/>
                <a:cs typeface="Consolas"/>
              </a:rPr>
              <a:t>2L-</a:t>
            </a:r>
            <a:r>
              <a:rPr sz="1900" dirty="0">
                <a:latin typeface="Consolas"/>
                <a:cs typeface="Consolas"/>
              </a:rPr>
              <a:t>1</a:t>
            </a:r>
            <a:r>
              <a:rPr sz="1900" spc="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=</a:t>
            </a:r>
            <a:r>
              <a:rPr sz="1900" spc="-1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2</a:t>
            </a:r>
            <a:r>
              <a:rPr sz="1875" baseline="26666" dirty="0">
                <a:latin typeface="Consolas"/>
                <a:cs typeface="Consolas"/>
              </a:rPr>
              <a:t>h</a:t>
            </a:r>
            <a:r>
              <a:rPr sz="1875" spc="-7" baseline="26666" dirty="0">
                <a:latin typeface="Consolas"/>
                <a:cs typeface="Consolas"/>
              </a:rPr>
              <a:t> </a:t>
            </a:r>
            <a:r>
              <a:rPr sz="1875" baseline="26666" dirty="0">
                <a:latin typeface="Consolas"/>
                <a:cs typeface="Consolas"/>
              </a:rPr>
              <a:t>+</a:t>
            </a:r>
            <a:r>
              <a:rPr sz="1875" spc="-22" baseline="26666" dirty="0">
                <a:latin typeface="Consolas"/>
                <a:cs typeface="Consolas"/>
              </a:rPr>
              <a:t> </a:t>
            </a:r>
            <a:r>
              <a:rPr sz="1875" baseline="26666" dirty="0">
                <a:latin typeface="Consolas"/>
                <a:cs typeface="Consolas"/>
              </a:rPr>
              <a:t>1 </a:t>
            </a:r>
            <a:r>
              <a:rPr sz="1900" dirty="0">
                <a:latin typeface="Consolas"/>
                <a:cs typeface="Consolas"/>
              </a:rPr>
              <a:t>–</a:t>
            </a:r>
            <a:r>
              <a:rPr sz="1900" spc="-20" dirty="0"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1</a:t>
            </a:r>
            <a:endParaRPr sz="19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18032" y="4177284"/>
            <a:ext cx="7096125" cy="1957070"/>
            <a:chOff x="1018032" y="4177284"/>
            <a:chExt cx="7096125" cy="1957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6612" y="4177284"/>
              <a:ext cx="7027163" cy="19568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8032" y="4924044"/>
              <a:ext cx="353695" cy="462280"/>
            </a:xfrm>
            <a:custGeom>
              <a:avLst/>
              <a:gdLst/>
              <a:ahLst/>
              <a:cxnLst/>
              <a:rect l="l" t="t" r="r" b="b"/>
              <a:pathLst>
                <a:path w="353694" h="462279">
                  <a:moveTo>
                    <a:pt x="353568" y="0"/>
                  </a:moveTo>
                  <a:lnTo>
                    <a:pt x="0" y="0"/>
                  </a:lnTo>
                  <a:lnTo>
                    <a:pt x="0" y="461771"/>
                  </a:lnTo>
                  <a:lnTo>
                    <a:pt x="353568" y="461771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96467" y="4941823"/>
            <a:ext cx="193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0" dirty="0">
                <a:latin typeface="Consolas"/>
                <a:cs typeface="Consolas"/>
              </a:rPr>
              <a:t>h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85" dirty="0"/>
              <a:t> </a:t>
            </a:r>
            <a:r>
              <a:rPr dirty="0"/>
              <a:t>Tree:</a:t>
            </a:r>
            <a:r>
              <a:rPr spc="-90" dirty="0"/>
              <a:t> </a:t>
            </a:r>
            <a:r>
              <a:rPr dirty="0"/>
              <a:t>Properties</a:t>
            </a:r>
            <a:r>
              <a:rPr spc="-90" dirty="0"/>
              <a:t> </a:t>
            </a:r>
            <a:r>
              <a:rPr spc="-25" dirty="0"/>
              <a:t>(4)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042" y="1145794"/>
            <a:ext cx="8202930" cy="2924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179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67665" indent="-342265">
              <a:lnSpc>
                <a:spcPct val="100000"/>
              </a:lnSpc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+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1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–</a:t>
            </a:r>
            <a:r>
              <a:rPr sz="2100" spc="-25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1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  <a:p>
            <a:pPr marL="7689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68985" algn="l"/>
              </a:tabLst>
            </a:pPr>
            <a:r>
              <a:rPr sz="1900" dirty="0">
                <a:latin typeface="Tahoma"/>
                <a:cs typeface="Tahoma"/>
              </a:rPr>
              <a:t>Number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nodes: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Consolas"/>
                <a:cs typeface="Consolas"/>
              </a:rPr>
              <a:t>L</a:t>
            </a:r>
            <a:r>
              <a:rPr sz="1900" spc="-4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=</a:t>
            </a:r>
            <a:r>
              <a:rPr sz="1900" spc="-40" dirty="0">
                <a:latin typeface="Consolas"/>
                <a:cs typeface="Consolas"/>
              </a:rPr>
              <a:t> 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h</a:t>
            </a:r>
            <a:endParaRPr sz="1875" baseline="26666">
              <a:latin typeface="Consolas"/>
              <a:cs typeface="Consolas"/>
            </a:endParaRPr>
          </a:p>
          <a:p>
            <a:pPr marL="7689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68985" algn="l"/>
                <a:tab pos="3709035" algn="l"/>
                <a:tab pos="4065904" algn="l"/>
              </a:tabLst>
            </a:pPr>
            <a:r>
              <a:rPr sz="1900" dirty="0">
                <a:latin typeface="Tahoma"/>
                <a:cs typeface="Tahoma"/>
              </a:rPr>
              <a:t>Number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internal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nodes:</a:t>
            </a:r>
            <a:r>
              <a:rPr sz="1900" dirty="0">
                <a:latin typeface="Tahoma"/>
                <a:cs typeface="Tahoma"/>
              </a:rPr>
              <a:t>	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h</a:t>
            </a:r>
            <a:r>
              <a:rPr sz="1875" baseline="26666" dirty="0">
                <a:latin typeface="Consolas"/>
                <a:cs typeface="Consolas"/>
              </a:rPr>
              <a:t>	</a:t>
            </a:r>
            <a:r>
              <a:rPr sz="1900" dirty="0">
                <a:latin typeface="Consolas"/>
                <a:cs typeface="Consolas"/>
              </a:rPr>
              <a:t>–</a:t>
            </a:r>
            <a:r>
              <a:rPr sz="1900" spc="-5" dirty="0"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1</a:t>
            </a:r>
            <a:endParaRPr sz="1900">
              <a:latin typeface="Consolas"/>
              <a:cs typeface="Consolas"/>
            </a:endParaRPr>
          </a:p>
          <a:p>
            <a:pPr marL="7689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68985" algn="l"/>
              </a:tabLst>
            </a:pPr>
            <a:r>
              <a:rPr sz="1900" dirty="0">
                <a:latin typeface="Tahoma"/>
                <a:cs typeface="Tahoma"/>
              </a:rPr>
              <a:t>Total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number</a:t>
            </a:r>
            <a:r>
              <a:rPr sz="1900" spc="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nodes:</a:t>
            </a:r>
            <a:r>
              <a:rPr sz="1900" spc="15" dirty="0">
                <a:latin typeface="Tahoma"/>
                <a:cs typeface="Tahoma"/>
              </a:rPr>
              <a:t> </a:t>
            </a:r>
            <a:r>
              <a:rPr sz="1900" spc="-20" dirty="0">
                <a:latin typeface="Consolas"/>
                <a:cs typeface="Consolas"/>
              </a:rPr>
              <a:t>2L-</a:t>
            </a:r>
            <a:r>
              <a:rPr sz="1900" dirty="0">
                <a:latin typeface="Consolas"/>
                <a:cs typeface="Consolas"/>
              </a:rPr>
              <a:t>1</a:t>
            </a:r>
            <a:r>
              <a:rPr sz="1900" spc="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=</a:t>
            </a:r>
            <a:r>
              <a:rPr sz="1900" spc="-1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2</a:t>
            </a:r>
            <a:r>
              <a:rPr sz="1875" baseline="26666" dirty="0">
                <a:latin typeface="Consolas"/>
                <a:cs typeface="Consolas"/>
              </a:rPr>
              <a:t>h</a:t>
            </a:r>
            <a:r>
              <a:rPr sz="1875" spc="-7" baseline="26666" dirty="0">
                <a:latin typeface="Consolas"/>
                <a:cs typeface="Consolas"/>
              </a:rPr>
              <a:t> </a:t>
            </a:r>
            <a:r>
              <a:rPr sz="1875" baseline="26666" dirty="0">
                <a:latin typeface="Consolas"/>
                <a:cs typeface="Consolas"/>
              </a:rPr>
              <a:t>+</a:t>
            </a:r>
            <a:r>
              <a:rPr sz="1875" spc="-22" baseline="26666" dirty="0">
                <a:latin typeface="Consolas"/>
                <a:cs typeface="Consolas"/>
              </a:rPr>
              <a:t> </a:t>
            </a:r>
            <a:r>
              <a:rPr sz="1875" baseline="26666" dirty="0">
                <a:latin typeface="Consolas"/>
                <a:cs typeface="Consolas"/>
              </a:rPr>
              <a:t>1 </a:t>
            </a:r>
            <a:r>
              <a:rPr sz="1900" dirty="0">
                <a:latin typeface="Consolas"/>
                <a:cs typeface="Consolas"/>
              </a:rPr>
              <a:t>–</a:t>
            </a:r>
            <a:r>
              <a:rPr sz="1900" spc="-20" dirty="0"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1</a:t>
            </a:r>
            <a:endParaRPr sz="190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spcBef>
                <a:spcPts val="1295"/>
              </a:spcBef>
              <a:buFont typeface="Tahoma"/>
              <a:buChar char="–"/>
            </a:pPr>
            <a:endParaRPr sz="1900">
              <a:latin typeface="Consolas"/>
              <a:cs typeface="Consolas"/>
            </a:endParaRPr>
          </a:p>
          <a:p>
            <a:pPr marL="3676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 </a:t>
            </a:r>
            <a:r>
              <a:rPr sz="2100" dirty="0">
                <a:latin typeface="Consolas"/>
                <a:cs typeface="Consolas"/>
              </a:rPr>
              <a:t>n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log</a:t>
            </a:r>
            <a:r>
              <a:rPr sz="2100" baseline="-19841" dirty="0">
                <a:latin typeface="Consolas"/>
                <a:cs typeface="Consolas"/>
              </a:rPr>
              <a:t>2</a:t>
            </a:r>
            <a:r>
              <a:rPr sz="2100" dirty="0">
                <a:latin typeface="Consolas"/>
                <a:cs typeface="Consolas"/>
              </a:rPr>
              <a:t>(n</a:t>
            </a:r>
            <a:r>
              <a:rPr sz="2100" spc="-45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+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1)</a:t>
            </a:r>
            <a:r>
              <a:rPr sz="2100" spc="-40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–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spc="-50" dirty="0">
                <a:latin typeface="Consolas"/>
                <a:cs typeface="Consolas"/>
              </a:rPr>
              <a:t>1</a:t>
            </a:r>
            <a:endParaRPr sz="21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8531" y="5167659"/>
            <a:ext cx="3538854" cy="1006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94"/>
              </a:spcBef>
              <a:tabLst>
                <a:tab pos="657225" algn="l"/>
                <a:tab pos="1332865" algn="l"/>
                <a:tab pos="2762885" algn="l"/>
              </a:tabLst>
            </a:pPr>
            <a:r>
              <a:rPr sz="2550" spc="-20" dirty="0">
                <a:latin typeface="Consolas"/>
                <a:cs typeface="Consolas"/>
              </a:rPr>
              <a:t>h</a:t>
            </a:r>
            <a:r>
              <a:rPr sz="2550" spc="-380" dirty="0">
                <a:latin typeface="Consolas"/>
                <a:cs typeface="Consolas"/>
              </a:rPr>
              <a:t> </a:t>
            </a:r>
            <a:r>
              <a:rPr sz="2550" spc="-50" dirty="0">
                <a:latin typeface="Symbol"/>
                <a:cs typeface="Symbol"/>
              </a:rPr>
              <a:t>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dirty="0">
                <a:latin typeface="Consolas"/>
                <a:cs typeface="Consolas"/>
              </a:rPr>
              <a:t>1</a:t>
            </a:r>
            <a:r>
              <a:rPr sz="2550" spc="-120" dirty="0">
                <a:latin typeface="Consolas"/>
                <a:cs typeface="Consolas"/>
              </a:rPr>
              <a:t> </a:t>
            </a:r>
            <a:r>
              <a:rPr sz="2550" spc="-5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30" dirty="0">
                <a:latin typeface="Consolas"/>
                <a:cs typeface="Consolas"/>
              </a:rPr>
              <a:t>log</a:t>
            </a:r>
            <a:r>
              <a:rPr sz="2250" spc="-44" baseline="-24074" dirty="0">
                <a:latin typeface="Consolas"/>
                <a:cs typeface="Consolas"/>
              </a:rPr>
              <a:t>2</a:t>
            </a:r>
            <a:r>
              <a:rPr sz="2550" spc="-30" dirty="0">
                <a:latin typeface="Consolas"/>
                <a:cs typeface="Consolas"/>
              </a:rPr>
              <a:t>(n</a:t>
            </a:r>
            <a:r>
              <a:rPr sz="2550" spc="-335" dirty="0">
                <a:latin typeface="Consolas"/>
                <a:cs typeface="Consolas"/>
              </a:rPr>
              <a:t> </a:t>
            </a:r>
            <a:r>
              <a:rPr sz="2550" spc="-50" dirty="0">
                <a:latin typeface="Symbol"/>
                <a:cs typeface="Symbol"/>
              </a:rPr>
              <a:t>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Consolas"/>
                <a:cs typeface="Consolas"/>
              </a:rPr>
              <a:t>1)</a:t>
            </a:r>
            <a:endParaRPr sz="2550" dirty="0">
              <a:latin typeface="Consolas"/>
              <a:cs typeface="Consolas"/>
            </a:endParaRPr>
          </a:p>
          <a:p>
            <a:pPr marL="47625">
              <a:lnSpc>
                <a:spcPct val="100000"/>
              </a:lnSpc>
              <a:spcBef>
                <a:spcPts val="800"/>
              </a:spcBef>
              <a:tabLst>
                <a:tab pos="521334" algn="l"/>
                <a:tab pos="1191895" algn="l"/>
                <a:tab pos="2621915" algn="l"/>
              </a:tabLst>
            </a:pPr>
            <a:r>
              <a:rPr sz="2550" spc="-50" dirty="0">
                <a:latin typeface="Symbol"/>
                <a:cs typeface="Symbol"/>
              </a:rPr>
              <a:t>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dirty="0">
                <a:latin typeface="Consolas"/>
                <a:cs typeface="Consolas"/>
              </a:rPr>
              <a:t>h</a:t>
            </a:r>
            <a:r>
              <a:rPr sz="2550" spc="-160" dirty="0">
                <a:latin typeface="Consolas"/>
                <a:cs typeface="Consolas"/>
              </a:rPr>
              <a:t> </a:t>
            </a:r>
            <a:r>
              <a:rPr sz="2550" spc="-5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30" dirty="0">
                <a:latin typeface="Consolas"/>
                <a:cs typeface="Consolas"/>
              </a:rPr>
              <a:t>log</a:t>
            </a:r>
            <a:r>
              <a:rPr sz="2250" spc="-44" baseline="-24074" dirty="0">
                <a:latin typeface="Consolas"/>
                <a:cs typeface="Consolas"/>
              </a:rPr>
              <a:t>2</a:t>
            </a:r>
            <a:r>
              <a:rPr sz="2550" spc="-30" dirty="0">
                <a:latin typeface="Consolas"/>
                <a:cs typeface="Consolas"/>
              </a:rPr>
              <a:t>(n</a:t>
            </a:r>
            <a:r>
              <a:rPr sz="2550" spc="-335" dirty="0">
                <a:latin typeface="Consolas"/>
                <a:cs typeface="Consolas"/>
              </a:rPr>
              <a:t> </a:t>
            </a:r>
            <a:r>
              <a:rPr sz="2550" spc="-50" dirty="0">
                <a:latin typeface="Symbol"/>
                <a:cs typeface="Symbol"/>
              </a:rPr>
              <a:t>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Consolas"/>
                <a:cs typeface="Consolas"/>
              </a:rPr>
              <a:t>1)</a:t>
            </a:r>
            <a:r>
              <a:rPr sz="2550" spc="-860" dirty="0">
                <a:latin typeface="Consolas"/>
                <a:cs typeface="Consolas"/>
              </a:rPr>
              <a:t> </a:t>
            </a:r>
            <a:r>
              <a:rPr sz="2550" spc="-20" dirty="0">
                <a:latin typeface="Consolas"/>
                <a:cs typeface="Consolas"/>
              </a:rPr>
              <a:t>-</a:t>
            </a:r>
            <a:r>
              <a:rPr sz="2550" spc="-605" dirty="0">
                <a:latin typeface="Consolas"/>
                <a:cs typeface="Consolas"/>
              </a:rPr>
              <a:t> </a:t>
            </a:r>
            <a:r>
              <a:rPr sz="2550" spc="-50" dirty="0">
                <a:latin typeface="Consolas"/>
                <a:cs typeface="Consolas"/>
              </a:rPr>
              <a:t>1</a:t>
            </a:r>
            <a:endParaRPr sz="255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002" y="4774526"/>
            <a:ext cx="1155700" cy="419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44805" algn="l"/>
                <a:tab pos="964565" algn="l"/>
              </a:tabLst>
            </a:pPr>
            <a:r>
              <a:rPr sz="2550" spc="-5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0" dirty="0">
                <a:latin typeface="Consolas"/>
                <a:cs typeface="Consolas"/>
              </a:rPr>
              <a:t>n</a:t>
            </a:r>
            <a:r>
              <a:rPr sz="2550" spc="-380" dirty="0">
                <a:latin typeface="Consolas"/>
                <a:cs typeface="Consolas"/>
              </a:rPr>
              <a:t> </a:t>
            </a:r>
            <a:r>
              <a:rPr sz="2550" spc="-50" dirty="0">
                <a:latin typeface="Symbol"/>
                <a:cs typeface="Symbol"/>
              </a:rPr>
              <a:t>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Consolas"/>
                <a:cs typeface="Consolas"/>
              </a:rPr>
              <a:t>1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8531" y="4628096"/>
            <a:ext cx="612140" cy="419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825" baseline="-25054" dirty="0">
                <a:latin typeface="Consolas"/>
                <a:cs typeface="Consolas"/>
              </a:rPr>
              <a:t>2</a:t>
            </a:r>
            <a:r>
              <a:rPr sz="1500" dirty="0">
                <a:latin typeface="Consolas"/>
                <a:cs typeface="Consolas"/>
              </a:rPr>
              <a:t>h</a:t>
            </a:r>
            <a:r>
              <a:rPr sz="1500" dirty="0">
                <a:latin typeface="Symbol"/>
                <a:cs typeface="Symbol"/>
              </a:rPr>
              <a:t>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Consolas"/>
                <a:cs typeface="Consolas"/>
              </a:rPr>
              <a:t>1</a:t>
            </a:r>
            <a:endParaRPr sz="15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2990" y="4239886"/>
            <a:ext cx="510540" cy="419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19405" algn="l"/>
              </a:tabLst>
            </a:pPr>
            <a:r>
              <a:rPr sz="2550" spc="-50" dirty="0">
                <a:latin typeface="Symbol"/>
                <a:cs typeface="Symbol"/>
              </a:rPr>
              <a:t>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Consolas"/>
                <a:cs typeface="Consolas"/>
              </a:rPr>
              <a:t>1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8531" y="4093457"/>
            <a:ext cx="1282065" cy="419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08025" algn="l"/>
              </a:tabLst>
            </a:pPr>
            <a:r>
              <a:rPr sz="3825" baseline="-25054" dirty="0">
                <a:latin typeface="Consolas"/>
                <a:cs typeface="Consolas"/>
              </a:rPr>
              <a:t>n</a:t>
            </a:r>
            <a:r>
              <a:rPr sz="3825" spc="-240" baseline="-25054" dirty="0">
                <a:latin typeface="Consolas"/>
                <a:cs typeface="Consolas"/>
              </a:rPr>
              <a:t> </a:t>
            </a:r>
            <a:r>
              <a:rPr sz="3825" spc="-75" baseline="-25054" dirty="0">
                <a:latin typeface="Symbol"/>
                <a:cs typeface="Symbol"/>
              </a:rPr>
              <a:t></a:t>
            </a:r>
            <a:r>
              <a:rPr sz="3825" baseline="-25054" dirty="0">
                <a:latin typeface="Times New Roman"/>
                <a:cs typeface="Times New Roman"/>
              </a:rPr>
              <a:t>	</a:t>
            </a:r>
            <a:r>
              <a:rPr sz="3825" baseline="-25054" dirty="0">
                <a:latin typeface="Consolas"/>
                <a:cs typeface="Consolas"/>
              </a:rPr>
              <a:t>2</a:t>
            </a:r>
            <a:r>
              <a:rPr sz="1500" dirty="0">
                <a:latin typeface="Consolas"/>
                <a:cs typeface="Consolas"/>
              </a:rPr>
              <a:t>h</a:t>
            </a:r>
            <a:r>
              <a:rPr sz="1500" dirty="0">
                <a:latin typeface="Symbol"/>
                <a:cs typeface="Symbol"/>
              </a:rPr>
              <a:t>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Consolas"/>
                <a:cs typeface="Consolas"/>
              </a:rPr>
              <a:t>1</a:t>
            </a:r>
            <a:endParaRPr sz="15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85" dirty="0"/>
              <a:t> </a:t>
            </a:r>
            <a:r>
              <a:rPr dirty="0"/>
              <a:t>Tree:</a:t>
            </a:r>
            <a:r>
              <a:rPr spc="-90" dirty="0"/>
              <a:t> </a:t>
            </a:r>
            <a:r>
              <a:rPr dirty="0"/>
              <a:t>Properties</a:t>
            </a:r>
            <a:r>
              <a:rPr spc="-90" dirty="0"/>
              <a:t> </a:t>
            </a:r>
            <a:r>
              <a:rPr spc="-25" dirty="0"/>
              <a:t>(4)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042" y="1145794"/>
            <a:ext cx="8202930" cy="401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179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67665" indent="-342265">
              <a:lnSpc>
                <a:spcPct val="100000"/>
              </a:lnSpc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has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+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1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–</a:t>
            </a:r>
            <a:r>
              <a:rPr sz="2100" spc="-25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1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>
              <a:latin typeface="Tahoma"/>
              <a:cs typeface="Tahoma"/>
            </a:endParaRPr>
          </a:p>
          <a:p>
            <a:pPr marL="7689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68985" algn="l"/>
              </a:tabLst>
            </a:pPr>
            <a:r>
              <a:rPr sz="1900" dirty="0">
                <a:latin typeface="Tahoma"/>
                <a:cs typeface="Tahoma"/>
              </a:rPr>
              <a:t>Number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nodes: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Consolas"/>
                <a:cs typeface="Consolas"/>
              </a:rPr>
              <a:t>L</a:t>
            </a:r>
            <a:r>
              <a:rPr sz="1900" spc="-4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=</a:t>
            </a:r>
            <a:r>
              <a:rPr sz="1900" spc="-40" dirty="0">
                <a:latin typeface="Consolas"/>
                <a:cs typeface="Consolas"/>
              </a:rPr>
              <a:t> 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h</a:t>
            </a:r>
            <a:endParaRPr sz="1875" baseline="26666">
              <a:latin typeface="Consolas"/>
              <a:cs typeface="Consolas"/>
            </a:endParaRPr>
          </a:p>
          <a:p>
            <a:pPr marL="7689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68985" algn="l"/>
                <a:tab pos="3709035" algn="l"/>
                <a:tab pos="4065904" algn="l"/>
              </a:tabLst>
            </a:pPr>
            <a:r>
              <a:rPr sz="1900" dirty="0">
                <a:latin typeface="Tahoma"/>
                <a:cs typeface="Tahoma"/>
              </a:rPr>
              <a:t>Number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internal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nodes:</a:t>
            </a:r>
            <a:r>
              <a:rPr sz="1900" dirty="0">
                <a:latin typeface="Tahoma"/>
                <a:cs typeface="Tahoma"/>
              </a:rPr>
              <a:t>	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h</a:t>
            </a:r>
            <a:r>
              <a:rPr sz="1875" baseline="26666" dirty="0">
                <a:latin typeface="Consolas"/>
                <a:cs typeface="Consolas"/>
              </a:rPr>
              <a:t>	</a:t>
            </a:r>
            <a:r>
              <a:rPr sz="1900" dirty="0">
                <a:latin typeface="Consolas"/>
                <a:cs typeface="Consolas"/>
              </a:rPr>
              <a:t>–</a:t>
            </a:r>
            <a:r>
              <a:rPr sz="1900" spc="-5" dirty="0"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1</a:t>
            </a:r>
            <a:endParaRPr sz="1900">
              <a:latin typeface="Consolas"/>
              <a:cs typeface="Consolas"/>
            </a:endParaRPr>
          </a:p>
          <a:p>
            <a:pPr marL="7689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68985" algn="l"/>
              </a:tabLst>
            </a:pPr>
            <a:r>
              <a:rPr sz="1900" dirty="0">
                <a:latin typeface="Tahoma"/>
                <a:cs typeface="Tahoma"/>
              </a:rPr>
              <a:t>Total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number</a:t>
            </a:r>
            <a:r>
              <a:rPr sz="1900" spc="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nodes:</a:t>
            </a:r>
            <a:r>
              <a:rPr sz="1900" spc="15" dirty="0">
                <a:latin typeface="Tahoma"/>
                <a:cs typeface="Tahoma"/>
              </a:rPr>
              <a:t> </a:t>
            </a:r>
            <a:r>
              <a:rPr sz="1900" spc="-20" dirty="0">
                <a:latin typeface="Consolas"/>
                <a:cs typeface="Consolas"/>
              </a:rPr>
              <a:t>2L-</a:t>
            </a:r>
            <a:r>
              <a:rPr sz="1900" dirty="0">
                <a:latin typeface="Consolas"/>
                <a:cs typeface="Consolas"/>
              </a:rPr>
              <a:t>1</a:t>
            </a:r>
            <a:r>
              <a:rPr sz="1900" spc="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=</a:t>
            </a:r>
            <a:r>
              <a:rPr sz="1900" spc="-15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2</a:t>
            </a:r>
            <a:r>
              <a:rPr sz="1875" baseline="26666" dirty="0">
                <a:latin typeface="Consolas"/>
                <a:cs typeface="Consolas"/>
              </a:rPr>
              <a:t>h</a:t>
            </a:r>
            <a:r>
              <a:rPr sz="1875" spc="-7" baseline="26666" dirty="0">
                <a:latin typeface="Consolas"/>
                <a:cs typeface="Consolas"/>
              </a:rPr>
              <a:t> </a:t>
            </a:r>
            <a:r>
              <a:rPr sz="1875" baseline="26666" dirty="0">
                <a:latin typeface="Consolas"/>
                <a:cs typeface="Consolas"/>
              </a:rPr>
              <a:t>+</a:t>
            </a:r>
            <a:r>
              <a:rPr sz="1875" spc="-22" baseline="26666" dirty="0">
                <a:latin typeface="Consolas"/>
                <a:cs typeface="Consolas"/>
              </a:rPr>
              <a:t> </a:t>
            </a:r>
            <a:r>
              <a:rPr sz="1875" baseline="26666" dirty="0">
                <a:latin typeface="Consolas"/>
                <a:cs typeface="Consolas"/>
              </a:rPr>
              <a:t>1 </a:t>
            </a:r>
            <a:r>
              <a:rPr sz="1900" dirty="0">
                <a:latin typeface="Consolas"/>
                <a:cs typeface="Consolas"/>
              </a:rPr>
              <a:t>–</a:t>
            </a:r>
            <a:r>
              <a:rPr sz="1900" spc="-20" dirty="0">
                <a:latin typeface="Consolas"/>
                <a:cs typeface="Consolas"/>
              </a:rPr>
              <a:t> </a:t>
            </a:r>
            <a:r>
              <a:rPr sz="1900" spc="-50" dirty="0">
                <a:latin typeface="Consolas"/>
                <a:cs typeface="Consolas"/>
              </a:rPr>
              <a:t>1</a:t>
            </a:r>
            <a:endParaRPr sz="190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spcBef>
                <a:spcPts val="1295"/>
              </a:spcBef>
              <a:buFont typeface="Tahoma"/>
              <a:buChar char="–"/>
            </a:pPr>
            <a:endParaRPr sz="1900">
              <a:latin typeface="Consolas"/>
              <a:cs typeface="Consolas"/>
            </a:endParaRPr>
          </a:p>
          <a:p>
            <a:pPr marL="3676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complete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 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 </a:t>
            </a:r>
            <a:r>
              <a:rPr sz="2100" dirty="0">
                <a:latin typeface="Consolas"/>
                <a:cs typeface="Consolas"/>
              </a:rPr>
              <a:t>n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log</a:t>
            </a:r>
            <a:r>
              <a:rPr sz="2100" baseline="-19841" dirty="0">
                <a:latin typeface="Consolas"/>
                <a:cs typeface="Consolas"/>
              </a:rPr>
              <a:t>2</a:t>
            </a:r>
            <a:r>
              <a:rPr sz="2100" dirty="0">
                <a:latin typeface="Consolas"/>
                <a:cs typeface="Consolas"/>
              </a:rPr>
              <a:t>(n</a:t>
            </a:r>
            <a:r>
              <a:rPr sz="2100" spc="-45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+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1)</a:t>
            </a:r>
            <a:r>
              <a:rPr sz="2100" spc="-40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–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spc="-50" dirty="0">
                <a:latin typeface="Consolas"/>
                <a:cs typeface="Consolas"/>
              </a:rPr>
              <a:t>1</a:t>
            </a:r>
            <a:endParaRPr sz="2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Tahoma"/>
              <a:buChar char="•"/>
            </a:pPr>
            <a:endParaRPr sz="2100">
              <a:latin typeface="Consolas"/>
              <a:cs typeface="Consolas"/>
            </a:endParaRPr>
          </a:p>
          <a:p>
            <a:pPr marL="367665" indent="-342265">
              <a:lnSpc>
                <a:spcPct val="100000"/>
              </a:lnSpc>
              <a:buChar char="•"/>
              <a:tabLst>
                <a:tab pos="367665" algn="l"/>
                <a:tab pos="7251065" algn="l"/>
              </a:tabLst>
            </a:pPr>
            <a:r>
              <a:rPr sz="2100" dirty="0">
                <a:latin typeface="Tahoma"/>
                <a:cs typeface="Tahoma"/>
              </a:rPr>
              <a:t>Number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1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least</a:t>
            </a:r>
            <a:r>
              <a:rPr sz="2100" dirty="0">
                <a:latin typeface="Tahoma"/>
                <a:cs typeface="Tahoma"/>
              </a:rPr>
              <a:t>	</a:t>
            </a:r>
            <a:r>
              <a:rPr sz="2100" spc="-25" dirty="0">
                <a:latin typeface="Consolas"/>
                <a:cs typeface="Consolas"/>
              </a:rPr>
              <a:t>h+1</a:t>
            </a:r>
            <a:endParaRPr sz="2100">
              <a:latin typeface="Consolas"/>
              <a:cs typeface="Consolas"/>
            </a:endParaRPr>
          </a:p>
          <a:p>
            <a:pPr marL="368300">
              <a:lnSpc>
                <a:spcPct val="100000"/>
              </a:lnSpc>
            </a:pPr>
            <a:r>
              <a:rPr sz="2100" dirty="0">
                <a:latin typeface="Tahoma"/>
                <a:cs typeface="Tahoma"/>
              </a:rPr>
              <a:t>and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most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2</a:t>
            </a:r>
            <a:r>
              <a:rPr sz="2100" baseline="25793" dirty="0">
                <a:latin typeface="Consolas"/>
                <a:cs typeface="Consolas"/>
              </a:rPr>
              <a:t>h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+</a:t>
            </a:r>
            <a:r>
              <a:rPr sz="2100" spc="-7" baseline="25793" dirty="0">
                <a:latin typeface="Consolas"/>
                <a:cs typeface="Consolas"/>
              </a:rPr>
              <a:t> </a:t>
            </a:r>
            <a:r>
              <a:rPr sz="2100" baseline="25793" dirty="0">
                <a:latin typeface="Consolas"/>
                <a:cs typeface="Consolas"/>
              </a:rPr>
              <a:t>1</a:t>
            </a:r>
            <a:r>
              <a:rPr sz="2100" spc="15" baseline="25793" dirty="0">
                <a:latin typeface="Consolas"/>
                <a:cs typeface="Consolas"/>
              </a:rPr>
              <a:t> </a:t>
            </a:r>
            <a:r>
              <a:rPr sz="2100" dirty="0">
                <a:latin typeface="Consolas"/>
                <a:cs typeface="Consolas"/>
              </a:rPr>
              <a:t>–</a:t>
            </a:r>
            <a:r>
              <a:rPr sz="2100" spc="-30" dirty="0">
                <a:latin typeface="Consolas"/>
                <a:cs typeface="Consolas"/>
              </a:rPr>
              <a:t> </a:t>
            </a:r>
            <a:r>
              <a:rPr sz="2100" spc="-50" dirty="0">
                <a:latin typeface="Consolas"/>
                <a:cs typeface="Consolas"/>
              </a:rPr>
              <a:t>1</a:t>
            </a:r>
            <a:endParaRPr sz="2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Almost</a:t>
            </a:r>
            <a:r>
              <a:rPr spc="-105" dirty="0"/>
              <a:t> </a:t>
            </a:r>
            <a:r>
              <a:rPr dirty="0"/>
              <a:t>(or</a:t>
            </a:r>
            <a:r>
              <a:rPr spc="-85" dirty="0"/>
              <a:t> </a:t>
            </a:r>
            <a:r>
              <a:rPr dirty="0"/>
              <a:t>Nearly)</a:t>
            </a:r>
            <a:r>
              <a:rPr spc="-55" dirty="0"/>
              <a:t> </a:t>
            </a:r>
            <a:r>
              <a:rPr dirty="0"/>
              <a:t>Complete</a:t>
            </a:r>
            <a:r>
              <a:rPr spc="-95" dirty="0"/>
              <a:t> </a:t>
            </a:r>
            <a:r>
              <a:rPr dirty="0"/>
              <a:t>Binary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dirty="0"/>
              <a:t>Almost</a:t>
            </a:r>
            <a:r>
              <a:rPr spc="-25" dirty="0"/>
              <a:t> </a:t>
            </a:r>
            <a:r>
              <a:rPr dirty="0"/>
              <a:t>complete</a:t>
            </a:r>
            <a:r>
              <a:rPr spc="-40" dirty="0"/>
              <a:t> </a:t>
            </a:r>
            <a:r>
              <a:rPr dirty="0"/>
              <a:t>binary</a:t>
            </a:r>
            <a:r>
              <a:rPr spc="-10" dirty="0"/>
              <a:t> </a:t>
            </a:r>
            <a:r>
              <a:rPr dirty="0"/>
              <a:t>tree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height</a:t>
            </a:r>
            <a:r>
              <a:rPr spc="-25" dirty="0"/>
              <a:t> </a:t>
            </a:r>
            <a:r>
              <a:rPr dirty="0"/>
              <a:t>h</a:t>
            </a:r>
            <a:r>
              <a:rPr spc="-1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binary</a:t>
            </a:r>
            <a:r>
              <a:rPr spc="-15" dirty="0"/>
              <a:t> </a:t>
            </a:r>
            <a:r>
              <a:rPr dirty="0"/>
              <a:t>tree</a:t>
            </a:r>
            <a:r>
              <a:rPr spc="-3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which</a:t>
            </a:r>
          </a:p>
          <a:p>
            <a:pPr marL="926465" lvl="1" indent="-456565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926465" algn="l"/>
                <a:tab pos="2413000" algn="l"/>
              </a:tabLst>
            </a:pPr>
            <a:r>
              <a:rPr sz="1900" dirty="0">
                <a:latin typeface="Tahoma"/>
                <a:cs typeface="Tahoma"/>
              </a:rPr>
              <a:t>There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d</a:t>
            </a:r>
            <a:r>
              <a:rPr sz="1875" baseline="26666" dirty="0">
                <a:latin typeface="Consolas"/>
                <a:cs typeface="Consolas"/>
              </a:rPr>
              <a:t>	</a:t>
            </a:r>
            <a:r>
              <a:rPr sz="1900" dirty="0">
                <a:latin typeface="Tahoma"/>
                <a:cs typeface="Tahoma"/>
              </a:rPr>
              <a:t>nodes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depth</a:t>
            </a:r>
            <a:r>
              <a:rPr sz="1900" spc="15" dirty="0">
                <a:latin typeface="Tahoma"/>
                <a:cs typeface="Tahoma"/>
              </a:rPr>
              <a:t> </a:t>
            </a:r>
            <a:r>
              <a:rPr sz="1900" spc="-20" dirty="0">
                <a:latin typeface="Consolas"/>
                <a:cs typeface="Consolas"/>
              </a:rPr>
              <a:t>d</a:t>
            </a:r>
            <a:r>
              <a:rPr sz="1900" spc="-434" dirty="0">
                <a:latin typeface="Consolas"/>
                <a:cs typeface="Consolas"/>
              </a:rPr>
              <a:t> </a:t>
            </a:r>
            <a:r>
              <a:rPr sz="1900" dirty="0">
                <a:latin typeface="Tahoma"/>
                <a:cs typeface="Tahoma"/>
              </a:rPr>
              <a:t>for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Consolas"/>
                <a:cs typeface="Consolas"/>
              </a:rPr>
              <a:t>d</a:t>
            </a:r>
            <a:r>
              <a:rPr sz="1900" spc="-30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=</a:t>
            </a:r>
            <a:r>
              <a:rPr sz="1900" spc="-30" dirty="0">
                <a:latin typeface="Consolas"/>
                <a:cs typeface="Consolas"/>
              </a:rPr>
              <a:t> </a:t>
            </a:r>
            <a:r>
              <a:rPr sz="1900" spc="-10" dirty="0">
                <a:latin typeface="Consolas"/>
                <a:cs typeface="Consolas"/>
              </a:rPr>
              <a:t>1,2,...,h−1</a:t>
            </a:r>
            <a:endParaRPr sz="1900">
              <a:latin typeface="Consolas"/>
              <a:cs typeface="Consolas"/>
            </a:endParaRPr>
          </a:p>
          <a:p>
            <a:pPr marL="1154430" lvl="2" indent="-227965">
              <a:lnSpc>
                <a:spcPct val="100000"/>
              </a:lnSpc>
              <a:spcBef>
                <a:spcPts val="41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Each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leaf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in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tree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either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at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level </a:t>
            </a:r>
            <a:r>
              <a:rPr sz="1700" dirty="0">
                <a:latin typeface="Consolas"/>
                <a:cs typeface="Consolas"/>
              </a:rPr>
              <a:t>h</a:t>
            </a:r>
            <a:r>
              <a:rPr sz="1700" spc="-400" dirty="0">
                <a:latin typeface="Consolas"/>
                <a:cs typeface="Consolas"/>
              </a:rPr>
              <a:t> </a:t>
            </a:r>
            <a:r>
              <a:rPr sz="1700" dirty="0">
                <a:latin typeface="Tahoma"/>
                <a:cs typeface="Tahoma"/>
              </a:rPr>
              <a:t>or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at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level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dirty="0">
                <a:latin typeface="Consolas"/>
                <a:cs typeface="Consolas"/>
              </a:rPr>
              <a:t>h–</a:t>
            </a:r>
            <a:r>
              <a:rPr sz="1700" spc="-30" dirty="0">
                <a:latin typeface="Consolas"/>
                <a:cs typeface="Consolas"/>
              </a:rPr>
              <a:t> </a:t>
            </a:r>
            <a:r>
              <a:rPr sz="1700" spc="-50" dirty="0">
                <a:latin typeface="Consolas"/>
                <a:cs typeface="Consolas"/>
              </a:rPr>
              <a:t>1</a:t>
            </a:r>
            <a:endParaRPr sz="1700">
              <a:latin typeface="Consolas"/>
              <a:cs typeface="Consolas"/>
            </a:endParaRPr>
          </a:p>
          <a:p>
            <a:pPr marL="926465" lvl="1" indent="-456565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92646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depth </a:t>
            </a:r>
            <a:r>
              <a:rPr sz="1900" dirty="0">
                <a:latin typeface="Consolas"/>
                <a:cs typeface="Consolas"/>
              </a:rPr>
              <a:t>h</a:t>
            </a:r>
            <a:r>
              <a:rPr sz="1900" spc="-50" dirty="0">
                <a:latin typeface="Consolas"/>
                <a:cs typeface="Consolas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far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as </a:t>
            </a:r>
            <a:r>
              <a:rPr sz="1900" spc="-10" dirty="0">
                <a:latin typeface="Tahoma"/>
                <a:cs typeface="Tahoma"/>
              </a:rPr>
              <a:t>possible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69551" y="3064764"/>
            <a:ext cx="6202045" cy="2830195"/>
            <a:chOff x="869551" y="3064764"/>
            <a:chExt cx="6202045" cy="28301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551" y="3140964"/>
              <a:ext cx="5924766" cy="25850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15327" y="3069336"/>
              <a:ext cx="251460" cy="2087880"/>
            </a:xfrm>
            <a:custGeom>
              <a:avLst/>
              <a:gdLst/>
              <a:ahLst/>
              <a:cxnLst/>
              <a:rect l="l" t="t" r="r" b="b"/>
              <a:pathLst>
                <a:path w="251459" h="2087879">
                  <a:moveTo>
                    <a:pt x="0" y="0"/>
                  </a:moveTo>
                  <a:lnTo>
                    <a:pt x="48952" y="1649"/>
                  </a:lnTo>
                  <a:lnTo>
                    <a:pt x="88915" y="6143"/>
                  </a:lnTo>
                  <a:lnTo>
                    <a:pt x="115853" y="12805"/>
                  </a:lnTo>
                  <a:lnTo>
                    <a:pt x="125729" y="20954"/>
                  </a:lnTo>
                  <a:lnTo>
                    <a:pt x="125729" y="1022984"/>
                  </a:lnTo>
                  <a:lnTo>
                    <a:pt x="135606" y="1031134"/>
                  </a:lnTo>
                  <a:lnTo>
                    <a:pt x="162544" y="1037796"/>
                  </a:lnTo>
                  <a:lnTo>
                    <a:pt x="202507" y="1042290"/>
                  </a:lnTo>
                  <a:lnTo>
                    <a:pt x="251460" y="1043939"/>
                  </a:lnTo>
                  <a:lnTo>
                    <a:pt x="202507" y="1045589"/>
                  </a:lnTo>
                  <a:lnTo>
                    <a:pt x="162544" y="1050083"/>
                  </a:lnTo>
                  <a:lnTo>
                    <a:pt x="135606" y="1056745"/>
                  </a:lnTo>
                  <a:lnTo>
                    <a:pt x="125729" y="1064895"/>
                  </a:lnTo>
                  <a:lnTo>
                    <a:pt x="125729" y="2066925"/>
                  </a:lnTo>
                  <a:lnTo>
                    <a:pt x="115853" y="2075074"/>
                  </a:lnTo>
                  <a:lnTo>
                    <a:pt x="88915" y="2081736"/>
                  </a:lnTo>
                  <a:lnTo>
                    <a:pt x="48952" y="2086230"/>
                  </a:lnTo>
                  <a:lnTo>
                    <a:pt x="0" y="208788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38927" y="5533644"/>
              <a:ext cx="1676400" cy="356870"/>
            </a:xfrm>
            <a:custGeom>
              <a:avLst/>
              <a:gdLst/>
              <a:ahLst/>
              <a:cxnLst/>
              <a:rect l="l" t="t" r="r" b="b"/>
              <a:pathLst>
                <a:path w="1676400" h="356870">
                  <a:moveTo>
                    <a:pt x="1676400" y="0"/>
                  </a:moveTo>
                  <a:lnTo>
                    <a:pt x="1674060" y="69405"/>
                  </a:lnTo>
                  <a:lnTo>
                    <a:pt x="1667684" y="126082"/>
                  </a:lnTo>
                  <a:lnTo>
                    <a:pt x="1658237" y="164295"/>
                  </a:lnTo>
                  <a:lnTo>
                    <a:pt x="1646681" y="178307"/>
                  </a:lnTo>
                  <a:lnTo>
                    <a:pt x="867918" y="178307"/>
                  </a:lnTo>
                  <a:lnTo>
                    <a:pt x="856362" y="192320"/>
                  </a:lnTo>
                  <a:lnTo>
                    <a:pt x="846915" y="230533"/>
                  </a:lnTo>
                  <a:lnTo>
                    <a:pt x="840539" y="287210"/>
                  </a:lnTo>
                  <a:lnTo>
                    <a:pt x="838200" y="356615"/>
                  </a:lnTo>
                  <a:lnTo>
                    <a:pt x="835860" y="287210"/>
                  </a:lnTo>
                  <a:lnTo>
                    <a:pt x="829484" y="230533"/>
                  </a:lnTo>
                  <a:lnTo>
                    <a:pt x="820037" y="192320"/>
                  </a:lnTo>
                  <a:lnTo>
                    <a:pt x="808482" y="178307"/>
                  </a:lnTo>
                  <a:lnTo>
                    <a:pt x="29718" y="178307"/>
                  </a:lnTo>
                  <a:lnTo>
                    <a:pt x="18162" y="164295"/>
                  </a:lnTo>
                  <a:lnTo>
                    <a:pt x="8715" y="126082"/>
                  </a:lnTo>
                  <a:lnTo>
                    <a:pt x="2339" y="69405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46163" y="3677157"/>
            <a:ext cx="13874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Complete </a:t>
            </a:r>
            <a:r>
              <a:rPr sz="1800" dirty="0">
                <a:latin typeface="Tahoma"/>
                <a:cs typeface="Tahoma"/>
              </a:rPr>
              <a:t>binary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tree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height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h-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8470" y="5972545"/>
            <a:ext cx="3531235" cy="68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Missing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towards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right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400" spc="-40" dirty="0">
                <a:latin typeface="Tahoma"/>
                <a:cs typeface="Tahoma"/>
              </a:rPr>
              <a:t>15-</a:t>
            </a:r>
            <a:r>
              <a:rPr sz="1400" spc="-20" dirty="0">
                <a:latin typeface="Tahoma"/>
                <a:cs typeface="Tahoma"/>
              </a:rPr>
              <a:t>Tree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Almost</a:t>
            </a:r>
            <a:r>
              <a:rPr spc="-105" dirty="0"/>
              <a:t> </a:t>
            </a:r>
            <a:r>
              <a:rPr dirty="0"/>
              <a:t>(or</a:t>
            </a:r>
            <a:r>
              <a:rPr spc="-85" dirty="0"/>
              <a:t> </a:t>
            </a:r>
            <a:r>
              <a:rPr dirty="0"/>
              <a:t>Nearly)</a:t>
            </a:r>
            <a:r>
              <a:rPr spc="-55" dirty="0"/>
              <a:t> </a:t>
            </a:r>
            <a:r>
              <a:rPr dirty="0"/>
              <a:t>Complete</a:t>
            </a:r>
            <a:r>
              <a:rPr spc="-95" dirty="0"/>
              <a:t> </a:t>
            </a:r>
            <a:r>
              <a:rPr dirty="0"/>
              <a:t>Binary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dirty="0"/>
              <a:t>Almost</a:t>
            </a:r>
            <a:r>
              <a:rPr spc="-25" dirty="0"/>
              <a:t> </a:t>
            </a:r>
            <a:r>
              <a:rPr dirty="0"/>
              <a:t>complete</a:t>
            </a:r>
            <a:r>
              <a:rPr spc="-40" dirty="0"/>
              <a:t> </a:t>
            </a:r>
            <a:r>
              <a:rPr dirty="0"/>
              <a:t>binary</a:t>
            </a:r>
            <a:r>
              <a:rPr spc="-10" dirty="0"/>
              <a:t> </a:t>
            </a:r>
            <a:r>
              <a:rPr dirty="0"/>
              <a:t>tree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height</a:t>
            </a:r>
            <a:r>
              <a:rPr spc="-25" dirty="0"/>
              <a:t> </a:t>
            </a:r>
            <a:r>
              <a:rPr dirty="0"/>
              <a:t>h</a:t>
            </a:r>
            <a:r>
              <a:rPr spc="-1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binary</a:t>
            </a:r>
            <a:r>
              <a:rPr spc="-15" dirty="0"/>
              <a:t> </a:t>
            </a:r>
            <a:r>
              <a:rPr dirty="0"/>
              <a:t>tree</a:t>
            </a:r>
            <a:r>
              <a:rPr spc="-3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which</a:t>
            </a:r>
          </a:p>
          <a:p>
            <a:pPr marL="926465" lvl="1" indent="-456565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926465" algn="l"/>
                <a:tab pos="2413000" algn="l"/>
              </a:tabLst>
            </a:pPr>
            <a:r>
              <a:rPr sz="1900" dirty="0">
                <a:latin typeface="Tahoma"/>
                <a:cs typeface="Tahoma"/>
              </a:rPr>
              <a:t>There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d</a:t>
            </a:r>
            <a:r>
              <a:rPr sz="1875" baseline="26666" dirty="0">
                <a:latin typeface="Consolas"/>
                <a:cs typeface="Consolas"/>
              </a:rPr>
              <a:t>	</a:t>
            </a:r>
            <a:r>
              <a:rPr sz="1900" dirty="0">
                <a:latin typeface="Tahoma"/>
                <a:cs typeface="Tahoma"/>
              </a:rPr>
              <a:t>nodes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depth</a:t>
            </a:r>
            <a:r>
              <a:rPr sz="1900" spc="15" dirty="0">
                <a:latin typeface="Tahoma"/>
                <a:cs typeface="Tahoma"/>
              </a:rPr>
              <a:t> </a:t>
            </a:r>
            <a:r>
              <a:rPr sz="1900" spc="-20" dirty="0">
                <a:latin typeface="Consolas"/>
                <a:cs typeface="Consolas"/>
              </a:rPr>
              <a:t>d</a:t>
            </a:r>
            <a:r>
              <a:rPr sz="1900" spc="-434" dirty="0">
                <a:latin typeface="Consolas"/>
                <a:cs typeface="Consolas"/>
              </a:rPr>
              <a:t> </a:t>
            </a:r>
            <a:r>
              <a:rPr sz="1900" dirty="0">
                <a:latin typeface="Tahoma"/>
                <a:cs typeface="Tahoma"/>
              </a:rPr>
              <a:t>for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Consolas"/>
                <a:cs typeface="Consolas"/>
              </a:rPr>
              <a:t>d</a:t>
            </a:r>
            <a:r>
              <a:rPr sz="1900" spc="-30" dirty="0">
                <a:latin typeface="Consolas"/>
                <a:cs typeface="Consolas"/>
              </a:rPr>
              <a:t> </a:t>
            </a:r>
            <a:r>
              <a:rPr sz="1900" dirty="0">
                <a:latin typeface="Consolas"/>
                <a:cs typeface="Consolas"/>
              </a:rPr>
              <a:t>=</a:t>
            </a:r>
            <a:r>
              <a:rPr sz="1900" spc="-30" dirty="0">
                <a:latin typeface="Consolas"/>
                <a:cs typeface="Consolas"/>
              </a:rPr>
              <a:t> </a:t>
            </a:r>
            <a:r>
              <a:rPr sz="1900" spc="-10" dirty="0">
                <a:latin typeface="Consolas"/>
                <a:cs typeface="Consolas"/>
              </a:rPr>
              <a:t>1,2,...,h−1</a:t>
            </a:r>
            <a:endParaRPr sz="1900">
              <a:latin typeface="Consolas"/>
              <a:cs typeface="Consolas"/>
            </a:endParaRPr>
          </a:p>
          <a:p>
            <a:pPr marL="1154430" lvl="2" indent="-227965">
              <a:lnSpc>
                <a:spcPct val="100000"/>
              </a:lnSpc>
              <a:spcBef>
                <a:spcPts val="41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Each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leaf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in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tree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either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at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level </a:t>
            </a:r>
            <a:r>
              <a:rPr sz="1700" dirty="0">
                <a:latin typeface="Consolas"/>
                <a:cs typeface="Consolas"/>
              </a:rPr>
              <a:t>h</a:t>
            </a:r>
            <a:r>
              <a:rPr sz="1700" spc="-400" dirty="0">
                <a:latin typeface="Consolas"/>
                <a:cs typeface="Consolas"/>
              </a:rPr>
              <a:t> </a:t>
            </a:r>
            <a:r>
              <a:rPr sz="1700" dirty="0">
                <a:latin typeface="Tahoma"/>
                <a:cs typeface="Tahoma"/>
              </a:rPr>
              <a:t>or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at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level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dirty="0">
                <a:latin typeface="Consolas"/>
                <a:cs typeface="Consolas"/>
              </a:rPr>
              <a:t>h–</a:t>
            </a:r>
            <a:r>
              <a:rPr sz="1700" spc="-30" dirty="0">
                <a:latin typeface="Consolas"/>
                <a:cs typeface="Consolas"/>
              </a:rPr>
              <a:t> </a:t>
            </a:r>
            <a:r>
              <a:rPr sz="1700" spc="-50" dirty="0">
                <a:latin typeface="Consolas"/>
                <a:cs typeface="Consolas"/>
              </a:rPr>
              <a:t>1</a:t>
            </a:r>
            <a:endParaRPr sz="1700">
              <a:latin typeface="Consolas"/>
              <a:cs typeface="Consolas"/>
            </a:endParaRPr>
          </a:p>
          <a:p>
            <a:pPr marL="926465" lvl="1" indent="-456565">
              <a:lnSpc>
                <a:spcPct val="100000"/>
              </a:lnSpc>
              <a:spcBef>
                <a:spcPts val="535"/>
              </a:spcBef>
              <a:buClr>
                <a:srgbClr val="000000"/>
              </a:buClr>
              <a:buAutoNum type="arabicPeriod"/>
              <a:tabLst>
                <a:tab pos="926465" algn="l"/>
              </a:tabLst>
            </a:pP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19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nodes</a:t>
            </a:r>
            <a:r>
              <a:rPr sz="19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at</a:t>
            </a:r>
            <a:r>
              <a:rPr sz="1900" b="1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depth</a:t>
            </a:r>
            <a:r>
              <a:rPr sz="1900" b="1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19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1900" b="1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1900" b="1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far</a:t>
            </a:r>
            <a:r>
              <a:rPr sz="1900" b="1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b="1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1900" b="1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possible</a:t>
            </a:r>
            <a:r>
              <a:rPr sz="19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dirty="0">
                <a:solidFill>
                  <a:srgbClr val="006FC0"/>
                </a:solidFill>
                <a:latin typeface="Tahoma"/>
                <a:cs typeface="Tahoma"/>
              </a:rPr>
              <a:t>(Formal</a:t>
            </a:r>
            <a:r>
              <a:rPr sz="1900" b="1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b="1" spc="-25" dirty="0">
                <a:solidFill>
                  <a:srgbClr val="006FC0"/>
                </a:solidFill>
                <a:latin typeface="Tahoma"/>
                <a:cs typeface="Tahoma"/>
              </a:rPr>
              <a:t>?)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69551" y="3064764"/>
            <a:ext cx="6202045" cy="2830195"/>
            <a:chOff x="869551" y="3064764"/>
            <a:chExt cx="6202045" cy="28301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551" y="3140964"/>
              <a:ext cx="5924766" cy="25850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15327" y="3069336"/>
              <a:ext cx="251460" cy="2087880"/>
            </a:xfrm>
            <a:custGeom>
              <a:avLst/>
              <a:gdLst/>
              <a:ahLst/>
              <a:cxnLst/>
              <a:rect l="l" t="t" r="r" b="b"/>
              <a:pathLst>
                <a:path w="251459" h="2087879">
                  <a:moveTo>
                    <a:pt x="0" y="0"/>
                  </a:moveTo>
                  <a:lnTo>
                    <a:pt x="48952" y="1649"/>
                  </a:lnTo>
                  <a:lnTo>
                    <a:pt x="88915" y="6143"/>
                  </a:lnTo>
                  <a:lnTo>
                    <a:pt x="115853" y="12805"/>
                  </a:lnTo>
                  <a:lnTo>
                    <a:pt x="125729" y="20954"/>
                  </a:lnTo>
                  <a:lnTo>
                    <a:pt x="125729" y="1022984"/>
                  </a:lnTo>
                  <a:lnTo>
                    <a:pt x="135606" y="1031134"/>
                  </a:lnTo>
                  <a:lnTo>
                    <a:pt x="162544" y="1037796"/>
                  </a:lnTo>
                  <a:lnTo>
                    <a:pt x="202507" y="1042290"/>
                  </a:lnTo>
                  <a:lnTo>
                    <a:pt x="251460" y="1043939"/>
                  </a:lnTo>
                  <a:lnTo>
                    <a:pt x="202507" y="1045589"/>
                  </a:lnTo>
                  <a:lnTo>
                    <a:pt x="162544" y="1050083"/>
                  </a:lnTo>
                  <a:lnTo>
                    <a:pt x="135606" y="1056745"/>
                  </a:lnTo>
                  <a:lnTo>
                    <a:pt x="125729" y="1064895"/>
                  </a:lnTo>
                  <a:lnTo>
                    <a:pt x="125729" y="2066925"/>
                  </a:lnTo>
                  <a:lnTo>
                    <a:pt x="115853" y="2075074"/>
                  </a:lnTo>
                  <a:lnTo>
                    <a:pt x="88915" y="2081736"/>
                  </a:lnTo>
                  <a:lnTo>
                    <a:pt x="48952" y="2086230"/>
                  </a:lnTo>
                  <a:lnTo>
                    <a:pt x="0" y="208788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38927" y="5533644"/>
              <a:ext cx="1676400" cy="356870"/>
            </a:xfrm>
            <a:custGeom>
              <a:avLst/>
              <a:gdLst/>
              <a:ahLst/>
              <a:cxnLst/>
              <a:rect l="l" t="t" r="r" b="b"/>
              <a:pathLst>
                <a:path w="1676400" h="356870">
                  <a:moveTo>
                    <a:pt x="1676400" y="0"/>
                  </a:moveTo>
                  <a:lnTo>
                    <a:pt x="1674060" y="69405"/>
                  </a:lnTo>
                  <a:lnTo>
                    <a:pt x="1667684" y="126082"/>
                  </a:lnTo>
                  <a:lnTo>
                    <a:pt x="1658237" y="164295"/>
                  </a:lnTo>
                  <a:lnTo>
                    <a:pt x="1646681" y="178307"/>
                  </a:lnTo>
                  <a:lnTo>
                    <a:pt x="867918" y="178307"/>
                  </a:lnTo>
                  <a:lnTo>
                    <a:pt x="856362" y="192320"/>
                  </a:lnTo>
                  <a:lnTo>
                    <a:pt x="846915" y="230533"/>
                  </a:lnTo>
                  <a:lnTo>
                    <a:pt x="840539" y="287210"/>
                  </a:lnTo>
                  <a:lnTo>
                    <a:pt x="838200" y="356615"/>
                  </a:lnTo>
                  <a:lnTo>
                    <a:pt x="835860" y="287210"/>
                  </a:lnTo>
                  <a:lnTo>
                    <a:pt x="829484" y="230533"/>
                  </a:lnTo>
                  <a:lnTo>
                    <a:pt x="820037" y="192320"/>
                  </a:lnTo>
                  <a:lnTo>
                    <a:pt x="808482" y="178307"/>
                  </a:lnTo>
                  <a:lnTo>
                    <a:pt x="29718" y="178307"/>
                  </a:lnTo>
                  <a:lnTo>
                    <a:pt x="18162" y="164295"/>
                  </a:lnTo>
                  <a:lnTo>
                    <a:pt x="8715" y="126082"/>
                  </a:lnTo>
                  <a:lnTo>
                    <a:pt x="2339" y="69405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46163" y="3677157"/>
            <a:ext cx="13874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Complete </a:t>
            </a:r>
            <a:r>
              <a:rPr sz="1800" dirty="0">
                <a:latin typeface="Tahoma"/>
                <a:cs typeface="Tahoma"/>
              </a:rPr>
              <a:t>binary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tree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height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h-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8470" y="5972545"/>
            <a:ext cx="3531235" cy="68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Missing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towards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right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400" spc="-40" dirty="0">
                <a:latin typeface="Tahoma"/>
                <a:cs typeface="Tahoma"/>
              </a:rPr>
              <a:t>15-</a:t>
            </a:r>
            <a:r>
              <a:rPr sz="1400" spc="-20" dirty="0">
                <a:latin typeface="Tahoma"/>
                <a:cs typeface="Tahoma"/>
              </a:rPr>
              <a:t>Tree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Almost</a:t>
            </a:r>
            <a:r>
              <a:rPr spc="-105" dirty="0"/>
              <a:t> </a:t>
            </a:r>
            <a:r>
              <a:rPr dirty="0"/>
              <a:t>(or</a:t>
            </a:r>
            <a:r>
              <a:rPr spc="-85" dirty="0"/>
              <a:t> </a:t>
            </a:r>
            <a:r>
              <a:rPr dirty="0"/>
              <a:t>Nearly)</a:t>
            </a:r>
            <a:r>
              <a:rPr spc="-75" dirty="0"/>
              <a:t> </a:t>
            </a:r>
            <a:r>
              <a:rPr dirty="0"/>
              <a:t>Complete</a:t>
            </a:r>
            <a:r>
              <a:rPr spc="-95" dirty="0"/>
              <a:t> </a:t>
            </a:r>
            <a:r>
              <a:rPr dirty="0"/>
              <a:t>Binary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7303770" cy="187388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100" b="1" dirty="0">
                <a:solidFill>
                  <a:srgbClr val="006FC0"/>
                </a:solidFill>
                <a:latin typeface="Tahoma"/>
                <a:cs typeface="Tahoma"/>
              </a:rPr>
              <a:t>Condition</a:t>
            </a:r>
            <a:r>
              <a:rPr sz="21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006FC0"/>
                </a:solidFill>
                <a:latin typeface="Tahoma"/>
                <a:cs typeface="Tahoma"/>
              </a:rPr>
              <a:t>2:</a:t>
            </a:r>
            <a:r>
              <a:rPr sz="2100" b="1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depth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far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left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 </a:t>
            </a:r>
            <a:r>
              <a:rPr sz="2100" spc="-10" dirty="0">
                <a:latin typeface="Tahoma"/>
                <a:cs typeface="Tahoma"/>
              </a:rPr>
              <a:t>possible</a:t>
            </a: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depth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h−1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left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Every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depth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h−1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2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children</a:t>
            </a: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If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depth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h−1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right </a:t>
            </a:r>
            <a:r>
              <a:rPr sz="2100" spc="-10" dirty="0">
                <a:latin typeface="Tahoma"/>
                <a:cs typeface="Tahoma"/>
              </a:rPr>
              <a:t>child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4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also has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831" y="3243072"/>
            <a:ext cx="4058920" cy="2845435"/>
          </a:xfrm>
          <a:custGeom>
            <a:avLst/>
            <a:gdLst/>
            <a:ahLst/>
            <a:cxnLst/>
            <a:rect l="l" t="t" r="r" b="b"/>
            <a:pathLst>
              <a:path w="4058920" h="2845435">
                <a:moveTo>
                  <a:pt x="2016252" y="252222"/>
                </a:moveTo>
                <a:lnTo>
                  <a:pt x="2020314" y="206879"/>
                </a:lnTo>
                <a:lnTo>
                  <a:pt x="2032029" y="164205"/>
                </a:lnTo>
                <a:lnTo>
                  <a:pt x="2050683" y="124911"/>
                </a:lnTo>
                <a:lnTo>
                  <a:pt x="2075564" y="89710"/>
                </a:lnTo>
                <a:lnTo>
                  <a:pt x="2105962" y="59312"/>
                </a:lnTo>
                <a:lnTo>
                  <a:pt x="2141163" y="34431"/>
                </a:lnTo>
                <a:lnTo>
                  <a:pt x="2180457" y="15777"/>
                </a:lnTo>
                <a:lnTo>
                  <a:pt x="2223131" y="4062"/>
                </a:lnTo>
                <a:lnTo>
                  <a:pt x="2268474" y="0"/>
                </a:lnTo>
                <a:lnTo>
                  <a:pt x="2313816" y="4062"/>
                </a:lnTo>
                <a:lnTo>
                  <a:pt x="2356490" y="15777"/>
                </a:lnTo>
                <a:lnTo>
                  <a:pt x="2395784" y="34431"/>
                </a:lnTo>
                <a:lnTo>
                  <a:pt x="2430985" y="59312"/>
                </a:lnTo>
                <a:lnTo>
                  <a:pt x="2461383" y="89710"/>
                </a:lnTo>
                <a:lnTo>
                  <a:pt x="2486264" y="124911"/>
                </a:lnTo>
                <a:lnTo>
                  <a:pt x="2504918" y="164205"/>
                </a:lnTo>
                <a:lnTo>
                  <a:pt x="2516633" y="206879"/>
                </a:lnTo>
                <a:lnTo>
                  <a:pt x="2520696" y="252222"/>
                </a:lnTo>
                <a:lnTo>
                  <a:pt x="2516633" y="297564"/>
                </a:lnTo>
                <a:lnTo>
                  <a:pt x="2504918" y="340238"/>
                </a:lnTo>
                <a:lnTo>
                  <a:pt x="2486264" y="379532"/>
                </a:lnTo>
                <a:lnTo>
                  <a:pt x="2461383" y="414733"/>
                </a:lnTo>
                <a:lnTo>
                  <a:pt x="2430985" y="445131"/>
                </a:lnTo>
                <a:lnTo>
                  <a:pt x="2395784" y="470012"/>
                </a:lnTo>
                <a:lnTo>
                  <a:pt x="2356490" y="488666"/>
                </a:lnTo>
                <a:lnTo>
                  <a:pt x="2313816" y="500381"/>
                </a:lnTo>
                <a:lnTo>
                  <a:pt x="2268474" y="504444"/>
                </a:lnTo>
                <a:lnTo>
                  <a:pt x="2223131" y="500381"/>
                </a:lnTo>
                <a:lnTo>
                  <a:pt x="2180457" y="488666"/>
                </a:lnTo>
                <a:lnTo>
                  <a:pt x="2141163" y="470012"/>
                </a:lnTo>
                <a:lnTo>
                  <a:pt x="2105962" y="445131"/>
                </a:lnTo>
                <a:lnTo>
                  <a:pt x="2075564" y="414733"/>
                </a:lnTo>
                <a:lnTo>
                  <a:pt x="2050683" y="379532"/>
                </a:lnTo>
                <a:lnTo>
                  <a:pt x="2032029" y="340238"/>
                </a:lnTo>
                <a:lnTo>
                  <a:pt x="2020314" y="297564"/>
                </a:lnTo>
                <a:lnTo>
                  <a:pt x="2016252" y="252222"/>
                </a:lnTo>
                <a:close/>
              </a:path>
              <a:path w="4058920" h="2845435">
                <a:moveTo>
                  <a:pt x="2951988" y="1088897"/>
                </a:moveTo>
                <a:lnTo>
                  <a:pt x="2956050" y="1043555"/>
                </a:lnTo>
                <a:lnTo>
                  <a:pt x="2967765" y="1000881"/>
                </a:lnTo>
                <a:lnTo>
                  <a:pt x="2986419" y="961587"/>
                </a:lnTo>
                <a:lnTo>
                  <a:pt x="3011300" y="926386"/>
                </a:lnTo>
                <a:lnTo>
                  <a:pt x="3041698" y="895988"/>
                </a:lnTo>
                <a:lnTo>
                  <a:pt x="3076899" y="871107"/>
                </a:lnTo>
                <a:lnTo>
                  <a:pt x="3116193" y="852453"/>
                </a:lnTo>
                <a:lnTo>
                  <a:pt x="3158867" y="840738"/>
                </a:lnTo>
                <a:lnTo>
                  <a:pt x="3204210" y="836676"/>
                </a:lnTo>
                <a:lnTo>
                  <a:pt x="3249552" y="840738"/>
                </a:lnTo>
                <a:lnTo>
                  <a:pt x="3292226" y="852453"/>
                </a:lnTo>
                <a:lnTo>
                  <a:pt x="3331520" y="871107"/>
                </a:lnTo>
                <a:lnTo>
                  <a:pt x="3366721" y="895988"/>
                </a:lnTo>
                <a:lnTo>
                  <a:pt x="3397119" y="926386"/>
                </a:lnTo>
                <a:lnTo>
                  <a:pt x="3422000" y="961587"/>
                </a:lnTo>
                <a:lnTo>
                  <a:pt x="3440654" y="1000881"/>
                </a:lnTo>
                <a:lnTo>
                  <a:pt x="3452369" y="1043555"/>
                </a:lnTo>
                <a:lnTo>
                  <a:pt x="3456431" y="1088897"/>
                </a:lnTo>
                <a:lnTo>
                  <a:pt x="3452369" y="1134240"/>
                </a:lnTo>
                <a:lnTo>
                  <a:pt x="3440654" y="1176914"/>
                </a:lnTo>
                <a:lnTo>
                  <a:pt x="3422000" y="1216208"/>
                </a:lnTo>
                <a:lnTo>
                  <a:pt x="3397119" y="1251409"/>
                </a:lnTo>
                <a:lnTo>
                  <a:pt x="3366721" y="1281807"/>
                </a:lnTo>
                <a:lnTo>
                  <a:pt x="3331520" y="1306688"/>
                </a:lnTo>
                <a:lnTo>
                  <a:pt x="3292226" y="1325342"/>
                </a:lnTo>
                <a:lnTo>
                  <a:pt x="3249552" y="1337057"/>
                </a:lnTo>
                <a:lnTo>
                  <a:pt x="3204210" y="1341120"/>
                </a:lnTo>
                <a:lnTo>
                  <a:pt x="3158867" y="1337057"/>
                </a:lnTo>
                <a:lnTo>
                  <a:pt x="3116193" y="1325342"/>
                </a:lnTo>
                <a:lnTo>
                  <a:pt x="3076899" y="1306688"/>
                </a:lnTo>
                <a:lnTo>
                  <a:pt x="3041698" y="1281807"/>
                </a:lnTo>
                <a:lnTo>
                  <a:pt x="3011300" y="1251409"/>
                </a:lnTo>
                <a:lnTo>
                  <a:pt x="2986419" y="1216208"/>
                </a:lnTo>
                <a:lnTo>
                  <a:pt x="2967765" y="1176914"/>
                </a:lnTo>
                <a:lnTo>
                  <a:pt x="2956050" y="1134240"/>
                </a:lnTo>
                <a:lnTo>
                  <a:pt x="2951988" y="1088897"/>
                </a:lnTo>
                <a:close/>
              </a:path>
              <a:path w="4058920" h="2845435">
                <a:moveTo>
                  <a:pt x="1080516" y="1008888"/>
                </a:moveTo>
                <a:lnTo>
                  <a:pt x="1084565" y="963671"/>
                </a:lnTo>
                <a:lnTo>
                  <a:pt x="1096241" y="921121"/>
                </a:lnTo>
                <a:lnTo>
                  <a:pt x="1114834" y="881944"/>
                </a:lnTo>
                <a:lnTo>
                  <a:pt x="1139636" y="846850"/>
                </a:lnTo>
                <a:lnTo>
                  <a:pt x="1169938" y="816548"/>
                </a:lnTo>
                <a:lnTo>
                  <a:pt x="1205032" y="791746"/>
                </a:lnTo>
                <a:lnTo>
                  <a:pt x="1244209" y="773153"/>
                </a:lnTo>
                <a:lnTo>
                  <a:pt x="1286759" y="761477"/>
                </a:lnTo>
                <a:lnTo>
                  <a:pt x="1331976" y="757427"/>
                </a:lnTo>
                <a:lnTo>
                  <a:pt x="1377192" y="761477"/>
                </a:lnTo>
                <a:lnTo>
                  <a:pt x="1419742" y="773153"/>
                </a:lnTo>
                <a:lnTo>
                  <a:pt x="1458919" y="791746"/>
                </a:lnTo>
                <a:lnTo>
                  <a:pt x="1494013" y="816548"/>
                </a:lnTo>
                <a:lnTo>
                  <a:pt x="1524315" y="846850"/>
                </a:lnTo>
                <a:lnTo>
                  <a:pt x="1549117" y="881944"/>
                </a:lnTo>
                <a:lnTo>
                  <a:pt x="1567710" y="921121"/>
                </a:lnTo>
                <a:lnTo>
                  <a:pt x="1579386" y="963671"/>
                </a:lnTo>
                <a:lnTo>
                  <a:pt x="1583436" y="1008888"/>
                </a:lnTo>
                <a:lnTo>
                  <a:pt x="1579386" y="1054104"/>
                </a:lnTo>
                <a:lnTo>
                  <a:pt x="1567710" y="1096654"/>
                </a:lnTo>
                <a:lnTo>
                  <a:pt x="1549117" y="1135831"/>
                </a:lnTo>
                <a:lnTo>
                  <a:pt x="1524315" y="1170925"/>
                </a:lnTo>
                <a:lnTo>
                  <a:pt x="1494013" y="1201227"/>
                </a:lnTo>
                <a:lnTo>
                  <a:pt x="1458919" y="1226029"/>
                </a:lnTo>
                <a:lnTo>
                  <a:pt x="1419742" y="1244622"/>
                </a:lnTo>
                <a:lnTo>
                  <a:pt x="1377192" y="1256298"/>
                </a:lnTo>
                <a:lnTo>
                  <a:pt x="1331976" y="1260347"/>
                </a:lnTo>
                <a:lnTo>
                  <a:pt x="1286759" y="1256298"/>
                </a:lnTo>
                <a:lnTo>
                  <a:pt x="1244209" y="1244622"/>
                </a:lnTo>
                <a:lnTo>
                  <a:pt x="1205032" y="1226029"/>
                </a:lnTo>
                <a:lnTo>
                  <a:pt x="1169938" y="1201227"/>
                </a:lnTo>
                <a:lnTo>
                  <a:pt x="1139636" y="1170925"/>
                </a:lnTo>
                <a:lnTo>
                  <a:pt x="1114834" y="1135831"/>
                </a:lnTo>
                <a:lnTo>
                  <a:pt x="1096241" y="1096654"/>
                </a:lnTo>
                <a:lnTo>
                  <a:pt x="1084565" y="1054104"/>
                </a:lnTo>
                <a:lnTo>
                  <a:pt x="1080516" y="1008888"/>
                </a:lnTo>
                <a:close/>
              </a:path>
              <a:path w="4058920" h="2845435">
                <a:moveTo>
                  <a:pt x="2375916" y="1800605"/>
                </a:moveTo>
                <a:lnTo>
                  <a:pt x="2379978" y="1755263"/>
                </a:lnTo>
                <a:lnTo>
                  <a:pt x="2391693" y="1712589"/>
                </a:lnTo>
                <a:lnTo>
                  <a:pt x="2410347" y="1673295"/>
                </a:lnTo>
                <a:lnTo>
                  <a:pt x="2435228" y="1638094"/>
                </a:lnTo>
                <a:lnTo>
                  <a:pt x="2465626" y="1607696"/>
                </a:lnTo>
                <a:lnTo>
                  <a:pt x="2500827" y="1582815"/>
                </a:lnTo>
                <a:lnTo>
                  <a:pt x="2540121" y="1564161"/>
                </a:lnTo>
                <a:lnTo>
                  <a:pt x="2582795" y="1552446"/>
                </a:lnTo>
                <a:lnTo>
                  <a:pt x="2628138" y="1548383"/>
                </a:lnTo>
                <a:lnTo>
                  <a:pt x="2673480" y="1552446"/>
                </a:lnTo>
                <a:lnTo>
                  <a:pt x="2716154" y="1564161"/>
                </a:lnTo>
                <a:lnTo>
                  <a:pt x="2755448" y="1582815"/>
                </a:lnTo>
                <a:lnTo>
                  <a:pt x="2790649" y="1607696"/>
                </a:lnTo>
                <a:lnTo>
                  <a:pt x="2821047" y="1638094"/>
                </a:lnTo>
                <a:lnTo>
                  <a:pt x="2845928" y="1673295"/>
                </a:lnTo>
                <a:lnTo>
                  <a:pt x="2864582" y="1712589"/>
                </a:lnTo>
                <a:lnTo>
                  <a:pt x="2876297" y="1755263"/>
                </a:lnTo>
                <a:lnTo>
                  <a:pt x="2880360" y="1800605"/>
                </a:lnTo>
                <a:lnTo>
                  <a:pt x="2876297" y="1845948"/>
                </a:lnTo>
                <a:lnTo>
                  <a:pt x="2864582" y="1888622"/>
                </a:lnTo>
                <a:lnTo>
                  <a:pt x="2845928" y="1927916"/>
                </a:lnTo>
                <a:lnTo>
                  <a:pt x="2821047" y="1963117"/>
                </a:lnTo>
                <a:lnTo>
                  <a:pt x="2790649" y="1993515"/>
                </a:lnTo>
                <a:lnTo>
                  <a:pt x="2755448" y="2018396"/>
                </a:lnTo>
                <a:lnTo>
                  <a:pt x="2716154" y="2037050"/>
                </a:lnTo>
                <a:lnTo>
                  <a:pt x="2673480" y="2048765"/>
                </a:lnTo>
                <a:lnTo>
                  <a:pt x="2628138" y="2052827"/>
                </a:lnTo>
                <a:lnTo>
                  <a:pt x="2582795" y="2048765"/>
                </a:lnTo>
                <a:lnTo>
                  <a:pt x="2540121" y="2037050"/>
                </a:lnTo>
                <a:lnTo>
                  <a:pt x="2500827" y="2018396"/>
                </a:lnTo>
                <a:lnTo>
                  <a:pt x="2465626" y="1993515"/>
                </a:lnTo>
                <a:lnTo>
                  <a:pt x="2435228" y="1963117"/>
                </a:lnTo>
                <a:lnTo>
                  <a:pt x="2410347" y="1927916"/>
                </a:lnTo>
                <a:lnTo>
                  <a:pt x="2391693" y="1888622"/>
                </a:lnTo>
                <a:lnTo>
                  <a:pt x="2379978" y="1845948"/>
                </a:lnTo>
                <a:lnTo>
                  <a:pt x="2375916" y="1800605"/>
                </a:lnTo>
                <a:close/>
              </a:path>
              <a:path w="4058920" h="2845435">
                <a:moveTo>
                  <a:pt x="504444" y="1800605"/>
                </a:moveTo>
                <a:lnTo>
                  <a:pt x="508495" y="1755263"/>
                </a:lnTo>
                <a:lnTo>
                  <a:pt x="520176" y="1712589"/>
                </a:lnTo>
                <a:lnTo>
                  <a:pt x="538776" y="1673295"/>
                </a:lnTo>
                <a:lnTo>
                  <a:pt x="563585" y="1638094"/>
                </a:lnTo>
                <a:lnTo>
                  <a:pt x="593892" y="1607696"/>
                </a:lnTo>
                <a:lnTo>
                  <a:pt x="628988" y="1582815"/>
                </a:lnTo>
                <a:lnTo>
                  <a:pt x="668162" y="1564161"/>
                </a:lnTo>
                <a:lnTo>
                  <a:pt x="710704" y="1552446"/>
                </a:lnTo>
                <a:lnTo>
                  <a:pt x="755904" y="1548383"/>
                </a:lnTo>
                <a:lnTo>
                  <a:pt x="801103" y="1552446"/>
                </a:lnTo>
                <a:lnTo>
                  <a:pt x="843645" y="1564161"/>
                </a:lnTo>
                <a:lnTo>
                  <a:pt x="882819" y="1582815"/>
                </a:lnTo>
                <a:lnTo>
                  <a:pt x="917915" y="1607696"/>
                </a:lnTo>
                <a:lnTo>
                  <a:pt x="948222" y="1638094"/>
                </a:lnTo>
                <a:lnTo>
                  <a:pt x="973031" y="1673295"/>
                </a:lnTo>
                <a:lnTo>
                  <a:pt x="991631" y="1712589"/>
                </a:lnTo>
                <a:lnTo>
                  <a:pt x="1003312" y="1755263"/>
                </a:lnTo>
                <a:lnTo>
                  <a:pt x="1007364" y="1800605"/>
                </a:lnTo>
                <a:lnTo>
                  <a:pt x="1003312" y="1845948"/>
                </a:lnTo>
                <a:lnTo>
                  <a:pt x="991631" y="1888622"/>
                </a:lnTo>
                <a:lnTo>
                  <a:pt x="973031" y="1927916"/>
                </a:lnTo>
                <a:lnTo>
                  <a:pt x="948222" y="1963117"/>
                </a:lnTo>
                <a:lnTo>
                  <a:pt x="917915" y="1993515"/>
                </a:lnTo>
                <a:lnTo>
                  <a:pt x="882819" y="2018396"/>
                </a:lnTo>
                <a:lnTo>
                  <a:pt x="843645" y="2037050"/>
                </a:lnTo>
                <a:lnTo>
                  <a:pt x="801103" y="2048765"/>
                </a:lnTo>
                <a:lnTo>
                  <a:pt x="755904" y="2052827"/>
                </a:lnTo>
                <a:lnTo>
                  <a:pt x="710704" y="2048765"/>
                </a:lnTo>
                <a:lnTo>
                  <a:pt x="668162" y="2037050"/>
                </a:lnTo>
                <a:lnTo>
                  <a:pt x="628988" y="2018396"/>
                </a:lnTo>
                <a:lnTo>
                  <a:pt x="593892" y="1993515"/>
                </a:lnTo>
                <a:lnTo>
                  <a:pt x="563585" y="1963117"/>
                </a:lnTo>
                <a:lnTo>
                  <a:pt x="538776" y="1927916"/>
                </a:lnTo>
                <a:lnTo>
                  <a:pt x="520176" y="1888622"/>
                </a:lnTo>
                <a:lnTo>
                  <a:pt x="508495" y="1845948"/>
                </a:lnTo>
                <a:lnTo>
                  <a:pt x="504444" y="1800605"/>
                </a:lnTo>
                <a:close/>
              </a:path>
              <a:path w="4058920" h="2845435">
                <a:moveTo>
                  <a:pt x="1583436" y="1800605"/>
                </a:moveTo>
                <a:lnTo>
                  <a:pt x="1587498" y="1755263"/>
                </a:lnTo>
                <a:lnTo>
                  <a:pt x="1599213" y="1712589"/>
                </a:lnTo>
                <a:lnTo>
                  <a:pt x="1617867" y="1673295"/>
                </a:lnTo>
                <a:lnTo>
                  <a:pt x="1642748" y="1638094"/>
                </a:lnTo>
                <a:lnTo>
                  <a:pt x="1673146" y="1607696"/>
                </a:lnTo>
                <a:lnTo>
                  <a:pt x="1708347" y="1582815"/>
                </a:lnTo>
                <a:lnTo>
                  <a:pt x="1747641" y="1564161"/>
                </a:lnTo>
                <a:lnTo>
                  <a:pt x="1790315" y="1552446"/>
                </a:lnTo>
                <a:lnTo>
                  <a:pt x="1835658" y="1548383"/>
                </a:lnTo>
                <a:lnTo>
                  <a:pt x="1881000" y="1552446"/>
                </a:lnTo>
                <a:lnTo>
                  <a:pt x="1923674" y="1564161"/>
                </a:lnTo>
                <a:lnTo>
                  <a:pt x="1962968" y="1582815"/>
                </a:lnTo>
                <a:lnTo>
                  <a:pt x="1998169" y="1607696"/>
                </a:lnTo>
                <a:lnTo>
                  <a:pt x="2028567" y="1638094"/>
                </a:lnTo>
                <a:lnTo>
                  <a:pt x="2053448" y="1673295"/>
                </a:lnTo>
                <a:lnTo>
                  <a:pt x="2072102" y="1712589"/>
                </a:lnTo>
                <a:lnTo>
                  <a:pt x="2083817" y="1755263"/>
                </a:lnTo>
                <a:lnTo>
                  <a:pt x="2087880" y="1800605"/>
                </a:lnTo>
                <a:lnTo>
                  <a:pt x="2083817" y="1845948"/>
                </a:lnTo>
                <a:lnTo>
                  <a:pt x="2072102" y="1888622"/>
                </a:lnTo>
                <a:lnTo>
                  <a:pt x="2053448" y="1927916"/>
                </a:lnTo>
                <a:lnTo>
                  <a:pt x="2028567" y="1963117"/>
                </a:lnTo>
                <a:lnTo>
                  <a:pt x="1998169" y="1993515"/>
                </a:lnTo>
                <a:lnTo>
                  <a:pt x="1962968" y="2018396"/>
                </a:lnTo>
                <a:lnTo>
                  <a:pt x="1923674" y="2037050"/>
                </a:lnTo>
                <a:lnTo>
                  <a:pt x="1881000" y="2048765"/>
                </a:lnTo>
                <a:lnTo>
                  <a:pt x="1835658" y="2052827"/>
                </a:lnTo>
                <a:lnTo>
                  <a:pt x="1790315" y="2048765"/>
                </a:lnTo>
                <a:lnTo>
                  <a:pt x="1747641" y="2037050"/>
                </a:lnTo>
                <a:lnTo>
                  <a:pt x="1708347" y="2018396"/>
                </a:lnTo>
                <a:lnTo>
                  <a:pt x="1673146" y="1993515"/>
                </a:lnTo>
                <a:lnTo>
                  <a:pt x="1642748" y="1963117"/>
                </a:lnTo>
                <a:lnTo>
                  <a:pt x="1617867" y="1927916"/>
                </a:lnTo>
                <a:lnTo>
                  <a:pt x="1599213" y="1888622"/>
                </a:lnTo>
                <a:lnTo>
                  <a:pt x="1587498" y="1845948"/>
                </a:lnTo>
                <a:lnTo>
                  <a:pt x="1583436" y="1800605"/>
                </a:lnTo>
                <a:close/>
              </a:path>
              <a:path w="4058920" h="2845435">
                <a:moveTo>
                  <a:pt x="2089912" y="429767"/>
                </a:moveTo>
                <a:lnTo>
                  <a:pt x="1510284" y="830707"/>
                </a:lnTo>
              </a:path>
              <a:path w="4058920" h="2845435">
                <a:moveTo>
                  <a:pt x="2446020" y="429767"/>
                </a:moveTo>
                <a:lnTo>
                  <a:pt x="3025648" y="911097"/>
                </a:lnTo>
              </a:path>
              <a:path w="4058920" h="2845435">
                <a:moveTo>
                  <a:pt x="1153795" y="1187195"/>
                </a:moveTo>
                <a:lnTo>
                  <a:pt x="755904" y="1549019"/>
                </a:lnTo>
              </a:path>
              <a:path w="4058920" h="2845435">
                <a:moveTo>
                  <a:pt x="1510284" y="1187195"/>
                </a:moveTo>
                <a:lnTo>
                  <a:pt x="1836166" y="1549019"/>
                </a:lnTo>
              </a:path>
              <a:path w="4058920" h="2845435">
                <a:moveTo>
                  <a:pt x="3025267" y="1267967"/>
                </a:moveTo>
                <a:lnTo>
                  <a:pt x="2805684" y="1623186"/>
                </a:lnTo>
              </a:path>
              <a:path w="4058920" h="2845435">
                <a:moveTo>
                  <a:pt x="3555491" y="1751076"/>
                </a:moveTo>
                <a:lnTo>
                  <a:pt x="3559541" y="1705859"/>
                </a:lnTo>
                <a:lnTo>
                  <a:pt x="3571217" y="1663309"/>
                </a:lnTo>
                <a:lnTo>
                  <a:pt x="3589810" y="1624132"/>
                </a:lnTo>
                <a:lnTo>
                  <a:pt x="3614612" y="1589038"/>
                </a:lnTo>
                <a:lnTo>
                  <a:pt x="3644914" y="1558736"/>
                </a:lnTo>
                <a:lnTo>
                  <a:pt x="3680008" y="1533934"/>
                </a:lnTo>
                <a:lnTo>
                  <a:pt x="3719185" y="1515341"/>
                </a:lnTo>
                <a:lnTo>
                  <a:pt x="3761735" y="1503665"/>
                </a:lnTo>
                <a:lnTo>
                  <a:pt x="3806952" y="1499615"/>
                </a:lnTo>
                <a:lnTo>
                  <a:pt x="3852168" y="1503665"/>
                </a:lnTo>
                <a:lnTo>
                  <a:pt x="3894718" y="1515341"/>
                </a:lnTo>
                <a:lnTo>
                  <a:pt x="3933895" y="1533934"/>
                </a:lnTo>
                <a:lnTo>
                  <a:pt x="3968989" y="1558736"/>
                </a:lnTo>
                <a:lnTo>
                  <a:pt x="3999291" y="1589038"/>
                </a:lnTo>
                <a:lnTo>
                  <a:pt x="4024093" y="1624132"/>
                </a:lnTo>
                <a:lnTo>
                  <a:pt x="4042686" y="1663309"/>
                </a:lnTo>
                <a:lnTo>
                  <a:pt x="4054362" y="1705859"/>
                </a:lnTo>
                <a:lnTo>
                  <a:pt x="4058412" y="1751076"/>
                </a:lnTo>
                <a:lnTo>
                  <a:pt x="4054362" y="1796292"/>
                </a:lnTo>
                <a:lnTo>
                  <a:pt x="4042686" y="1838842"/>
                </a:lnTo>
                <a:lnTo>
                  <a:pt x="4024093" y="1878019"/>
                </a:lnTo>
                <a:lnTo>
                  <a:pt x="3999291" y="1913113"/>
                </a:lnTo>
                <a:lnTo>
                  <a:pt x="3968989" y="1943415"/>
                </a:lnTo>
                <a:lnTo>
                  <a:pt x="3933895" y="1968217"/>
                </a:lnTo>
                <a:lnTo>
                  <a:pt x="3894718" y="1986810"/>
                </a:lnTo>
                <a:lnTo>
                  <a:pt x="3852168" y="1998486"/>
                </a:lnTo>
                <a:lnTo>
                  <a:pt x="3806952" y="2002536"/>
                </a:lnTo>
                <a:lnTo>
                  <a:pt x="3761735" y="1998486"/>
                </a:lnTo>
                <a:lnTo>
                  <a:pt x="3719185" y="1986810"/>
                </a:lnTo>
                <a:lnTo>
                  <a:pt x="3680008" y="1968217"/>
                </a:lnTo>
                <a:lnTo>
                  <a:pt x="3644914" y="1943415"/>
                </a:lnTo>
                <a:lnTo>
                  <a:pt x="3614612" y="1913113"/>
                </a:lnTo>
                <a:lnTo>
                  <a:pt x="3589810" y="1878019"/>
                </a:lnTo>
                <a:lnTo>
                  <a:pt x="3571217" y="1838842"/>
                </a:lnTo>
                <a:lnTo>
                  <a:pt x="3559541" y="1796292"/>
                </a:lnTo>
                <a:lnTo>
                  <a:pt x="3555491" y="1751076"/>
                </a:lnTo>
                <a:close/>
              </a:path>
              <a:path w="4058920" h="2845435">
                <a:moveTo>
                  <a:pt x="3381755" y="1267967"/>
                </a:moveTo>
                <a:lnTo>
                  <a:pt x="3628263" y="1573148"/>
                </a:lnTo>
              </a:path>
              <a:path w="4058920" h="2845435">
                <a:moveTo>
                  <a:pt x="0" y="2593086"/>
                </a:moveTo>
                <a:lnTo>
                  <a:pt x="4063" y="2547750"/>
                </a:lnTo>
                <a:lnTo>
                  <a:pt x="15780" y="2505079"/>
                </a:lnTo>
                <a:lnTo>
                  <a:pt x="34436" y="2465786"/>
                </a:lnTo>
                <a:lnTo>
                  <a:pt x="59321" y="2430584"/>
                </a:lnTo>
                <a:lnTo>
                  <a:pt x="89720" y="2400185"/>
                </a:lnTo>
                <a:lnTo>
                  <a:pt x="124922" y="2375300"/>
                </a:lnTo>
                <a:lnTo>
                  <a:pt x="164215" y="2356644"/>
                </a:lnTo>
                <a:lnTo>
                  <a:pt x="206886" y="2344927"/>
                </a:lnTo>
                <a:lnTo>
                  <a:pt x="252222" y="2340864"/>
                </a:lnTo>
                <a:lnTo>
                  <a:pt x="297557" y="2344927"/>
                </a:lnTo>
                <a:lnTo>
                  <a:pt x="340228" y="2356644"/>
                </a:lnTo>
                <a:lnTo>
                  <a:pt x="379521" y="2375300"/>
                </a:lnTo>
                <a:lnTo>
                  <a:pt x="414723" y="2400185"/>
                </a:lnTo>
                <a:lnTo>
                  <a:pt x="445122" y="2430584"/>
                </a:lnTo>
                <a:lnTo>
                  <a:pt x="470007" y="2465786"/>
                </a:lnTo>
                <a:lnTo>
                  <a:pt x="488663" y="2505079"/>
                </a:lnTo>
                <a:lnTo>
                  <a:pt x="500380" y="2547750"/>
                </a:lnTo>
                <a:lnTo>
                  <a:pt x="504444" y="2593086"/>
                </a:lnTo>
                <a:lnTo>
                  <a:pt x="500380" y="2638421"/>
                </a:lnTo>
                <a:lnTo>
                  <a:pt x="488663" y="2681092"/>
                </a:lnTo>
                <a:lnTo>
                  <a:pt x="470007" y="2720385"/>
                </a:lnTo>
                <a:lnTo>
                  <a:pt x="445122" y="2755587"/>
                </a:lnTo>
                <a:lnTo>
                  <a:pt x="414723" y="2785986"/>
                </a:lnTo>
                <a:lnTo>
                  <a:pt x="379521" y="2810871"/>
                </a:lnTo>
                <a:lnTo>
                  <a:pt x="340228" y="2829527"/>
                </a:lnTo>
                <a:lnTo>
                  <a:pt x="297557" y="2841244"/>
                </a:lnTo>
                <a:lnTo>
                  <a:pt x="252222" y="2845308"/>
                </a:lnTo>
                <a:lnTo>
                  <a:pt x="206886" y="2841244"/>
                </a:lnTo>
                <a:lnTo>
                  <a:pt x="164215" y="2829527"/>
                </a:lnTo>
                <a:lnTo>
                  <a:pt x="124922" y="2810871"/>
                </a:lnTo>
                <a:lnTo>
                  <a:pt x="89720" y="2785986"/>
                </a:lnTo>
                <a:lnTo>
                  <a:pt x="59321" y="2755587"/>
                </a:lnTo>
                <a:lnTo>
                  <a:pt x="34436" y="2720385"/>
                </a:lnTo>
                <a:lnTo>
                  <a:pt x="15780" y="2681092"/>
                </a:lnTo>
                <a:lnTo>
                  <a:pt x="4063" y="2638421"/>
                </a:lnTo>
                <a:lnTo>
                  <a:pt x="0" y="2593086"/>
                </a:lnTo>
                <a:close/>
              </a:path>
              <a:path w="4058920" h="2845435">
                <a:moveTo>
                  <a:pt x="577303" y="1979676"/>
                </a:moveTo>
                <a:lnTo>
                  <a:pt x="251460" y="234099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85132" y="2983992"/>
            <a:ext cx="4060190" cy="2845435"/>
          </a:xfrm>
          <a:custGeom>
            <a:avLst/>
            <a:gdLst/>
            <a:ahLst/>
            <a:cxnLst/>
            <a:rect l="l" t="t" r="r" b="b"/>
            <a:pathLst>
              <a:path w="4060190" h="2845435">
                <a:moveTo>
                  <a:pt x="2016252" y="252222"/>
                </a:moveTo>
                <a:lnTo>
                  <a:pt x="2020314" y="206879"/>
                </a:lnTo>
                <a:lnTo>
                  <a:pt x="2032029" y="164205"/>
                </a:lnTo>
                <a:lnTo>
                  <a:pt x="2050683" y="124911"/>
                </a:lnTo>
                <a:lnTo>
                  <a:pt x="2075564" y="89710"/>
                </a:lnTo>
                <a:lnTo>
                  <a:pt x="2105962" y="59312"/>
                </a:lnTo>
                <a:lnTo>
                  <a:pt x="2141163" y="34431"/>
                </a:lnTo>
                <a:lnTo>
                  <a:pt x="2180457" y="15777"/>
                </a:lnTo>
                <a:lnTo>
                  <a:pt x="2223131" y="4062"/>
                </a:lnTo>
                <a:lnTo>
                  <a:pt x="2268473" y="0"/>
                </a:lnTo>
                <a:lnTo>
                  <a:pt x="2313816" y="4062"/>
                </a:lnTo>
                <a:lnTo>
                  <a:pt x="2356490" y="15777"/>
                </a:lnTo>
                <a:lnTo>
                  <a:pt x="2395784" y="34431"/>
                </a:lnTo>
                <a:lnTo>
                  <a:pt x="2430985" y="59312"/>
                </a:lnTo>
                <a:lnTo>
                  <a:pt x="2461383" y="89710"/>
                </a:lnTo>
                <a:lnTo>
                  <a:pt x="2486264" y="124911"/>
                </a:lnTo>
                <a:lnTo>
                  <a:pt x="2504918" y="164205"/>
                </a:lnTo>
                <a:lnTo>
                  <a:pt x="2516633" y="206879"/>
                </a:lnTo>
                <a:lnTo>
                  <a:pt x="2520695" y="252222"/>
                </a:lnTo>
                <a:lnTo>
                  <a:pt x="2516633" y="297564"/>
                </a:lnTo>
                <a:lnTo>
                  <a:pt x="2504918" y="340238"/>
                </a:lnTo>
                <a:lnTo>
                  <a:pt x="2486264" y="379532"/>
                </a:lnTo>
                <a:lnTo>
                  <a:pt x="2461383" y="414733"/>
                </a:lnTo>
                <a:lnTo>
                  <a:pt x="2430985" y="445131"/>
                </a:lnTo>
                <a:lnTo>
                  <a:pt x="2395784" y="470012"/>
                </a:lnTo>
                <a:lnTo>
                  <a:pt x="2356490" y="488666"/>
                </a:lnTo>
                <a:lnTo>
                  <a:pt x="2313816" y="500381"/>
                </a:lnTo>
                <a:lnTo>
                  <a:pt x="2268473" y="504444"/>
                </a:lnTo>
                <a:lnTo>
                  <a:pt x="2223131" y="500381"/>
                </a:lnTo>
                <a:lnTo>
                  <a:pt x="2180457" y="488666"/>
                </a:lnTo>
                <a:lnTo>
                  <a:pt x="2141163" y="470012"/>
                </a:lnTo>
                <a:lnTo>
                  <a:pt x="2105962" y="445131"/>
                </a:lnTo>
                <a:lnTo>
                  <a:pt x="2075564" y="414733"/>
                </a:lnTo>
                <a:lnTo>
                  <a:pt x="2050683" y="379532"/>
                </a:lnTo>
                <a:lnTo>
                  <a:pt x="2032029" y="340238"/>
                </a:lnTo>
                <a:lnTo>
                  <a:pt x="2020314" y="297564"/>
                </a:lnTo>
                <a:lnTo>
                  <a:pt x="2016252" y="252222"/>
                </a:lnTo>
                <a:close/>
              </a:path>
              <a:path w="4060190" h="2845435">
                <a:moveTo>
                  <a:pt x="2951988" y="1090422"/>
                </a:moveTo>
                <a:lnTo>
                  <a:pt x="2956050" y="1045079"/>
                </a:lnTo>
                <a:lnTo>
                  <a:pt x="2967765" y="1002405"/>
                </a:lnTo>
                <a:lnTo>
                  <a:pt x="2986419" y="963111"/>
                </a:lnTo>
                <a:lnTo>
                  <a:pt x="3011300" y="927910"/>
                </a:lnTo>
                <a:lnTo>
                  <a:pt x="3041698" y="897512"/>
                </a:lnTo>
                <a:lnTo>
                  <a:pt x="3076899" y="872631"/>
                </a:lnTo>
                <a:lnTo>
                  <a:pt x="3116193" y="853977"/>
                </a:lnTo>
                <a:lnTo>
                  <a:pt x="3158867" y="842262"/>
                </a:lnTo>
                <a:lnTo>
                  <a:pt x="3204210" y="838200"/>
                </a:lnTo>
                <a:lnTo>
                  <a:pt x="3249552" y="842262"/>
                </a:lnTo>
                <a:lnTo>
                  <a:pt x="3292226" y="853977"/>
                </a:lnTo>
                <a:lnTo>
                  <a:pt x="3331520" y="872631"/>
                </a:lnTo>
                <a:lnTo>
                  <a:pt x="3366721" y="897512"/>
                </a:lnTo>
                <a:lnTo>
                  <a:pt x="3397119" y="927910"/>
                </a:lnTo>
                <a:lnTo>
                  <a:pt x="3422000" y="963111"/>
                </a:lnTo>
                <a:lnTo>
                  <a:pt x="3440654" y="1002405"/>
                </a:lnTo>
                <a:lnTo>
                  <a:pt x="3452369" y="1045079"/>
                </a:lnTo>
                <a:lnTo>
                  <a:pt x="3456432" y="1090422"/>
                </a:lnTo>
                <a:lnTo>
                  <a:pt x="3452369" y="1135764"/>
                </a:lnTo>
                <a:lnTo>
                  <a:pt x="3440654" y="1178438"/>
                </a:lnTo>
                <a:lnTo>
                  <a:pt x="3422000" y="1217732"/>
                </a:lnTo>
                <a:lnTo>
                  <a:pt x="3397119" y="1252933"/>
                </a:lnTo>
                <a:lnTo>
                  <a:pt x="3366721" y="1283331"/>
                </a:lnTo>
                <a:lnTo>
                  <a:pt x="3331520" y="1308212"/>
                </a:lnTo>
                <a:lnTo>
                  <a:pt x="3292226" y="1326866"/>
                </a:lnTo>
                <a:lnTo>
                  <a:pt x="3249552" y="1338581"/>
                </a:lnTo>
                <a:lnTo>
                  <a:pt x="3204210" y="1342644"/>
                </a:lnTo>
                <a:lnTo>
                  <a:pt x="3158867" y="1338581"/>
                </a:lnTo>
                <a:lnTo>
                  <a:pt x="3116193" y="1326866"/>
                </a:lnTo>
                <a:lnTo>
                  <a:pt x="3076899" y="1308212"/>
                </a:lnTo>
                <a:lnTo>
                  <a:pt x="3041698" y="1283331"/>
                </a:lnTo>
                <a:lnTo>
                  <a:pt x="3011300" y="1252933"/>
                </a:lnTo>
                <a:lnTo>
                  <a:pt x="2986419" y="1217732"/>
                </a:lnTo>
                <a:lnTo>
                  <a:pt x="2967765" y="1178438"/>
                </a:lnTo>
                <a:lnTo>
                  <a:pt x="2956050" y="1135764"/>
                </a:lnTo>
                <a:lnTo>
                  <a:pt x="2951988" y="1090422"/>
                </a:lnTo>
                <a:close/>
              </a:path>
              <a:path w="4060190" h="2845435">
                <a:moveTo>
                  <a:pt x="1080515" y="1009650"/>
                </a:moveTo>
                <a:lnTo>
                  <a:pt x="1084578" y="964307"/>
                </a:lnTo>
                <a:lnTo>
                  <a:pt x="1096293" y="921633"/>
                </a:lnTo>
                <a:lnTo>
                  <a:pt x="1114947" y="882339"/>
                </a:lnTo>
                <a:lnTo>
                  <a:pt x="1139828" y="847138"/>
                </a:lnTo>
                <a:lnTo>
                  <a:pt x="1170226" y="816740"/>
                </a:lnTo>
                <a:lnTo>
                  <a:pt x="1205427" y="791859"/>
                </a:lnTo>
                <a:lnTo>
                  <a:pt x="1244721" y="773205"/>
                </a:lnTo>
                <a:lnTo>
                  <a:pt x="1287395" y="761490"/>
                </a:lnTo>
                <a:lnTo>
                  <a:pt x="1332738" y="757428"/>
                </a:lnTo>
                <a:lnTo>
                  <a:pt x="1378080" y="761490"/>
                </a:lnTo>
                <a:lnTo>
                  <a:pt x="1420754" y="773205"/>
                </a:lnTo>
                <a:lnTo>
                  <a:pt x="1460048" y="791859"/>
                </a:lnTo>
                <a:lnTo>
                  <a:pt x="1495249" y="816740"/>
                </a:lnTo>
                <a:lnTo>
                  <a:pt x="1525647" y="847138"/>
                </a:lnTo>
                <a:lnTo>
                  <a:pt x="1550528" y="882339"/>
                </a:lnTo>
                <a:lnTo>
                  <a:pt x="1569182" y="921633"/>
                </a:lnTo>
                <a:lnTo>
                  <a:pt x="1580897" y="964307"/>
                </a:lnTo>
                <a:lnTo>
                  <a:pt x="1584959" y="1009650"/>
                </a:lnTo>
                <a:lnTo>
                  <a:pt x="1580897" y="1054992"/>
                </a:lnTo>
                <a:lnTo>
                  <a:pt x="1569182" y="1097666"/>
                </a:lnTo>
                <a:lnTo>
                  <a:pt x="1550528" y="1136960"/>
                </a:lnTo>
                <a:lnTo>
                  <a:pt x="1525647" y="1172161"/>
                </a:lnTo>
                <a:lnTo>
                  <a:pt x="1495249" y="1202559"/>
                </a:lnTo>
                <a:lnTo>
                  <a:pt x="1460048" y="1227440"/>
                </a:lnTo>
                <a:lnTo>
                  <a:pt x="1420754" y="1246094"/>
                </a:lnTo>
                <a:lnTo>
                  <a:pt x="1378080" y="1257809"/>
                </a:lnTo>
                <a:lnTo>
                  <a:pt x="1332738" y="1261872"/>
                </a:lnTo>
                <a:lnTo>
                  <a:pt x="1287395" y="1257809"/>
                </a:lnTo>
                <a:lnTo>
                  <a:pt x="1244721" y="1246094"/>
                </a:lnTo>
                <a:lnTo>
                  <a:pt x="1205427" y="1227440"/>
                </a:lnTo>
                <a:lnTo>
                  <a:pt x="1170226" y="1202559"/>
                </a:lnTo>
                <a:lnTo>
                  <a:pt x="1139828" y="1172161"/>
                </a:lnTo>
                <a:lnTo>
                  <a:pt x="1114947" y="1136960"/>
                </a:lnTo>
                <a:lnTo>
                  <a:pt x="1096293" y="1097666"/>
                </a:lnTo>
                <a:lnTo>
                  <a:pt x="1084578" y="1054992"/>
                </a:lnTo>
                <a:lnTo>
                  <a:pt x="1080515" y="1009650"/>
                </a:lnTo>
                <a:close/>
              </a:path>
              <a:path w="4060190" h="2845435">
                <a:moveTo>
                  <a:pt x="2375916" y="1802130"/>
                </a:moveTo>
                <a:lnTo>
                  <a:pt x="2379978" y="1756787"/>
                </a:lnTo>
                <a:lnTo>
                  <a:pt x="2391693" y="1714113"/>
                </a:lnTo>
                <a:lnTo>
                  <a:pt x="2410347" y="1674819"/>
                </a:lnTo>
                <a:lnTo>
                  <a:pt x="2435228" y="1639618"/>
                </a:lnTo>
                <a:lnTo>
                  <a:pt x="2465626" y="1609220"/>
                </a:lnTo>
                <a:lnTo>
                  <a:pt x="2500827" y="1584339"/>
                </a:lnTo>
                <a:lnTo>
                  <a:pt x="2540121" y="1565685"/>
                </a:lnTo>
                <a:lnTo>
                  <a:pt x="2582795" y="1553970"/>
                </a:lnTo>
                <a:lnTo>
                  <a:pt x="2628138" y="1549908"/>
                </a:lnTo>
                <a:lnTo>
                  <a:pt x="2673480" y="1553970"/>
                </a:lnTo>
                <a:lnTo>
                  <a:pt x="2716154" y="1565685"/>
                </a:lnTo>
                <a:lnTo>
                  <a:pt x="2755448" y="1584339"/>
                </a:lnTo>
                <a:lnTo>
                  <a:pt x="2790649" y="1609220"/>
                </a:lnTo>
                <a:lnTo>
                  <a:pt x="2821047" y="1639618"/>
                </a:lnTo>
                <a:lnTo>
                  <a:pt x="2845928" y="1674819"/>
                </a:lnTo>
                <a:lnTo>
                  <a:pt x="2864582" y="1714113"/>
                </a:lnTo>
                <a:lnTo>
                  <a:pt x="2876297" y="1756787"/>
                </a:lnTo>
                <a:lnTo>
                  <a:pt x="2880360" y="1802130"/>
                </a:lnTo>
                <a:lnTo>
                  <a:pt x="2876297" y="1847472"/>
                </a:lnTo>
                <a:lnTo>
                  <a:pt x="2864582" y="1890146"/>
                </a:lnTo>
                <a:lnTo>
                  <a:pt x="2845928" y="1929440"/>
                </a:lnTo>
                <a:lnTo>
                  <a:pt x="2821047" y="1964641"/>
                </a:lnTo>
                <a:lnTo>
                  <a:pt x="2790649" y="1995039"/>
                </a:lnTo>
                <a:lnTo>
                  <a:pt x="2755448" y="2019920"/>
                </a:lnTo>
                <a:lnTo>
                  <a:pt x="2716154" y="2038574"/>
                </a:lnTo>
                <a:lnTo>
                  <a:pt x="2673480" y="2050289"/>
                </a:lnTo>
                <a:lnTo>
                  <a:pt x="2628138" y="2054352"/>
                </a:lnTo>
                <a:lnTo>
                  <a:pt x="2582795" y="2050289"/>
                </a:lnTo>
                <a:lnTo>
                  <a:pt x="2540121" y="2038574"/>
                </a:lnTo>
                <a:lnTo>
                  <a:pt x="2500827" y="2019920"/>
                </a:lnTo>
                <a:lnTo>
                  <a:pt x="2465626" y="1995039"/>
                </a:lnTo>
                <a:lnTo>
                  <a:pt x="2435228" y="1964641"/>
                </a:lnTo>
                <a:lnTo>
                  <a:pt x="2410347" y="1929440"/>
                </a:lnTo>
                <a:lnTo>
                  <a:pt x="2391693" y="1890146"/>
                </a:lnTo>
                <a:lnTo>
                  <a:pt x="2379978" y="1847472"/>
                </a:lnTo>
                <a:lnTo>
                  <a:pt x="2375916" y="1802130"/>
                </a:lnTo>
                <a:close/>
              </a:path>
              <a:path w="4060190" h="2845435">
                <a:moveTo>
                  <a:pt x="504443" y="1802130"/>
                </a:moveTo>
                <a:lnTo>
                  <a:pt x="508506" y="1756787"/>
                </a:lnTo>
                <a:lnTo>
                  <a:pt x="520221" y="1714113"/>
                </a:lnTo>
                <a:lnTo>
                  <a:pt x="538875" y="1674819"/>
                </a:lnTo>
                <a:lnTo>
                  <a:pt x="563756" y="1639618"/>
                </a:lnTo>
                <a:lnTo>
                  <a:pt x="594154" y="1609220"/>
                </a:lnTo>
                <a:lnTo>
                  <a:pt x="629355" y="1584339"/>
                </a:lnTo>
                <a:lnTo>
                  <a:pt x="668649" y="1565685"/>
                </a:lnTo>
                <a:lnTo>
                  <a:pt x="711323" y="1553970"/>
                </a:lnTo>
                <a:lnTo>
                  <a:pt x="756665" y="1549908"/>
                </a:lnTo>
                <a:lnTo>
                  <a:pt x="802008" y="1553970"/>
                </a:lnTo>
                <a:lnTo>
                  <a:pt x="844682" y="1565685"/>
                </a:lnTo>
                <a:lnTo>
                  <a:pt x="883976" y="1584339"/>
                </a:lnTo>
                <a:lnTo>
                  <a:pt x="919177" y="1609220"/>
                </a:lnTo>
                <a:lnTo>
                  <a:pt x="949575" y="1639618"/>
                </a:lnTo>
                <a:lnTo>
                  <a:pt x="974456" y="1674819"/>
                </a:lnTo>
                <a:lnTo>
                  <a:pt x="993110" y="1714113"/>
                </a:lnTo>
                <a:lnTo>
                  <a:pt x="1004825" y="1756787"/>
                </a:lnTo>
                <a:lnTo>
                  <a:pt x="1008888" y="1802130"/>
                </a:lnTo>
                <a:lnTo>
                  <a:pt x="1004825" y="1847472"/>
                </a:lnTo>
                <a:lnTo>
                  <a:pt x="993110" y="1890146"/>
                </a:lnTo>
                <a:lnTo>
                  <a:pt x="974456" y="1929440"/>
                </a:lnTo>
                <a:lnTo>
                  <a:pt x="949575" y="1964641"/>
                </a:lnTo>
                <a:lnTo>
                  <a:pt x="919177" y="1995039"/>
                </a:lnTo>
                <a:lnTo>
                  <a:pt x="883976" y="2019920"/>
                </a:lnTo>
                <a:lnTo>
                  <a:pt x="844682" y="2038574"/>
                </a:lnTo>
                <a:lnTo>
                  <a:pt x="802008" y="2050289"/>
                </a:lnTo>
                <a:lnTo>
                  <a:pt x="756665" y="2054352"/>
                </a:lnTo>
                <a:lnTo>
                  <a:pt x="711323" y="2050289"/>
                </a:lnTo>
                <a:lnTo>
                  <a:pt x="668649" y="2038574"/>
                </a:lnTo>
                <a:lnTo>
                  <a:pt x="629355" y="2019920"/>
                </a:lnTo>
                <a:lnTo>
                  <a:pt x="594154" y="1995039"/>
                </a:lnTo>
                <a:lnTo>
                  <a:pt x="563756" y="1964641"/>
                </a:lnTo>
                <a:lnTo>
                  <a:pt x="538875" y="1929440"/>
                </a:lnTo>
                <a:lnTo>
                  <a:pt x="520221" y="1890146"/>
                </a:lnTo>
                <a:lnTo>
                  <a:pt x="508506" y="1847472"/>
                </a:lnTo>
                <a:lnTo>
                  <a:pt x="504443" y="1802130"/>
                </a:lnTo>
                <a:close/>
              </a:path>
              <a:path w="4060190" h="2845435">
                <a:moveTo>
                  <a:pt x="2089912" y="429768"/>
                </a:moveTo>
                <a:lnTo>
                  <a:pt x="1510283" y="830707"/>
                </a:lnTo>
              </a:path>
              <a:path w="4060190" h="2845435">
                <a:moveTo>
                  <a:pt x="2446019" y="429768"/>
                </a:moveTo>
                <a:lnTo>
                  <a:pt x="3025647" y="911098"/>
                </a:lnTo>
              </a:path>
              <a:path w="4060190" h="2845435">
                <a:moveTo>
                  <a:pt x="1153794" y="1187196"/>
                </a:moveTo>
                <a:lnTo>
                  <a:pt x="755903" y="1549019"/>
                </a:lnTo>
              </a:path>
              <a:path w="4060190" h="2845435">
                <a:moveTo>
                  <a:pt x="2449575" y="1979676"/>
                </a:moveTo>
                <a:lnTo>
                  <a:pt x="2228088" y="2385949"/>
                </a:lnTo>
              </a:path>
              <a:path w="4060190" h="2845435">
                <a:moveTo>
                  <a:pt x="3026791" y="1267968"/>
                </a:moveTo>
                <a:lnTo>
                  <a:pt x="2807208" y="1623187"/>
                </a:lnTo>
              </a:path>
              <a:path w="4060190" h="2845435">
                <a:moveTo>
                  <a:pt x="3555491" y="1751838"/>
                </a:moveTo>
                <a:lnTo>
                  <a:pt x="3559554" y="1706495"/>
                </a:lnTo>
                <a:lnTo>
                  <a:pt x="3571269" y="1663821"/>
                </a:lnTo>
                <a:lnTo>
                  <a:pt x="3589923" y="1624527"/>
                </a:lnTo>
                <a:lnTo>
                  <a:pt x="3614804" y="1589326"/>
                </a:lnTo>
                <a:lnTo>
                  <a:pt x="3645202" y="1558928"/>
                </a:lnTo>
                <a:lnTo>
                  <a:pt x="3680403" y="1534047"/>
                </a:lnTo>
                <a:lnTo>
                  <a:pt x="3719697" y="1515393"/>
                </a:lnTo>
                <a:lnTo>
                  <a:pt x="3762371" y="1503678"/>
                </a:lnTo>
                <a:lnTo>
                  <a:pt x="3807714" y="1499616"/>
                </a:lnTo>
                <a:lnTo>
                  <a:pt x="3853056" y="1503678"/>
                </a:lnTo>
                <a:lnTo>
                  <a:pt x="3895730" y="1515393"/>
                </a:lnTo>
                <a:lnTo>
                  <a:pt x="3935024" y="1534047"/>
                </a:lnTo>
                <a:lnTo>
                  <a:pt x="3970225" y="1558928"/>
                </a:lnTo>
                <a:lnTo>
                  <a:pt x="4000623" y="1589326"/>
                </a:lnTo>
                <a:lnTo>
                  <a:pt x="4025504" y="1624527"/>
                </a:lnTo>
                <a:lnTo>
                  <a:pt x="4044158" y="1663821"/>
                </a:lnTo>
                <a:lnTo>
                  <a:pt x="4055873" y="1706495"/>
                </a:lnTo>
                <a:lnTo>
                  <a:pt x="4059936" y="1751838"/>
                </a:lnTo>
                <a:lnTo>
                  <a:pt x="4055873" y="1797180"/>
                </a:lnTo>
                <a:lnTo>
                  <a:pt x="4044158" y="1839854"/>
                </a:lnTo>
                <a:lnTo>
                  <a:pt x="4025504" y="1879148"/>
                </a:lnTo>
                <a:lnTo>
                  <a:pt x="4000623" y="1914349"/>
                </a:lnTo>
                <a:lnTo>
                  <a:pt x="3970225" y="1944747"/>
                </a:lnTo>
                <a:lnTo>
                  <a:pt x="3935024" y="1969628"/>
                </a:lnTo>
                <a:lnTo>
                  <a:pt x="3895730" y="1988282"/>
                </a:lnTo>
                <a:lnTo>
                  <a:pt x="3853056" y="1999997"/>
                </a:lnTo>
                <a:lnTo>
                  <a:pt x="3807714" y="2004060"/>
                </a:lnTo>
                <a:lnTo>
                  <a:pt x="3762371" y="1999997"/>
                </a:lnTo>
                <a:lnTo>
                  <a:pt x="3719697" y="1988282"/>
                </a:lnTo>
                <a:lnTo>
                  <a:pt x="3680403" y="1969628"/>
                </a:lnTo>
                <a:lnTo>
                  <a:pt x="3645202" y="1944747"/>
                </a:lnTo>
                <a:lnTo>
                  <a:pt x="3614804" y="1914349"/>
                </a:lnTo>
                <a:lnTo>
                  <a:pt x="3589923" y="1879148"/>
                </a:lnTo>
                <a:lnTo>
                  <a:pt x="3571269" y="1839854"/>
                </a:lnTo>
                <a:lnTo>
                  <a:pt x="3559554" y="1797180"/>
                </a:lnTo>
                <a:lnTo>
                  <a:pt x="3555491" y="1751838"/>
                </a:lnTo>
                <a:close/>
              </a:path>
              <a:path w="4060190" h="2845435">
                <a:moveTo>
                  <a:pt x="3383279" y="1267968"/>
                </a:moveTo>
                <a:lnTo>
                  <a:pt x="3629787" y="1573149"/>
                </a:lnTo>
              </a:path>
              <a:path w="4060190" h="2845435">
                <a:moveTo>
                  <a:pt x="0" y="2593086"/>
                </a:moveTo>
                <a:lnTo>
                  <a:pt x="4062" y="2547743"/>
                </a:lnTo>
                <a:lnTo>
                  <a:pt x="15777" y="2505069"/>
                </a:lnTo>
                <a:lnTo>
                  <a:pt x="34431" y="2465775"/>
                </a:lnTo>
                <a:lnTo>
                  <a:pt x="59312" y="2430574"/>
                </a:lnTo>
                <a:lnTo>
                  <a:pt x="89710" y="2400176"/>
                </a:lnTo>
                <a:lnTo>
                  <a:pt x="124911" y="2375295"/>
                </a:lnTo>
                <a:lnTo>
                  <a:pt x="164205" y="2356641"/>
                </a:lnTo>
                <a:lnTo>
                  <a:pt x="206879" y="2344926"/>
                </a:lnTo>
                <a:lnTo>
                  <a:pt x="252221" y="2340864"/>
                </a:lnTo>
                <a:lnTo>
                  <a:pt x="297564" y="2344926"/>
                </a:lnTo>
                <a:lnTo>
                  <a:pt x="340238" y="2356641"/>
                </a:lnTo>
                <a:lnTo>
                  <a:pt x="379532" y="2375295"/>
                </a:lnTo>
                <a:lnTo>
                  <a:pt x="414733" y="2400176"/>
                </a:lnTo>
                <a:lnTo>
                  <a:pt x="445131" y="2430574"/>
                </a:lnTo>
                <a:lnTo>
                  <a:pt x="470012" y="2465775"/>
                </a:lnTo>
                <a:lnTo>
                  <a:pt x="488666" y="2505069"/>
                </a:lnTo>
                <a:lnTo>
                  <a:pt x="500381" y="2547743"/>
                </a:lnTo>
                <a:lnTo>
                  <a:pt x="504443" y="2593086"/>
                </a:lnTo>
                <a:lnTo>
                  <a:pt x="500381" y="2638421"/>
                </a:lnTo>
                <a:lnTo>
                  <a:pt x="488666" y="2681092"/>
                </a:lnTo>
                <a:lnTo>
                  <a:pt x="470012" y="2720385"/>
                </a:lnTo>
                <a:lnTo>
                  <a:pt x="445131" y="2755587"/>
                </a:lnTo>
                <a:lnTo>
                  <a:pt x="414733" y="2785986"/>
                </a:lnTo>
                <a:lnTo>
                  <a:pt x="379532" y="2810871"/>
                </a:lnTo>
                <a:lnTo>
                  <a:pt x="340238" y="2829527"/>
                </a:lnTo>
                <a:lnTo>
                  <a:pt x="297564" y="2841244"/>
                </a:lnTo>
                <a:lnTo>
                  <a:pt x="252221" y="2845308"/>
                </a:lnTo>
                <a:lnTo>
                  <a:pt x="206879" y="2841244"/>
                </a:lnTo>
                <a:lnTo>
                  <a:pt x="164205" y="2829527"/>
                </a:lnTo>
                <a:lnTo>
                  <a:pt x="124911" y="2810871"/>
                </a:lnTo>
                <a:lnTo>
                  <a:pt x="89710" y="2785986"/>
                </a:lnTo>
                <a:lnTo>
                  <a:pt x="59312" y="2755587"/>
                </a:lnTo>
                <a:lnTo>
                  <a:pt x="34431" y="2720385"/>
                </a:lnTo>
                <a:lnTo>
                  <a:pt x="15777" y="2681092"/>
                </a:lnTo>
                <a:lnTo>
                  <a:pt x="4062" y="2638421"/>
                </a:lnTo>
                <a:lnTo>
                  <a:pt x="0" y="2593086"/>
                </a:lnTo>
                <a:close/>
              </a:path>
              <a:path w="4060190" h="2845435">
                <a:moveTo>
                  <a:pt x="577341" y="1979676"/>
                </a:moveTo>
                <a:lnTo>
                  <a:pt x="251459" y="2340991"/>
                </a:lnTo>
              </a:path>
              <a:path w="4060190" h="2845435">
                <a:moveTo>
                  <a:pt x="1798319" y="2564130"/>
                </a:moveTo>
                <a:lnTo>
                  <a:pt x="1802382" y="2518787"/>
                </a:lnTo>
                <a:lnTo>
                  <a:pt x="1814097" y="2476113"/>
                </a:lnTo>
                <a:lnTo>
                  <a:pt x="1832751" y="2436819"/>
                </a:lnTo>
                <a:lnTo>
                  <a:pt x="1857632" y="2401618"/>
                </a:lnTo>
                <a:lnTo>
                  <a:pt x="1888030" y="2371220"/>
                </a:lnTo>
                <a:lnTo>
                  <a:pt x="1923231" y="2346339"/>
                </a:lnTo>
                <a:lnTo>
                  <a:pt x="1962525" y="2327685"/>
                </a:lnTo>
                <a:lnTo>
                  <a:pt x="2005199" y="2315970"/>
                </a:lnTo>
                <a:lnTo>
                  <a:pt x="2050541" y="2311908"/>
                </a:lnTo>
                <a:lnTo>
                  <a:pt x="2095884" y="2315970"/>
                </a:lnTo>
                <a:lnTo>
                  <a:pt x="2138558" y="2327685"/>
                </a:lnTo>
                <a:lnTo>
                  <a:pt x="2177852" y="2346339"/>
                </a:lnTo>
                <a:lnTo>
                  <a:pt x="2213053" y="2371220"/>
                </a:lnTo>
                <a:lnTo>
                  <a:pt x="2243451" y="2401618"/>
                </a:lnTo>
                <a:lnTo>
                  <a:pt x="2268332" y="2436819"/>
                </a:lnTo>
                <a:lnTo>
                  <a:pt x="2286986" y="2476113"/>
                </a:lnTo>
                <a:lnTo>
                  <a:pt x="2298701" y="2518787"/>
                </a:lnTo>
                <a:lnTo>
                  <a:pt x="2302764" y="2564130"/>
                </a:lnTo>
                <a:lnTo>
                  <a:pt x="2298701" y="2609465"/>
                </a:lnTo>
                <a:lnTo>
                  <a:pt x="2286986" y="2652136"/>
                </a:lnTo>
                <a:lnTo>
                  <a:pt x="2268332" y="2691429"/>
                </a:lnTo>
                <a:lnTo>
                  <a:pt x="2243451" y="2726631"/>
                </a:lnTo>
                <a:lnTo>
                  <a:pt x="2213053" y="2757030"/>
                </a:lnTo>
                <a:lnTo>
                  <a:pt x="2177852" y="2781915"/>
                </a:lnTo>
                <a:lnTo>
                  <a:pt x="2138558" y="2800571"/>
                </a:lnTo>
                <a:lnTo>
                  <a:pt x="2095884" y="2812288"/>
                </a:lnTo>
                <a:lnTo>
                  <a:pt x="2050541" y="2816352"/>
                </a:lnTo>
                <a:lnTo>
                  <a:pt x="2005199" y="2812288"/>
                </a:lnTo>
                <a:lnTo>
                  <a:pt x="1962525" y="2800571"/>
                </a:lnTo>
                <a:lnTo>
                  <a:pt x="1923231" y="2781915"/>
                </a:lnTo>
                <a:lnTo>
                  <a:pt x="1888030" y="2757030"/>
                </a:lnTo>
                <a:lnTo>
                  <a:pt x="1857632" y="2726631"/>
                </a:lnTo>
                <a:lnTo>
                  <a:pt x="1832751" y="2691429"/>
                </a:lnTo>
                <a:lnTo>
                  <a:pt x="1814097" y="2652136"/>
                </a:lnTo>
                <a:lnTo>
                  <a:pt x="1802382" y="2609465"/>
                </a:lnTo>
                <a:lnTo>
                  <a:pt x="1798319" y="2564130"/>
                </a:lnTo>
                <a:close/>
              </a:path>
              <a:path w="4060190" h="2845435">
                <a:moveTo>
                  <a:pt x="2923032" y="2574798"/>
                </a:moveTo>
                <a:lnTo>
                  <a:pt x="2927094" y="2529455"/>
                </a:lnTo>
                <a:lnTo>
                  <a:pt x="2938809" y="2486781"/>
                </a:lnTo>
                <a:lnTo>
                  <a:pt x="2957463" y="2447487"/>
                </a:lnTo>
                <a:lnTo>
                  <a:pt x="2982344" y="2412286"/>
                </a:lnTo>
                <a:lnTo>
                  <a:pt x="3012742" y="2381888"/>
                </a:lnTo>
                <a:lnTo>
                  <a:pt x="3047943" y="2357007"/>
                </a:lnTo>
                <a:lnTo>
                  <a:pt x="3087237" y="2338353"/>
                </a:lnTo>
                <a:lnTo>
                  <a:pt x="3129911" y="2326638"/>
                </a:lnTo>
                <a:lnTo>
                  <a:pt x="3175253" y="2322576"/>
                </a:lnTo>
                <a:lnTo>
                  <a:pt x="3220596" y="2326638"/>
                </a:lnTo>
                <a:lnTo>
                  <a:pt x="3263270" y="2338353"/>
                </a:lnTo>
                <a:lnTo>
                  <a:pt x="3302564" y="2357007"/>
                </a:lnTo>
                <a:lnTo>
                  <a:pt x="3337765" y="2381888"/>
                </a:lnTo>
                <a:lnTo>
                  <a:pt x="3368163" y="2412286"/>
                </a:lnTo>
                <a:lnTo>
                  <a:pt x="3393044" y="2447487"/>
                </a:lnTo>
                <a:lnTo>
                  <a:pt x="3411698" y="2486781"/>
                </a:lnTo>
                <a:lnTo>
                  <a:pt x="3423413" y="2529455"/>
                </a:lnTo>
                <a:lnTo>
                  <a:pt x="3427475" y="2574798"/>
                </a:lnTo>
                <a:lnTo>
                  <a:pt x="3423413" y="2620133"/>
                </a:lnTo>
                <a:lnTo>
                  <a:pt x="3411698" y="2662804"/>
                </a:lnTo>
                <a:lnTo>
                  <a:pt x="3393044" y="2702097"/>
                </a:lnTo>
                <a:lnTo>
                  <a:pt x="3368163" y="2737299"/>
                </a:lnTo>
                <a:lnTo>
                  <a:pt x="3337765" y="2767698"/>
                </a:lnTo>
                <a:lnTo>
                  <a:pt x="3302564" y="2792583"/>
                </a:lnTo>
                <a:lnTo>
                  <a:pt x="3263270" y="2811239"/>
                </a:lnTo>
                <a:lnTo>
                  <a:pt x="3220596" y="2822956"/>
                </a:lnTo>
                <a:lnTo>
                  <a:pt x="3175253" y="2827020"/>
                </a:lnTo>
                <a:lnTo>
                  <a:pt x="3129911" y="2822956"/>
                </a:lnTo>
                <a:lnTo>
                  <a:pt x="3087237" y="2811239"/>
                </a:lnTo>
                <a:lnTo>
                  <a:pt x="3047943" y="2792583"/>
                </a:lnTo>
                <a:lnTo>
                  <a:pt x="3012742" y="2767698"/>
                </a:lnTo>
                <a:lnTo>
                  <a:pt x="2982344" y="2737299"/>
                </a:lnTo>
                <a:lnTo>
                  <a:pt x="2957463" y="2702097"/>
                </a:lnTo>
                <a:lnTo>
                  <a:pt x="2938809" y="2662804"/>
                </a:lnTo>
                <a:lnTo>
                  <a:pt x="2927094" y="2620133"/>
                </a:lnTo>
                <a:lnTo>
                  <a:pt x="2923032" y="2574798"/>
                </a:lnTo>
                <a:close/>
              </a:path>
              <a:path w="4060190" h="2845435">
                <a:moveTo>
                  <a:pt x="2807208" y="1979676"/>
                </a:moveTo>
                <a:lnTo>
                  <a:pt x="3176142" y="2322449"/>
                </a:lnTo>
              </a:path>
              <a:path w="4060190" h="2845435">
                <a:moveTo>
                  <a:pt x="934212" y="2591562"/>
                </a:moveTo>
                <a:lnTo>
                  <a:pt x="938274" y="2546219"/>
                </a:lnTo>
                <a:lnTo>
                  <a:pt x="949989" y="2503545"/>
                </a:lnTo>
                <a:lnTo>
                  <a:pt x="968643" y="2464251"/>
                </a:lnTo>
                <a:lnTo>
                  <a:pt x="993524" y="2429050"/>
                </a:lnTo>
                <a:lnTo>
                  <a:pt x="1023922" y="2398652"/>
                </a:lnTo>
                <a:lnTo>
                  <a:pt x="1059123" y="2373771"/>
                </a:lnTo>
                <a:lnTo>
                  <a:pt x="1098417" y="2355117"/>
                </a:lnTo>
                <a:lnTo>
                  <a:pt x="1141091" y="2343402"/>
                </a:lnTo>
                <a:lnTo>
                  <a:pt x="1186433" y="2339340"/>
                </a:lnTo>
                <a:lnTo>
                  <a:pt x="1231776" y="2343402"/>
                </a:lnTo>
                <a:lnTo>
                  <a:pt x="1274450" y="2355117"/>
                </a:lnTo>
                <a:lnTo>
                  <a:pt x="1313744" y="2373771"/>
                </a:lnTo>
                <a:lnTo>
                  <a:pt x="1348945" y="2398652"/>
                </a:lnTo>
                <a:lnTo>
                  <a:pt x="1379343" y="2429050"/>
                </a:lnTo>
                <a:lnTo>
                  <a:pt x="1404224" y="2464251"/>
                </a:lnTo>
                <a:lnTo>
                  <a:pt x="1422878" y="2503545"/>
                </a:lnTo>
                <a:lnTo>
                  <a:pt x="1434593" y="2546219"/>
                </a:lnTo>
                <a:lnTo>
                  <a:pt x="1438655" y="2591562"/>
                </a:lnTo>
                <a:lnTo>
                  <a:pt x="1434593" y="2636897"/>
                </a:lnTo>
                <a:lnTo>
                  <a:pt x="1422878" y="2679568"/>
                </a:lnTo>
                <a:lnTo>
                  <a:pt x="1404224" y="2718861"/>
                </a:lnTo>
                <a:lnTo>
                  <a:pt x="1379343" y="2754063"/>
                </a:lnTo>
                <a:lnTo>
                  <a:pt x="1348945" y="2784462"/>
                </a:lnTo>
                <a:lnTo>
                  <a:pt x="1313744" y="2809347"/>
                </a:lnTo>
                <a:lnTo>
                  <a:pt x="1274450" y="2828003"/>
                </a:lnTo>
                <a:lnTo>
                  <a:pt x="1231776" y="2839720"/>
                </a:lnTo>
                <a:lnTo>
                  <a:pt x="1186433" y="2843784"/>
                </a:lnTo>
                <a:lnTo>
                  <a:pt x="1141091" y="2839720"/>
                </a:lnTo>
                <a:lnTo>
                  <a:pt x="1098417" y="2828003"/>
                </a:lnTo>
                <a:lnTo>
                  <a:pt x="1059123" y="2809347"/>
                </a:lnTo>
                <a:lnTo>
                  <a:pt x="1023922" y="2784462"/>
                </a:lnTo>
                <a:lnTo>
                  <a:pt x="993524" y="2754063"/>
                </a:lnTo>
                <a:lnTo>
                  <a:pt x="968643" y="2718861"/>
                </a:lnTo>
                <a:lnTo>
                  <a:pt x="949989" y="2679568"/>
                </a:lnTo>
                <a:lnTo>
                  <a:pt x="938274" y="2636897"/>
                </a:lnTo>
                <a:lnTo>
                  <a:pt x="934212" y="2591562"/>
                </a:lnTo>
                <a:close/>
              </a:path>
              <a:path w="4060190" h="2845435">
                <a:moveTo>
                  <a:pt x="934212" y="1979676"/>
                </a:moveTo>
                <a:lnTo>
                  <a:pt x="1186179" y="2339848"/>
                </a:lnTo>
              </a:path>
              <a:path w="4060190" h="2845435">
                <a:moveTo>
                  <a:pt x="1598676" y="1831848"/>
                </a:moveTo>
                <a:lnTo>
                  <a:pt x="1602738" y="1786631"/>
                </a:lnTo>
                <a:lnTo>
                  <a:pt x="1614453" y="1744081"/>
                </a:lnTo>
                <a:lnTo>
                  <a:pt x="1633107" y="1704904"/>
                </a:lnTo>
                <a:lnTo>
                  <a:pt x="1657988" y="1669810"/>
                </a:lnTo>
                <a:lnTo>
                  <a:pt x="1688386" y="1639508"/>
                </a:lnTo>
                <a:lnTo>
                  <a:pt x="1723587" y="1614706"/>
                </a:lnTo>
                <a:lnTo>
                  <a:pt x="1762881" y="1596113"/>
                </a:lnTo>
                <a:lnTo>
                  <a:pt x="1805555" y="1584437"/>
                </a:lnTo>
                <a:lnTo>
                  <a:pt x="1850897" y="1580388"/>
                </a:lnTo>
                <a:lnTo>
                  <a:pt x="1896240" y="1584437"/>
                </a:lnTo>
                <a:lnTo>
                  <a:pt x="1938914" y="1596113"/>
                </a:lnTo>
                <a:lnTo>
                  <a:pt x="1978208" y="1614706"/>
                </a:lnTo>
                <a:lnTo>
                  <a:pt x="2013409" y="1639508"/>
                </a:lnTo>
                <a:lnTo>
                  <a:pt x="2043807" y="1669810"/>
                </a:lnTo>
                <a:lnTo>
                  <a:pt x="2068688" y="1704904"/>
                </a:lnTo>
                <a:lnTo>
                  <a:pt x="2087342" y="1744081"/>
                </a:lnTo>
                <a:lnTo>
                  <a:pt x="2099057" y="1786631"/>
                </a:lnTo>
                <a:lnTo>
                  <a:pt x="2103119" y="1831848"/>
                </a:lnTo>
                <a:lnTo>
                  <a:pt x="2099057" y="1877064"/>
                </a:lnTo>
                <a:lnTo>
                  <a:pt x="2087342" y="1919614"/>
                </a:lnTo>
                <a:lnTo>
                  <a:pt x="2068688" y="1958791"/>
                </a:lnTo>
                <a:lnTo>
                  <a:pt x="2043807" y="1993885"/>
                </a:lnTo>
                <a:lnTo>
                  <a:pt x="2013409" y="2024187"/>
                </a:lnTo>
                <a:lnTo>
                  <a:pt x="1978208" y="2048989"/>
                </a:lnTo>
                <a:lnTo>
                  <a:pt x="1938914" y="2067582"/>
                </a:lnTo>
                <a:lnTo>
                  <a:pt x="1896240" y="2079258"/>
                </a:lnTo>
                <a:lnTo>
                  <a:pt x="1850897" y="2083308"/>
                </a:lnTo>
                <a:lnTo>
                  <a:pt x="1805555" y="2079258"/>
                </a:lnTo>
                <a:lnTo>
                  <a:pt x="1762881" y="2067582"/>
                </a:lnTo>
                <a:lnTo>
                  <a:pt x="1723587" y="2048989"/>
                </a:lnTo>
                <a:lnTo>
                  <a:pt x="1688386" y="2024187"/>
                </a:lnTo>
                <a:lnTo>
                  <a:pt x="1657988" y="1993885"/>
                </a:lnTo>
                <a:lnTo>
                  <a:pt x="1633107" y="1958791"/>
                </a:lnTo>
                <a:lnTo>
                  <a:pt x="1614453" y="1919614"/>
                </a:lnTo>
                <a:lnTo>
                  <a:pt x="1602738" y="1877064"/>
                </a:lnTo>
                <a:lnTo>
                  <a:pt x="1598676" y="1831848"/>
                </a:lnTo>
                <a:close/>
              </a:path>
              <a:path w="4060190" h="2845435">
                <a:moveTo>
                  <a:pt x="1510283" y="1187196"/>
                </a:moveTo>
                <a:lnTo>
                  <a:pt x="1850389" y="157937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4255" y="5960465"/>
            <a:ext cx="2898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Almost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Complete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binary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tree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40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05832" y="5923279"/>
            <a:ext cx="3315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40" marR="5080" indent="-5746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Not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Almost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Complete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binary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tree </a:t>
            </a:r>
            <a:r>
              <a:rPr sz="1800" dirty="0">
                <a:latin typeface="Tahoma"/>
                <a:cs typeface="Tahoma"/>
              </a:rPr>
              <a:t>(condition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2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violated)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Full</a:t>
            </a:r>
            <a:r>
              <a:rPr spc="-85" dirty="0"/>
              <a:t> </a:t>
            </a:r>
            <a:r>
              <a:rPr dirty="0"/>
              <a:t>vs.</a:t>
            </a:r>
            <a:r>
              <a:rPr spc="-80" dirty="0"/>
              <a:t> </a:t>
            </a:r>
            <a:r>
              <a:rPr dirty="0"/>
              <a:t>Almost</a:t>
            </a:r>
            <a:r>
              <a:rPr spc="-85" dirty="0"/>
              <a:t> </a:t>
            </a:r>
            <a:r>
              <a:rPr dirty="0"/>
              <a:t>Complete</a:t>
            </a:r>
            <a:r>
              <a:rPr spc="-80" dirty="0"/>
              <a:t> </a:t>
            </a:r>
            <a:r>
              <a:rPr dirty="0"/>
              <a:t>Binary</a:t>
            </a:r>
            <a:r>
              <a:rPr spc="-60" dirty="0"/>
              <a:t> </a:t>
            </a:r>
            <a:r>
              <a:rPr spc="-20" dirty="0"/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83791" y="1286255"/>
            <a:ext cx="6019800" cy="4319270"/>
            <a:chOff x="1383791" y="1286255"/>
            <a:chExt cx="6019800" cy="4319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9991" y="1464868"/>
              <a:ext cx="5867400" cy="41404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83792" y="1286255"/>
              <a:ext cx="6019800" cy="2667000"/>
            </a:xfrm>
            <a:custGeom>
              <a:avLst/>
              <a:gdLst/>
              <a:ahLst/>
              <a:cxnLst/>
              <a:rect l="l" t="t" r="r" b="b"/>
              <a:pathLst>
                <a:path w="6019800" h="2667000">
                  <a:moveTo>
                    <a:pt x="2819400" y="2209800"/>
                  </a:moveTo>
                  <a:lnTo>
                    <a:pt x="0" y="2209800"/>
                  </a:lnTo>
                  <a:lnTo>
                    <a:pt x="0" y="2667000"/>
                  </a:lnTo>
                  <a:lnTo>
                    <a:pt x="2819400" y="2667000"/>
                  </a:lnTo>
                  <a:lnTo>
                    <a:pt x="2819400" y="2209800"/>
                  </a:lnTo>
                  <a:close/>
                </a:path>
                <a:path w="6019800" h="2667000">
                  <a:moveTo>
                    <a:pt x="2895600" y="0"/>
                  </a:moveTo>
                  <a:lnTo>
                    <a:pt x="76200" y="0"/>
                  </a:lnTo>
                  <a:lnTo>
                    <a:pt x="76200" y="457200"/>
                  </a:lnTo>
                  <a:lnTo>
                    <a:pt x="2895600" y="457200"/>
                  </a:lnTo>
                  <a:lnTo>
                    <a:pt x="2895600" y="0"/>
                  </a:lnTo>
                  <a:close/>
                </a:path>
                <a:path w="6019800" h="2667000">
                  <a:moveTo>
                    <a:pt x="5791200" y="0"/>
                  </a:moveTo>
                  <a:lnTo>
                    <a:pt x="2971800" y="0"/>
                  </a:lnTo>
                  <a:lnTo>
                    <a:pt x="2971800" y="457200"/>
                  </a:lnTo>
                  <a:lnTo>
                    <a:pt x="5791200" y="457200"/>
                  </a:lnTo>
                  <a:lnTo>
                    <a:pt x="5791200" y="0"/>
                  </a:lnTo>
                  <a:close/>
                </a:path>
                <a:path w="6019800" h="2667000">
                  <a:moveTo>
                    <a:pt x="6019800" y="2209800"/>
                  </a:moveTo>
                  <a:lnTo>
                    <a:pt x="3200400" y="2209800"/>
                  </a:lnTo>
                  <a:lnTo>
                    <a:pt x="3200400" y="2667000"/>
                  </a:lnTo>
                  <a:lnTo>
                    <a:pt x="6019800" y="2667000"/>
                  </a:lnTo>
                  <a:lnTo>
                    <a:pt x="6019800" y="2209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Almost</a:t>
            </a:r>
            <a:r>
              <a:rPr spc="-105" dirty="0"/>
              <a:t> </a:t>
            </a:r>
            <a:r>
              <a:rPr dirty="0"/>
              <a:t>Complete</a:t>
            </a:r>
            <a:r>
              <a:rPr spc="-90" dirty="0"/>
              <a:t> </a:t>
            </a:r>
            <a:r>
              <a:rPr dirty="0"/>
              <a:t>Binary</a:t>
            </a:r>
            <a:r>
              <a:rPr spc="-90" dirty="0"/>
              <a:t> </a:t>
            </a:r>
            <a:r>
              <a:rPr dirty="0"/>
              <a:t>Tree:</a:t>
            </a:r>
            <a:r>
              <a:rPr spc="-95" dirty="0"/>
              <a:t> </a:t>
            </a:r>
            <a:r>
              <a:rPr spc="-10" dirty="0"/>
              <a:t>Properties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042" y="1079963"/>
            <a:ext cx="7455534" cy="18383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Total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number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n</a:t>
            </a:r>
            <a:r>
              <a:rPr sz="2100" spc="-49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between</a:t>
            </a:r>
            <a:endParaRPr sz="2100">
              <a:latin typeface="Tahoma"/>
              <a:cs typeface="Tahoma"/>
            </a:endParaRPr>
          </a:p>
          <a:p>
            <a:pPr marL="7689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68985" algn="l"/>
                <a:tab pos="5492115" algn="l"/>
              </a:tabLst>
            </a:pPr>
            <a:r>
              <a:rPr sz="1900" dirty="0">
                <a:latin typeface="Tahoma"/>
                <a:cs typeface="Tahoma"/>
              </a:rPr>
              <a:t>Complete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height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spc="-20" dirty="0">
                <a:latin typeface="Consolas"/>
                <a:cs typeface="Consolas"/>
              </a:rPr>
              <a:t>h-</a:t>
            </a:r>
            <a:r>
              <a:rPr sz="1900" dirty="0">
                <a:latin typeface="Consolas"/>
                <a:cs typeface="Consolas"/>
              </a:rPr>
              <a:t>1</a:t>
            </a:r>
            <a:r>
              <a:rPr sz="1900" dirty="0">
                <a:latin typeface="Tahoma"/>
                <a:cs typeface="Tahoma"/>
              </a:rPr>
              <a:t>,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i.e.,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25" dirty="0">
                <a:latin typeface="Consolas"/>
                <a:cs typeface="Consolas"/>
              </a:rPr>
              <a:t>2</a:t>
            </a:r>
            <a:r>
              <a:rPr sz="1875" spc="-37" baseline="26666" dirty="0">
                <a:latin typeface="Consolas"/>
                <a:cs typeface="Consolas"/>
              </a:rPr>
              <a:t>h</a:t>
            </a:r>
            <a:r>
              <a:rPr sz="1875" baseline="26666" dirty="0">
                <a:latin typeface="Consolas"/>
                <a:cs typeface="Consolas"/>
              </a:rPr>
              <a:t>	</a:t>
            </a:r>
            <a:r>
              <a:rPr sz="1900" spc="-10" dirty="0">
                <a:latin typeface="Tahoma"/>
                <a:cs typeface="Tahoma"/>
              </a:rPr>
              <a:t>nodes</a:t>
            </a:r>
            <a:endParaRPr sz="1900">
              <a:latin typeface="Tahoma"/>
              <a:cs typeface="Tahoma"/>
            </a:endParaRPr>
          </a:p>
          <a:p>
            <a:pPr marL="7689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68985" algn="l"/>
                <a:tab pos="5403850" algn="l"/>
              </a:tabLst>
            </a:pPr>
            <a:r>
              <a:rPr sz="1900" dirty="0">
                <a:latin typeface="Tahoma"/>
                <a:cs typeface="Tahoma"/>
              </a:rPr>
              <a:t>Complete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height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Consolas"/>
                <a:cs typeface="Consolas"/>
              </a:rPr>
              <a:t>h</a:t>
            </a:r>
            <a:r>
              <a:rPr sz="1900" dirty="0">
                <a:latin typeface="Tahoma"/>
                <a:cs typeface="Tahoma"/>
              </a:rPr>
              <a:t>,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i.e.,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20" dirty="0">
                <a:latin typeface="Consolas"/>
                <a:cs typeface="Consolas"/>
              </a:rPr>
              <a:t>2</a:t>
            </a:r>
            <a:r>
              <a:rPr sz="1875" spc="-30" baseline="26666" dirty="0">
                <a:latin typeface="Consolas"/>
                <a:cs typeface="Consolas"/>
              </a:rPr>
              <a:t>h+1</a:t>
            </a:r>
            <a:r>
              <a:rPr sz="1875" baseline="26666" dirty="0">
                <a:latin typeface="Consolas"/>
                <a:cs typeface="Consolas"/>
              </a:rPr>
              <a:t>	</a:t>
            </a:r>
            <a:r>
              <a:rPr sz="1900" spc="-20" dirty="0">
                <a:latin typeface="Consolas"/>
                <a:cs typeface="Consolas"/>
              </a:rPr>
              <a:t>-</a:t>
            </a:r>
            <a:r>
              <a:rPr sz="1900" dirty="0">
                <a:latin typeface="Consolas"/>
                <a:cs typeface="Consolas"/>
              </a:rPr>
              <a:t>1</a:t>
            </a:r>
            <a:r>
              <a:rPr sz="1900" spc="5" dirty="0">
                <a:latin typeface="Consolas"/>
                <a:cs typeface="Consolas"/>
              </a:rPr>
              <a:t> </a:t>
            </a:r>
            <a:r>
              <a:rPr sz="1900" spc="-10" dirty="0">
                <a:latin typeface="Tahoma"/>
                <a:cs typeface="Tahoma"/>
              </a:rPr>
              <a:t>nodes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94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67665" indent="-342265">
              <a:lnSpc>
                <a:spcPct val="100000"/>
              </a:lnSpc>
              <a:buChar char="•"/>
              <a:tabLst>
                <a:tab pos="367665" algn="l"/>
              </a:tabLst>
            </a:pPr>
            <a:r>
              <a:rPr sz="2100" dirty="0">
                <a:latin typeface="Tahoma"/>
                <a:cs typeface="Tahoma"/>
              </a:rPr>
              <a:t>Height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h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largest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integer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less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equal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15" dirty="0">
                <a:latin typeface="Tahoma"/>
                <a:cs typeface="Tahoma"/>
              </a:rPr>
              <a:t> </a:t>
            </a:r>
            <a:r>
              <a:rPr sz="2100" spc="-10" dirty="0">
                <a:latin typeface="Consolas"/>
                <a:cs typeface="Consolas"/>
              </a:rPr>
              <a:t>log</a:t>
            </a:r>
            <a:r>
              <a:rPr sz="2100" spc="-15" baseline="-19841" dirty="0">
                <a:latin typeface="Consolas"/>
                <a:cs typeface="Consolas"/>
              </a:rPr>
              <a:t>2</a:t>
            </a:r>
            <a:r>
              <a:rPr sz="2100" spc="-10" dirty="0">
                <a:latin typeface="Consolas"/>
                <a:cs typeface="Consolas"/>
              </a:rPr>
              <a:t>(n)</a:t>
            </a:r>
            <a:endParaRPr sz="2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(Completely)</a:t>
            </a:r>
            <a:r>
              <a:rPr spc="-105" dirty="0"/>
              <a:t> </a:t>
            </a:r>
            <a:r>
              <a:rPr dirty="0"/>
              <a:t>Balanced</a:t>
            </a:r>
            <a:r>
              <a:rPr spc="-110" dirty="0"/>
              <a:t> </a:t>
            </a:r>
            <a:r>
              <a:rPr dirty="0"/>
              <a:t>Binary</a:t>
            </a:r>
            <a:r>
              <a:rPr spc="-114" dirty="0"/>
              <a:t> </a:t>
            </a:r>
            <a:r>
              <a:rPr spc="-20" dirty="0"/>
              <a:t>Tree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43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8153400" cy="212915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Balanced</a:t>
            </a:r>
            <a:r>
              <a:rPr sz="21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100" spc="-20" dirty="0">
                <a:solidFill>
                  <a:srgbClr val="006FC0"/>
                </a:solidFill>
                <a:latin typeface="Tahoma"/>
                <a:cs typeface="Tahoma"/>
              </a:rPr>
              <a:t> tree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For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each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difference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height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sub-trees</a:t>
            </a:r>
            <a:endParaRPr sz="1900">
              <a:latin typeface="Tahoma"/>
              <a:cs typeface="Tahoma"/>
            </a:endParaRPr>
          </a:p>
          <a:p>
            <a:pPr marL="756285">
              <a:lnSpc>
                <a:spcPct val="100000"/>
              </a:lnSpc>
            </a:pP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more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than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one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Font typeface="Tahoma"/>
              <a:buChar char="•"/>
              <a:tabLst>
                <a:tab pos="354965" algn="l"/>
              </a:tabLst>
            </a:pPr>
            <a:r>
              <a:rPr sz="2100" b="1" dirty="0">
                <a:solidFill>
                  <a:srgbClr val="006FC0"/>
                </a:solidFill>
                <a:latin typeface="Tahoma"/>
                <a:cs typeface="Tahoma"/>
              </a:rPr>
              <a:t>Completely</a:t>
            </a:r>
            <a:r>
              <a:rPr sz="2100" b="1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006FC0"/>
                </a:solidFill>
                <a:latin typeface="Tahoma"/>
                <a:cs typeface="Tahoma"/>
              </a:rPr>
              <a:t>balance</a:t>
            </a:r>
            <a:r>
              <a:rPr sz="2100" b="1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b="1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100" b="1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b="1" spc="-2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Left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dirty="0">
                <a:latin typeface="Tahoma"/>
                <a:cs typeface="Tahoma"/>
              </a:rPr>
              <a:t>trees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every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have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same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height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(Completely)</a:t>
            </a:r>
            <a:r>
              <a:rPr spc="-95" dirty="0"/>
              <a:t> </a:t>
            </a:r>
            <a:r>
              <a:rPr dirty="0"/>
              <a:t>Balanced</a:t>
            </a:r>
            <a:r>
              <a:rPr spc="-90" dirty="0"/>
              <a:t> </a:t>
            </a:r>
            <a:r>
              <a:rPr dirty="0"/>
              <a:t>Binary</a:t>
            </a:r>
            <a:r>
              <a:rPr spc="-110" dirty="0"/>
              <a:t> </a:t>
            </a:r>
            <a:r>
              <a:rPr dirty="0"/>
              <a:t>Tree:</a:t>
            </a:r>
            <a:r>
              <a:rPr spc="-10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20644" y="2050160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75866" y="1942338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533400" y="0"/>
                </a:moveTo>
                <a:lnTo>
                  <a:pt x="0" y="228600"/>
                </a:lnTo>
              </a:path>
              <a:path w="1066800" h="228600">
                <a:moveTo>
                  <a:pt x="533400" y="0"/>
                </a:moveTo>
                <a:lnTo>
                  <a:pt x="1066800" y="2286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18666" y="2475738"/>
            <a:ext cx="685800" cy="304800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304800" y="0"/>
                </a:moveTo>
                <a:lnTo>
                  <a:pt x="0" y="228600"/>
                </a:lnTo>
              </a:path>
              <a:path w="685800" h="304800">
                <a:moveTo>
                  <a:pt x="304800" y="0"/>
                </a:moveTo>
                <a:lnTo>
                  <a:pt x="685800" y="3048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90266" y="2475738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304800" y="0"/>
                </a:moveTo>
                <a:lnTo>
                  <a:pt x="0" y="228600"/>
                </a:lnTo>
              </a:path>
              <a:path w="609600" h="304800">
                <a:moveTo>
                  <a:pt x="304800" y="0"/>
                </a:moveTo>
                <a:lnTo>
                  <a:pt x="609599" y="3048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0066" y="31615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0" y="304800"/>
                </a:lnTo>
              </a:path>
              <a:path w="304800" h="304800">
                <a:moveTo>
                  <a:pt x="152400" y="0"/>
                </a:moveTo>
                <a:lnTo>
                  <a:pt x="304800" y="3048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71265" y="3161538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152400" y="0"/>
                </a:moveTo>
                <a:lnTo>
                  <a:pt x="0" y="2286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9444" y="1349120"/>
            <a:ext cx="2643505" cy="317944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32080" algn="ctr">
              <a:lnSpc>
                <a:spcPct val="100000"/>
              </a:lnSpc>
              <a:spcBef>
                <a:spcPts val="142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R="1222375" algn="ctr">
              <a:lnSpc>
                <a:spcPct val="100000"/>
              </a:lnSpc>
              <a:spcBef>
                <a:spcPts val="132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  <a:p>
            <a:pPr marL="65405" algn="ctr">
              <a:lnSpc>
                <a:spcPct val="100000"/>
              </a:lnSpc>
              <a:spcBef>
                <a:spcPts val="2520"/>
              </a:spcBef>
              <a:tabLst>
                <a:tab pos="826769" algn="l"/>
                <a:tab pos="1436370" algn="l"/>
                <a:tab pos="2122805" algn="l"/>
              </a:tabLst>
            </a:pPr>
            <a:r>
              <a:rPr sz="2400" spc="-50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g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  <a:tabLst>
                <a:tab pos="469265" algn="l"/>
                <a:tab pos="2070100" algn="l"/>
              </a:tabLst>
            </a:pPr>
            <a:r>
              <a:rPr sz="2400" spc="-50" dirty="0">
                <a:latin typeface="Tahoma"/>
                <a:cs typeface="Tahoma"/>
              </a:rPr>
              <a:t>h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j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400">
              <a:latin typeface="Tahoma"/>
              <a:cs typeface="Tahoma"/>
            </a:endParaRPr>
          </a:p>
          <a:p>
            <a:pPr marL="107314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A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balanced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binary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tree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7278" y="3117341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43065" y="1866138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152400" y="0"/>
                </a:moveTo>
                <a:lnTo>
                  <a:pt x="0" y="2286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62065" y="24757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2286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57265" y="2932938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152400" y="0"/>
                </a:moveTo>
                <a:lnTo>
                  <a:pt x="0" y="2286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6865" y="24757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19265" y="3009138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152400" y="0"/>
                </a:moveTo>
                <a:lnTo>
                  <a:pt x="0" y="2286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14465" y="3542538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228600" y="0"/>
                </a:moveTo>
                <a:lnTo>
                  <a:pt x="0" y="228600"/>
                </a:lnTo>
              </a:path>
              <a:path w="457200" h="228600">
                <a:moveTo>
                  <a:pt x="228600" y="0"/>
                </a:moveTo>
                <a:lnTo>
                  <a:pt x="457200" y="2286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09665" y="4152138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228600" y="0"/>
                </a:moveTo>
                <a:lnTo>
                  <a:pt x="0" y="152400"/>
                </a:lnTo>
              </a:path>
              <a:path w="381000" h="152400">
                <a:moveTo>
                  <a:pt x="228600" y="0"/>
                </a:moveTo>
                <a:lnTo>
                  <a:pt x="381000" y="1524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69941" y="1349120"/>
            <a:ext cx="2972435" cy="38125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268605" algn="ctr">
              <a:lnSpc>
                <a:spcPct val="100000"/>
              </a:lnSpc>
              <a:spcBef>
                <a:spcPts val="142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R="324485" algn="ctr">
              <a:lnSpc>
                <a:spcPct val="100000"/>
              </a:lnSpc>
              <a:spcBef>
                <a:spcPts val="132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  <a:p>
            <a:pPr marR="408305" algn="ctr">
              <a:lnSpc>
                <a:spcPct val="100000"/>
              </a:lnSpc>
              <a:spcBef>
                <a:spcPts val="1320"/>
              </a:spcBef>
              <a:tabLst>
                <a:tab pos="685165" algn="l"/>
              </a:tabLst>
            </a:pPr>
            <a:r>
              <a:rPr sz="2400" spc="-50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  <a:p>
            <a:pPr marR="243204" algn="ctr">
              <a:lnSpc>
                <a:spcPct val="100000"/>
              </a:lnSpc>
              <a:spcBef>
                <a:spcPts val="1920"/>
              </a:spcBef>
            </a:pPr>
            <a:r>
              <a:rPr sz="2400" spc="-50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  <a:p>
            <a:pPr marR="246379" algn="ctr">
              <a:lnSpc>
                <a:spcPct val="100000"/>
              </a:lnSpc>
              <a:spcBef>
                <a:spcPts val="1320"/>
              </a:spcBef>
              <a:tabLst>
                <a:tab pos="532765" algn="l"/>
              </a:tabLst>
            </a:pPr>
            <a:r>
              <a:rPr sz="2400" spc="-50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h</a:t>
            </a:r>
            <a:endParaRPr sz="2400">
              <a:latin typeface="Tahoma"/>
              <a:cs typeface="Tahoma"/>
            </a:endParaRPr>
          </a:p>
          <a:p>
            <a:pPr marR="864235" algn="ctr">
              <a:lnSpc>
                <a:spcPct val="100000"/>
              </a:lnSpc>
              <a:spcBef>
                <a:spcPts val="1320"/>
              </a:spcBef>
              <a:tabLst>
                <a:tab pos="456565" algn="l"/>
              </a:tabLst>
            </a:pPr>
            <a:r>
              <a:rPr sz="2400" spc="-50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j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000" dirty="0">
                <a:latin typeface="Tahoma"/>
                <a:cs typeface="Tahoma"/>
              </a:rPr>
              <a:t>An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unbalanced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binary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tree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542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dirty="0"/>
              <a:t>Any</a:t>
            </a:r>
            <a:r>
              <a:rPr spc="-70" dirty="0"/>
              <a:t> </a:t>
            </a:r>
            <a:r>
              <a:rPr dirty="0"/>
              <a:t>Question</a:t>
            </a:r>
            <a:r>
              <a:rPr spc="-55" dirty="0"/>
              <a:t> </a:t>
            </a:r>
            <a:r>
              <a:rPr dirty="0"/>
              <a:t>So</a:t>
            </a:r>
            <a:r>
              <a:rPr spc="-65" dirty="0"/>
              <a:t> </a:t>
            </a:r>
            <a:r>
              <a:rPr spc="-20" dirty="0"/>
              <a:t>Far?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0" y="1412843"/>
            <a:ext cx="3641010" cy="46802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15-</a:t>
            </a:r>
            <a:r>
              <a:rPr spc="-25" dirty="0"/>
              <a:t>Tree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2680</TotalTime>
  <Words>1736</Words>
  <Application>Microsoft Office PowerPoint</Application>
  <PresentationFormat>On-screen Show (4:3)</PresentationFormat>
  <Paragraphs>309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Consolas</vt:lpstr>
      <vt:lpstr>Symbol</vt:lpstr>
      <vt:lpstr>Tahoma</vt:lpstr>
      <vt:lpstr>Times New Roman</vt:lpstr>
      <vt:lpstr>Wingdings</vt:lpstr>
      <vt:lpstr>Office Theme</vt:lpstr>
      <vt:lpstr>Data Structures</vt:lpstr>
      <vt:lpstr>Trees</vt:lpstr>
      <vt:lpstr>Unix / Windows file structure</vt:lpstr>
      <vt:lpstr>Trees</vt:lpstr>
      <vt:lpstr>Terminology: Parent Child Relations</vt:lpstr>
      <vt:lpstr>Terminology: Degree</vt:lpstr>
      <vt:lpstr>Terminology: Leaf And Internal Nodes</vt:lpstr>
      <vt:lpstr>Terminology: Path</vt:lpstr>
      <vt:lpstr>Terminology: Depth (or Level)</vt:lpstr>
      <vt:lpstr>Terminology: Height</vt:lpstr>
      <vt:lpstr>Terminology: Height Example</vt:lpstr>
      <vt:lpstr>Terminology: Ancestors And Descendants</vt:lpstr>
      <vt:lpstr>Terminology: Ancestors And Descendants Example</vt:lpstr>
      <vt:lpstr>Terminology: Sub-Tree</vt:lpstr>
      <vt:lpstr>Tree Properties</vt:lpstr>
      <vt:lpstr>Binary Tree</vt:lpstr>
      <vt:lpstr>Binary Tree</vt:lpstr>
      <vt:lpstr>Binary Tree: Example</vt:lpstr>
      <vt:lpstr>Binary Tree: Full Node</vt:lpstr>
      <vt:lpstr>Full Binary Tree</vt:lpstr>
      <vt:lpstr>Complete (Or Perfect) Binary Tree</vt:lpstr>
      <vt:lpstr>Complete Binary Tree: Example</vt:lpstr>
      <vt:lpstr>Complete Binary Tree: Recursive Definition</vt:lpstr>
      <vt:lpstr>Binary Tree: Definitions</vt:lpstr>
      <vt:lpstr>Binary Tree: Properties (1)</vt:lpstr>
      <vt:lpstr>Complete Binary Tree: Example</vt:lpstr>
      <vt:lpstr>Binary Tree: Properties (2)</vt:lpstr>
      <vt:lpstr>Binary Tree: Properties (3)</vt:lpstr>
      <vt:lpstr>Binary Tree: Properties (4)</vt:lpstr>
      <vt:lpstr>Binary Tree: Properties (4)</vt:lpstr>
      <vt:lpstr>Almost (or Nearly) Complete Binary Tree</vt:lpstr>
      <vt:lpstr>Almost (or Nearly) Complete Binary Tree</vt:lpstr>
      <vt:lpstr>Almost (or Nearly) Complete Binary Tree</vt:lpstr>
      <vt:lpstr>Full vs. Almost Complete Binary Tree</vt:lpstr>
      <vt:lpstr>Almost Complete Binary Tree: Properties</vt:lpstr>
      <vt:lpstr>(Completely) Balanced Binary Tree</vt:lpstr>
      <vt:lpstr>(Completely) Balanced Binary Tree: Example</vt:lpstr>
      <vt:lpstr>Any Question So Far?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user</cp:lastModifiedBy>
  <cp:revision>2</cp:revision>
  <dcterms:created xsi:type="dcterms:W3CDTF">2025-05-13T08:38:23Z</dcterms:created>
  <dcterms:modified xsi:type="dcterms:W3CDTF">2025-05-15T05:27:36Z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2025-05-13T00:00:00Z</vt:filetime>
  </property>
  <property fmtid="{D5CDD505-2E9C-101B-9397-08002B2CF9AE}" pid="5" name="Producer">
    <vt:lpwstr>Microsoft® PowerPoint® 2016</vt:lpwstr>
  </property>
</Properties>
</file>