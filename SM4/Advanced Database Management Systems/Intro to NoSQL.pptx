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383" r:id="rId3"/>
    <p:sldId id="384" r:id="rId4"/>
    <p:sldId id="385" r:id="rId5"/>
    <p:sldId id="386" r:id="rId6"/>
    <p:sldId id="387" r:id="rId7"/>
    <p:sldId id="388" r:id="rId8"/>
    <p:sldId id="389" r:id="rId9"/>
    <p:sldId id="390" r:id="rId10"/>
    <p:sldId id="391" r:id="rId11"/>
    <p:sldId id="392" r:id="rId12"/>
    <p:sldId id="393" r:id="rId13"/>
    <p:sldId id="394" r:id="rId14"/>
    <p:sldId id="395" r:id="rId15"/>
    <p:sldId id="396" r:id="rId16"/>
    <p:sldId id="397" r:id="rId17"/>
    <p:sldId id="398" r:id="rId18"/>
    <p:sldId id="399" r:id="rId19"/>
    <p:sldId id="400" r:id="rId20"/>
    <p:sldId id="401" r:id="rId21"/>
    <p:sldId id="402" r:id="rId22"/>
    <p:sldId id="403" r:id="rId23"/>
    <p:sldId id="404" r:id="rId24"/>
    <p:sldId id="405" r:id="rId25"/>
    <p:sldId id="406" r:id="rId26"/>
    <p:sldId id="407" r:id="rId27"/>
    <p:sldId id="408" r:id="rId28"/>
    <p:sldId id="409" r:id="rId29"/>
    <p:sldId id="410" r:id="rId30"/>
    <p:sldId id="411" r:id="rId31"/>
    <p:sldId id="424" r:id="rId32"/>
    <p:sldId id="412" r:id="rId33"/>
    <p:sldId id="413" r:id="rId34"/>
    <p:sldId id="414" r:id="rId35"/>
    <p:sldId id="415" r:id="rId36"/>
    <p:sldId id="416" r:id="rId37"/>
    <p:sldId id="417" r:id="rId38"/>
    <p:sldId id="418" r:id="rId39"/>
    <p:sldId id="419" r:id="rId40"/>
    <p:sldId id="420" r:id="rId41"/>
    <p:sldId id="421" r:id="rId42"/>
    <p:sldId id="422" r:id="rId43"/>
    <p:sldId id="423" r:id="rId44"/>
    <p:sldId id="340" r:id="rId45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588" autoAdjust="0"/>
    <p:restoredTop sz="94660"/>
  </p:normalViewPr>
  <p:slideViewPr>
    <p:cSldViewPr>
      <p:cViewPr varScale="1">
        <p:scale>
          <a:sx n="63" d="100"/>
          <a:sy n="63" d="100"/>
        </p:scale>
        <p:origin x="-171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31A2ED-E999-4549-AA8D-C09F13BC519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07309-63E9-4227-B8F2-B48509DEBA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86546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Advanced Database Management Systems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smtClean="0"/>
              <a:t>CSC-23</a:t>
            </a:r>
            <a:r>
              <a:rPr lang="en-US" dirty="0" smtClean="0"/>
              <a:t>4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14800"/>
            <a:ext cx="6400800" cy="1524000"/>
          </a:xfrm>
        </p:spPr>
        <p:txBody>
          <a:bodyPr/>
          <a:lstStyle/>
          <a:p>
            <a:r>
              <a:rPr lang="en-US" dirty="0" smtClean="0"/>
              <a:t>Introduction </a:t>
            </a:r>
            <a:r>
              <a:rPr lang="en-US" dirty="0" smtClean="0"/>
              <a:t>to NoSQL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3419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Systems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8" y="2971800"/>
            <a:ext cx="8901112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6865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NoSQL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211381"/>
            <a:ext cx="8915400" cy="67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8515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</a:t>
            </a:r>
            <a:r>
              <a:rPr lang="en-US" dirty="0" smtClean="0"/>
              <a:t>CID: Atomicity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Guarantee </a:t>
            </a:r>
            <a:r>
              <a:rPr lang="en-US" dirty="0"/>
              <a:t>that either all of the transaction succeeds or none of it </a:t>
            </a:r>
            <a:r>
              <a:rPr lang="en-US" dirty="0" smtClean="0"/>
              <a:t>does</a:t>
            </a:r>
          </a:p>
          <a:p>
            <a:r>
              <a:rPr lang="en-US" dirty="0" smtClean="0"/>
              <a:t>E.g., transferring from checking account into saving account</a:t>
            </a:r>
          </a:p>
          <a:p>
            <a:pPr lvl="1"/>
            <a:r>
              <a:rPr lang="en-US" dirty="0" smtClean="0"/>
              <a:t>Complete all steps as a single indivisible unit or complete none of them</a:t>
            </a:r>
          </a:p>
        </p:txBody>
      </p:sp>
    </p:spTree>
    <p:extLst>
      <p:ext uri="{BB962C8B-B14F-4D97-AF65-F5344CB8AC3E}">
        <p14:creationId xmlns:p14="http://schemas.microsoft.com/office/powerpoint/2010/main" xmlns="" val="1176432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r>
              <a:rPr lang="en-US" b="1" dirty="0" smtClean="0"/>
              <a:t>C</a:t>
            </a:r>
            <a:r>
              <a:rPr lang="en-US" dirty="0" smtClean="0"/>
              <a:t>ID: Consistency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Strict consistency required in relational databases</a:t>
            </a:r>
          </a:p>
          <a:p>
            <a:r>
              <a:rPr lang="en-US" dirty="0" smtClean="0"/>
              <a:t>A transaction does not leave the database in a state that violates the integrity of the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1816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="1" dirty="0"/>
              <a:t>C</a:t>
            </a:r>
            <a:r>
              <a:rPr lang="en-US" dirty="0"/>
              <a:t>ID: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Transferring $100 from your savings account to your checking account must end </a:t>
            </a:r>
            <a:r>
              <a:rPr lang="en-US" dirty="0" smtClean="0"/>
              <a:t>with either </a:t>
            </a:r>
          </a:p>
          <a:p>
            <a:pPr lvl="1"/>
            <a:r>
              <a:rPr lang="en-US" dirty="0" smtClean="0"/>
              <a:t>(</a:t>
            </a:r>
            <a:r>
              <a:rPr lang="en-US" dirty="0"/>
              <a:t>a) $100 more in your checking account and $100 less in your savings account or</a:t>
            </a:r>
          </a:p>
          <a:p>
            <a:pPr lvl="1"/>
            <a:r>
              <a:rPr lang="en-US" dirty="0"/>
              <a:t>(b) both accounts have the same amount as they had at the start of the </a:t>
            </a:r>
            <a:r>
              <a:rPr lang="en-US" dirty="0" smtClean="0"/>
              <a:t>transaction</a:t>
            </a:r>
            <a:endParaRPr lang="en-US" dirty="0"/>
          </a:p>
          <a:p>
            <a:r>
              <a:rPr lang="en-US" dirty="0"/>
              <a:t>Consistency ensures no other possible state could result after a transfer </a:t>
            </a:r>
            <a:r>
              <a:rPr lang="en-US" dirty="0" smtClean="0"/>
              <a:t>operation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959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</a:t>
            </a:r>
            <a:r>
              <a:rPr lang="en-US" b="1" dirty="0" smtClean="0"/>
              <a:t>I</a:t>
            </a:r>
            <a:r>
              <a:rPr lang="en-US" dirty="0" smtClean="0"/>
              <a:t>D: Isolation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Guarantees that all transactions will occur in </a:t>
            </a:r>
            <a:r>
              <a:rPr lang="en-US" dirty="0" smtClean="0"/>
              <a:t>isolation</a:t>
            </a:r>
          </a:p>
          <a:p>
            <a:r>
              <a:rPr lang="en-US" dirty="0" smtClean="0"/>
              <a:t>No </a:t>
            </a:r>
            <a:r>
              <a:rPr lang="en-US" dirty="0"/>
              <a:t>transaction will be affected by any other </a:t>
            </a:r>
            <a:r>
              <a:rPr lang="en-US" dirty="0" smtClean="0"/>
              <a:t>transaction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6457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ACI</a:t>
            </a:r>
            <a:r>
              <a:rPr lang="en-US" b="1" dirty="0" smtClean="0"/>
              <a:t>D</a:t>
            </a:r>
            <a:r>
              <a:rPr lang="en-US" dirty="0" smtClean="0"/>
              <a:t>: Durability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means that once a transaction or operation is completed, it </a:t>
            </a:r>
            <a:r>
              <a:rPr lang="en-US" dirty="0" smtClean="0"/>
              <a:t>will remain </a:t>
            </a:r>
            <a:r>
              <a:rPr lang="en-US" dirty="0"/>
              <a:t>even in the event of a power </a:t>
            </a:r>
            <a:r>
              <a:rPr lang="en-US" dirty="0" smtClean="0"/>
              <a:t>loss</a:t>
            </a:r>
          </a:p>
          <a:p>
            <a:r>
              <a:rPr lang="en-US" dirty="0" smtClean="0"/>
              <a:t>In </a:t>
            </a:r>
            <a:r>
              <a:rPr lang="en-US" dirty="0"/>
              <a:t>effect, this means that data is stored on disk</a:t>
            </a:r>
            <a:r>
              <a:rPr lang="en-US" dirty="0" smtClean="0"/>
              <a:t>, flash</a:t>
            </a:r>
            <a:r>
              <a:rPr lang="en-US" dirty="0"/>
              <a:t>, or other persistent </a:t>
            </a:r>
            <a:r>
              <a:rPr lang="en-US" dirty="0" smtClean="0"/>
              <a:t>media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1633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6894" y="3044825"/>
            <a:ext cx="7772400" cy="1362075"/>
          </a:xfrm>
        </p:spPr>
        <p:txBody>
          <a:bodyPr>
            <a:noAutofit/>
          </a:bodyPr>
          <a:lstStyle/>
          <a:p>
            <a:r>
              <a:rPr lang="en-US" sz="2400" b="0" dirty="0"/>
              <a:t>Relational database management systems are designed to support ACID transactions</a:t>
            </a:r>
            <a:r>
              <a:rPr lang="en-US" sz="2400" b="0" dirty="0" smtClean="0"/>
              <a:t>. NoSQL </a:t>
            </a:r>
            <a:r>
              <a:rPr lang="en-US" sz="2400" b="0" dirty="0"/>
              <a:t>databases typically support BASE transactions, although some NoSQL </a:t>
            </a:r>
            <a:r>
              <a:rPr lang="en-US" sz="2400" b="0" dirty="0" smtClean="0"/>
              <a:t>databases also </a:t>
            </a:r>
            <a:r>
              <a:rPr lang="en-US" sz="2400" b="0" dirty="0"/>
              <a:t>provide some level of support for ACID transactions.</a:t>
            </a:r>
            <a:endParaRPr lang="en-US" sz="2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5339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BA</a:t>
            </a:r>
            <a:r>
              <a:rPr lang="en-US" dirty="0" smtClean="0"/>
              <a:t>SE: Basically Available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There </a:t>
            </a:r>
            <a:r>
              <a:rPr lang="en-US" dirty="0"/>
              <a:t>can be a partial failure in some </a:t>
            </a:r>
            <a:r>
              <a:rPr lang="en-US" dirty="0" smtClean="0"/>
              <a:t>parts of </a:t>
            </a:r>
            <a:r>
              <a:rPr lang="en-US" dirty="0"/>
              <a:t>the distributed system and the rest of the </a:t>
            </a:r>
            <a:r>
              <a:rPr lang="en-US" dirty="0" smtClean="0"/>
              <a:t>system </a:t>
            </a:r>
            <a:r>
              <a:rPr lang="en-US" dirty="0"/>
              <a:t>continues to </a:t>
            </a:r>
            <a:r>
              <a:rPr lang="en-US" dirty="0" smtClean="0"/>
              <a:t>function</a:t>
            </a:r>
          </a:p>
          <a:p>
            <a:r>
              <a:rPr lang="en-US" dirty="0" smtClean="0"/>
              <a:t>For </a:t>
            </a:r>
            <a:r>
              <a:rPr lang="en-US" dirty="0"/>
              <a:t>example, if </a:t>
            </a:r>
            <a:r>
              <a:rPr lang="en-US" dirty="0" smtClean="0"/>
              <a:t>a NoSQL </a:t>
            </a:r>
            <a:r>
              <a:rPr lang="en-US" dirty="0"/>
              <a:t>database is running on 10 servers without replicating data and one of the </a:t>
            </a:r>
            <a:r>
              <a:rPr lang="en-US" dirty="0" smtClean="0"/>
              <a:t>servers fails</a:t>
            </a:r>
            <a:r>
              <a:rPr lang="en-US" dirty="0"/>
              <a:t>, then 10% of the users’ queries would fail, but 90% would </a:t>
            </a:r>
            <a:r>
              <a:rPr lang="en-US" dirty="0" smtClean="0"/>
              <a:t>succeed</a:t>
            </a:r>
          </a:p>
          <a:p>
            <a:r>
              <a:rPr lang="en-US" dirty="0" smtClean="0"/>
              <a:t>NoSQL databases often </a:t>
            </a:r>
            <a:r>
              <a:rPr lang="en-US" dirty="0"/>
              <a:t>keep multiple copies of data on different servers. This allows the database to </a:t>
            </a:r>
            <a:r>
              <a:rPr lang="en-US" dirty="0" smtClean="0"/>
              <a:t>respond to </a:t>
            </a:r>
            <a:r>
              <a:rPr lang="en-US" dirty="0"/>
              <a:t>queries even if one of the servers has failed.</a:t>
            </a:r>
          </a:p>
        </p:txBody>
      </p:sp>
    </p:spTree>
    <p:extLst>
      <p:ext uri="{BB962C8B-B14F-4D97-AF65-F5344CB8AC3E}">
        <p14:creationId xmlns:p14="http://schemas.microsoft.com/office/powerpoint/2010/main" xmlns="" val="286306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</a:t>
            </a:r>
            <a:r>
              <a:rPr lang="en-US" b="1" dirty="0" smtClean="0"/>
              <a:t>S</a:t>
            </a:r>
            <a:r>
              <a:rPr lang="en-US" dirty="0" smtClean="0"/>
              <a:t>E: Soft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okay for data to be eventually be over-written by more recent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012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</a:t>
            </a:r>
            <a:r>
              <a:rPr lang="en-US" b="1" dirty="0" smtClean="0"/>
              <a:t>E</a:t>
            </a:r>
            <a:r>
              <a:rPr lang="en-US" dirty="0" smtClean="0"/>
              <a:t>: Eventually Consistent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may be times when the database is in an inconsistent state</a:t>
            </a:r>
          </a:p>
          <a:p>
            <a:r>
              <a:rPr lang="en-US" dirty="0" smtClean="0"/>
              <a:t>E.g., multiple copies exist but there can be situations in which they are not consistent for short periods of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7837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Four Types of NoSQL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Key-value pair databases</a:t>
            </a:r>
          </a:p>
          <a:p>
            <a:r>
              <a:rPr lang="en-US" dirty="0" smtClean="0"/>
              <a:t>Document databases</a:t>
            </a:r>
          </a:p>
          <a:p>
            <a:r>
              <a:rPr lang="en-US" dirty="0" smtClean="0"/>
              <a:t>Column family store databases</a:t>
            </a:r>
          </a:p>
          <a:p>
            <a:r>
              <a:rPr lang="en-US" dirty="0" smtClean="0"/>
              <a:t>Graph databases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4411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 distributed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It’s not necessary for </a:t>
            </a:r>
            <a:r>
              <a:rPr lang="en-US" dirty="0" err="1" smtClean="0"/>
              <a:t>noSQL</a:t>
            </a:r>
            <a:r>
              <a:rPr lang="en-US" dirty="0" smtClean="0"/>
              <a:t> systems to be distributed</a:t>
            </a:r>
          </a:p>
          <a:p>
            <a:r>
              <a:rPr lang="en-US" dirty="0" smtClean="0"/>
              <a:t>However, some of the most appealing features do require a distributed deployment</a:t>
            </a:r>
          </a:p>
          <a:p>
            <a:r>
              <a:rPr lang="en-US" dirty="0" smtClean="0"/>
              <a:t>When availability and scalability are top concerns distributed deployments make sense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8571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With distributed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Decisions and trade-offs required not found in single-server implementations</a:t>
            </a:r>
          </a:p>
          <a:p>
            <a:r>
              <a:rPr lang="en-US" dirty="0" smtClean="0"/>
              <a:t>Balance need for scalability, availability, consistency, partition protection, and durability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0296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Key-Value Pair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1371600"/>
            <a:ext cx="8102674" cy="43291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5638800"/>
            <a:ext cx="861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of these values are associated with a customer, so you can generate a </a:t>
            </a:r>
            <a:r>
              <a:rPr lang="en-US" dirty="0" smtClean="0"/>
              <a:t>sequential number </a:t>
            </a:r>
            <a:r>
              <a:rPr lang="en-US" dirty="0"/>
              <a:t>for each customer. For each item you are storing, you create a new key </a:t>
            </a:r>
            <a:r>
              <a:rPr lang="en-US" dirty="0" smtClean="0"/>
              <a:t>by appending </a:t>
            </a:r>
            <a:r>
              <a:rPr lang="en-US" dirty="0"/>
              <a:t>the name of the item you are storing to the customer number.</a:t>
            </a:r>
          </a:p>
        </p:txBody>
      </p:sp>
    </p:spTree>
    <p:extLst>
      <p:ext uri="{BB962C8B-B14F-4D97-AF65-F5344CB8AC3E}">
        <p14:creationId xmlns:p14="http://schemas.microsoft.com/office/powerpoint/2010/main" xmlns="" val="109330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Pair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Approach works for relatively simple databases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646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Key-Value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 database with customer and warehouse information for example, use pre-fixes to avoid clashes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512" y="3865639"/>
            <a:ext cx="1781175" cy="1390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276600"/>
            <a:ext cx="25146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4183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Different Namespaces using Buckets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0674"/>
            <a:ext cx="9070978" cy="453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4373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Values can range from strings and numbers to images and binary objects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8833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Values vs. Relational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Key-values based on minimal principles for storing and retrieving data</a:t>
            </a:r>
          </a:p>
          <a:p>
            <a:r>
              <a:rPr lang="en-US" dirty="0" smtClean="0"/>
              <a:t>No tables, no columns, no keys, no joins …</a:t>
            </a:r>
          </a:p>
          <a:p>
            <a:r>
              <a:rPr lang="en-US" dirty="0" smtClean="0"/>
              <a:t>No powerful query mechanism like 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7352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Values vs. Relational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67" y="1355724"/>
            <a:ext cx="8576065" cy="501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9947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1"/>
            <a:ext cx="9172575" cy="56388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394561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Uses a key value approach but stores documents as values</a:t>
            </a:r>
          </a:p>
          <a:p>
            <a:r>
              <a:rPr lang="en-US" dirty="0" smtClean="0"/>
              <a:t>Documents are semi-structured entities in standard formats such as </a:t>
            </a:r>
          </a:p>
          <a:p>
            <a:pPr lvl="1"/>
            <a:r>
              <a:rPr lang="en-US" dirty="0" smtClean="0"/>
              <a:t>JSON (JavaScript Extended Object Notation)</a:t>
            </a:r>
          </a:p>
          <a:p>
            <a:pPr lvl="1"/>
            <a:r>
              <a:rPr lang="en-US" dirty="0" smtClean="0"/>
              <a:t>XML (Extensible Markup Language)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1384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Instead of storing each attribute with a separate key, document databases hold multiple attributes in a single document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7335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 in JSON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62200"/>
            <a:ext cx="6064512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1757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Fixed schema is not required before you can begin adding data to the database</a:t>
            </a:r>
          </a:p>
          <a:p>
            <a:r>
              <a:rPr lang="en-US" dirty="0" smtClean="0"/>
              <a:t>Simply adding a document to the database creates the underlying data structures needed to support the document</a:t>
            </a:r>
          </a:p>
          <a:p>
            <a:r>
              <a:rPr lang="en-US" dirty="0" smtClean="0"/>
              <a:t>Therefore, there is more flexibility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42686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60934"/>
            <a:ext cx="5411824" cy="24394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729" y="3300284"/>
            <a:ext cx="4937389" cy="27259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6126163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Two valid entries in the same document database.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0659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2313" y="3581400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Software applications will however be responsible for handling these discrepancies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7611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1752600"/>
            <a:ext cx="8229600" cy="4525963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90" y="2971800"/>
            <a:ext cx="7360819" cy="74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4120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XML Format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66800" y="1676400"/>
            <a:ext cx="7241311" cy="4876800"/>
          </a:xfrm>
        </p:spPr>
      </p:pic>
    </p:spTree>
    <p:extLst>
      <p:ext uri="{BB962C8B-B14F-4D97-AF65-F5344CB8AC3E}">
        <p14:creationId xmlns:p14="http://schemas.microsoft.com/office/powerpoint/2010/main" xmlns="" val="8003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 vs. Relational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Document doesn’t require pre-defined schema</a:t>
            </a:r>
          </a:p>
          <a:p>
            <a:r>
              <a:rPr lang="en-US" dirty="0" smtClean="0"/>
              <a:t>Documents have embedding</a:t>
            </a:r>
          </a:p>
          <a:p>
            <a:r>
              <a:rPr lang="en-US" dirty="0" smtClean="0"/>
              <a:t>Do support querying for multiple attributes like SQL</a:t>
            </a:r>
          </a:p>
        </p:txBody>
      </p:sp>
    </p:spTree>
    <p:extLst>
      <p:ext uri="{BB962C8B-B14F-4D97-AF65-F5344CB8AC3E}">
        <p14:creationId xmlns:p14="http://schemas.microsoft.com/office/powerpoint/2010/main" xmlns="" val="952188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54391"/>
            <a:ext cx="6019800" cy="592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427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7" y="838200"/>
            <a:ext cx="9114503" cy="508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7036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Column Family Databases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87" y="2057400"/>
            <a:ext cx="75914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0406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Column Family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Superficially similar to RDBMS</a:t>
            </a:r>
          </a:p>
          <a:p>
            <a:r>
              <a:rPr lang="en-US" dirty="0" smtClean="0"/>
              <a:t>Query languages look similar except there are no joins</a:t>
            </a:r>
          </a:p>
          <a:p>
            <a:r>
              <a:rPr lang="en-US" dirty="0" smtClean="0"/>
              <a:t>Unlike RDBMS, sets of columns in a family can vary</a:t>
            </a:r>
          </a:p>
          <a:p>
            <a:r>
              <a:rPr lang="en-US" dirty="0" smtClean="0"/>
              <a:t>Column DBs are </a:t>
            </a:r>
            <a:r>
              <a:rPr lang="en-US" dirty="0" err="1" smtClean="0"/>
              <a:t>denormalized</a:t>
            </a:r>
            <a:r>
              <a:rPr lang="en-US" dirty="0" smtClean="0"/>
              <a:t> or structures so that all information is available in one single row</a:t>
            </a:r>
          </a:p>
          <a:p>
            <a:r>
              <a:rPr lang="en-US" dirty="0" smtClean="0"/>
              <a:t>Primary benefit is that some queries can become extremely fast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2658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14400"/>
            <a:ext cx="9144000" cy="504041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xmlns="" val="38707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 Databases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7" y="1679575"/>
            <a:ext cx="59531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0661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08" y="1143000"/>
            <a:ext cx="8090384" cy="496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4998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Graph Databases vs. Relational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Graph databases are designed to model adjacency between objects</a:t>
            </a:r>
          </a:p>
          <a:p>
            <a:r>
              <a:rPr lang="en-US" dirty="0"/>
              <a:t>Every node in </a:t>
            </a:r>
            <a:r>
              <a:rPr lang="en-US" dirty="0" smtClean="0"/>
              <a:t>the database </a:t>
            </a:r>
            <a:r>
              <a:rPr lang="en-US" dirty="0"/>
              <a:t>contains pointers to adjacent objects in the </a:t>
            </a:r>
            <a:r>
              <a:rPr lang="en-US" dirty="0" smtClean="0"/>
              <a:t>database</a:t>
            </a:r>
          </a:p>
          <a:p>
            <a:r>
              <a:rPr lang="en-US" dirty="0" smtClean="0"/>
              <a:t>This </a:t>
            </a:r>
            <a:r>
              <a:rPr lang="en-US" dirty="0"/>
              <a:t>allows for </a:t>
            </a:r>
            <a:r>
              <a:rPr lang="en-US" dirty="0" smtClean="0"/>
              <a:t>fast operations </a:t>
            </a:r>
            <a:r>
              <a:rPr lang="en-US" dirty="0"/>
              <a:t>that require following paths through a </a:t>
            </a:r>
            <a:r>
              <a:rPr lang="en-US" dirty="0" smtClean="0"/>
              <a:t>graph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9287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Find fastest route from Montreal to Mexico City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7" y="1679575"/>
            <a:ext cx="59531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6828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Now do the same with this RDBMS representation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19" y="1593850"/>
            <a:ext cx="7732361" cy="453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2534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" y="1066799"/>
            <a:ext cx="9139084" cy="487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15284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smtClean="0"/>
              <a:t>Lecture adapted from chapter 3 of NoSQL for Mere Mortals.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xmlns="" val="139733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816</Words>
  <Application>Microsoft Office PowerPoint</Application>
  <PresentationFormat>On-screen Show (4:3)</PresentationFormat>
  <Paragraphs>93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Advanced Database Management Systems (CSC-234)</vt:lpstr>
      <vt:lpstr>SQL Systems</vt:lpstr>
      <vt:lpstr>NoSQL</vt:lpstr>
      <vt:lpstr>ACID: Atomicity</vt:lpstr>
      <vt:lpstr>ACID: Consistency</vt:lpstr>
      <vt:lpstr>ACID: Consistency</vt:lpstr>
      <vt:lpstr>ACID: Isolation</vt:lpstr>
      <vt:lpstr>ACID: Durability</vt:lpstr>
      <vt:lpstr>Relational database management systems are designed to support ACID transactions. NoSQL databases typically support BASE transactions, although some NoSQL databases also provide some level of support for ACID transactions.</vt:lpstr>
      <vt:lpstr>BASE: Basically Available</vt:lpstr>
      <vt:lpstr>BASE: Soft State</vt:lpstr>
      <vt:lpstr>BASE: Eventually Consistent</vt:lpstr>
      <vt:lpstr>Four Types of NoSQL Systems</vt:lpstr>
      <vt:lpstr>On distributed systems</vt:lpstr>
      <vt:lpstr>With distributed systems</vt:lpstr>
      <vt:lpstr>Key-Value Pair Databases</vt:lpstr>
      <vt:lpstr>Key-Value Pair Databases</vt:lpstr>
      <vt:lpstr>Key-Value Databases</vt:lpstr>
      <vt:lpstr>Different Namespaces using Buckets</vt:lpstr>
      <vt:lpstr>Values</vt:lpstr>
      <vt:lpstr>Key Values vs. Relational</vt:lpstr>
      <vt:lpstr>Key Values vs. Relational</vt:lpstr>
      <vt:lpstr>Slide 23</vt:lpstr>
      <vt:lpstr>Document Databases</vt:lpstr>
      <vt:lpstr>Documents</vt:lpstr>
      <vt:lpstr>Document in JSON Format</vt:lpstr>
      <vt:lpstr>Document Databases</vt:lpstr>
      <vt:lpstr>Slide 28</vt:lpstr>
      <vt:lpstr>Software applications will however be responsible for handling these discrepancies</vt:lpstr>
      <vt:lpstr>Querying</vt:lpstr>
      <vt:lpstr>XML Format</vt:lpstr>
      <vt:lpstr>Document vs. Relational</vt:lpstr>
      <vt:lpstr>Slide 33</vt:lpstr>
      <vt:lpstr>Slide 34</vt:lpstr>
      <vt:lpstr>Column Family Databases</vt:lpstr>
      <vt:lpstr>Column Family Databases</vt:lpstr>
      <vt:lpstr>Slide 37</vt:lpstr>
      <vt:lpstr>Graph Databases</vt:lpstr>
      <vt:lpstr>Slide 39</vt:lpstr>
      <vt:lpstr>Graph Databases vs. Relational</vt:lpstr>
      <vt:lpstr>Find fastest route from Montreal to Mexico City</vt:lpstr>
      <vt:lpstr>Now do the same with this RDBMS representation</vt:lpstr>
      <vt:lpstr>Slide 43</vt:lpstr>
      <vt:lpstr>Slide 44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Database Management Systems (CSC-302)</dc:title>
  <dc:creator>huda</dc:creator>
  <cp:lastModifiedBy>Pc</cp:lastModifiedBy>
  <cp:revision>242</cp:revision>
  <dcterms:created xsi:type="dcterms:W3CDTF">2006-08-16T00:00:00Z</dcterms:created>
  <dcterms:modified xsi:type="dcterms:W3CDTF">2025-04-21T05:32:04Z</dcterms:modified>
</cp:coreProperties>
</file>