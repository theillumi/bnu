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9" r:id="rId24"/>
    <p:sldId id="338" r:id="rId25"/>
    <p:sldId id="340" r:id="rId26"/>
    <p:sldId id="341" r:id="rId27"/>
    <p:sldId id="342" r:id="rId28"/>
    <p:sldId id="344" r:id="rId29"/>
    <p:sldId id="343" r:id="rId30"/>
    <p:sldId id="345" r:id="rId31"/>
    <p:sldId id="346" r:id="rId32"/>
    <p:sldId id="347" r:id="rId33"/>
    <p:sldId id="348" r:id="rId34"/>
    <p:sldId id="349" r:id="rId35"/>
    <p:sldId id="350" r:id="rId36"/>
    <p:sldId id="351" r:id="rId37"/>
    <p:sldId id="352" r:id="rId38"/>
    <p:sldId id="353" r:id="rId39"/>
    <p:sldId id="354" r:id="rId40"/>
    <p:sldId id="355" r:id="rId41"/>
    <p:sldId id="356" r:id="rId42"/>
    <p:sldId id="357" r:id="rId43"/>
    <p:sldId id="358" r:id="rId44"/>
    <p:sldId id="359" r:id="rId45"/>
    <p:sldId id="360" r:id="rId46"/>
    <p:sldId id="361" r:id="rId47"/>
    <p:sldId id="362" r:id="rId48"/>
    <p:sldId id="312" r:id="rId49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4" autoAdjust="0"/>
    <p:restoredTop sz="94662" autoAdjust="0"/>
  </p:normalViewPr>
  <p:slideViewPr>
    <p:cSldViewPr>
      <p:cViewPr varScale="1">
        <p:scale>
          <a:sx n="65" d="100"/>
          <a:sy n="65" d="100"/>
        </p:scale>
        <p:origin x="-1446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8EBFE-7C47-4713-AD73-3A58AC56A3DD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195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F5678-42B6-4826-9AE4-CC5FDCB7105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1786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://nicholasjohnson.com/mongo/course/workbook/" TargetMode="External"/><Relationship Id="rId2" Type="http://schemas.openxmlformats.org/officeDocument/2006/relationships/hyperlink" Target="https://docs.mongodb.com/manual/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Advanced Database Management Systems</a:t>
            </a:r>
            <a:br>
              <a:rPr lang="en-US" dirty="0" smtClean="0"/>
            </a:br>
            <a:r>
              <a:rPr lang="en-US" dirty="0" smtClean="0"/>
              <a:t>(CSC-234)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Introduction </a:t>
            </a:r>
            <a:r>
              <a:rPr lang="en-US" dirty="0" smtClean="0"/>
              <a:t>to MongoDB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34194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2819400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sz="3100" dirty="0" err="1"/>
              <a:t>MongoDB</a:t>
            </a:r>
            <a:r>
              <a:rPr lang="en-US" sz="3100" dirty="0"/>
              <a:t> is an open-source document database that provides high performance, high availability, and automatic scaling</a:t>
            </a:r>
            <a:r>
              <a:rPr lang="en-US" dirty="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7128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291" y="1295400"/>
            <a:ext cx="9021418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802591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Advantages of using documents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Documents (i.e. objects) correspond to native data types in many programming </a:t>
            </a:r>
            <a:r>
              <a:rPr lang="en-US" dirty="0" smtClean="0"/>
              <a:t>languages</a:t>
            </a:r>
            <a:endParaRPr lang="en-US" dirty="0"/>
          </a:p>
          <a:p>
            <a:r>
              <a:rPr lang="en-US" dirty="0"/>
              <a:t>Embedded documents and arrays reduce need for expensive </a:t>
            </a:r>
            <a:r>
              <a:rPr lang="en-US" dirty="0" smtClean="0"/>
              <a:t>joins</a:t>
            </a:r>
            <a:endParaRPr lang="en-US" dirty="0"/>
          </a:p>
          <a:p>
            <a:r>
              <a:rPr lang="en-US" dirty="0"/>
              <a:t>Dynamic schema supports fluent </a:t>
            </a:r>
            <a:r>
              <a:rPr lang="en-US" dirty="0" smtClean="0"/>
              <a:t>polymorphism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67181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6938"/>
          <a:stretch/>
        </p:blipFill>
        <p:spPr>
          <a:xfrm>
            <a:off x="886069" y="1981200"/>
            <a:ext cx="7365034" cy="375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16988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features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58555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Key Features: High Performance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MongoDB</a:t>
            </a:r>
            <a:r>
              <a:rPr lang="en-US" dirty="0"/>
              <a:t> provides high performance data persistence. In particular,</a:t>
            </a:r>
          </a:p>
          <a:p>
            <a:pPr lvl="1"/>
            <a:r>
              <a:rPr lang="en-US" dirty="0"/>
              <a:t>Support for embedded data models reduces I/O activity on database system.</a:t>
            </a:r>
          </a:p>
          <a:p>
            <a:pPr lvl="1"/>
            <a:r>
              <a:rPr lang="en-US" dirty="0"/>
              <a:t>Indexes support faster queries and can include keys from embedded documents and arrays.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77284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Key Features: Rich Query Language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MongoDB</a:t>
            </a:r>
            <a:r>
              <a:rPr lang="en-US" dirty="0"/>
              <a:t> supports a rich query language to support read and write operations (CRUD) as well as:</a:t>
            </a:r>
          </a:p>
          <a:p>
            <a:pPr lvl="1"/>
            <a:r>
              <a:rPr lang="en-US" dirty="0"/>
              <a:t>Data Aggregation</a:t>
            </a:r>
          </a:p>
          <a:p>
            <a:pPr lvl="1"/>
            <a:r>
              <a:rPr lang="en-US" dirty="0"/>
              <a:t>Text Search and Geospatial </a:t>
            </a:r>
            <a:r>
              <a:rPr lang="en-US" dirty="0" smtClean="0"/>
              <a:t>Queries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338710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Aggregation Pipeline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81063" y="1447800"/>
            <a:ext cx="7381875" cy="521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216573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Key Features: High Availability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MongoDB’s</a:t>
            </a:r>
            <a:r>
              <a:rPr lang="en-US" dirty="0"/>
              <a:t> replication facility, called replica set, provides:</a:t>
            </a:r>
          </a:p>
          <a:p>
            <a:pPr lvl="1"/>
            <a:r>
              <a:rPr lang="en-US" i="1" dirty="0"/>
              <a:t>automatic</a:t>
            </a:r>
            <a:r>
              <a:rPr lang="en-US" dirty="0"/>
              <a:t> failover and</a:t>
            </a:r>
          </a:p>
          <a:p>
            <a:pPr lvl="1"/>
            <a:r>
              <a:rPr lang="en-US" dirty="0"/>
              <a:t>data </a:t>
            </a:r>
            <a:r>
              <a:rPr lang="en-US" dirty="0" smtClean="0"/>
              <a:t>redundancy</a:t>
            </a:r>
            <a:endParaRPr lang="en-US" dirty="0"/>
          </a:p>
          <a:p>
            <a:r>
              <a:rPr lang="en-US" dirty="0"/>
              <a:t>A replica set is a group of </a:t>
            </a:r>
            <a:r>
              <a:rPr lang="en-US" dirty="0" err="1"/>
              <a:t>MongoDB</a:t>
            </a:r>
            <a:r>
              <a:rPr lang="en-US" dirty="0"/>
              <a:t> servers that maintain the same data set, providing redundancy and increasing data availability.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7158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Key Features: Horizontal Scalability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MongoDB</a:t>
            </a:r>
            <a:r>
              <a:rPr lang="en-US" dirty="0"/>
              <a:t> provides horizontal scalability as part of its </a:t>
            </a:r>
            <a:r>
              <a:rPr lang="en-US" i="1" dirty="0"/>
              <a:t>core</a:t>
            </a:r>
            <a:r>
              <a:rPr lang="en-US" dirty="0"/>
              <a:t> functionality:</a:t>
            </a:r>
          </a:p>
          <a:p>
            <a:pPr lvl="1"/>
            <a:r>
              <a:rPr lang="en-US" b="1" dirty="0"/>
              <a:t>Sharding</a:t>
            </a:r>
            <a:r>
              <a:rPr lang="en-US" dirty="0"/>
              <a:t> distributes data across a cluster of </a:t>
            </a:r>
            <a:r>
              <a:rPr lang="en-US" dirty="0" smtClean="0"/>
              <a:t>machines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93979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905000" y="457200"/>
            <a:ext cx="5246422" cy="6019800"/>
          </a:xfrm>
        </p:spPr>
      </p:pic>
    </p:spTree>
    <p:extLst>
      <p:ext uri="{BB962C8B-B14F-4D97-AF65-F5344CB8AC3E}">
        <p14:creationId xmlns:p14="http://schemas.microsoft.com/office/powerpoint/2010/main" xmlns="" val="53688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Databases &amp; collections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64179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095586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661419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Databases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2600"/>
            <a:ext cx="9144000" cy="401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05143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Collections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4" y="1393057"/>
            <a:ext cx="9085006" cy="4595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0363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Documents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33538"/>
            <a:ext cx="9144000" cy="3248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6380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0512"/>
            <a:ext cx="9144000" cy="231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56796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4369"/>
            <a:ext cx="9234487" cy="544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98590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1" y="1981199"/>
            <a:ext cx="9094789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1573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0" y="2133600"/>
            <a:ext cx="9139238" cy="268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6172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5" y="1066800"/>
            <a:ext cx="9179272" cy="48006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2438400" y="4724400"/>
            <a:ext cx="1143000" cy="1401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6399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Finding by partial match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3247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33400"/>
            <a:ext cx="9037004" cy="568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40216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" y="914400"/>
            <a:ext cx="9131244" cy="526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76941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Atlas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Using MongoDB on the cloud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852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Atlas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Sign up for free Atlas account</a:t>
            </a:r>
          </a:p>
          <a:p>
            <a:r>
              <a:rPr lang="en-US" dirty="0" smtClean="0"/>
              <a:t>Steps available when you sign up</a:t>
            </a:r>
          </a:p>
          <a:p>
            <a:r>
              <a:rPr lang="en-US" dirty="0" smtClean="0"/>
              <a:t>Complete exercise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8873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3" y="866802"/>
            <a:ext cx="9240012" cy="492439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2286000" y="4953000"/>
            <a:ext cx="9906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530710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9215731" cy="491145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2209800" y="3581400"/>
            <a:ext cx="1295400" cy="1828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738035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 &amp; console installation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4072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installation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85442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6800"/>
            <a:ext cx="9144000" cy="487323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9" name="Straight Arrow Connector 8"/>
          <p:cNvCxnSpPr/>
          <p:nvPr/>
        </p:nvCxnSpPr>
        <p:spPr>
          <a:xfrm flipV="1">
            <a:off x="1219200" y="2057400"/>
            <a:ext cx="228600" cy="137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808776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92" y="1186507"/>
            <a:ext cx="9145292" cy="4873918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4114800" y="1676400"/>
            <a:ext cx="609600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052512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" y="990600"/>
            <a:ext cx="9056176" cy="4826424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6096000" y="4267200"/>
            <a:ext cx="45720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4876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1469"/>
            <a:ext cx="9144000" cy="4873229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7086600" y="4267200"/>
            <a:ext cx="1219200" cy="160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838700" y="199714"/>
            <a:ext cx="449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Select complete installation and Compass will be installed automatically.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1305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WAIT FOR INSTALLATION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2367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data folder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is the default path expected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9600" y="2809873"/>
            <a:ext cx="7949785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17516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09662" y="1524000"/>
            <a:ext cx="6924675" cy="4019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07549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mongod.exe (to run server instance)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28600" y="1600200"/>
            <a:ext cx="886474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213769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mongo.exe (to connect to server)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28832" y="1453978"/>
            <a:ext cx="9144000" cy="4806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1153122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Prompt shows up once connected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1755621"/>
            <a:ext cx="9144000" cy="4806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xmlns="" val="3601498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Setting environment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866900"/>
            <a:ext cx="3924300" cy="4457700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6381750" y="5543550"/>
            <a:ext cx="1676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531376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642937"/>
            <a:ext cx="5886450" cy="557212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990600" y="4800600"/>
            <a:ext cx="8382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5715000" y="5486400"/>
            <a:ext cx="914400" cy="114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0181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Add this variable to access directly from any location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162" y="1804987"/>
            <a:ext cx="5019675" cy="477202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>
            <a:off x="5486400" y="1371600"/>
            <a:ext cx="160020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32427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Server and console installation complete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4686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44638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Note that you have compass installed as well, which will give a similar interface to atlas. Compass can be used to connect to your atlas </a:t>
            </a:r>
            <a:r>
              <a:rPr lang="en-US" dirty="0" err="1" smtClean="0"/>
              <a:t>db</a:t>
            </a:r>
            <a:r>
              <a:rPr lang="en-US" dirty="0" smtClean="0"/>
              <a:t> or your local db.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1296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Compass connected to my local server database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327" y="1602437"/>
            <a:ext cx="8924925" cy="508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5249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 smtClean="0"/>
              <a:t>Lecture content </a:t>
            </a:r>
            <a:r>
              <a:rPr lang="en-US" i="1" dirty="0"/>
              <a:t>adapted from </a:t>
            </a:r>
            <a:r>
              <a:rPr lang="en-US" i="1" dirty="0">
                <a:hlinkClick r:id="rId2"/>
              </a:rPr>
              <a:t>https://docs.mongodb.com/manual</a:t>
            </a:r>
            <a:r>
              <a:rPr lang="en-US" i="1" dirty="0" smtClean="0">
                <a:hlinkClick r:id="rId2"/>
              </a:rPr>
              <a:t>/</a:t>
            </a:r>
            <a:r>
              <a:rPr lang="en-US" i="1" dirty="0"/>
              <a:t> &amp; </a:t>
            </a:r>
            <a:r>
              <a:rPr lang="en-US" i="1" dirty="0">
                <a:hlinkClick r:id="rId3"/>
              </a:rPr>
              <a:t>http://nicholasjohnson.com/mongo/course/workbook</a:t>
            </a:r>
            <a:r>
              <a:rPr lang="en-US" i="1" dirty="0" smtClean="0">
                <a:hlinkClick r:id="rId3"/>
              </a:rPr>
              <a:t>/</a:t>
            </a:r>
            <a:r>
              <a:rPr lang="en-US" i="1" dirty="0" smtClean="0"/>
              <a:t>  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xmlns="" val="835418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2871</TotalTime>
  <Words>354</Words>
  <Application>Microsoft Office PowerPoint</Application>
  <PresentationFormat>On-screen Show (4:3)</PresentationFormat>
  <Paragraphs>53</Paragraphs>
  <Slides>48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Advanced Database Management Systems (CSC-234)</vt:lpstr>
      <vt:lpstr>MongoDB is an open-source document database that provides high performance, high availability, and automatic scaling.</vt:lpstr>
      <vt:lpstr>Slide 3</vt:lpstr>
      <vt:lpstr>Advantages of using documents</vt:lpstr>
      <vt:lpstr>Join</vt:lpstr>
      <vt:lpstr>Key features</vt:lpstr>
      <vt:lpstr>Key Features: High Performance</vt:lpstr>
      <vt:lpstr>Key Features: Rich Query Language</vt:lpstr>
      <vt:lpstr>Data Aggregation Pipeline</vt:lpstr>
      <vt:lpstr>Key Features: High Availability</vt:lpstr>
      <vt:lpstr>Key Features: Horizontal Scalability</vt:lpstr>
      <vt:lpstr>Slide 12</vt:lpstr>
      <vt:lpstr>Databases &amp; collections</vt:lpstr>
      <vt:lpstr>Slide 14</vt:lpstr>
      <vt:lpstr>Creating Databases</vt:lpstr>
      <vt:lpstr>Creating Collections</vt:lpstr>
      <vt:lpstr>Creating Documents</vt:lpstr>
      <vt:lpstr>Slide 18</vt:lpstr>
      <vt:lpstr>Slide 19</vt:lpstr>
      <vt:lpstr>Slide 20</vt:lpstr>
      <vt:lpstr>Slide 21</vt:lpstr>
      <vt:lpstr>Slide 22</vt:lpstr>
      <vt:lpstr>Finding by partial match</vt:lpstr>
      <vt:lpstr>Slide 24</vt:lpstr>
      <vt:lpstr>Slide 25</vt:lpstr>
      <vt:lpstr>Atlas</vt:lpstr>
      <vt:lpstr>Atlas</vt:lpstr>
      <vt:lpstr>Slide 28</vt:lpstr>
      <vt:lpstr>Slide 29</vt:lpstr>
      <vt:lpstr>Server &amp; console installation</vt:lpstr>
      <vt:lpstr>installation</vt:lpstr>
      <vt:lpstr>Slide 32</vt:lpstr>
      <vt:lpstr>Slide 33</vt:lpstr>
      <vt:lpstr>Slide 34</vt:lpstr>
      <vt:lpstr>Slide 35</vt:lpstr>
      <vt:lpstr>WAIT FOR INSTALLATION</vt:lpstr>
      <vt:lpstr>Create data folder</vt:lpstr>
      <vt:lpstr>Slide 38</vt:lpstr>
      <vt:lpstr>mongod.exe (to run server instance)</vt:lpstr>
      <vt:lpstr>mongo.exe (to connect to server)</vt:lpstr>
      <vt:lpstr>Prompt shows up once connected</vt:lpstr>
      <vt:lpstr>Setting environment variables</vt:lpstr>
      <vt:lpstr>Slide 43</vt:lpstr>
      <vt:lpstr>Add this variable to access directly from any location </vt:lpstr>
      <vt:lpstr>Server and console installation complete</vt:lpstr>
      <vt:lpstr>Note that you have compass installed as well, which will give a similar interface to atlas. Compass can be used to connect to your atlas db or your local db.</vt:lpstr>
      <vt:lpstr>Compass connected to my local server database</vt:lpstr>
      <vt:lpstr>Slide 48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Database Management Systems (CSC-302)</dc:title>
  <dc:creator>huda</dc:creator>
  <cp:lastModifiedBy>Pc</cp:lastModifiedBy>
  <cp:revision>250</cp:revision>
  <dcterms:created xsi:type="dcterms:W3CDTF">2006-08-16T00:00:00Z</dcterms:created>
  <dcterms:modified xsi:type="dcterms:W3CDTF">2025-05-10T03:53:45Z</dcterms:modified>
</cp:coreProperties>
</file>