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s/slide5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8"/>
  </p:notesMasterIdLst>
  <p:sldIdLst>
    <p:sldId id="256" r:id="rId2"/>
    <p:sldId id="299" r:id="rId3"/>
    <p:sldId id="301" r:id="rId4"/>
    <p:sldId id="300" r:id="rId5"/>
    <p:sldId id="302" r:id="rId6"/>
    <p:sldId id="304" r:id="rId7"/>
    <p:sldId id="305" r:id="rId8"/>
    <p:sldId id="310" r:id="rId9"/>
    <p:sldId id="311" r:id="rId10"/>
    <p:sldId id="312" r:id="rId11"/>
    <p:sldId id="313" r:id="rId12"/>
    <p:sldId id="314" r:id="rId13"/>
    <p:sldId id="315" r:id="rId14"/>
    <p:sldId id="316" r:id="rId15"/>
    <p:sldId id="317" r:id="rId16"/>
    <p:sldId id="318" r:id="rId17"/>
    <p:sldId id="319" r:id="rId18"/>
    <p:sldId id="320" r:id="rId19"/>
    <p:sldId id="321" r:id="rId20"/>
    <p:sldId id="322" r:id="rId21"/>
    <p:sldId id="323" r:id="rId22"/>
    <p:sldId id="324" r:id="rId23"/>
    <p:sldId id="325" r:id="rId24"/>
    <p:sldId id="326" r:id="rId25"/>
    <p:sldId id="327" r:id="rId26"/>
    <p:sldId id="328" r:id="rId27"/>
    <p:sldId id="329" r:id="rId28"/>
    <p:sldId id="330" r:id="rId29"/>
    <p:sldId id="331" r:id="rId30"/>
    <p:sldId id="332" r:id="rId31"/>
    <p:sldId id="333" r:id="rId32"/>
    <p:sldId id="334" r:id="rId33"/>
    <p:sldId id="335" r:id="rId34"/>
    <p:sldId id="336" r:id="rId35"/>
    <p:sldId id="337" r:id="rId36"/>
    <p:sldId id="338" r:id="rId37"/>
    <p:sldId id="339" r:id="rId38"/>
    <p:sldId id="340" r:id="rId39"/>
    <p:sldId id="341" r:id="rId40"/>
    <p:sldId id="342" r:id="rId41"/>
    <p:sldId id="343" r:id="rId42"/>
    <p:sldId id="344" r:id="rId43"/>
    <p:sldId id="345" r:id="rId44"/>
    <p:sldId id="346" r:id="rId45"/>
    <p:sldId id="347" r:id="rId46"/>
    <p:sldId id="348" r:id="rId47"/>
    <p:sldId id="349" r:id="rId48"/>
    <p:sldId id="350" r:id="rId49"/>
    <p:sldId id="351" r:id="rId50"/>
    <p:sldId id="352" r:id="rId51"/>
    <p:sldId id="353" r:id="rId52"/>
    <p:sldId id="354" r:id="rId53"/>
    <p:sldId id="355" r:id="rId54"/>
    <p:sldId id="356" r:id="rId55"/>
    <p:sldId id="357" r:id="rId56"/>
    <p:sldId id="358" r:id="rId57"/>
    <p:sldId id="359" r:id="rId58"/>
    <p:sldId id="360" r:id="rId59"/>
    <p:sldId id="361" r:id="rId60"/>
    <p:sldId id="362" r:id="rId61"/>
    <p:sldId id="363" r:id="rId62"/>
    <p:sldId id="364" r:id="rId63"/>
    <p:sldId id="365" r:id="rId64"/>
    <p:sldId id="366" r:id="rId65"/>
    <p:sldId id="367" r:id="rId66"/>
    <p:sldId id="297" r:id="rId67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34" autoAdjust="0"/>
    <p:restoredTop sz="94662" autoAdjust="0"/>
  </p:normalViewPr>
  <p:slideViewPr>
    <p:cSldViewPr>
      <p:cViewPr varScale="1">
        <p:scale>
          <a:sx n="65" d="100"/>
          <a:sy n="65" d="100"/>
        </p:scale>
        <p:origin x="-1446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18EBFE-7C47-4713-AD73-3A58AC56A3DD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AF5678-42B6-4826-9AE4-CC5FDCB7105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31786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9C336D-B541-4F15-B342-86A484D01441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786495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schools.com/json/default.asp" TargetMode="External"/><Relationship Id="rId2" Type="http://schemas.openxmlformats.org/officeDocument/2006/relationships/hyperlink" Target="http://www.webmonkey.com/2010/02/get_started_with_json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Advanced Database Management Systems</a:t>
            </a:r>
            <a:br>
              <a:rPr lang="en-US" dirty="0" smtClean="0"/>
            </a:br>
            <a:r>
              <a:rPr lang="en-US" smtClean="0"/>
              <a:t>(</a:t>
            </a:r>
            <a:r>
              <a:rPr lang="en-US" smtClean="0"/>
              <a:t>CSC-234)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JSON </a:t>
            </a:r>
            <a:r>
              <a:rPr lang="en-US" dirty="0" smtClean="0"/>
              <a:t>Data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734194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:\Users\widom\Desktop\JSONexampleCrop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53464" y="2565763"/>
            <a:ext cx="5390536" cy="2387237"/>
          </a:xfrm>
          <a:prstGeom prst="rect">
            <a:avLst/>
          </a:prstGeom>
          <a:noFill/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JavaScript Object Notation (JSON)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Another data model, like XML and relational data</a:t>
            </a:r>
          </a:p>
          <a:p>
            <a:r>
              <a:rPr lang="en-US" dirty="0" smtClean="0"/>
              <a:t>Standard for “serializing” data objects usually in files</a:t>
            </a:r>
          </a:p>
          <a:p>
            <a:r>
              <a:rPr lang="en-US" dirty="0" smtClean="0"/>
              <a:t>Human-readable, useful for data interchange</a:t>
            </a:r>
          </a:p>
          <a:p>
            <a:r>
              <a:rPr lang="en-US" dirty="0" smtClean="0"/>
              <a:t>Also useful for representing &amp; storing semi-structured data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667739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:\Users\widom\Desktop\JSONexampleCrop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53464" y="2565763"/>
            <a:ext cx="5390536" cy="2387237"/>
          </a:xfrm>
          <a:prstGeom prst="rect">
            <a:avLst/>
          </a:prstGeom>
          <a:noFill/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JavaScript Object Notation (JSON)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No longer tied to JavaScript</a:t>
            </a:r>
          </a:p>
          <a:p>
            <a:r>
              <a:rPr lang="en-US" dirty="0" smtClean="0"/>
              <a:t>Parsers for many languages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21805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:\Users\widom\Desktop\JSONexamp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33800" y="1485570"/>
            <a:ext cx="5453510" cy="483903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JSON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Basic constructs (recursive)</a:t>
            </a:r>
          </a:p>
          <a:p>
            <a:pPr lvl="1"/>
            <a:r>
              <a:rPr lang="en-US" dirty="0" smtClean="0"/>
              <a:t>Base values</a:t>
            </a:r>
          </a:p>
          <a:p>
            <a:pPr lvl="2"/>
            <a:r>
              <a:rPr lang="en-US" dirty="0" smtClean="0"/>
              <a:t>Number, string, </a:t>
            </a:r>
            <a:r>
              <a:rPr lang="en-US" dirty="0" err="1" smtClean="0"/>
              <a:t>boolean</a:t>
            </a:r>
            <a:endParaRPr lang="en-US" dirty="0" smtClean="0"/>
          </a:p>
          <a:p>
            <a:pPr lvl="1"/>
            <a:r>
              <a:rPr lang="en-US" dirty="0" smtClean="0"/>
              <a:t>Objects {}</a:t>
            </a:r>
          </a:p>
          <a:p>
            <a:pPr lvl="2"/>
            <a:r>
              <a:rPr lang="en-US" dirty="0" smtClean="0"/>
              <a:t>Set of label-value pairs</a:t>
            </a:r>
          </a:p>
          <a:p>
            <a:pPr lvl="1"/>
            <a:r>
              <a:rPr lang="en-US" dirty="0" smtClean="0"/>
              <a:t>Arrays []</a:t>
            </a:r>
          </a:p>
          <a:p>
            <a:pPr lvl="2"/>
            <a:r>
              <a:rPr lang="en-US" dirty="0" smtClean="0"/>
              <a:t>List of values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604853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Relational Model vs. JSON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283245688"/>
              </p:ext>
            </p:extLst>
          </p:nvPr>
        </p:nvGraphicFramePr>
        <p:xfrm>
          <a:off x="457200" y="1828800"/>
          <a:ext cx="8305800" cy="4456678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294972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68907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9019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rgbClr val="0000FF"/>
                          </a:solidFill>
                        </a:rPr>
                        <a:t>Relational</a:t>
                      </a:r>
                      <a:endParaRPr lang="en-US" sz="24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rgbClr val="0000FF"/>
                          </a:solidFill>
                        </a:rPr>
                        <a:t>JSON</a:t>
                      </a:r>
                      <a:endParaRPr lang="en-US" sz="24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94441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rgbClr val="0000FF"/>
                          </a:solidFill>
                        </a:rPr>
                        <a:t>Structure</a:t>
                      </a:r>
                      <a:endParaRPr lang="en-US" sz="24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 smtClean="0"/>
                    </a:p>
                    <a:p>
                      <a:pPr algn="ctr"/>
                      <a:r>
                        <a:rPr lang="en-US" dirty="0" smtClean="0"/>
                        <a:t>Tables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Nested sets and arrays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94441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rgbClr val="0000FF"/>
                          </a:solidFill>
                        </a:rPr>
                        <a:t>Schema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 smtClean="0"/>
                    </a:p>
                    <a:p>
                      <a:pPr algn="ctr"/>
                      <a:r>
                        <a:rPr lang="en-US" dirty="0" smtClean="0"/>
                        <a:t>Fixed in advance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Self-describing, flexible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94441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rgbClr val="0000FF"/>
                          </a:solidFill>
                        </a:rPr>
                        <a:t>Queries</a:t>
                      </a:r>
                      <a:endParaRPr lang="en-US" sz="24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Simple, expressive</a:t>
                      </a:r>
                      <a:r>
                        <a:rPr lang="en-US" baseline="0" dirty="0" smtClean="0"/>
                        <a:t> languages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Nothing that is as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widely used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94441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rgbClr val="0000FF"/>
                          </a:solidFill>
                        </a:rPr>
                        <a:t>Ordering</a:t>
                      </a:r>
                      <a:endParaRPr lang="en-US" sz="24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 smtClean="0"/>
                    </a:p>
                    <a:p>
                      <a:pPr algn="ctr"/>
                      <a:r>
                        <a:rPr lang="en-US" dirty="0" smtClean="0"/>
                        <a:t>None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 smtClean="0"/>
                    </a:p>
                    <a:p>
                      <a:pPr algn="ctr"/>
                      <a:r>
                        <a:rPr lang="en-US" dirty="0" smtClean="0"/>
                        <a:t>Arrays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694441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rgbClr val="0000FF"/>
                          </a:solidFill>
                        </a:rPr>
                        <a:t>Implementation</a:t>
                      </a:r>
                      <a:endParaRPr lang="en-US" sz="24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Native systems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Coupled with programming languages; </a:t>
                      </a:r>
                      <a:r>
                        <a:rPr lang="en-US" dirty="0" err="1" smtClean="0"/>
                        <a:t>NoSQL</a:t>
                      </a:r>
                      <a:r>
                        <a:rPr lang="en-US" dirty="0" smtClean="0"/>
                        <a:t> systems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657200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Syntactically Valid JSON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Adheres to basic structural requirements</a:t>
            </a:r>
          </a:p>
          <a:p>
            <a:pPr lvl="1"/>
            <a:r>
              <a:rPr lang="en-US" dirty="0" smtClean="0"/>
              <a:t>Sets of label-value pairs</a:t>
            </a:r>
          </a:p>
          <a:p>
            <a:pPr lvl="1"/>
            <a:r>
              <a:rPr lang="en-US" dirty="0" smtClean="0"/>
              <a:t>Arrays of values</a:t>
            </a:r>
          </a:p>
          <a:p>
            <a:pPr lvl="1"/>
            <a:r>
              <a:rPr lang="en-US" dirty="0" smtClean="0"/>
              <a:t>Base values from predefined types</a:t>
            </a: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3777935" y="4719935"/>
            <a:ext cx="1524000" cy="838200"/>
          </a:xfrm>
          <a:prstGeom prst="roundRect">
            <a:avLst/>
          </a:prstGeom>
          <a:solidFill>
            <a:srgbClr val="FFFFCC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2400" b="1" dirty="0" err="1" smtClean="0">
                <a:solidFill>
                  <a:schemeClr val="tx1"/>
                </a:solidFill>
              </a:rPr>
              <a:t>JSON</a:t>
            </a:r>
            <a:endParaRPr lang="en-US" sz="2400" b="1" dirty="0" smtClean="0">
              <a:solidFill>
                <a:schemeClr val="tx1"/>
              </a:solidFill>
            </a:endParaRPr>
          </a:p>
          <a:p>
            <a:pPr algn="ctr">
              <a:lnSpc>
                <a:spcPct val="90000"/>
              </a:lnSpc>
            </a:pPr>
            <a:r>
              <a:rPr lang="en-US" sz="2400" b="1" dirty="0" smtClean="0">
                <a:solidFill>
                  <a:schemeClr val="tx1"/>
                </a:solidFill>
              </a:rPr>
              <a:t>Parser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5" name="Folded Corner 4"/>
          <p:cNvSpPr/>
          <p:nvPr/>
        </p:nvSpPr>
        <p:spPr>
          <a:xfrm>
            <a:off x="1720535" y="4415135"/>
            <a:ext cx="1295400" cy="1066800"/>
          </a:xfrm>
          <a:prstGeom prst="foldedCorner">
            <a:avLst/>
          </a:prstGeom>
          <a:solidFill>
            <a:srgbClr val="CCFFCC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tx1"/>
                </a:solidFill>
              </a:rPr>
              <a:t>JSON</a:t>
            </a:r>
            <a:endParaRPr lang="en-US" dirty="0" smtClean="0">
              <a:solidFill>
                <a:schemeClr val="tx1"/>
              </a:solidFill>
            </a:endParaRP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File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ight Arrow 5"/>
          <p:cNvSpPr/>
          <p:nvPr/>
        </p:nvSpPr>
        <p:spPr>
          <a:xfrm rot="1133558">
            <a:off x="3100388" y="4966923"/>
            <a:ext cx="609600" cy="152400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Arrow 6"/>
          <p:cNvSpPr/>
          <p:nvPr/>
        </p:nvSpPr>
        <p:spPr>
          <a:xfrm>
            <a:off x="5378135" y="5100935"/>
            <a:ext cx="609600" cy="152400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013356" y="4797355"/>
            <a:ext cx="1454244" cy="7903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2800" i="1" dirty="0" smtClean="0">
                <a:solidFill>
                  <a:srgbClr val="0000FF"/>
                </a:solidFill>
              </a:rPr>
              <a:t>Program</a:t>
            </a:r>
          </a:p>
          <a:p>
            <a:pPr algn="ctr">
              <a:lnSpc>
                <a:spcPct val="80000"/>
              </a:lnSpc>
            </a:pPr>
            <a:r>
              <a:rPr lang="en-US" sz="2800" i="1" dirty="0" smtClean="0">
                <a:solidFill>
                  <a:srgbClr val="0000FF"/>
                </a:solidFill>
              </a:rPr>
              <a:t>objects</a:t>
            </a:r>
            <a:endParaRPr lang="en-US" sz="2800" i="1" dirty="0">
              <a:solidFill>
                <a:srgbClr val="0000FF"/>
              </a:solidFill>
            </a:endParaRPr>
          </a:p>
        </p:txBody>
      </p:sp>
      <p:sp>
        <p:nvSpPr>
          <p:cNvPr id="9" name="Right Arrow 8"/>
          <p:cNvSpPr/>
          <p:nvPr/>
        </p:nvSpPr>
        <p:spPr>
          <a:xfrm rot="5400000">
            <a:off x="4311335" y="5786735"/>
            <a:ext cx="457200" cy="152400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3473135" y="6091535"/>
            <a:ext cx="21132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 smtClean="0">
                <a:solidFill>
                  <a:srgbClr val="990000"/>
                </a:solidFill>
              </a:rPr>
              <a:t>Syntactic errors</a:t>
            </a:r>
            <a:endParaRPr lang="en-US" sz="2400" i="1" dirty="0">
              <a:solidFill>
                <a:srgbClr val="99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56301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/>
      <p:bldP spid="9" grpId="0" animBg="1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Semantically Valid JSON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Adheres to basic structural requirements + conforms to specified schema</a:t>
            </a: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2819400" y="3881735"/>
            <a:ext cx="1524000" cy="838200"/>
          </a:xfrm>
          <a:prstGeom prst="roundRect">
            <a:avLst/>
          </a:prstGeom>
          <a:solidFill>
            <a:srgbClr val="FFFFCC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b="1" dirty="0" err="1" smtClean="0">
                <a:solidFill>
                  <a:schemeClr val="tx1"/>
                </a:solidFill>
              </a:rPr>
              <a:t>JSON</a:t>
            </a:r>
            <a:endParaRPr lang="en-US" b="1" dirty="0" smtClean="0">
              <a:solidFill>
                <a:schemeClr val="tx1"/>
              </a:solidFill>
            </a:endParaRPr>
          </a:p>
          <a:p>
            <a:pPr algn="ctr">
              <a:lnSpc>
                <a:spcPct val="90000"/>
              </a:lnSpc>
            </a:pPr>
            <a:r>
              <a:rPr lang="en-US" b="1" dirty="0" err="1" smtClean="0">
                <a:solidFill>
                  <a:schemeClr val="tx1"/>
                </a:solidFill>
              </a:rPr>
              <a:t>Validator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5" name="Right Arrow 4"/>
          <p:cNvSpPr/>
          <p:nvPr/>
        </p:nvSpPr>
        <p:spPr>
          <a:xfrm>
            <a:off x="4419599" y="4266395"/>
            <a:ext cx="498045" cy="148740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029920" y="3959155"/>
            <a:ext cx="1454244" cy="7903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2800" i="1" dirty="0" smtClean="0">
                <a:solidFill>
                  <a:srgbClr val="0000FF"/>
                </a:solidFill>
              </a:rPr>
              <a:t>Program</a:t>
            </a:r>
          </a:p>
          <a:p>
            <a:pPr algn="ctr">
              <a:lnSpc>
                <a:spcPct val="80000"/>
              </a:lnSpc>
            </a:pPr>
            <a:r>
              <a:rPr lang="en-US" sz="2800" i="1" dirty="0" smtClean="0">
                <a:solidFill>
                  <a:srgbClr val="0000FF"/>
                </a:solidFill>
              </a:rPr>
              <a:t>objects</a:t>
            </a:r>
          </a:p>
        </p:txBody>
      </p:sp>
      <p:sp>
        <p:nvSpPr>
          <p:cNvPr id="7" name="Right Arrow 6"/>
          <p:cNvSpPr/>
          <p:nvPr/>
        </p:nvSpPr>
        <p:spPr>
          <a:xfrm rot="5400000">
            <a:off x="3352800" y="4948535"/>
            <a:ext cx="457200" cy="152400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514600" y="5253335"/>
            <a:ext cx="21132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 smtClean="0">
                <a:solidFill>
                  <a:srgbClr val="990000"/>
                </a:solidFill>
              </a:rPr>
              <a:t>Syntactic errors</a:t>
            </a:r>
            <a:endParaRPr lang="en-US" sz="2400" i="1" dirty="0">
              <a:solidFill>
                <a:srgbClr val="990000"/>
              </a:solidFill>
            </a:endParaRPr>
          </a:p>
        </p:txBody>
      </p:sp>
      <p:sp>
        <p:nvSpPr>
          <p:cNvPr id="9" name="Folded Corner 8"/>
          <p:cNvSpPr/>
          <p:nvPr/>
        </p:nvSpPr>
        <p:spPr>
          <a:xfrm>
            <a:off x="762000" y="3576935"/>
            <a:ext cx="1295400" cy="1066800"/>
          </a:xfrm>
          <a:prstGeom prst="foldedCorner">
            <a:avLst/>
          </a:prstGeom>
          <a:solidFill>
            <a:srgbClr val="CCFFCC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tx1"/>
                </a:solidFill>
              </a:rPr>
              <a:t>JSON</a:t>
            </a:r>
            <a:endParaRPr lang="en-US" dirty="0" smtClean="0">
              <a:solidFill>
                <a:schemeClr val="tx1"/>
              </a:solidFill>
            </a:endParaRP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File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ight Arrow 9"/>
          <p:cNvSpPr/>
          <p:nvPr/>
        </p:nvSpPr>
        <p:spPr>
          <a:xfrm rot="1133558">
            <a:off x="2141853" y="4128723"/>
            <a:ext cx="609600" cy="152400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olded Corner 10"/>
          <p:cNvSpPr/>
          <p:nvPr/>
        </p:nvSpPr>
        <p:spPr>
          <a:xfrm>
            <a:off x="762000" y="4796135"/>
            <a:ext cx="1295400" cy="762000"/>
          </a:xfrm>
          <a:prstGeom prst="foldedCorner">
            <a:avLst/>
          </a:prstGeom>
          <a:solidFill>
            <a:srgbClr val="FFCCFF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>
              <a:lnSpc>
                <a:spcPct val="80000"/>
              </a:lnSpc>
            </a:pPr>
            <a:r>
              <a:rPr lang="en-US" dirty="0" err="1" smtClean="0">
                <a:solidFill>
                  <a:schemeClr val="tx1"/>
                </a:solidFill>
              </a:rPr>
              <a:t>JSON</a:t>
            </a:r>
            <a:endParaRPr lang="en-US" dirty="0" smtClean="0">
              <a:solidFill>
                <a:schemeClr val="tx1"/>
              </a:solidFill>
            </a:endParaRPr>
          </a:p>
          <a:p>
            <a:pPr algn="ctr">
              <a:lnSpc>
                <a:spcPct val="80000"/>
              </a:lnSpc>
            </a:pPr>
            <a:r>
              <a:rPr lang="en-US" dirty="0" smtClean="0">
                <a:solidFill>
                  <a:schemeClr val="tx1"/>
                </a:solidFill>
              </a:rPr>
              <a:t>Schema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Right Arrow 11"/>
          <p:cNvSpPr/>
          <p:nvPr/>
        </p:nvSpPr>
        <p:spPr>
          <a:xfrm rot="20016235">
            <a:off x="2126046" y="4828349"/>
            <a:ext cx="700908" cy="130386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514600" y="5634335"/>
            <a:ext cx="21437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 smtClean="0">
                <a:solidFill>
                  <a:srgbClr val="FF0000"/>
                </a:solidFill>
              </a:rPr>
              <a:t>Semantic errors</a:t>
            </a:r>
            <a:endParaRPr lang="en-US" sz="2400" i="1" dirty="0">
              <a:solidFill>
                <a:srgbClr val="FF0000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968250" y="3920750"/>
            <a:ext cx="1524000" cy="838200"/>
          </a:xfrm>
          <a:prstGeom prst="roundRect">
            <a:avLst/>
          </a:prstGeom>
          <a:solidFill>
            <a:srgbClr val="FFFFCC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2400" b="1" dirty="0" err="1" smtClean="0">
                <a:solidFill>
                  <a:schemeClr val="tx1"/>
                </a:solidFill>
              </a:rPr>
              <a:t>JSON</a:t>
            </a:r>
            <a:endParaRPr lang="en-US" sz="2400" b="1" dirty="0" smtClean="0">
              <a:solidFill>
                <a:schemeClr val="tx1"/>
              </a:solidFill>
            </a:endParaRPr>
          </a:p>
          <a:p>
            <a:pPr algn="ctr">
              <a:lnSpc>
                <a:spcPct val="90000"/>
              </a:lnSpc>
            </a:pPr>
            <a:r>
              <a:rPr lang="en-US" sz="2400" b="1" dirty="0" smtClean="0">
                <a:solidFill>
                  <a:schemeClr val="tx1"/>
                </a:solidFill>
              </a:rPr>
              <a:t>Parser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15" name="Right Arrow 14"/>
          <p:cNvSpPr/>
          <p:nvPr/>
        </p:nvSpPr>
        <p:spPr>
          <a:xfrm>
            <a:off x="6530656" y="4304800"/>
            <a:ext cx="537670" cy="153620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1182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/>
      <p:bldP spid="10" grpId="0" animBg="1"/>
      <p:bldP spid="11" grpId="0" animBg="1"/>
      <p:bldP spid="12" grpId="0" animBg="1"/>
      <p:bldP spid="13" grpId="0"/>
      <p:bldP spid="14" grpId="0" animBg="1"/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Demo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Constructs and syntactic correctness</a:t>
            </a:r>
          </a:p>
          <a:p>
            <a:r>
              <a:rPr lang="en-US" dirty="0" smtClean="0"/>
              <a:t>Flexibility</a:t>
            </a:r>
          </a:p>
          <a:p>
            <a:r>
              <a:rPr lang="en-US" dirty="0" smtClean="0"/>
              <a:t>JSON schema, validation</a:t>
            </a:r>
            <a:endParaRPr lang="en-US" dirty="0"/>
          </a:p>
        </p:txBody>
      </p:sp>
      <p:pic>
        <p:nvPicPr>
          <p:cNvPr id="6" name="Picture 5" descr="C:\Users\widom\Desktop\JSONexampleCrop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49902" y="3810000"/>
            <a:ext cx="5893898" cy="261015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3008086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Demo Data (</a:t>
            </a:r>
            <a:r>
              <a:rPr lang="en-US" dirty="0" err="1" smtClean="0"/>
              <a:t>Bookstore.json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228725"/>
            <a:ext cx="6567488" cy="5389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281752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r="13393"/>
          <a:stretch/>
        </p:blipFill>
        <p:spPr bwMode="auto">
          <a:xfrm>
            <a:off x="4550" y="685800"/>
            <a:ext cx="9139450" cy="562399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4252277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Error?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19368" r="54100"/>
          <a:stretch/>
        </p:blipFill>
        <p:spPr bwMode="auto">
          <a:xfrm>
            <a:off x="838200" y="0"/>
            <a:ext cx="7467600" cy="699119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638800" y="5105400"/>
            <a:ext cx="2133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Error?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xmlns="" val="4099325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Comma missing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15653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Error?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20605" r="58711"/>
          <a:stretch/>
        </p:blipFill>
        <p:spPr bwMode="auto">
          <a:xfrm>
            <a:off x="1219200" y="-4549"/>
            <a:ext cx="6691889" cy="685799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638800" y="5334000"/>
            <a:ext cx="205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Error?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xmlns="" val="2394096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Extra brace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131075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Error?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19574" r="58821"/>
          <a:stretch/>
        </p:blipFill>
        <p:spPr bwMode="auto">
          <a:xfrm>
            <a:off x="1295400" y="78633"/>
            <a:ext cx="6477000" cy="67418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096000" y="4945067"/>
            <a:ext cx="1905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Error?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xmlns="" val="2962417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Quotes around string missing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05076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Only unquoted values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Numbers</a:t>
            </a:r>
          </a:p>
          <a:p>
            <a:r>
              <a:rPr lang="en-US" dirty="0" smtClean="0"/>
              <a:t>null</a:t>
            </a:r>
          </a:p>
          <a:p>
            <a:r>
              <a:rPr lang="en-US" dirty="0" smtClean="0"/>
              <a:t>true</a:t>
            </a:r>
          </a:p>
          <a:p>
            <a:r>
              <a:rPr lang="en-US" dirty="0" smtClean="0"/>
              <a:t>false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64559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Error?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19986" r="58711"/>
          <a:stretch/>
        </p:blipFill>
        <p:spPr bwMode="auto">
          <a:xfrm>
            <a:off x="1219200" y="-27296"/>
            <a:ext cx="6861533" cy="7086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562600" y="5181600"/>
            <a:ext cx="289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Error?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xmlns="" val="505554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Quotes around label missing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018311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Price value quoted – not an error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21635" r="58931"/>
          <a:stretch/>
        </p:blipFill>
        <p:spPr bwMode="auto">
          <a:xfrm>
            <a:off x="1066800" y="1437564"/>
            <a:ext cx="7400925" cy="75262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3352348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Null (reserved word) value is acceptable, no quotes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19986" r="58602"/>
          <a:stretch/>
        </p:blipFill>
        <p:spPr bwMode="auto">
          <a:xfrm>
            <a:off x="1524000" y="1508716"/>
            <a:ext cx="6834188" cy="70396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3013633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Error?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20811" r="58821"/>
          <a:stretch/>
        </p:blipFill>
        <p:spPr bwMode="auto">
          <a:xfrm>
            <a:off x="685800" y="1318111"/>
            <a:ext cx="8024813" cy="8224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2133340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Not a reserved word, no quotes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96921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124200"/>
            <a:ext cx="7772400" cy="13620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Arrays don’t need to have the same type of values as their elements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57244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First element of Authors changed to simple string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19781" r="58821"/>
          <a:stretch/>
        </p:blipFill>
        <p:spPr bwMode="auto">
          <a:xfrm>
            <a:off x="1371600" y="1447799"/>
            <a:ext cx="6653213" cy="690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2995301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Empty elements also acceptable (see Magazines)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1268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26388" r="58821"/>
          <a:stretch/>
        </p:blipFill>
        <p:spPr bwMode="auto">
          <a:xfrm>
            <a:off x="648339" y="1474916"/>
            <a:ext cx="7809861" cy="7440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401686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Array length can be zero (see Authors)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26481" r="58931"/>
          <a:stretch/>
        </p:blipFill>
        <p:spPr bwMode="auto">
          <a:xfrm>
            <a:off x="1030406" y="1524000"/>
            <a:ext cx="7019925" cy="66972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2855728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Error?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20811" r="58931"/>
          <a:stretch/>
        </p:blipFill>
        <p:spPr bwMode="auto">
          <a:xfrm>
            <a:off x="-37531" y="0"/>
            <a:ext cx="9036532" cy="9286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410200" y="5105400"/>
            <a:ext cx="2667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Error?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xmlns="" val="2839162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Entire value is now missing from the label-value pair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52387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One string element in the array is acceptable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19781" r="58821"/>
          <a:stretch/>
        </p:blipFill>
        <p:spPr bwMode="auto">
          <a:xfrm>
            <a:off x="76200" y="1441434"/>
            <a:ext cx="8960285" cy="9302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1478095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Error?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21016" r="58821"/>
          <a:stretch/>
        </p:blipFill>
        <p:spPr bwMode="auto">
          <a:xfrm>
            <a:off x="-23884" y="151263"/>
            <a:ext cx="8610600" cy="8801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029200" y="5715000"/>
            <a:ext cx="2971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Error?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xmlns="" val="1435579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The value is an object, and objects are always label-value pairs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194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This is acceptable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26478" r="58931"/>
          <a:stretch/>
        </p:blipFill>
        <p:spPr bwMode="auto">
          <a:xfrm>
            <a:off x="9099" y="1143000"/>
            <a:ext cx="8868885" cy="8461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3489156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Examples Recap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Syntactic correctness examples</a:t>
            </a:r>
          </a:p>
          <a:p>
            <a:r>
              <a:rPr lang="en-US" dirty="0" smtClean="0"/>
              <a:t>No required uniformity across values and arrays, or in objects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38208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9600" y="2286000"/>
            <a:ext cx="7772400" cy="1362075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Json</a:t>
            </a:r>
            <a:r>
              <a:rPr lang="en-US" dirty="0" smtClean="0"/>
              <a:t> schema: add constraints beyond basic syntactic correctness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275444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Like xml schema, expressed in the data model itself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96266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JSON SCHEMA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15790" t="17475" r="46246" b="5492"/>
          <a:stretch/>
        </p:blipFill>
        <p:spPr bwMode="auto">
          <a:xfrm>
            <a:off x="2036762" y="1295400"/>
            <a:ext cx="5052696" cy="5562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2929546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Validator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-11373" y="1447800"/>
            <a:ext cx="9144000" cy="48732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3996057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Catches syntactic errors (comma removed)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-1" y="1600200"/>
            <a:ext cx="9150699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Straight Arrow Connector 4"/>
          <p:cNvCxnSpPr/>
          <p:nvPr/>
        </p:nvCxnSpPr>
        <p:spPr>
          <a:xfrm flipH="1">
            <a:off x="6477000" y="4648200"/>
            <a:ext cx="14478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024156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semantic correctness demo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81802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Price Specification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17647" t="17476" r="41950" b="29672"/>
          <a:stretch/>
        </p:blipFill>
        <p:spPr bwMode="auto">
          <a:xfrm>
            <a:off x="914400" y="1295400"/>
            <a:ext cx="7620000" cy="5408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Oval 7"/>
          <p:cNvSpPr/>
          <p:nvPr/>
        </p:nvSpPr>
        <p:spPr>
          <a:xfrm>
            <a:off x="1905000" y="2209800"/>
            <a:ext cx="4343400" cy="213360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673084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Price as a string will not validate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49085" t="30907" r="1611"/>
          <a:stretch/>
        </p:blipFill>
        <p:spPr bwMode="auto">
          <a:xfrm>
            <a:off x="745383" y="1447800"/>
            <a:ext cx="7652193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178722" y="1600200"/>
            <a:ext cx="4803354" cy="1219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Straight Arrow Connector 4"/>
          <p:cNvCxnSpPr/>
          <p:nvPr/>
        </p:nvCxnSpPr>
        <p:spPr>
          <a:xfrm flipH="1">
            <a:off x="2971800" y="4191000"/>
            <a:ext cx="16002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4235997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Price above range will not validate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50000" t="30701" r="1830"/>
          <a:stretch/>
        </p:blipFill>
        <p:spPr bwMode="auto">
          <a:xfrm>
            <a:off x="1162502" y="1475088"/>
            <a:ext cx="7219498" cy="553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267200" y="1524000"/>
            <a:ext cx="4803354" cy="1219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Straight Arrow Connector 5"/>
          <p:cNvCxnSpPr/>
          <p:nvPr/>
        </p:nvCxnSpPr>
        <p:spPr>
          <a:xfrm flipH="1">
            <a:off x="3048000" y="4114800"/>
            <a:ext cx="12192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786207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Pattern matching for strings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15906" t="17047" r="41370" b="37557"/>
          <a:stretch/>
        </p:blipFill>
        <p:spPr bwMode="auto">
          <a:xfrm>
            <a:off x="228600" y="1371600"/>
            <a:ext cx="8988149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Oval 4"/>
          <p:cNvSpPr/>
          <p:nvPr/>
        </p:nvSpPr>
        <p:spPr>
          <a:xfrm>
            <a:off x="1524000" y="2209800"/>
            <a:ext cx="5867400" cy="213360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56172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Isbn</a:t>
            </a:r>
            <a:r>
              <a:rPr lang="en-US" dirty="0" smtClean="0"/>
              <a:t>*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String should start with ISBN and can be followed by anything else.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045404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Drop I from ISBN, validation fails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50000" t="30701" r="1391"/>
          <a:stretch/>
        </p:blipFill>
        <p:spPr bwMode="auto">
          <a:xfrm>
            <a:off x="1143000" y="1434088"/>
            <a:ext cx="7239000" cy="5500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" name="Straight Arrow Connector 2"/>
          <p:cNvCxnSpPr/>
          <p:nvPr/>
        </p:nvCxnSpPr>
        <p:spPr>
          <a:xfrm flipH="1">
            <a:off x="2819400" y="1295400"/>
            <a:ext cx="1295400" cy="1295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979675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Constrain number of elements in an array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078007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Array Constraints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17647" t="17476" r="41950" b="29672"/>
          <a:stretch/>
        </p:blipFill>
        <p:spPr bwMode="auto">
          <a:xfrm>
            <a:off x="914400" y="1295400"/>
            <a:ext cx="7620000" cy="5408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Oval 4"/>
          <p:cNvSpPr/>
          <p:nvPr/>
        </p:nvSpPr>
        <p:spPr>
          <a:xfrm>
            <a:off x="990600" y="3657600"/>
            <a:ext cx="4343400" cy="213360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07214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Error on removing all authors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50000" t="30907" r="2239"/>
          <a:stretch/>
        </p:blipFill>
        <p:spPr bwMode="auto">
          <a:xfrm>
            <a:off x="1202139" y="1447800"/>
            <a:ext cx="7217974" cy="55649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610331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Validates when </a:t>
            </a:r>
            <a:r>
              <a:rPr lang="en-US" dirty="0" err="1" smtClean="0"/>
              <a:t>minItem</a:t>
            </a:r>
            <a:r>
              <a:rPr lang="en-US" dirty="0" smtClean="0"/>
              <a:t> set to zero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37706" r="50000"/>
          <a:stretch/>
        </p:blipFill>
        <p:spPr bwMode="auto">
          <a:xfrm>
            <a:off x="0" y="2614612"/>
            <a:ext cx="6505575" cy="43195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50000" t="37294"/>
          <a:stretch/>
        </p:blipFill>
        <p:spPr bwMode="auto">
          <a:xfrm>
            <a:off x="2819400" y="1443038"/>
            <a:ext cx="6505575" cy="43481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1019364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Or just remove the </a:t>
            </a:r>
            <a:r>
              <a:rPr lang="en-US" dirty="0" err="1" smtClean="0"/>
              <a:t>minItem</a:t>
            </a:r>
            <a:r>
              <a:rPr lang="en-US" dirty="0" smtClean="0"/>
              <a:t> constraint – still valid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28600" y="2133599"/>
            <a:ext cx="8534400" cy="413288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2921230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Adding items that aren’t in the schema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09424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Add “rating” – validates – even though it is not in the schema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36284"/>
            <a:ext cx="7994161" cy="5057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1979646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762000" y="2819400"/>
            <a:ext cx="7772400" cy="13620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Additions are allowed by default – but can be disallowed by setting a flag in the schema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>
          <a:xfrm>
            <a:off x="762000" y="1295400"/>
            <a:ext cx="7772400" cy="1500187"/>
          </a:xfrm>
        </p:spPr>
        <p:txBody>
          <a:bodyPr/>
          <a:lstStyle/>
          <a:p>
            <a:r>
              <a:rPr lang="en-US" dirty="0" smtClean="0"/>
              <a:t>“</a:t>
            </a:r>
            <a:r>
              <a:rPr lang="en-US" dirty="0" err="1" smtClean="0"/>
              <a:t>additionalProperties</a:t>
            </a:r>
            <a:r>
              <a:rPr lang="en-US" dirty="0" smtClean="0"/>
              <a:t>”:false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97519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4775" y="85725"/>
            <a:ext cx="6372225" cy="41814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6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743200" y="2133600"/>
            <a:ext cx="6343650" cy="4648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Straight Arrow Connector 4"/>
          <p:cNvCxnSpPr/>
          <p:nvPr/>
        </p:nvCxnSpPr>
        <p:spPr>
          <a:xfrm flipH="1">
            <a:off x="2743200" y="533400"/>
            <a:ext cx="1371600" cy="1143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45428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2982" y="76200"/>
            <a:ext cx="6400800" cy="42195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800350" y="2590800"/>
            <a:ext cx="6343650" cy="41624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28600" y="5029200"/>
            <a:ext cx="2438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Changed to true -</a:t>
            </a:r>
          </a:p>
          <a:p>
            <a:r>
              <a:rPr lang="en-US" dirty="0" smtClean="0"/>
              <a:t>validates both for default or true</a:t>
            </a:r>
            <a:endParaRPr lang="en-US" dirty="0"/>
          </a:p>
        </p:txBody>
      </p:sp>
      <p:cxnSp>
        <p:nvCxnSpPr>
          <p:cNvPr id="3" name="Straight Arrow Connector 2"/>
          <p:cNvCxnSpPr/>
          <p:nvPr/>
        </p:nvCxnSpPr>
        <p:spPr>
          <a:xfrm flipH="1">
            <a:off x="2800350" y="304800"/>
            <a:ext cx="1314450" cy="1371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>
            <a:off x="4267200" y="3962400"/>
            <a:ext cx="16002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790124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Missing </a:t>
            </a:r>
            <a:r>
              <a:rPr lang="en-US" dirty="0" err="1" smtClean="0"/>
              <a:t>First_Name</a:t>
            </a:r>
            <a:r>
              <a:rPr lang="en-US" dirty="0" smtClean="0"/>
              <a:t> – will not validate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28600" y="1828800"/>
            <a:ext cx="8641773" cy="1524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7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57200" y="4038600"/>
            <a:ext cx="5450749" cy="24241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2769141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Unless optional label is set to true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28773" y="2209800"/>
            <a:ext cx="8511714" cy="320992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4216992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81000" y="2078084"/>
            <a:ext cx="6334125" cy="4657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Enum</a:t>
            </a:r>
            <a:r>
              <a:rPr lang="en-US" dirty="0" smtClean="0"/>
              <a:t> – March value does not validate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541238" y="1480782"/>
            <a:ext cx="5410200" cy="246171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280500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smtClean="0"/>
              <a:t>Turn object to string – </a:t>
            </a:r>
            <a:r>
              <a:rPr lang="en-US" sz="3200" dirty="0" smtClean="0">
                <a:solidFill>
                  <a:srgbClr val="FF0000"/>
                </a:solidFill>
              </a:rPr>
              <a:t>does not validate now</a:t>
            </a:r>
            <a:r>
              <a:rPr lang="en-US" sz="3200" dirty="0" smtClean="0"/>
              <a:t> – schema specifies array of objects in Author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28600" y="1828800"/>
            <a:ext cx="8365981" cy="21526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48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447800" y="3657600"/>
            <a:ext cx="5366835" cy="26146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3191900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62000" y="2209800"/>
            <a:ext cx="7772400" cy="13620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Different types can be allowed by specification – e.g., allow year as </a:t>
            </a:r>
            <a:r>
              <a:rPr lang="en-US" dirty="0" err="1" smtClean="0"/>
              <a:t>int</a:t>
            </a:r>
            <a:r>
              <a:rPr lang="en-US" dirty="0" smtClean="0"/>
              <a:t> &amp; string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7290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Original file will not validate with the year as a string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14400" y="1524000"/>
            <a:ext cx="7064161" cy="525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2108955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Change specification to array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38200" y="2956942"/>
            <a:ext cx="7551968" cy="176212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1262283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52400" y="380999"/>
            <a:ext cx="6334125" cy="4162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514600" y="2462211"/>
            <a:ext cx="6457950" cy="424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52400" y="5257800"/>
            <a:ext cx="2133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Validating  for both string and </a:t>
            </a:r>
            <a:r>
              <a:rPr lang="en-US" dirty="0" err="1" smtClean="0"/>
              <a:t>int</a:t>
            </a:r>
            <a:r>
              <a:rPr lang="en-US" dirty="0" smtClean="0"/>
              <a:t> year now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754052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End of demo. Not exhaustive. Just an example.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67711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endParaRPr lang="en-US" dirty="0" smtClean="0"/>
          </a:p>
          <a:p>
            <a:endParaRPr lang="en-US" dirty="0"/>
          </a:p>
          <a:p>
            <a:r>
              <a:rPr lang="en-US" i="1" dirty="0"/>
              <a:t>Content adapted from </a:t>
            </a:r>
            <a:r>
              <a:rPr lang="en-US" i="1" dirty="0">
                <a:hlinkClick r:id="rId2"/>
              </a:rPr>
              <a:t>http://</a:t>
            </a:r>
            <a:r>
              <a:rPr lang="en-US" i="1" dirty="0" smtClean="0">
                <a:hlinkClick r:id="rId2"/>
              </a:rPr>
              <a:t>www.webmonkey.com/2010/02/get_started_with_json</a:t>
            </a:r>
            <a:r>
              <a:rPr lang="en-US" i="1" dirty="0"/>
              <a:t> and </a:t>
            </a:r>
            <a:r>
              <a:rPr lang="en-US" i="1" dirty="0">
                <a:hlinkClick r:id="rId3"/>
              </a:rPr>
              <a:t>http://</a:t>
            </a:r>
            <a:r>
              <a:rPr lang="en-US" i="1" dirty="0" smtClean="0">
                <a:hlinkClick r:id="rId3"/>
              </a:rPr>
              <a:t>www.w3schools.com/json/default.asp</a:t>
            </a:r>
            <a:endParaRPr lang="en-US" i="1" dirty="0" smtClean="0"/>
          </a:p>
          <a:p>
            <a:endParaRPr lang="en-US" i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556458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2624</TotalTime>
  <Words>607</Words>
  <Application>Microsoft Office PowerPoint</Application>
  <PresentationFormat>On-screen Show (4:3)</PresentationFormat>
  <Paragraphs>144</Paragraphs>
  <Slides>66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67" baseType="lpstr">
      <vt:lpstr>Office Theme</vt:lpstr>
      <vt:lpstr>Advanced Database Management Systems (CSC-234)</vt:lpstr>
      <vt:lpstr>JavaScript Object Notation (JSON)</vt:lpstr>
      <vt:lpstr>JavaScript Object Notation (JSON)</vt:lpstr>
      <vt:lpstr>JSON</vt:lpstr>
      <vt:lpstr>Relational Model vs. JSON</vt:lpstr>
      <vt:lpstr>Syntactically Valid JSON</vt:lpstr>
      <vt:lpstr>Semantically Valid JSON</vt:lpstr>
      <vt:lpstr>Demo</vt:lpstr>
      <vt:lpstr>Demo Data (Bookstore.json)</vt:lpstr>
      <vt:lpstr>Slide 10</vt:lpstr>
      <vt:lpstr>Error?</vt:lpstr>
      <vt:lpstr>Comma missing</vt:lpstr>
      <vt:lpstr>Error?</vt:lpstr>
      <vt:lpstr>Extra brace</vt:lpstr>
      <vt:lpstr>Error?</vt:lpstr>
      <vt:lpstr>Quotes around string missing</vt:lpstr>
      <vt:lpstr>Only unquoted values</vt:lpstr>
      <vt:lpstr>Error?</vt:lpstr>
      <vt:lpstr>Quotes around label missing</vt:lpstr>
      <vt:lpstr>Price value quoted – not an error</vt:lpstr>
      <vt:lpstr>Null (reserved word) value is acceptable, no quotes</vt:lpstr>
      <vt:lpstr>Error?</vt:lpstr>
      <vt:lpstr>Not a reserved word, no quotes</vt:lpstr>
      <vt:lpstr>Arrays don’t need to have the same type of values as their elements</vt:lpstr>
      <vt:lpstr>First element of Authors changed to simple string</vt:lpstr>
      <vt:lpstr>Empty elements also acceptable (see Magazines)</vt:lpstr>
      <vt:lpstr>Array length can be zero (see Authors)</vt:lpstr>
      <vt:lpstr>Error?</vt:lpstr>
      <vt:lpstr>Entire value is now missing from the label-value pair</vt:lpstr>
      <vt:lpstr>One string element in the array is acceptable</vt:lpstr>
      <vt:lpstr>Error?</vt:lpstr>
      <vt:lpstr>The value is an object, and objects are always label-value pairs</vt:lpstr>
      <vt:lpstr>This is acceptable</vt:lpstr>
      <vt:lpstr>Examples Recap</vt:lpstr>
      <vt:lpstr>Json schema: add constraints beyond basic syntactic correctness</vt:lpstr>
      <vt:lpstr>Like xml schema, expressed in the data model itself</vt:lpstr>
      <vt:lpstr>JSON SCHEMA</vt:lpstr>
      <vt:lpstr>Validator</vt:lpstr>
      <vt:lpstr>Catches syntactic errors (comma removed)</vt:lpstr>
      <vt:lpstr>semantic correctness demo</vt:lpstr>
      <vt:lpstr>Price Specification</vt:lpstr>
      <vt:lpstr>Price as a string will not validate</vt:lpstr>
      <vt:lpstr>Price above range will not validate</vt:lpstr>
      <vt:lpstr>Pattern matching for strings</vt:lpstr>
      <vt:lpstr>Isbn*</vt:lpstr>
      <vt:lpstr>Drop I from ISBN, validation fails</vt:lpstr>
      <vt:lpstr>Constrain number of elements in an array</vt:lpstr>
      <vt:lpstr>Array Constraints</vt:lpstr>
      <vt:lpstr>Error on removing all authors</vt:lpstr>
      <vt:lpstr>Validates when minItem set to zero</vt:lpstr>
      <vt:lpstr>Or just remove the minItem constraint – still valid</vt:lpstr>
      <vt:lpstr>Adding items that aren’t in the schema</vt:lpstr>
      <vt:lpstr>Add “rating” – validates – even though it is not in the schema</vt:lpstr>
      <vt:lpstr>Additions are allowed by default – but can be disallowed by setting a flag in the schema</vt:lpstr>
      <vt:lpstr>Slide 55</vt:lpstr>
      <vt:lpstr>Slide 56</vt:lpstr>
      <vt:lpstr>Missing First_Name – will not validate</vt:lpstr>
      <vt:lpstr>Unless optional label is set to true</vt:lpstr>
      <vt:lpstr>Enum – March value does not validate</vt:lpstr>
      <vt:lpstr>Turn object to string – does not validate now – schema specifies array of objects in Author</vt:lpstr>
      <vt:lpstr>Different types can be allowed by specification – e.g., allow year as int &amp; string</vt:lpstr>
      <vt:lpstr>Original file will not validate with the year as a string</vt:lpstr>
      <vt:lpstr>Change specification to array</vt:lpstr>
      <vt:lpstr>Slide 64</vt:lpstr>
      <vt:lpstr>End of demo. Not exhaustive. Just an example.</vt:lpstr>
      <vt:lpstr>Slide 66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Database Management Systems (CSC-302)</dc:title>
  <dc:creator>huda</dc:creator>
  <cp:lastModifiedBy>Pc</cp:lastModifiedBy>
  <cp:revision>233</cp:revision>
  <dcterms:created xsi:type="dcterms:W3CDTF">2006-08-16T00:00:00Z</dcterms:created>
  <dcterms:modified xsi:type="dcterms:W3CDTF">2025-04-23T05:49:52Z</dcterms:modified>
</cp:coreProperties>
</file>