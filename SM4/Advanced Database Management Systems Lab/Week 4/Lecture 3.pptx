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337" r:id="rId3"/>
    <p:sldId id="386" r:id="rId4"/>
    <p:sldId id="439" r:id="rId5"/>
    <p:sldId id="440" r:id="rId6"/>
    <p:sldId id="438" r:id="rId7"/>
    <p:sldId id="441" r:id="rId8"/>
    <p:sldId id="466" r:id="rId9"/>
    <p:sldId id="443" r:id="rId10"/>
    <p:sldId id="446" r:id="rId11"/>
    <p:sldId id="468" r:id="rId12"/>
    <p:sldId id="447" r:id="rId13"/>
    <p:sldId id="469" r:id="rId14"/>
    <p:sldId id="470" r:id="rId15"/>
    <p:sldId id="471" r:id="rId16"/>
    <p:sldId id="293" r:id="rId17"/>
    <p:sldId id="472" r:id="rId18"/>
  </p:sldIdLst>
  <p:sldSz cx="9144000" cy="5143500" type="screen16x9"/>
  <p:notesSz cx="6858000" cy="9144000"/>
  <p:embeddedFontLst>
    <p:embeddedFont>
      <p:font typeface="Arial Bold" panose="020B0704020202020204" pitchFamily="34" charset="0"/>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94" y="96"/>
      </p:cViewPr>
      <p:guideLst>
        <p:guide orient="horz" pos="162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e878c25f7a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a:solidFill>
                  <a:srgbClr val="666666"/>
                </a:solidFill>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e87f0ee85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e87f0ee85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solidFill>
                <a:srgbClr val="666666"/>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8"/>
        <p:cNvGrpSpPr/>
        <p:nvPr/>
      </p:nvGrpSpPr>
      <p:grpSpPr>
        <a:xfrm>
          <a:off x="0" y="0"/>
          <a:ext cx="0" cy="0"/>
          <a:chOff x="0" y="0"/>
          <a:chExt cx="0" cy="0"/>
        </a:xfrm>
      </p:grpSpPr>
      <p:pic>
        <p:nvPicPr>
          <p:cNvPr id="59" name="Google Shape;59;p13"/>
          <p:cNvPicPr preferRelativeResize="0"/>
          <p:nvPr/>
        </p:nvPicPr>
        <p:blipFill rotWithShape="1">
          <a:blip r:embed="rId4"/>
          <a:srcRect l="3332" r="3332"/>
          <a:stretch>
            <a:fillRect/>
          </a:stretch>
        </p:blipFill>
        <p:spPr>
          <a:xfrm>
            <a:off x="0" y="0"/>
            <a:ext cx="9144000" cy="5143500"/>
          </a:xfrm>
          <a:prstGeom prst="rect">
            <a:avLst/>
          </a:prstGeom>
          <a:noFill/>
          <a:ln>
            <a:noFill/>
          </a:ln>
          <a:effectLst>
            <a:outerShdw blurRad="57150" dist="19050" algn="bl" rotWithShape="0">
              <a:srgbClr val="000000">
                <a:alpha val="0"/>
              </a:srgbClr>
            </a:outerShdw>
          </a:effectLst>
        </p:spPr>
      </p:pic>
      <p:sp>
        <p:nvSpPr>
          <p:cNvPr id="60" name="Google Shape;60;p13"/>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6000" dirty="0"/>
              <a:t>Advanced Database Management Systems </a:t>
            </a:r>
            <a:endParaRPr sz="6000" dirty="0"/>
          </a:p>
        </p:txBody>
      </p:sp>
      <p:cxnSp>
        <p:nvCxnSpPr>
          <p:cNvPr id="63" name="Google Shape;63;p13"/>
          <p:cNvCxnSpPr/>
          <p:nvPr/>
        </p:nvCxnSpPr>
        <p:spPr>
          <a:xfrm rot="10800000" flipH="1">
            <a:off x="615150" y="2984525"/>
            <a:ext cx="6186300" cy="135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a:spLocks noGrp="1"/>
          </p:cNvSpPr>
          <p:nvPr>
            <p:ph type="subTitle" idx="1"/>
          </p:nvPr>
        </p:nvSpPr>
        <p:spPr/>
        <p:txBody>
          <a:bodyPr/>
          <a:lstStyle/>
          <a:p>
            <a:r>
              <a:rPr lang="en-US" dirty="0"/>
              <a:t>Lecture 3</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820" dirty="0"/>
              <a:t>SQ</a:t>
            </a:r>
            <a:r>
              <a:rPr lang="en-US" altLang="en-GB" sz="2820" dirty="0"/>
              <a:t>L CLAUSES</a:t>
            </a:r>
            <a:endParaRPr lang="en-US" altLang="en-GB" sz="2820" b="1" dirty="0"/>
          </a:p>
        </p:txBody>
      </p:sp>
      <p:sp>
        <p:nvSpPr>
          <p:cNvPr id="125" name="Google Shape;125;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01600" lvl="0" indent="0" algn="l" rtl="0">
              <a:lnSpc>
                <a:spcPct val="115000"/>
              </a:lnSpc>
              <a:spcBef>
                <a:spcPts val="0"/>
              </a:spcBef>
              <a:spcAft>
                <a:spcPts val="0"/>
              </a:spcAft>
              <a:buClr>
                <a:schemeClr val="dk1"/>
              </a:buClr>
              <a:buSzPts val="2000"/>
              <a:buNone/>
            </a:pPr>
            <a:endParaRPr lang="en-US" dirty="0"/>
          </a:p>
          <a:p>
            <a:pPr marL="387350" lvl="0" indent="-285750" algn="l" rtl="0">
              <a:lnSpc>
                <a:spcPct val="115000"/>
              </a:lnSpc>
              <a:spcBef>
                <a:spcPts val="0"/>
              </a:spcBef>
              <a:spcAft>
                <a:spcPts val="0"/>
              </a:spcAft>
              <a:buClr>
                <a:schemeClr val="dk1"/>
              </a:buClr>
              <a:buSzPts val="2000"/>
              <a:buFont typeface="Wingdings" panose="05000000000000000000" charset="0"/>
              <a:buChar char=""/>
            </a:pPr>
            <a:r>
              <a:rPr lang="en-US" dirty="0"/>
              <a:t>Join clause</a:t>
            </a:r>
          </a:p>
          <a:p>
            <a:pPr marL="387350" lvl="0" indent="-285750" algn="l" rtl="0">
              <a:lnSpc>
                <a:spcPct val="115000"/>
              </a:lnSpc>
              <a:spcBef>
                <a:spcPts val="0"/>
              </a:spcBef>
              <a:spcAft>
                <a:spcPts val="0"/>
              </a:spcAft>
              <a:buClr>
                <a:schemeClr val="dk1"/>
              </a:buClr>
              <a:buSzPts val="2000"/>
              <a:buFont typeface="Wingdings" panose="05000000000000000000" charset="0"/>
              <a:buChar char=""/>
            </a:pPr>
            <a:r>
              <a:rPr lang="en-US" dirty="0"/>
              <a:t>Inner Join</a:t>
            </a:r>
          </a:p>
          <a:p>
            <a:pPr marL="387350" lvl="0" indent="-285750" algn="l" rtl="0">
              <a:lnSpc>
                <a:spcPct val="115000"/>
              </a:lnSpc>
              <a:spcBef>
                <a:spcPts val="0"/>
              </a:spcBef>
              <a:spcAft>
                <a:spcPts val="0"/>
              </a:spcAft>
              <a:buClr>
                <a:schemeClr val="dk1"/>
              </a:buClr>
              <a:buSzPts val="2000"/>
              <a:buFont typeface="Wingdings" panose="05000000000000000000" charset="0"/>
              <a:buChar char=""/>
            </a:pPr>
            <a:r>
              <a:rPr lang="en-US" dirty="0"/>
              <a:t>Outer Join</a:t>
            </a:r>
          </a:p>
          <a:p>
            <a:pPr marL="387350" lvl="0" indent="-285750" algn="l" rtl="0">
              <a:lnSpc>
                <a:spcPct val="115000"/>
              </a:lnSpc>
              <a:spcBef>
                <a:spcPts val="0"/>
              </a:spcBef>
              <a:spcAft>
                <a:spcPts val="0"/>
              </a:spcAft>
              <a:buClr>
                <a:schemeClr val="dk1"/>
              </a:buClr>
              <a:buSzPts val="2000"/>
              <a:buFont typeface="Wingdings" panose="05000000000000000000" charset="0"/>
              <a:buChar char=""/>
            </a:pPr>
            <a:r>
              <a:rPr lang="en-US" dirty="0"/>
              <a:t>Cross Join</a:t>
            </a:r>
          </a:p>
          <a:p>
            <a:pPr marL="387350" lvl="0" indent="-285750" algn="l" rtl="0">
              <a:lnSpc>
                <a:spcPct val="115000"/>
              </a:lnSpc>
              <a:spcBef>
                <a:spcPts val="0"/>
              </a:spcBef>
              <a:spcAft>
                <a:spcPts val="0"/>
              </a:spcAft>
              <a:buClr>
                <a:schemeClr val="dk1"/>
              </a:buClr>
              <a:buSzPts val="2000"/>
              <a:buFont typeface="Wingdings" panose="05000000000000000000" charset="0"/>
              <a:buChar char=""/>
            </a:pPr>
            <a:r>
              <a:rPr lang="en-US" dirty="0"/>
              <a:t>Self Join</a:t>
            </a:r>
          </a:p>
          <a:p>
            <a:pPr marL="101600" lvl="0" indent="0" algn="l" rtl="0">
              <a:lnSpc>
                <a:spcPct val="115000"/>
              </a:lnSpc>
              <a:spcBef>
                <a:spcPts val="0"/>
              </a:spcBef>
              <a:spcAft>
                <a:spcPts val="0"/>
              </a:spcAft>
              <a:buClr>
                <a:schemeClr val="dk1"/>
              </a:buClr>
              <a:buSzPts val="2000"/>
              <a:buFont typeface="Wingdings" panose="05000000000000000000" charse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820" dirty="0"/>
              <a:t>SQL </a:t>
            </a:r>
            <a:r>
              <a:rPr lang="en-US" altLang="en-GB" sz="2820" dirty="0"/>
              <a:t>Join </a:t>
            </a:r>
            <a:r>
              <a:rPr lang="en-US" altLang="en-GB" sz="2820" dirty="0">
                <a:sym typeface="+mn-ea"/>
              </a:rPr>
              <a:t>Clause</a:t>
            </a:r>
            <a:endParaRPr sz="3120" b="1" dirty="0"/>
          </a:p>
        </p:txBody>
      </p:sp>
      <p:sp>
        <p:nvSpPr>
          <p:cNvPr id="125" name="Google Shape;125;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Char char="●"/>
            </a:pPr>
            <a:r>
              <a:rPr lang="en-GB" sz="1600"/>
              <a:t>In</a:t>
            </a:r>
            <a:r>
              <a:rPr lang="en-US" altLang="en-GB" sz="1600"/>
              <a:t> </a:t>
            </a:r>
            <a:r>
              <a:rPr lang="en-GB" sz="1600"/>
              <a:t>Relational</a:t>
            </a:r>
            <a:r>
              <a:rPr lang="en-US" altLang="en-GB" sz="1600"/>
              <a:t> </a:t>
            </a:r>
            <a:r>
              <a:rPr lang="en-GB" sz="1600"/>
              <a:t>Database,JOIN</a:t>
            </a:r>
            <a:r>
              <a:rPr lang="en-US" altLang="en-GB" sz="1600"/>
              <a:t> </a:t>
            </a:r>
            <a:r>
              <a:rPr lang="en-GB" sz="1600"/>
              <a:t>is</a:t>
            </a:r>
            <a:r>
              <a:rPr lang="en-US" altLang="en-GB" sz="1600"/>
              <a:t> </a:t>
            </a:r>
            <a:r>
              <a:rPr lang="en-GB" sz="1600"/>
              <a:t>used</a:t>
            </a:r>
            <a:r>
              <a:rPr lang="en-US" altLang="en-GB" sz="1600"/>
              <a:t> </a:t>
            </a:r>
            <a:r>
              <a:rPr lang="en-GB" sz="1600"/>
              <a:t>to</a:t>
            </a:r>
            <a:r>
              <a:rPr lang="en-US" altLang="en-GB" sz="1600"/>
              <a:t> </a:t>
            </a:r>
            <a:r>
              <a:rPr lang="en-GB" sz="1600"/>
              <a:t>combine</a:t>
            </a:r>
            <a:r>
              <a:rPr lang="en-US" altLang="en-GB" sz="1600"/>
              <a:t> </a:t>
            </a:r>
            <a:r>
              <a:rPr lang="en-GB" sz="1600"/>
              <a:t>columns</a:t>
            </a:r>
            <a:r>
              <a:rPr lang="en-US" altLang="en-GB" sz="1600"/>
              <a:t> </a:t>
            </a:r>
            <a:r>
              <a:rPr lang="en-GB" sz="1600"/>
              <a:t>from</a:t>
            </a:r>
            <a:r>
              <a:rPr lang="en-US" altLang="en-GB" sz="1600"/>
              <a:t> </a:t>
            </a:r>
            <a:r>
              <a:rPr lang="en-GB" sz="1600"/>
              <a:t>one</a:t>
            </a:r>
            <a:r>
              <a:rPr lang="en-US" altLang="en-GB" sz="1600"/>
              <a:t> </a:t>
            </a:r>
            <a:r>
              <a:rPr lang="en-GB" sz="1600"/>
              <a:t>or</a:t>
            </a:r>
            <a:r>
              <a:rPr lang="en-US" altLang="en-GB" sz="1600"/>
              <a:t> </a:t>
            </a:r>
            <a:r>
              <a:rPr lang="en-GB" sz="1600"/>
              <a:t>more</a:t>
            </a:r>
            <a:r>
              <a:rPr lang="en-US" altLang="en-GB" sz="1600"/>
              <a:t> </a:t>
            </a:r>
            <a:r>
              <a:rPr lang="en-GB" sz="1600"/>
              <a:t>tables.</a:t>
            </a:r>
          </a:p>
          <a:p>
            <a:pPr marL="457200" lvl="0" indent="-355600" algn="l" rtl="0">
              <a:lnSpc>
                <a:spcPct val="115000"/>
              </a:lnSpc>
              <a:spcBef>
                <a:spcPts val="0"/>
              </a:spcBef>
              <a:spcAft>
                <a:spcPts val="0"/>
              </a:spcAft>
              <a:buClr>
                <a:schemeClr val="dk1"/>
              </a:buClr>
              <a:buSzPts val="2000"/>
              <a:buChar char="●"/>
            </a:pPr>
            <a:r>
              <a:rPr lang="en-GB" sz="1600"/>
              <a:t>There</a:t>
            </a:r>
            <a:r>
              <a:rPr lang="en-US" altLang="en-GB" sz="1600"/>
              <a:t> </a:t>
            </a:r>
            <a:r>
              <a:rPr lang="en-GB" sz="1600"/>
              <a:t>must</a:t>
            </a:r>
            <a:r>
              <a:rPr lang="en-US" altLang="en-GB" sz="1600"/>
              <a:t> </a:t>
            </a:r>
            <a:r>
              <a:rPr lang="en-GB" sz="1600"/>
              <a:t>be</a:t>
            </a:r>
            <a:r>
              <a:rPr lang="en-US" altLang="en-GB" sz="1600"/>
              <a:t> </a:t>
            </a:r>
            <a:r>
              <a:rPr lang="en-GB" sz="1600"/>
              <a:t>some</a:t>
            </a:r>
            <a:r>
              <a:rPr lang="en-US" altLang="en-GB" sz="1600"/>
              <a:t> </a:t>
            </a:r>
            <a:r>
              <a:rPr lang="en-GB" sz="1600"/>
              <a:t>common</a:t>
            </a:r>
            <a:r>
              <a:rPr lang="en-US" altLang="en-GB" sz="1600"/>
              <a:t> </a:t>
            </a:r>
            <a:r>
              <a:rPr lang="en-GB" sz="1600"/>
              <a:t>identifiers</a:t>
            </a:r>
            <a:r>
              <a:rPr lang="en-US" altLang="en-GB" sz="1600"/>
              <a:t> </a:t>
            </a:r>
            <a:r>
              <a:rPr lang="en-GB" sz="1600"/>
              <a:t>that</a:t>
            </a:r>
            <a:r>
              <a:rPr lang="en-US" altLang="en-GB" sz="1600"/>
              <a:t> </a:t>
            </a:r>
            <a:r>
              <a:rPr lang="en-GB" sz="1600"/>
              <a:t>allow</a:t>
            </a:r>
            <a:r>
              <a:rPr lang="en-US" altLang="en-GB" sz="1600"/>
              <a:t> </a:t>
            </a:r>
            <a:r>
              <a:rPr lang="en-GB" sz="1600"/>
              <a:t>information</a:t>
            </a:r>
            <a:r>
              <a:rPr lang="en-US" altLang="en-GB" sz="1600"/>
              <a:t> </a:t>
            </a:r>
            <a:r>
              <a:rPr lang="en-GB" sz="1600"/>
              <a:t>from</a:t>
            </a:r>
            <a:r>
              <a:rPr lang="en-US" altLang="en-GB" sz="1600"/>
              <a:t> </a:t>
            </a:r>
            <a:r>
              <a:rPr lang="en-GB" sz="1600"/>
              <a:t>multiple</a:t>
            </a:r>
            <a:r>
              <a:rPr lang="en-US" altLang="en-GB" sz="1600"/>
              <a:t> </a:t>
            </a:r>
            <a:r>
              <a:rPr lang="en-GB" sz="1600"/>
              <a:t>tables</a:t>
            </a:r>
            <a:r>
              <a:rPr lang="en-US" altLang="en-GB" sz="1600"/>
              <a:t> </a:t>
            </a:r>
            <a:r>
              <a:rPr lang="en-GB" sz="1600"/>
              <a:t>to</a:t>
            </a:r>
            <a:r>
              <a:rPr lang="en-US" altLang="en-GB" sz="1600"/>
              <a:t> </a:t>
            </a:r>
            <a:r>
              <a:rPr lang="en-GB" sz="1600"/>
              <a:t>be</a:t>
            </a:r>
            <a:r>
              <a:rPr lang="en-US" altLang="en-GB" sz="1600"/>
              <a:t> </a:t>
            </a:r>
            <a:r>
              <a:rPr lang="en-GB" sz="1600"/>
              <a:t>combined</a:t>
            </a:r>
            <a:r>
              <a:rPr lang="en-US" altLang="en-GB" sz="1600"/>
              <a:t> </a:t>
            </a:r>
            <a:r>
              <a:rPr lang="en-GB" sz="1600"/>
              <a:t>easily.</a:t>
            </a:r>
          </a:p>
          <a:p>
            <a:pPr marL="457200" lvl="0" indent="-355600" algn="l" rtl="0">
              <a:lnSpc>
                <a:spcPct val="115000"/>
              </a:lnSpc>
              <a:spcBef>
                <a:spcPts val="0"/>
              </a:spcBef>
              <a:spcAft>
                <a:spcPts val="0"/>
              </a:spcAft>
              <a:buClr>
                <a:schemeClr val="dk1"/>
              </a:buClr>
              <a:buSzPts val="2000"/>
              <a:buChar char="●"/>
            </a:pPr>
            <a:endParaRPr sz="1600"/>
          </a:p>
        </p:txBody>
      </p:sp>
      <p:pic>
        <p:nvPicPr>
          <p:cNvPr id="2" name="Picture 1"/>
          <p:cNvPicPr>
            <a:picLocks noChangeAspect="1"/>
          </p:cNvPicPr>
          <p:nvPr/>
        </p:nvPicPr>
        <p:blipFill>
          <a:blip r:embed="rId3"/>
          <a:stretch>
            <a:fillRect/>
          </a:stretch>
        </p:blipFill>
        <p:spPr>
          <a:xfrm>
            <a:off x="1689100" y="2202815"/>
            <a:ext cx="4879975" cy="26384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400" dirty="0"/>
              <a:t>SQL </a:t>
            </a:r>
            <a:r>
              <a:rPr lang="en-US" altLang="en-GB" sz="2400" dirty="0"/>
              <a:t>Join Example</a:t>
            </a:r>
            <a:endParaRPr sz="2400" b="1" dirty="0"/>
          </a:p>
        </p:txBody>
      </p:sp>
      <p:sp>
        <p:nvSpPr>
          <p:cNvPr id="4" name="Text Box 3"/>
          <p:cNvSpPr txBox="1"/>
          <p:nvPr/>
        </p:nvSpPr>
        <p:spPr>
          <a:xfrm>
            <a:off x="382905" y="715010"/>
            <a:ext cx="8378190" cy="4292600"/>
          </a:xfrm>
          <a:prstGeom prst="rect">
            <a:avLst/>
          </a:prstGeom>
          <a:noFill/>
        </p:spPr>
        <p:txBody>
          <a:bodyPr wrap="square" rtlCol="0" anchor="t">
            <a:spAutoFit/>
          </a:bodyPr>
          <a:lstStyle/>
          <a:p>
            <a:pPr>
              <a:lnSpc>
                <a:spcPct val="150000"/>
              </a:lnSpc>
            </a:pPr>
            <a:r>
              <a:rPr lang="en-US" dirty="0"/>
              <a:t>Consider the two tables below as follows:</a:t>
            </a:r>
          </a:p>
          <a:p>
            <a:pPr>
              <a:lnSpc>
                <a:spcPct val="150000"/>
              </a:lnSpc>
            </a:pPr>
            <a:r>
              <a:rPr lang="en-US" b="1" dirty="0">
                <a:latin typeface="Arial Bold" panose="020B0604020202020204" charset="0"/>
                <a:cs typeface="Arial Bold" panose="020B0604020202020204" charset="0"/>
              </a:rPr>
              <a:t>Table 1: </a:t>
            </a:r>
            <a:r>
              <a:rPr lang="en-US" b="1" dirty="0" err="1">
                <a:latin typeface="Arial Bold" panose="020B0604020202020204" charset="0"/>
                <a:cs typeface="Arial Bold" panose="020B0604020202020204" charset="0"/>
              </a:rPr>
              <a:t>Studentt</a:t>
            </a:r>
            <a:r>
              <a:rPr lang="en-US" b="1" dirty="0">
                <a:latin typeface="Arial Bold" panose="020B0604020202020204" charset="0"/>
                <a:cs typeface="Arial Bold" panose="020B0604020202020204" charset="0"/>
              </a:rPr>
              <a:t>                                                                           </a:t>
            </a:r>
            <a:r>
              <a:rPr lang="en-US" b="1" dirty="0">
                <a:latin typeface="Arial Bold" panose="020B0604020202020204" charset="0"/>
                <a:cs typeface="Arial Bold" panose="020B0604020202020204" charset="0"/>
                <a:sym typeface="+mn-ea"/>
              </a:rPr>
              <a:t>Table 2: </a:t>
            </a:r>
            <a:r>
              <a:rPr lang="en-US" b="1" dirty="0" err="1">
                <a:latin typeface="Arial Bold" panose="020B0604020202020204" charset="0"/>
                <a:cs typeface="Arial Bold" panose="020B0604020202020204" charset="0"/>
                <a:sym typeface="+mn-ea"/>
              </a:rPr>
              <a:t>std_courses</a:t>
            </a:r>
            <a:endParaRPr lang="en-US" b="1" dirty="0">
              <a:latin typeface="Arial Bold" panose="020B0604020202020204" charset="0"/>
              <a:cs typeface="Arial Bold" panose="020B0604020202020204" charset="0"/>
            </a:endParaRPr>
          </a:p>
          <a:p>
            <a:pPr>
              <a:lnSpc>
                <a:spcPct val="150000"/>
              </a:lnSpc>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Image 13-09-2024 at 3.53 PM"/>
          <p:cNvPicPr>
            <a:picLocks noChangeAspect="1"/>
          </p:cNvPicPr>
          <p:nvPr/>
        </p:nvPicPr>
        <p:blipFill>
          <a:blip r:embed="rId3"/>
          <a:stretch>
            <a:fillRect/>
          </a:stretch>
        </p:blipFill>
        <p:spPr>
          <a:xfrm>
            <a:off x="524510" y="1959610"/>
            <a:ext cx="4236085" cy="1936115"/>
          </a:xfrm>
          <a:prstGeom prst="rect">
            <a:avLst/>
          </a:prstGeom>
        </p:spPr>
      </p:pic>
      <p:pic>
        <p:nvPicPr>
          <p:cNvPr id="7" name="Picture 6" descr="Image 13-09-2024 at 3.52 PM"/>
          <p:cNvPicPr>
            <a:picLocks noChangeAspect="1"/>
          </p:cNvPicPr>
          <p:nvPr/>
        </p:nvPicPr>
        <p:blipFill>
          <a:blip r:embed="rId4"/>
          <a:stretch>
            <a:fillRect/>
          </a:stretch>
        </p:blipFill>
        <p:spPr>
          <a:xfrm>
            <a:off x="5553075" y="1777365"/>
            <a:ext cx="2819400" cy="27444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400"/>
              <a:t>SQL </a:t>
            </a:r>
            <a:r>
              <a:rPr lang="en-US" altLang="en-GB" sz="2400"/>
              <a:t>Join Example(Cont...)</a:t>
            </a:r>
            <a:endParaRPr sz="2400" b="1"/>
          </a:p>
        </p:txBody>
      </p:sp>
      <p:sp>
        <p:nvSpPr>
          <p:cNvPr id="4" name="Text Box 3"/>
          <p:cNvSpPr txBox="1"/>
          <p:nvPr/>
        </p:nvSpPr>
        <p:spPr>
          <a:xfrm>
            <a:off x="382905" y="715010"/>
            <a:ext cx="8378190" cy="3076575"/>
          </a:xfrm>
          <a:prstGeom prst="rect">
            <a:avLst/>
          </a:prstGeom>
          <a:noFill/>
        </p:spPr>
        <p:txBody>
          <a:bodyPr wrap="square" rtlCol="0" anchor="t">
            <a:spAutoFit/>
          </a:bodyPr>
          <a:lstStyle/>
          <a:p>
            <a:pPr>
              <a:lnSpc>
                <a:spcPct val="150000"/>
              </a:lnSpc>
            </a:pPr>
            <a:r>
              <a:rPr lang="en-US"/>
              <a:t>We can perform a JOIN operation using the given SQL query:</a:t>
            </a:r>
          </a:p>
          <a:p>
            <a:pPr>
              <a:lnSpc>
                <a:spcPct val="150000"/>
              </a:lnSpc>
            </a:pPr>
            <a:r>
              <a:rPr lang="en-US" b="1">
                <a:latin typeface="Arial Bold" panose="020B0604020202020204" charset="0"/>
                <a:cs typeface="Arial Bold" panose="020B0604020202020204" charset="0"/>
              </a:rPr>
              <a:t>Query: </a:t>
            </a:r>
          </a:p>
          <a:p>
            <a:pPr>
              <a:lnSpc>
                <a:spcPct val="150000"/>
              </a:lnSpc>
            </a:pPr>
            <a:r>
              <a:rPr lang="en-US" sz="1200">
                <a:latin typeface="Arial" panose="020B0604020202020204" pitchFamily="34" charset="0"/>
                <a:cs typeface="Arial" panose="020B0604020202020204" pitchFamily="34" charset="0"/>
              </a:rPr>
              <a:t>SELECT s.roll_no, s.name, s.address, s.phone, s.age, sc.course_id</a:t>
            </a:r>
          </a:p>
          <a:p>
            <a:pPr>
              <a:lnSpc>
                <a:spcPct val="150000"/>
              </a:lnSpc>
            </a:pPr>
            <a:r>
              <a:rPr lang="en-US" sz="1200">
                <a:latin typeface="Arial" panose="020B0604020202020204" pitchFamily="34" charset="0"/>
                <a:cs typeface="Arial" panose="020B0604020202020204" pitchFamily="34" charset="0"/>
              </a:rPr>
              <a:t>FROM studentt s</a:t>
            </a:r>
          </a:p>
          <a:p>
            <a:pPr>
              <a:lnSpc>
                <a:spcPct val="150000"/>
              </a:lnSpc>
            </a:pPr>
            <a:r>
              <a:rPr lang="en-US" sz="1200">
                <a:latin typeface="Arial" panose="020B0604020202020204" pitchFamily="34" charset="0"/>
                <a:cs typeface="Arial" panose="020B0604020202020204" pitchFamily="34" charset="0"/>
              </a:rPr>
              <a:t>JOIN std_courses sc ON s.roll_no = sc.roll_no;</a:t>
            </a:r>
          </a:p>
          <a:p>
            <a:pPr>
              <a:lnSpc>
                <a:spcPct val="150000"/>
              </a:lnSpc>
            </a:pPr>
            <a:endParaRPr lang="en-US" b="1">
              <a:latin typeface="Arial Bold" panose="020B0604020202020204" charset="0"/>
              <a:cs typeface="Arial Bold" panose="020B0604020202020204" charset="0"/>
            </a:endParaRPr>
          </a:p>
          <a:p>
            <a:pPr>
              <a:lnSpc>
                <a:spcPct val="150000"/>
              </a:lnSpc>
            </a:pPr>
            <a:r>
              <a:rPr lang="en-US" b="1">
                <a:latin typeface="Arial Bold" panose="020B0604020202020204" charset="0"/>
                <a:cs typeface="Arial Bold" panose="020B0604020202020204" charset="0"/>
              </a:rPr>
              <a:t>Output:                                                                         </a:t>
            </a:r>
            <a:endParaRPr lang="en-US"/>
          </a:p>
          <a:p>
            <a:endParaRPr lang="en-US"/>
          </a:p>
          <a:p>
            <a:endParaRPr lang="en-US"/>
          </a:p>
          <a:p>
            <a:endParaRPr lang="en-US"/>
          </a:p>
          <a:p>
            <a:endParaRPr lang="en-US"/>
          </a:p>
        </p:txBody>
      </p:sp>
      <p:pic>
        <p:nvPicPr>
          <p:cNvPr id="2" name="Picture 1" descr="Image 13-09-2024 at 3.59 PM"/>
          <p:cNvPicPr>
            <a:picLocks noChangeAspect="1"/>
          </p:cNvPicPr>
          <p:nvPr/>
        </p:nvPicPr>
        <p:blipFill>
          <a:blip r:embed="rId3"/>
          <a:stretch>
            <a:fillRect/>
          </a:stretch>
        </p:blipFill>
        <p:spPr>
          <a:xfrm>
            <a:off x="1729740" y="2421890"/>
            <a:ext cx="6870700" cy="24720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US" altLang="en-GB" sz="2820"/>
              <a:t>Different Types of </a:t>
            </a:r>
            <a:r>
              <a:rPr lang="en-GB" sz="2820"/>
              <a:t>SQL </a:t>
            </a:r>
            <a:r>
              <a:rPr lang="en-US" altLang="en-GB" sz="2820"/>
              <a:t>Joins</a:t>
            </a:r>
            <a:endParaRPr sz="3120" b="1"/>
          </a:p>
        </p:txBody>
      </p:sp>
      <p:pic>
        <p:nvPicPr>
          <p:cNvPr id="3" name="Picture 2" descr="Image 13-09-2024 at 1.49 PM"/>
          <p:cNvPicPr>
            <a:picLocks noChangeAspect="1"/>
          </p:cNvPicPr>
          <p:nvPr/>
        </p:nvPicPr>
        <p:blipFill>
          <a:blip r:embed="rId3"/>
          <a:stretch>
            <a:fillRect/>
          </a:stretch>
        </p:blipFill>
        <p:spPr>
          <a:xfrm>
            <a:off x="786130" y="896620"/>
            <a:ext cx="7759700" cy="4048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US" altLang="en-GB" sz="2820"/>
              <a:t>SQL INNER JOIN</a:t>
            </a:r>
            <a:br>
              <a:rPr lang="en-US" altLang="en-GB" sz="2820"/>
            </a:br>
            <a:endParaRPr lang="en-US" sz="3120" b="1"/>
          </a:p>
        </p:txBody>
      </p:sp>
      <p:sp>
        <p:nvSpPr>
          <p:cNvPr id="2" name="Text Box 1"/>
          <p:cNvSpPr txBox="1"/>
          <p:nvPr/>
        </p:nvSpPr>
        <p:spPr>
          <a:xfrm>
            <a:off x="464185" y="939165"/>
            <a:ext cx="7993380" cy="953135"/>
          </a:xfrm>
          <a:prstGeom prst="rect">
            <a:avLst/>
          </a:prstGeom>
          <a:noFill/>
        </p:spPr>
        <p:txBody>
          <a:bodyPr wrap="square" rtlCol="0" anchor="t">
            <a:spAutoFit/>
          </a:bodyPr>
          <a:lstStyle/>
          <a:p>
            <a:pPr algn="just"/>
            <a:r>
              <a:rPr lang="en-US"/>
              <a:t>The </a:t>
            </a:r>
            <a:r>
              <a:rPr lang="en-US" b="1">
                <a:latin typeface="Arial Bold" panose="020B0604020202020204" charset="0"/>
                <a:cs typeface="Arial Bold" panose="020B0604020202020204" charset="0"/>
              </a:rPr>
              <a:t>INNER JOIN</a:t>
            </a:r>
            <a:r>
              <a:rPr lang="en-US"/>
              <a:t> keyword selects all rows from both the tables as long as the condition is satisfied. This keyword will create the result-set by combining all rows from both the tables where the condition satisfies i.e value of the common field will be the same. </a:t>
            </a:r>
          </a:p>
          <a:p>
            <a:pPr algn="just"/>
            <a:endParaRPr lang="en-US"/>
          </a:p>
        </p:txBody>
      </p:sp>
      <p:pic>
        <p:nvPicPr>
          <p:cNvPr id="4" name="Picture 3" descr="Image 13-09-2024 at 4.02 PM"/>
          <p:cNvPicPr>
            <a:picLocks noChangeAspect="1"/>
          </p:cNvPicPr>
          <p:nvPr/>
        </p:nvPicPr>
        <p:blipFill>
          <a:blip r:embed="rId3"/>
          <a:stretch>
            <a:fillRect/>
          </a:stretch>
        </p:blipFill>
        <p:spPr>
          <a:xfrm>
            <a:off x="571500" y="1704340"/>
            <a:ext cx="5410835" cy="3328035"/>
          </a:xfrm>
          <a:prstGeom prst="rect">
            <a:avLst/>
          </a:prstGeom>
        </p:spPr>
      </p:pic>
      <p:pic>
        <p:nvPicPr>
          <p:cNvPr id="3" name="Picture 2" descr="Image 20-10-2024 at 3.47 PM"/>
          <p:cNvPicPr>
            <a:picLocks noChangeAspect="1"/>
          </p:cNvPicPr>
          <p:nvPr/>
        </p:nvPicPr>
        <p:blipFill>
          <a:blip r:embed="rId4"/>
          <a:stretch>
            <a:fillRect/>
          </a:stretch>
        </p:blipFill>
        <p:spPr>
          <a:xfrm>
            <a:off x="6215380" y="1635125"/>
            <a:ext cx="2653030" cy="16884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3" name="Picture 2" descr="Image 20-10-2024 at 3.24 PM"/>
          <p:cNvPicPr>
            <a:picLocks noChangeAspect="1"/>
          </p:cNvPicPr>
          <p:nvPr/>
        </p:nvPicPr>
        <p:blipFill>
          <a:blip r:embed="rId3"/>
          <a:stretch>
            <a:fillRect/>
          </a:stretch>
        </p:blipFill>
        <p:spPr>
          <a:xfrm>
            <a:off x="391160" y="272415"/>
            <a:ext cx="4816475" cy="4598035"/>
          </a:xfrm>
          <a:prstGeom prst="rect">
            <a:avLst/>
          </a:prstGeom>
        </p:spPr>
      </p:pic>
      <p:pic>
        <p:nvPicPr>
          <p:cNvPr id="6" name="Picture 5" descr="Image 20-10-2024 at 3.24 PM (1)"/>
          <p:cNvPicPr>
            <a:picLocks noChangeAspect="1"/>
          </p:cNvPicPr>
          <p:nvPr/>
        </p:nvPicPr>
        <p:blipFill>
          <a:blip r:embed="rId4"/>
          <a:stretch>
            <a:fillRect/>
          </a:stretch>
        </p:blipFill>
        <p:spPr>
          <a:xfrm>
            <a:off x="5329555" y="184150"/>
            <a:ext cx="3814445" cy="12611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400"/>
              <a:t>SQL </a:t>
            </a:r>
            <a:r>
              <a:rPr lang="en-US" altLang="en-GB" sz="2400"/>
              <a:t>INNER Join Example 2</a:t>
            </a:r>
            <a:endParaRPr sz="2400" b="1"/>
          </a:p>
        </p:txBody>
      </p:sp>
      <p:sp>
        <p:nvSpPr>
          <p:cNvPr id="4" name="Text Box 3"/>
          <p:cNvSpPr txBox="1"/>
          <p:nvPr/>
        </p:nvSpPr>
        <p:spPr>
          <a:xfrm>
            <a:off x="382905" y="715010"/>
            <a:ext cx="8378190" cy="3507740"/>
          </a:xfrm>
          <a:prstGeom prst="rect">
            <a:avLst/>
          </a:prstGeom>
          <a:noFill/>
        </p:spPr>
        <p:txBody>
          <a:bodyPr wrap="square" rtlCol="0" anchor="t">
            <a:spAutoFit/>
          </a:bodyPr>
          <a:lstStyle/>
          <a:p>
            <a:pPr>
              <a:lnSpc>
                <a:spcPct val="150000"/>
              </a:lnSpc>
            </a:pPr>
            <a:r>
              <a:rPr lang="en-US"/>
              <a:t>Write a query that will show the names and age of students enrolled in different courses.  </a:t>
            </a:r>
          </a:p>
          <a:p>
            <a:pPr>
              <a:lnSpc>
                <a:spcPct val="150000"/>
              </a:lnSpc>
            </a:pPr>
            <a:r>
              <a:rPr lang="en-US" b="1">
                <a:latin typeface="Arial Bold" panose="020B0604020202020204" charset="0"/>
                <a:cs typeface="Arial Bold" panose="020B0604020202020204" charset="0"/>
              </a:rPr>
              <a:t>Query:</a:t>
            </a:r>
          </a:p>
          <a:p>
            <a:pPr>
              <a:lnSpc>
                <a:spcPct val="150000"/>
              </a:lnSpc>
            </a:pPr>
            <a:r>
              <a:rPr lang="en-US" sz="1200">
                <a:latin typeface="Arial" panose="020B0604020202020204" pitchFamily="34" charset="0"/>
                <a:cs typeface="Arial" panose="020B0604020202020204" pitchFamily="34" charset="0"/>
              </a:rPr>
              <a:t>SELECT std_courses.COURSE_ID, studentt.NAME, studentt.AGE FROM studentt</a:t>
            </a:r>
          </a:p>
          <a:p>
            <a:pPr>
              <a:lnSpc>
                <a:spcPct val="150000"/>
              </a:lnSpc>
            </a:pPr>
            <a:r>
              <a:rPr lang="en-US" sz="1200">
                <a:latin typeface="Arial" panose="020B0604020202020204" pitchFamily="34" charset="0"/>
                <a:cs typeface="Arial" panose="020B0604020202020204" pitchFamily="34" charset="0"/>
              </a:rPr>
              <a:t>INNER JOIN std_courses</a:t>
            </a:r>
          </a:p>
          <a:p>
            <a:pPr algn="l">
              <a:lnSpc>
                <a:spcPct val="150000"/>
              </a:lnSpc>
              <a:buSzTx/>
            </a:pPr>
            <a:r>
              <a:rPr lang="en-US" sz="1200">
                <a:latin typeface="Arial" panose="020B0604020202020204" pitchFamily="34" charset="0"/>
                <a:cs typeface="Arial" panose="020B0604020202020204" pitchFamily="34" charset="0"/>
              </a:rPr>
              <a:t>ON studentt.ROLL_NO = std_courses.ROLL_NO;                                                                  </a:t>
            </a:r>
            <a:r>
              <a:rPr lang="en-US" sz="1200" b="1">
                <a:solidFill>
                  <a:srgbClr val="FF0000"/>
                </a:solidFill>
                <a:latin typeface="Arial Bold" panose="020B0604020202020204" charset="0"/>
                <a:cs typeface="Arial Bold" panose="020B0604020202020204" charset="0"/>
                <a:sym typeface="+mn-ea"/>
              </a:rPr>
              <a:t>Output:</a:t>
            </a:r>
            <a:r>
              <a:rPr lang="en-US" sz="1200" b="1">
                <a:latin typeface="Arial Bold" panose="020B0604020202020204" charset="0"/>
                <a:cs typeface="Arial Bold" panose="020B0604020202020204" charset="0"/>
                <a:sym typeface="+mn-ea"/>
              </a:rPr>
              <a:t>  </a:t>
            </a:r>
            <a:endParaRPr lang="en-US" sz="1200" b="1">
              <a:latin typeface="Arial Bold" panose="020B0604020202020204" charset="0"/>
              <a:cs typeface="Arial Bold" panose="020B0604020202020204" charset="0"/>
            </a:endParaRPr>
          </a:p>
          <a:p>
            <a:pPr>
              <a:lnSpc>
                <a:spcPct val="150000"/>
              </a:lnSpc>
            </a:pPr>
            <a:r>
              <a:rPr lang="en-US" sz="1200" b="1">
                <a:latin typeface="Arial Bold" panose="020B0604020202020204" charset="0"/>
                <a:cs typeface="Arial Bold" panose="020B0604020202020204" charset="0"/>
              </a:rPr>
              <a:t>Table1: </a:t>
            </a:r>
            <a:r>
              <a:rPr lang="en-US" sz="1200" b="1">
                <a:latin typeface="Arial Bold" panose="020B0604020202020204" charset="0"/>
                <a:cs typeface="Arial Bold" panose="020B0604020202020204" charset="0"/>
                <a:sym typeface="+mn-ea"/>
              </a:rPr>
              <a:t>Studentt </a:t>
            </a:r>
            <a:r>
              <a:rPr lang="en-US" b="1">
                <a:latin typeface="Arial Bold" panose="020B0604020202020204" charset="0"/>
                <a:cs typeface="Arial Bold" panose="020B0604020202020204" charset="0"/>
                <a:sym typeface="+mn-ea"/>
              </a:rPr>
              <a:t>                                            </a:t>
            </a:r>
            <a:r>
              <a:rPr lang="en-US" sz="1200" b="1">
                <a:latin typeface="Arial Bold" panose="020B0604020202020204" charset="0"/>
                <a:cs typeface="Arial Bold" panose="020B0604020202020204" charset="0"/>
                <a:sym typeface="+mn-ea"/>
              </a:rPr>
              <a:t>      Table2: std_courses</a:t>
            </a:r>
            <a:endParaRPr lang="en-US" sz="1200" b="1">
              <a:latin typeface="Arial Bold" panose="020B0604020202020204" charset="0"/>
              <a:cs typeface="Arial Bold" panose="020B0604020202020204" charset="0"/>
            </a:endParaRPr>
          </a:p>
          <a:p>
            <a:pPr>
              <a:lnSpc>
                <a:spcPct val="150000"/>
              </a:lnSpc>
            </a:pPr>
            <a:r>
              <a:rPr lang="en-US" b="1">
                <a:latin typeface="Arial Bold" panose="020B0604020202020204" charset="0"/>
                <a:cs typeface="Arial Bold" panose="020B0604020202020204" charset="0"/>
              </a:rPr>
              <a:t>                                                           </a:t>
            </a:r>
            <a:endParaRPr lang="en-US"/>
          </a:p>
          <a:p>
            <a:endParaRPr lang="en-US"/>
          </a:p>
          <a:p>
            <a:endParaRPr lang="en-US"/>
          </a:p>
          <a:p>
            <a:endParaRPr lang="en-US"/>
          </a:p>
          <a:p>
            <a:endParaRPr lang="en-US"/>
          </a:p>
          <a:p>
            <a:endParaRPr lang="en-US"/>
          </a:p>
          <a:p>
            <a:endParaRPr lang="en-US"/>
          </a:p>
        </p:txBody>
      </p:sp>
      <p:pic>
        <p:nvPicPr>
          <p:cNvPr id="2" name="Picture 1" descr="Image 13-09-2024 at 4.38 PM"/>
          <p:cNvPicPr>
            <a:picLocks noChangeAspect="1"/>
          </p:cNvPicPr>
          <p:nvPr/>
        </p:nvPicPr>
        <p:blipFill>
          <a:blip r:embed="rId3"/>
          <a:stretch>
            <a:fillRect/>
          </a:stretch>
        </p:blipFill>
        <p:spPr>
          <a:xfrm>
            <a:off x="6638290" y="2583815"/>
            <a:ext cx="2312035" cy="2315845"/>
          </a:xfrm>
          <a:prstGeom prst="rect">
            <a:avLst/>
          </a:prstGeom>
        </p:spPr>
      </p:pic>
      <p:pic>
        <p:nvPicPr>
          <p:cNvPr id="3" name="Picture 2" descr="Image 13-09-2024 at 3.53 PM"/>
          <p:cNvPicPr>
            <a:picLocks noChangeAspect="1"/>
          </p:cNvPicPr>
          <p:nvPr/>
        </p:nvPicPr>
        <p:blipFill>
          <a:blip r:embed="rId4"/>
          <a:stretch>
            <a:fillRect/>
          </a:stretch>
        </p:blipFill>
        <p:spPr>
          <a:xfrm>
            <a:off x="311785" y="2688590"/>
            <a:ext cx="3549015" cy="1839595"/>
          </a:xfrm>
          <a:prstGeom prst="rect">
            <a:avLst/>
          </a:prstGeom>
        </p:spPr>
      </p:pic>
      <p:pic>
        <p:nvPicPr>
          <p:cNvPr id="5" name="Picture 4" descr="Image 13-09-2024 at 3.52 PM"/>
          <p:cNvPicPr>
            <a:picLocks noChangeAspect="1"/>
          </p:cNvPicPr>
          <p:nvPr/>
        </p:nvPicPr>
        <p:blipFill>
          <a:blip r:embed="rId5"/>
          <a:stretch>
            <a:fillRect/>
          </a:stretch>
        </p:blipFill>
        <p:spPr>
          <a:xfrm>
            <a:off x="4146550" y="2688590"/>
            <a:ext cx="1533525" cy="20751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US" altLang="en-GB" sz="2820"/>
              <a:t> SQL Left(Outer) JOIN</a:t>
            </a:r>
            <a:br>
              <a:rPr lang="en-US" altLang="en-GB" sz="2820"/>
            </a:br>
            <a:endParaRPr lang="en-US" sz="3120" b="1"/>
          </a:p>
        </p:txBody>
      </p:sp>
      <p:sp>
        <p:nvSpPr>
          <p:cNvPr id="2" name="Text Box 1"/>
          <p:cNvSpPr txBox="1"/>
          <p:nvPr/>
        </p:nvSpPr>
        <p:spPr>
          <a:xfrm>
            <a:off x="464185" y="939165"/>
            <a:ext cx="7993380" cy="3753485"/>
          </a:xfrm>
          <a:prstGeom prst="rect">
            <a:avLst/>
          </a:prstGeom>
          <a:noFill/>
        </p:spPr>
        <p:txBody>
          <a:bodyPr wrap="square" rtlCol="0" anchor="t">
            <a:spAutoFit/>
          </a:bodyPr>
          <a:lstStyle/>
          <a:p>
            <a:pPr algn="just"/>
            <a:r>
              <a:rPr lang="en-US"/>
              <a:t>LEFT JOIN returns all the rows of the table on the left side of the join and matches rows for the table on the right side of the join. For the rows for which there is no matching row on the right side, the result-set will contain null. LEFT JOIN is also known as LEFT OUTER JOIN.</a:t>
            </a:r>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p:txBody>
      </p:sp>
      <p:pic>
        <p:nvPicPr>
          <p:cNvPr id="3" name="Picture 2" descr="Image 13-09-2024 at 4.58 PM"/>
          <p:cNvPicPr>
            <a:picLocks noChangeAspect="1"/>
          </p:cNvPicPr>
          <p:nvPr/>
        </p:nvPicPr>
        <p:blipFill>
          <a:blip r:embed="rId3"/>
          <a:stretch>
            <a:fillRect/>
          </a:stretch>
        </p:blipFill>
        <p:spPr>
          <a:xfrm>
            <a:off x="569595" y="1688465"/>
            <a:ext cx="5182870" cy="3180715"/>
          </a:xfrm>
          <a:prstGeom prst="rect">
            <a:avLst/>
          </a:prstGeom>
        </p:spPr>
      </p:pic>
      <p:pic>
        <p:nvPicPr>
          <p:cNvPr id="4" name="Picture 3" descr="Image 20-10-2024 at 3.47 PM"/>
          <p:cNvPicPr>
            <a:picLocks noChangeAspect="1"/>
          </p:cNvPicPr>
          <p:nvPr/>
        </p:nvPicPr>
        <p:blipFill>
          <a:blip r:embed="rId4"/>
          <a:stretch>
            <a:fillRect/>
          </a:stretch>
        </p:blipFill>
        <p:spPr>
          <a:xfrm>
            <a:off x="6601460" y="1913255"/>
            <a:ext cx="2259330" cy="15462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2" name="Picture 1" descr="Image 20-10-2024 at 3.37 PM"/>
          <p:cNvPicPr>
            <a:picLocks noChangeAspect="1"/>
          </p:cNvPicPr>
          <p:nvPr/>
        </p:nvPicPr>
        <p:blipFill>
          <a:blip r:embed="rId3"/>
          <a:stretch>
            <a:fillRect/>
          </a:stretch>
        </p:blipFill>
        <p:spPr>
          <a:xfrm>
            <a:off x="133350" y="91440"/>
            <a:ext cx="5176520" cy="4798695"/>
          </a:xfrm>
          <a:prstGeom prst="rect">
            <a:avLst/>
          </a:prstGeom>
        </p:spPr>
      </p:pic>
      <p:pic>
        <p:nvPicPr>
          <p:cNvPr id="4" name="Picture 3" descr="Image 20-10-2024 at 3.37 PM (1)"/>
          <p:cNvPicPr>
            <a:picLocks noChangeAspect="1"/>
          </p:cNvPicPr>
          <p:nvPr/>
        </p:nvPicPr>
        <p:blipFill>
          <a:blip r:embed="rId4"/>
          <a:stretch>
            <a:fillRect/>
          </a:stretch>
        </p:blipFill>
        <p:spPr>
          <a:xfrm>
            <a:off x="5423535" y="3289300"/>
            <a:ext cx="3720465" cy="13201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400"/>
              <a:t>SQL</a:t>
            </a:r>
            <a:r>
              <a:rPr lang="en-US" altLang="en-GB" sz="2400"/>
              <a:t> </a:t>
            </a:r>
            <a:r>
              <a:rPr lang="en-US" altLang="en-GB" sz="2400">
                <a:sym typeface="+mn-ea"/>
              </a:rPr>
              <a:t>Left(Outer) JOIN - Example 2</a:t>
            </a:r>
            <a:endParaRPr sz="2400" b="1"/>
          </a:p>
        </p:txBody>
      </p:sp>
      <p:sp>
        <p:nvSpPr>
          <p:cNvPr id="4" name="Text Box 3"/>
          <p:cNvSpPr txBox="1"/>
          <p:nvPr/>
        </p:nvSpPr>
        <p:spPr>
          <a:xfrm>
            <a:off x="382905" y="715010"/>
            <a:ext cx="8378190" cy="2291715"/>
          </a:xfrm>
          <a:prstGeom prst="rect">
            <a:avLst/>
          </a:prstGeom>
          <a:noFill/>
        </p:spPr>
        <p:txBody>
          <a:bodyPr wrap="square" rtlCol="0" anchor="t">
            <a:spAutoFit/>
          </a:bodyPr>
          <a:lstStyle/>
          <a:p>
            <a:pPr>
              <a:lnSpc>
                <a:spcPct val="150000"/>
              </a:lnSpc>
            </a:pPr>
            <a:r>
              <a:rPr lang="en-US"/>
              <a:t>Write a query that wil show the names and course_ids of students. </a:t>
            </a:r>
          </a:p>
          <a:p>
            <a:pPr>
              <a:lnSpc>
                <a:spcPct val="150000"/>
              </a:lnSpc>
            </a:pPr>
            <a:r>
              <a:rPr lang="en-US" b="1">
                <a:latin typeface="Arial Bold" panose="020B0604020202020204" charset="0"/>
                <a:cs typeface="Arial Bold" panose="020B0604020202020204" charset="0"/>
              </a:rPr>
              <a:t>Query:</a:t>
            </a:r>
          </a:p>
          <a:p>
            <a:pPr>
              <a:lnSpc>
                <a:spcPct val="150000"/>
              </a:lnSpc>
            </a:pPr>
            <a:r>
              <a:rPr lang="en-US" sz="1200">
                <a:latin typeface="Arial" panose="020B0604020202020204" pitchFamily="34" charset="0"/>
                <a:cs typeface="Arial" panose="020B0604020202020204" pitchFamily="34" charset="0"/>
              </a:rPr>
              <a:t>SELECT studentt.NAME,std_courses.COURSE_ID </a:t>
            </a:r>
          </a:p>
          <a:p>
            <a:pPr>
              <a:lnSpc>
                <a:spcPct val="150000"/>
              </a:lnSpc>
            </a:pPr>
            <a:r>
              <a:rPr lang="en-US" sz="1200">
                <a:latin typeface="Arial" panose="020B0604020202020204" pitchFamily="34" charset="0"/>
                <a:cs typeface="Arial" panose="020B0604020202020204" pitchFamily="34" charset="0"/>
              </a:rPr>
              <a:t>FROM studentt</a:t>
            </a:r>
          </a:p>
          <a:p>
            <a:pPr>
              <a:lnSpc>
                <a:spcPct val="150000"/>
              </a:lnSpc>
            </a:pPr>
            <a:r>
              <a:rPr lang="en-US" sz="1200">
                <a:latin typeface="Arial" panose="020B0604020202020204" pitchFamily="34" charset="0"/>
                <a:cs typeface="Arial" panose="020B0604020202020204" pitchFamily="34" charset="0"/>
              </a:rPr>
              <a:t>LEFT JOIN std_courses </a:t>
            </a:r>
          </a:p>
          <a:p>
            <a:pPr>
              <a:lnSpc>
                <a:spcPct val="150000"/>
              </a:lnSpc>
            </a:pPr>
            <a:r>
              <a:rPr lang="en-US" sz="1200">
                <a:latin typeface="Arial" panose="020B0604020202020204" pitchFamily="34" charset="0"/>
                <a:cs typeface="Arial" panose="020B0604020202020204" pitchFamily="34" charset="0"/>
              </a:rPr>
              <a:t>ON std_courses.ROLL_NO = studentt.ROLL_NO;				</a:t>
            </a:r>
            <a:r>
              <a:rPr lang="en-US" b="1">
                <a:solidFill>
                  <a:srgbClr val="FF0000"/>
                </a:solidFill>
                <a:latin typeface="Arial Bold" panose="020B0604020202020204" charset="0"/>
                <a:cs typeface="Arial Bold" panose="020B0604020202020204" charset="0"/>
                <a:sym typeface="+mn-ea"/>
              </a:rPr>
              <a:t>Output:</a:t>
            </a:r>
            <a:r>
              <a:rPr lang="en-US" b="1">
                <a:latin typeface="Arial Bold" panose="020B0604020202020204" charset="0"/>
                <a:cs typeface="Arial Bold" panose="020B0604020202020204" charset="0"/>
                <a:sym typeface="+mn-ea"/>
              </a:rPr>
              <a:t>  </a:t>
            </a:r>
          </a:p>
          <a:p>
            <a:r>
              <a:rPr lang="en-US" sz="1200" b="1">
                <a:latin typeface="Arial Bold" panose="020B0604020202020204" charset="0"/>
                <a:cs typeface="Arial Bold" panose="020B0604020202020204" charset="0"/>
                <a:sym typeface="+mn-ea"/>
              </a:rPr>
              <a:t>Table1: Studentt     </a:t>
            </a:r>
            <a:r>
              <a:rPr lang="en-US" b="1">
                <a:latin typeface="Arial Bold" panose="020B0604020202020204" charset="0"/>
                <a:cs typeface="Arial Bold" panose="020B0604020202020204" charset="0"/>
                <a:sym typeface="+mn-ea"/>
              </a:rPr>
              <a:t>                                             </a:t>
            </a:r>
            <a:r>
              <a:rPr lang="en-US" sz="1200" b="1">
                <a:latin typeface="Arial Bold" panose="020B0604020202020204" charset="0"/>
                <a:cs typeface="Arial Bold" panose="020B0604020202020204" charset="0"/>
                <a:sym typeface="+mn-ea"/>
              </a:rPr>
              <a:t>Table2: std_courses</a:t>
            </a:r>
            <a:endParaRPr lang="en-US" sz="1200"/>
          </a:p>
          <a:p>
            <a:endParaRPr lang="en-US" sz="1200"/>
          </a:p>
        </p:txBody>
      </p:sp>
      <p:pic>
        <p:nvPicPr>
          <p:cNvPr id="3" name="Picture 2" descr="Image 13-09-2024 at 3.53 PM"/>
          <p:cNvPicPr>
            <a:picLocks noChangeAspect="1"/>
          </p:cNvPicPr>
          <p:nvPr/>
        </p:nvPicPr>
        <p:blipFill>
          <a:blip r:embed="rId3"/>
          <a:stretch>
            <a:fillRect/>
          </a:stretch>
        </p:blipFill>
        <p:spPr>
          <a:xfrm>
            <a:off x="311785" y="2942590"/>
            <a:ext cx="3549015" cy="1839595"/>
          </a:xfrm>
          <a:prstGeom prst="rect">
            <a:avLst/>
          </a:prstGeom>
        </p:spPr>
      </p:pic>
      <p:pic>
        <p:nvPicPr>
          <p:cNvPr id="5" name="Picture 4" descr="Image 13-09-2024 at 3.52 PM"/>
          <p:cNvPicPr>
            <a:picLocks noChangeAspect="1"/>
          </p:cNvPicPr>
          <p:nvPr/>
        </p:nvPicPr>
        <p:blipFill>
          <a:blip r:embed="rId4"/>
          <a:stretch>
            <a:fillRect/>
          </a:stretch>
        </p:blipFill>
        <p:spPr>
          <a:xfrm>
            <a:off x="4124325" y="2942590"/>
            <a:ext cx="1533525" cy="2075180"/>
          </a:xfrm>
          <a:prstGeom prst="rect">
            <a:avLst/>
          </a:prstGeom>
        </p:spPr>
      </p:pic>
      <p:pic>
        <p:nvPicPr>
          <p:cNvPr id="6" name="Picture 5" descr="Image 13-09-2024 at 5.14 PM"/>
          <p:cNvPicPr>
            <a:picLocks noChangeAspect="1"/>
          </p:cNvPicPr>
          <p:nvPr/>
        </p:nvPicPr>
        <p:blipFill>
          <a:blip r:embed="rId5"/>
          <a:stretch>
            <a:fillRect/>
          </a:stretch>
        </p:blipFill>
        <p:spPr>
          <a:xfrm>
            <a:off x="6663055" y="2584450"/>
            <a:ext cx="2220595" cy="21977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US" altLang="en-GB" sz="2820"/>
              <a:t> SQL Right JOIN</a:t>
            </a:r>
            <a:br>
              <a:rPr lang="en-US" altLang="en-GB" sz="2820"/>
            </a:br>
            <a:endParaRPr lang="en-US" sz="3120" b="1"/>
          </a:p>
        </p:txBody>
      </p:sp>
      <p:sp>
        <p:nvSpPr>
          <p:cNvPr id="2" name="Text Box 1"/>
          <p:cNvSpPr txBox="1"/>
          <p:nvPr/>
        </p:nvSpPr>
        <p:spPr>
          <a:xfrm>
            <a:off x="464185" y="939165"/>
            <a:ext cx="7993380" cy="3322955"/>
          </a:xfrm>
          <a:prstGeom prst="rect">
            <a:avLst/>
          </a:prstGeom>
          <a:noFill/>
        </p:spPr>
        <p:txBody>
          <a:bodyPr wrap="square" rtlCol="0" anchor="t">
            <a:spAutoFit/>
          </a:bodyPr>
          <a:lstStyle/>
          <a:p>
            <a:pPr algn="just"/>
            <a:r>
              <a:rPr lang="en-US"/>
              <a:t>RIGHT JOIN returns all recoreds from the right table, and the mattched records from the  left table.  </a:t>
            </a:r>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p:txBody>
      </p:sp>
      <p:pic>
        <p:nvPicPr>
          <p:cNvPr id="4" name="Picture 3" descr="Image 20-10-2024 at 3.45 PM"/>
          <p:cNvPicPr>
            <a:picLocks noChangeAspect="1"/>
          </p:cNvPicPr>
          <p:nvPr/>
        </p:nvPicPr>
        <p:blipFill>
          <a:blip r:embed="rId3"/>
          <a:stretch>
            <a:fillRect/>
          </a:stretch>
        </p:blipFill>
        <p:spPr>
          <a:xfrm>
            <a:off x="171450" y="2659380"/>
            <a:ext cx="8412480" cy="1856105"/>
          </a:xfrm>
          <a:prstGeom prst="rect">
            <a:avLst/>
          </a:prstGeom>
        </p:spPr>
      </p:pic>
      <p:pic>
        <p:nvPicPr>
          <p:cNvPr id="5" name="Picture 4" descr="Image 20-10-2024 at 3.46 PM"/>
          <p:cNvPicPr>
            <a:picLocks noChangeAspect="1"/>
          </p:cNvPicPr>
          <p:nvPr/>
        </p:nvPicPr>
        <p:blipFill>
          <a:blip r:embed="rId4"/>
          <a:stretch>
            <a:fillRect/>
          </a:stretch>
        </p:blipFill>
        <p:spPr>
          <a:xfrm>
            <a:off x="6350635" y="1426845"/>
            <a:ext cx="1928495" cy="1473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3" name="Picture 2" descr="Image 20-10-2024 at 3.49 PM"/>
          <p:cNvPicPr>
            <a:picLocks noChangeAspect="1"/>
          </p:cNvPicPr>
          <p:nvPr/>
        </p:nvPicPr>
        <p:blipFill>
          <a:blip r:embed="rId3"/>
          <a:stretch>
            <a:fillRect/>
          </a:stretch>
        </p:blipFill>
        <p:spPr>
          <a:xfrm>
            <a:off x="146050" y="0"/>
            <a:ext cx="5330190" cy="5050790"/>
          </a:xfrm>
          <a:prstGeom prst="rect">
            <a:avLst/>
          </a:prstGeom>
        </p:spPr>
      </p:pic>
      <p:pic>
        <p:nvPicPr>
          <p:cNvPr id="5" name="Picture 4" descr="Image 20-10-2024 at 3.49 PM (1)"/>
          <p:cNvPicPr>
            <a:picLocks noChangeAspect="1"/>
          </p:cNvPicPr>
          <p:nvPr/>
        </p:nvPicPr>
        <p:blipFill>
          <a:blip r:embed="rId4"/>
          <a:stretch>
            <a:fillRect/>
          </a:stretch>
        </p:blipFill>
        <p:spPr>
          <a:xfrm>
            <a:off x="5625465" y="3086735"/>
            <a:ext cx="3415030" cy="15913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85" y="189865"/>
            <a:ext cx="7545070" cy="3403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US" altLang="en-GB" sz="2820"/>
              <a:t> SQL FULL JOIN</a:t>
            </a:r>
            <a:br>
              <a:rPr lang="en-US" altLang="en-GB" sz="2820"/>
            </a:br>
            <a:endParaRPr lang="en-US" sz="3120" b="1"/>
          </a:p>
        </p:txBody>
      </p:sp>
      <p:sp>
        <p:nvSpPr>
          <p:cNvPr id="2" name="Text Box 1"/>
          <p:cNvSpPr txBox="1"/>
          <p:nvPr/>
        </p:nvSpPr>
        <p:spPr>
          <a:xfrm>
            <a:off x="464185" y="939165"/>
            <a:ext cx="7993380" cy="2461260"/>
          </a:xfrm>
          <a:prstGeom prst="rect">
            <a:avLst/>
          </a:prstGeom>
          <a:noFill/>
        </p:spPr>
        <p:txBody>
          <a:bodyPr wrap="square" rtlCol="0" anchor="t">
            <a:spAutoFit/>
          </a:bodyPr>
          <a:lstStyle/>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p:txBody>
      </p:sp>
      <p:pic>
        <p:nvPicPr>
          <p:cNvPr id="3" name="Picture 2" descr="Image 20-10-2024 at 3.52 PM"/>
          <p:cNvPicPr>
            <a:picLocks noChangeAspect="1"/>
          </p:cNvPicPr>
          <p:nvPr/>
        </p:nvPicPr>
        <p:blipFill>
          <a:blip r:embed="rId3"/>
          <a:stretch>
            <a:fillRect/>
          </a:stretch>
        </p:blipFill>
        <p:spPr>
          <a:xfrm>
            <a:off x="464185" y="1087755"/>
            <a:ext cx="6616065" cy="3692525"/>
          </a:xfrm>
          <a:prstGeom prst="rect">
            <a:avLst/>
          </a:prstGeom>
        </p:spPr>
      </p:pic>
      <p:pic>
        <p:nvPicPr>
          <p:cNvPr id="6" name="Picture 5" descr="Image 20-10-2024 at 3.52 PM (1)"/>
          <p:cNvPicPr>
            <a:picLocks noChangeAspect="1"/>
          </p:cNvPicPr>
          <p:nvPr/>
        </p:nvPicPr>
        <p:blipFill>
          <a:blip r:embed="rId4"/>
          <a:stretch>
            <a:fillRect/>
          </a:stretch>
        </p:blipFill>
        <p:spPr>
          <a:xfrm>
            <a:off x="6176010" y="3262630"/>
            <a:ext cx="2783840" cy="1753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35480" y="1731645"/>
            <a:ext cx="5273675" cy="1397000"/>
          </a:xfrm>
        </p:spPr>
        <p:txBody>
          <a:bodyPr/>
          <a:lstStyle/>
          <a:p>
            <a:pPr marL="114300" indent="0" algn="ctr">
              <a:buNone/>
            </a:pPr>
            <a:r>
              <a:rPr lang="en-US"/>
              <a:t>End of Lecture </a:t>
            </a:r>
          </a:p>
        </p:txBody>
      </p:sp>
      <p:pic>
        <p:nvPicPr>
          <p:cNvPr id="2" name="Picture 1">
            <a:extLst>
              <a:ext uri="{FF2B5EF4-FFF2-40B4-BE49-F238E27FC236}">
                <a16:creationId xmlns:a16="http://schemas.microsoft.com/office/drawing/2014/main" id="{DEC45CC6-999A-545F-D351-9CF80C4FE7ED}"/>
              </a:ext>
            </a:extLst>
          </p:cNvPr>
          <p:cNvPicPr>
            <a:picLocks noChangeAspect="1"/>
          </p:cNvPicPr>
          <p:nvPr/>
        </p:nvPicPr>
        <p:blipFill>
          <a:blip r:embed="rId2"/>
          <a:stretch>
            <a:fillRect/>
          </a:stretch>
        </p:blipFill>
        <p:spPr>
          <a:xfrm>
            <a:off x="0" y="705839"/>
            <a:ext cx="6108721" cy="1981372"/>
          </a:xfrm>
          <a:prstGeom prst="rect">
            <a:avLst/>
          </a:prstGeom>
        </p:spPr>
      </p:pic>
      <p:pic>
        <p:nvPicPr>
          <p:cNvPr id="4" name="Picture 3">
            <a:extLst>
              <a:ext uri="{FF2B5EF4-FFF2-40B4-BE49-F238E27FC236}">
                <a16:creationId xmlns:a16="http://schemas.microsoft.com/office/drawing/2014/main" id="{809F5753-AE62-DC2A-0852-E7796009C1D7}"/>
              </a:ext>
            </a:extLst>
          </p:cNvPr>
          <p:cNvPicPr>
            <a:picLocks noChangeAspect="1"/>
          </p:cNvPicPr>
          <p:nvPr/>
        </p:nvPicPr>
        <p:blipFill>
          <a:blip r:embed="rId3"/>
          <a:stretch>
            <a:fillRect/>
          </a:stretch>
        </p:blipFill>
        <p:spPr>
          <a:xfrm>
            <a:off x="0" y="3186938"/>
            <a:ext cx="4011516" cy="1847248"/>
          </a:xfrm>
          <a:prstGeom prst="rect">
            <a:avLst/>
          </a:prstGeom>
        </p:spPr>
      </p:pic>
      <p:sp>
        <p:nvSpPr>
          <p:cNvPr id="6" name="TextBox 5">
            <a:extLst>
              <a:ext uri="{FF2B5EF4-FFF2-40B4-BE49-F238E27FC236}">
                <a16:creationId xmlns:a16="http://schemas.microsoft.com/office/drawing/2014/main" id="{0EAFBB1F-B942-821E-7784-89DBE6AC4BE4}"/>
              </a:ext>
            </a:extLst>
          </p:cNvPr>
          <p:cNvSpPr txBox="1"/>
          <p:nvPr/>
        </p:nvSpPr>
        <p:spPr>
          <a:xfrm>
            <a:off x="0" y="-81269"/>
            <a:ext cx="4572000" cy="83099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Create a database named </a:t>
            </a:r>
            <a:r>
              <a:rPr kumimoji="0" lang="en-US" altLang="zh-CN" sz="1200" b="0" i="0" u="none" strike="noStrike" kern="0" cap="none" spc="0" normalizeH="0" baseline="0" noProof="0" dirty="0" err="1">
                <a:ln>
                  <a:noFill/>
                </a:ln>
                <a:solidFill>
                  <a:srgbClr val="202729"/>
                </a:solidFill>
                <a:effectLst/>
                <a:uLnTx/>
                <a:uFillTx/>
                <a:latin typeface="Arial" panose="020B0604020202020204" pitchFamily="34" charset="0"/>
                <a:ea typeface="Carlito" charset="0"/>
                <a:cs typeface="Carlito" charset="0"/>
                <a:sym typeface="Arial" panose="020B0604020202020204"/>
              </a:rPr>
              <a:t>CompanyDB</a:t>
            </a: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a:t>
            </a:r>
            <a:endParaRPr kumimoji="0" lang="en-US" altLang="zh-CN" sz="700" b="0" i="0" u="none" strike="noStrike" kern="0" cap="none" spc="0" normalizeH="0" baseline="0" noProof="0" dirty="0">
              <a:ln>
                <a:noFill/>
              </a:ln>
              <a:solidFill>
                <a:srgbClr val="202729"/>
              </a:solidFill>
              <a:effectLst/>
              <a:uLnTx/>
              <a:uFillTx/>
              <a:latin typeface="Arial" panose="020B0604020202020204" pitchFamily="34" charset="0"/>
              <a:cs typeface="Arial" panose="020B0604020202020204"/>
              <a:sym typeface="Arial" panose="020B0604020202020204"/>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Create Tables:</a:t>
            </a: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 Create two tables, Employees and Departments. The tables should have the following columns. </a:t>
            </a:r>
            <a:endParaRPr kumimoji="0" lang="en-US" altLang="zh-CN" sz="700" b="0" i="0" u="none" strike="noStrike" kern="0" cap="none" spc="0" normalizeH="0" baseline="0" noProof="0" dirty="0">
              <a:ln>
                <a:noFill/>
              </a:ln>
              <a:solidFill>
                <a:srgbClr val="202729"/>
              </a:solidFill>
              <a:effectLst/>
              <a:uLnTx/>
              <a:uFillTx/>
              <a:latin typeface="Arial" panose="020B0604020202020204" pitchFamily="34" charset="0"/>
              <a:cs typeface="Arial" panose="020B0604020202020204"/>
              <a:sym typeface="Arial" panose="020B0604020202020204"/>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Table 1: Employees Table: </a:t>
            </a: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Make </a:t>
            </a:r>
            <a:r>
              <a:rPr kumimoji="0" lang="en-US" altLang="zh-CN" sz="1200" b="0" i="0" u="none" strike="noStrike" kern="0" cap="none" spc="0" normalizeH="0" baseline="0" noProof="0" dirty="0" err="1">
                <a:ln>
                  <a:noFill/>
                </a:ln>
                <a:solidFill>
                  <a:srgbClr val="202729"/>
                </a:solidFill>
                <a:effectLst/>
                <a:uLnTx/>
                <a:uFillTx/>
                <a:latin typeface="Arial" panose="020B0604020202020204" pitchFamily="34" charset="0"/>
                <a:ea typeface="Carlito" charset="0"/>
                <a:cs typeface="Carlito" charset="0"/>
                <a:sym typeface="Arial" panose="020B0604020202020204"/>
              </a:rPr>
              <a:t>EmployeeID</a:t>
            </a: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 as primary key</a:t>
            </a:r>
            <a:endParaRPr kumimoji="0" lang="en-US" altLang="zh-CN" sz="700" b="0" i="0" u="none" strike="noStrike" kern="0" cap="none" spc="0" normalizeH="0" baseline="0" noProof="0" dirty="0">
              <a:ln>
                <a:noFill/>
              </a:ln>
              <a:solidFill>
                <a:srgbClr val="202729"/>
              </a:solidFill>
              <a:effectLst/>
              <a:uLnTx/>
              <a:uFillTx/>
              <a:latin typeface="Arial" panose="020B0604020202020204" pitchFamily="34" charset="0"/>
              <a:cs typeface="Arial" panose="020B0604020202020204"/>
              <a:sym typeface="Arial" panose="020B0604020202020204"/>
            </a:endParaRPr>
          </a:p>
        </p:txBody>
      </p:sp>
      <p:sp>
        <p:nvSpPr>
          <p:cNvPr id="8" name="TextBox 7">
            <a:extLst>
              <a:ext uri="{FF2B5EF4-FFF2-40B4-BE49-F238E27FC236}">
                <a16:creationId xmlns:a16="http://schemas.microsoft.com/office/drawing/2014/main" id="{417A6994-1394-C445-9F9F-60E2DFA1A404}"/>
              </a:ext>
            </a:extLst>
          </p:cNvPr>
          <p:cNvSpPr txBox="1"/>
          <p:nvPr/>
        </p:nvSpPr>
        <p:spPr>
          <a:xfrm>
            <a:off x="-4439" y="2739068"/>
            <a:ext cx="5668391"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Table 2 : Departments Table: </a:t>
            </a: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Make </a:t>
            </a:r>
            <a:r>
              <a:rPr kumimoji="0" lang="en-US" altLang="zh-CN" sz="1200" b="0" i="0" u="none" strike="noStrike" kern="0" cap="none" spc="0" normalizeH="0" baseline="0" noProof="0" dirty="0" err="1">
                <a:ln>
                  <a:noFill/>
                </a:ln>
                <a:solidFill>
                  <a:srgbClr val="202729"/>
                </a:solidFill>
                <a:effectLst/>
                <a:uLnTx/>
                <a:uFillTx/>
                <a:latin typeface="Arial" panose="020B0604020202020204" pitchFamily="34" charset="0"/>
                <a:ea typeface="Carlito" charset="0"/>
                <a:cs typeface="Carlito" charset="0"/>
                <a:sym typeface="Arial" panose="020B0604020202020204"/>
              </a:rPr>
              <a:t>DepartmentID</a:t>
            </a:r>
            <a:r>
              <a:rPr kumimoji="0" lang="en-US" altLang="zh-CN" sz="1200" b="0" i="0" u="none" strike="noStrike" kern="0" cap="none" spc="0" normalizeH="0" baseline="0" noProof="0" dirty="0">
                <a:ln>
                  <a:noFill/>
                </a:ln>
                <a:solidFill>
                  <a:srgbClr val="202729"/>
                </a:solidFill>
                <a:effectLst/>
                <a:uLnTx/>
                <a:uFillTx/>
                <a:latin typeface="Arial" panose="020B0604020202020204" pitchFamily="34" charset="0"/>
                <a:ea typeface="Carlito" charset="0"/>
                <a:cs typeface="Carlito" charset="0"/>
                <a:sym typeface="Arial" panose="020B0604020202020204"/>
              </a:rPr>
              <a:t> as primary key</a:t>
            </a:r>
            <a:endParaRPr kumimoji="0" lang="en-US" altLang="zh-CN" sz="700" b="0" i="0" u="none" strike="noStrike" kern="0" cap="none" spc="0" normalizeH="0" baseline="0" noProof="0" dirty="0">
              <a:ln>
                <a:noFill/>
              </a:ln>
              <a:solidFill>
                <a:srgbClr val="202729"/>
              </a:solidFill>
              <a:effectLst/>
              <a:uLnTx/>
              <a:uFillTx/>
              <a:latin typeface="Arial" panose="020B0604020202020204" pitchFamily="34" charset="0"/>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8338-C939-B715-B5C4-21384C3CCB48}"/>
              </a:ext>
            </a:extLst>
          </p:cNvPr>
          <p:cNvSpPr>
            <a:spLocks noGrp="1"/>
          </p:cNvSpPr>
          <p:nvPr>
            <p:ph type="title"/>
          </p:nvPr>
        </p:nvSpPr>
        <p:spPr/>
        <p:txBody>
          <a:bodyPr>
            <a:normAutofit fontScale="90000"/>
          </a:bodyPr>
          <a:lstStyle/>
          <a:p>
            <a:endParaRPr lang="en-US" dirty="0"/>
          </a:p>
        </p:txBody>
      </p:sp>
      <p:sp>
        <p:nvSpPr>
          <p:cNvPr id="3" name="Text Placeholder 2">
            <a:extLst>
              <a:ext uri="{FF2B5EF4-FFF2-40B4-BE49-F238E27FC236}">
                <a16:creationId xmlns:a16="http://schemas.microsoft.com/office/drawing/2014/main" id="{F91427FE-9507-8981-FD09-00FF5CA583E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Carlito" charset="0"/>
                <a:cs typeface="Carlito" charset="0"/>
              </a:rPr>
              <a:t>Q1: </a:t>
            </a:r>
            <a:r>
              <a:rPr kumimoji="0" lang="en-US" altLang="zh-CN" sz="1800" b="0" i="0" u="none" strike="noStrike" cap="none" normalizeH="0" baseline="0" dirty="0">
                <a:ln>
                  <a:noFill/>
                </a:ln>
                <a:solidFill>
                  <a:schemeClr val="tx1"/>
                </a:solidFill>
                <a:effectLst/>
                <a:latin typeface="Arial" panose="020B0604020202020204" pitchFamily="34" charset="0"/>
                <a:ea typeface="Carlito" charset="0"/>
                <a:cs typeface="Carlito" charset="0"/>
              </a:rPr>
              <a:t>Display the employee details along with their department names using an INNER JOIN.</a:t>
            </a:r>
            <a:endParaRPr kumimoji="0" lang="en-US" altLang="zh-CN"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Carlito" charset="0"/>
                <a:cs typeface="Carlito" charset="0"/>
              </a:rPr>
              <a:t>Q2: </a:t>
            </a:r>
            <a:r>
              <a:rPr kumimoji="0" lang="en-US" altLang="zh-CN" sz="1800" b="0" i="0" u="none" strike="noStrike" cap="none" normalizeH="0" baseline="0" dirty="0">
                <a:ln>
                  <a:noFill/>
                </a:ln>
                <a:solidFill>
                  <a:schemeClr val="tx1"/>
                </a:solidFill>
                <a:effectLst/>
                <a:latin typeface="Arial" panose="020B0604020202020204" pitchFamily="34" charset="0"/>
                <a:ea typeface="Carlito" charset="0"/>
                <a:cs typeface="Carlito" charset="0"/>
              </a:rPr>
              <a:t>Display all employees, including those without a department, using a LEFT JOIN.</a:t>
            </a:r>
            <a:endParaRPr kumimoji="0" lang="en-US" altLang="zh-CN"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webkit-standard" charset="0"/>
                <a:cs typeface="-webkit-standard" charset="0"/>
              </a:rPr>
              <a:t>Q3:</a:t>
            </a:r>
            <a:r>
              <a:rPr kumimoji="0" lang="en-US" altLang="zh-CN" sz="1800" b="0" i="0" u="none" strike="noStrike" cap="none" normalizeH="0" baseline="0" dirty="0">
                <a:ln>
                  <a:noFill/>
                </a:ln>
                <a:solidFill>
                  <a:srgbClr val="000000"/>
                </a:solidFill>
                <a:effectLst/>
                <a:latin typeface="Arial" panose="020B0604020202020204" pitchFamily="34" charset="0"/>
                <a:ea typeface="-webkit-standard" charset="0"/>
                <a:cs typeface="-webkit-standard" charset="0"/>
              </a:rPr>
              <a:t> </a:t>
            </a:r>
            <a:r>
              <a:rPr kumimoji="0" lang="en-US" altLang="zh-CN" sz="1800" b="0" i="0" u="none" strike="noStrike" cap="none" normalizeH="0" baseline="0" dirty="0">
                <a:ln>
                  <a:noFill/>
                </a:ln>
                <a:solidFill>
                  <a:srgbClr val="000000"/>
                </a:solidFill>
                <a:effectLst/>
                <a:latin typeface="Arial" panose="020B0604020202020204" pitchFamily="34" charset="0"/>
                <a:ea typeface="-webkit-standard" charset="0"/>
                <a:cs typeface="Carlito" charset="0"/>
              </a:rPr>
              <a:t>Display all departments, including those without any employees, using a RIGHT JOIN.</a:t>
            </a:r>
            <a:endParaRPr kumimoji="0" lang="en-US" altLang="zh-CN"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Arial" panose="020B0604020202020204" pitchFamily="34" charset="0"/>
                <a:ea typeface="-webkit-standard" charset="0"/>
                <a:cs typeface="-webkit-standard" charset="0"/>
              </a:rPr>
              <a:t>Q4: </a:t>
            </a:r>
            <a:r>
              <a:rPr kumimoji="0" lang="en-US" altLang="zh-CN" sz="2000" b="0" i="0" u="none" strike="noStrike" cap="none" normalizeH="0" baseline="0" dirty="0">
                <a:ln>
                  <a:noFill/>
                </a:ln>
                <a:solidFill>
                  <a:srgbClr val="000000"/>
                </a:solidFill>
                <a:effectLst/>
                <a:latin typeface="Arial" panose="020B0604020202020204" pitchFamily="34" charset="0"/>
                <a:ea typeface="-webkit-standard" charset="0"/>
                <a:cs typeface="Carlito" charset="0"/>
              </a:rPr>
              <a:t>Display all possible combinations of employees and departments using Cross Join (Also </a:t>
            </a:r>
            <a:r>
              <a:rPr kumimoji="0" lang="en-US" altLang="zh-CN" sz="2000" b="0" i="0" u="none" strike="noStrike" cap="none" normalizeH="0" baseline="0" dirty="0" err="1">
                <a:ln>
                  <a:noFill/>
                </a:ln>
                <a:solidFill>
                  <a:srgbClr val="000000"/>
                </a:solidFill>
                <a:effectLst/>
                <a:latin typeface="Arial" panose="020B0604020202020204" pitchFamily="34" charset="0"/>
                <a:ea typeface="-webkit-standard" charset="0"/>
                <a:cs typeface="Carlito" charset="0"/>
              </a:rPr>
              <a:t>menttion</a:t>
            </a:r>
            <a:r>
              <a:rPr kumimoji="0" lang="en-US" altLang="zh-CN" sz="2000" b="0" i="0" u="none" strike="noStrike" cap="none" normalizeH="0" baseline="0" dirty="0">
                <a:ln>
                  <a:noFill/>
                </a:ln>
                <a:solidFill>
                  <a:srgbClr val="000000"/>
                </a:solidFill>
                <a:effectLst/>
                <a:latin typeface="Arial" panose="020B0604020202020204" pitchFamily="34" charset="0"/>
                <a:ea typeface="-webkit-standard" charset="0"/>
                <a:cs typeface="Carlito" charset="0"/>
              </a:rPr>
              <a:t> in comment about how cross join works)</a:t>
            </a:r>
            <a:endParaRPr kumimoji="0" lang="en-US" altLang="zh-CN"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Arial" panose="020B0604020202020204" pitchFamily="34" charset="0"/>
                <a:ea typeface="-webkit-standard" charset="0"/>
                <a:cs typeface="-webkit-standard" charset="0"/>
              </a:rPr>
              <a:t>Q5: </a:t>
            </a:r>
            <a:r>
              <a:rPr kumimoji="0" lang="en-US" altLang="zh-CN" sz="2000" b="0" i="0" u="none" strike="noStrike" cap="none" normalizeH="0" baseline="0" dirty="0">
                <a:ln>
                  <a:noFill/>
                </a:ln>
                <a:solidFill>
                  <a:srgbClr val="000000"/>
                </a:solidFill>
                <a:effectLst/>
                <a:latin typeface="Arial" panose="020B0604020202020204" pitchFamily="34" charset="0"/>
                <a:ea typeface="-webkit-standard" charset="0"/>
                <a:cs typeface="Carlito" charset="0"/>
              </a:rPr>
              <a:t>Display pairs of employees who work in the same department. Identify the join type and apply it. </a:t>
            </a:r>
            <a:endParaRPr kumimoji="0" lang="en-US" altLang="zh-CN" sz="2800" b="0" i="0" u="none" strike="noStrike" cap="none" normalizeH="0" baseline="0" dirty="0">
              <a:ln>
                <a:noFill/>
              </a:ln>
              <a:solidFill>
                <a:schemeClr val="tx1"/>
              </a:solidFill>
              <a:effectLst/>
              <a:latin typeface="Arial" panose="020B0604020202020204" pitchFamily="34" charset="0"/>
            </a:endParaRPr>
          </a:p>
          <a:p>
            <a:pPr marL="114300" indent="0">
              <a:buNone/>
            </a:pPr>
            <a:endParaRPr lang="en-US" dirty="0"/>
          </a:p>
        </p:txBody>
      </p:sp>
    </p:spTree>
    <p:extLst>
      <p:ext uri="{BB962C8B-B14F-4D97-AF65-F5344CB8AC3E}">
        <p14:creationId xmlns:p14="http://schemas.microsoft.com/office/powerpoint/2010/main" val="3903990036"/>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TM02900743[[fn=Organic]]</Template>
  <TotalTime>19</TotalTime>
  <Words>597</Words>
  <Application>Microsoft Office PowerPoint</Application>
  <PresentationFormat>On-screen Show (16:9)</PresentationFormat>
  <Paragraphs>112</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Wingdings</vt:lpstr>
      <vt:lpstr>Arial</vt:lpstr>
      <vt:lpstr>Proxima Nova</vt:lpstr>
      <vt:lpstr>Arial Bold</vt:lpstr>
      <vt:lpstr>Spearmint</vt:lpstr>
      <vt:lpstr>Advanced Database Management Systems </vt:lpstr>
      <vt:lpstr>SQL CLAUSES</vt:lpstr>
      <vt:lpstr>SQL Join Clause</vt:lpstr>
      <vt:lpstr>SQL Join Example</vt:lpstr>
      <vt:lpstr>SQL Join Example(Cont...)</vt:lpstr>
      <vt:lpstr>Different Types of SQL Joins</vt:lpstr>
      <vt:lpstr>SQL INNER JOIN </vt:lpstr>
      <vt:lpstr>PowerPoint Presentation</vt:lpstr>
      <vt:lpstr>SQL INNER Join Example 2</vt:lpstr>
      <vt:lpstr> SQL Left(Outer) JOIN </vt:lpstr>
      <vt:lpstr>PowerPoint Presentation</vt:lpstr>
      <vt:lpstr>SQL Left(Outer) JOIN - Example 2</vt:lpstr>
      <vt:lpstr> SQL Right JOIN </vt:lpstr>
      <vt:lpstr>PowerPoint Presentation</vt:lpstr>
      <vt:lpstr> SQL FULL JOIN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c:title>
  <dc:creator/>
  <cp:lastModifiedBy>H. Ahsan Atiq</cp:lastModifiedBy>
  <cp:revision>86</cp:revision>
  <dcterms:created xsi:type="dcterms:W3CDTF">2024-10-22T05:29:13Z</dcterms:created>
  <dcterms:modified xsi:type="dcterms:W3CDTF">2025-02-24T04:58:52Z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