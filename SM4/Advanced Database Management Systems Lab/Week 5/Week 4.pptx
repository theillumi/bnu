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37" r:id="rId3"/>
    <p:sldId id="292" r:id="rId4"/>
    <p:sldId id="470" r:id="rId5"/>
    <p:sldId id="471" r:id="rId6"/>
    <p:sldId id="472" r:id="rId7"/>
    <p:sldId id="473" r:id="rId8"/>
    <p:sldId id="478" r:id="rId9"/>
    <p:sldId id="479" r:id="rId10"/>
    <p:sldId id="474" r:id="rId11"/>
    <p:sldId id="476" r:id="rId12"/>
    <p:sldId id="477" r:id="rId13"/>
    <p:sldId id="469" r:id="rId14"/>
    <p:sldId id="293" r:id="rId1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407" autoAdjust="0"/>
  </p:normalViewPr>
  <p:slideViewPr>
    <p:cSldViewPr snapToGrid="0">
      <p:cViewPr varScale="1">
        <p:scale>
          <a:sx n="108" d="100"/>
          <a:sy n="108" d="100"/>
        </p:scale>
        <p:origin x="894" y="108"/>
      </p:cViewPr>
      <p:guideLst>
        <p:guide orient="horz" pos="162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e878c25f7a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e878c25f7a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e87f0ee85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e87f0ee85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rgbClr val="666666"/>
                </a:solidFill>
              </a:rPr>
              <a:t>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methods of writing this, 1: using select, 2: using FROM, 3: Where clause (mostly used)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 rotWithShape="1">
          <a:blip r:embed="rId4"/>
          <a:srcRect l="3332" r="333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0"/>
              </a:srgbClr>
            </a:outerShdw>
          </a:effectLst>
        </p:spPr>
      </p:pic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 dirty="0"/>
              <a:t>Advanced Database Management Systems </a:t>
            </a:r>
            <a:endParaRPr sz="6000" dirty="0"/>
          </a:p>
        </p:txBody>
      </p:sp>
      <p:cxnSp>
        <p:nvCxnSpPr>
          <p:cNvPr id="63" name="Google Shape;63;p13"/>
          <p:cNvCxnSpPr/>
          <p:nvPr/>
        </p:nvCxnSpPr>
        <p:spPr>
          <a:xfrm rot="10800000" flipH="1">
            <a:off x="615150" y="2984525"/>
            <a:ext cx="6186300" cy="13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Lecture 4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>
            <a:spLocks noGrp="1"/>
          </p:cNvSpPr>
          <p:nvPr>
            <p:ph type="title"/>
          </p:nvPr>
        </p:nvSpPr>
        <p:spPr>
          <a:xfrm>
            <a:off x="311700" y="46788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/>
              <a:t>SQ</a:t>
            </a:r>
            <a:r>
              <a:rPr lang="en-US" altLang="en-GB" sz="2820"/>
              <a:t>L CLAUSES</a:t>
            </a:r>
            <a:endParaRPr lang="en-US" altLang="en-GB" sz="2820" b="1"/>
          </a:p>
        </p:txBody>
      </p:sp>
      <p:sp>
        <p:nvSpPr>
          <p:cNvPr id="125" name="Google Shape;125;p28"/>
          <p:cNvSpPr txBox="1">
            <a:spLocks noGrp="1"/>
          </p:cNvSpPr>
          <p:nvPr>
            <p:ph type="body" idx="1"/>
          </p:nvPr>
        </p:nvSpPr>
        <p:spPr>
          <a:xfrm>
            <a:off x="311700" y="117533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73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Char char=""/>
            </a:pPr>
            <a:r>
              <a:rPr lang="en-US"/>
              <a:t>Join Vs Subquery</a:t>
            </a:r>
          </a:p>
          <a:p>
            <a:pPr marL="3873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charset="0"/>
              <a:buChar char=""/>
            </a:pPr>
            <a:r>
              <a:rPr lang="en-US"/>
              <a:t>Nested Queries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Queries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subquery or Inner query or a Nested query is a query within another sql query. </a:t>
            </a:r>
          </a:p>
          <a:p>
            <a:r>
              <a:rPr lang="en-US"/>
              <a:t>It involves two select statements.</a:t>
            </a:r>
          </a:p>
          <a:p>
            <a:endParaRPr lang="en-US"/>
          </a:p>
          <a:p>
            <a:pPr marL="114300" indent="0">
              <a:buNone/>
            </a:pPr>
            <a:r>
              <a:rPr lang="en-US" b="1"/>
              <a:t>Syntax:</a:t>
            </a:r>
          </a:p>
          <a:p>
            <a:pPr marL="114300" indent="0">
              <a:buNone/>
            </a:pPr>
            <a:r>
              <a:rPr lang="en-US"/>
              <a:t>SELECT column(s)</a:t>
            </a:r>
          </a:p>
          <a:p>
            <a:pPr marL="114300" indent="0">
              <a:buNone/>
            </a:pPr>
            <a:r>
              <a:rPr lang="en-US"/>
              <a:t>FROM table_name</a:t>
            </a:r>
          </a:p>
          <a:p>
            <a:pPr marL="114300" indent="0">
              <a:buNone/>
            </a:pPr>
            <a:r>
              <a:rPr lang="en-US"/>
              <a:t>WHERE col_name operator</a:t>
            </a:r>
          </a:p>
          <a:p>
            <a:pPr marL="114300" indent="0">
              <a:buNone/>
            </a:pPr>
            <a:r>
              <a:rPr lang="en-US"/>
              <a:t>(subquery);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Queries - Example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699" y="1100831"/>
            <a:ext cx="8647516" cy="3709294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names of all students who scored more than class average.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Find the avg of class</a:t>
            </a:r>
          </a:p>
          <a:p>
            <a:pPr marL="11430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Find the names of students having marks &gt; avg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US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114300" indent="0">
              <a:buNone/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85E88-0C92-1E70-D2FC-71371BE55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8" y="2763730"/>
            <a:ext cx="3337511" cy="2238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65B903-D963-8486-DA87-BA176E426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205" y="2820576"/>
            <a:ext cx="3905795" cy="21815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Nested Queries - Example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152525"/>
            <a:ext cx="8647430" cy="3657600"/>
          </a:xfrm>
        </p:spPr>
        <p:txBody>
          <a:bodyPr/>
          <a:lstStyle/>
          <a:p>
            <a:r>
              <a:rPr lang="en-US" sz="1400" dirty="0"/>
              <a:t>Find the names of all students with even roll numbers.</a:t>
            </a:r>
            <a:endParaRPr lang="en-US" sz="1400" b="1" dirty="0"/>
          </a:p>
          <a:p>
            <a:pPr marL="114300" indent="0">
              <a:buNone/>
            </a:pPr>
            <a:r>
              <a:rPr lang="en-US" sz="1400" b="1" dirty="0"/>
              <a:t>Steps:</a:t>
            </a:r>
          </a:p>
          <a:p>
            <a:pPr marL="114300" indent="0">
              <a:buNone/>
            </a:pPr>
            <a:r>
              <a:rPr lang="en-US" sz="1400" dirty="0"/>
              <a:t>Step 1: Find the even roll numbers</a:t>
            </a:r>
          </a:p>
          <a:p>
            <a:pPr marL="114300" indent="0">
              <a:buNone/>
            </a:pPr>
            <a:r>
              <a:rPr lang="en-US" sz="1400" dirty="0"/>
              <a:t>Step 2: Find the names of students with even roll no</a:t>
            </a:r>
          </a:p>
          <a:p>
            <a:pPr marL="114300" indent="0">
              <a:buNone/>
            </a:pP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Table:</a:t>
            </a:r>
            <a:r>
              <a:rPr lang="en-US" sz="1400" dirty="0"/>
              <a:t>							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BCA2A6-2083-B8DC-41A5-0773FF6BA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348" y="2807303"/>
            <a:ext cx="2574524" cy="2076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12CACE-9FD5-747E-EF29-DCB43ECC2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807303"/>
            <a:ext cx="3337511" cy="2238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Nested Queries - Example 3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152525"/>
            <a:ext cx="8647430" cy="3657600"/>
          </a:xfrm>
        </p:spPr>
        <p:txBody>
          <a:bodyPr/>
          <a:lstStyle/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name of the student from Lahore who scored the highest marks among all students from the same city.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400" b="1" dirty="0"/>
          </a:p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	</a:t>
            </a:r>
            <a:r>
              <a:rPr lang="en-US" sz="1400" b="1" dirty="0"/>
              <a:t>				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CBD93F-6690-BAD8-84DE-FF6DE8E9B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66" y="2457942"/>
            <a:ext cx="5258534" cy="1981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69E406-9A72-5827-0FAB-AD418FAF2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98" y="2488522"/>
            <a:ext cx="3337511" cy="2238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Nested Queries - Example 4 with Select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85" y="1152525"/>
            <a:ext cx="8647430" cy="3657600"/>
          </a:xfrm>
        </p:spPr>
        <p:txBody>
          <a:bodyPr>
            <a:normAutofit/>
          </a:bodyPr>
          <a:lstStyle/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student from Lahore who scored the highest marks among all students from Lahore, and also find how much they scored above the average marks of all Lahore students.</a:t>
            </a:r>
          </a:p>
          <a:p>
            <a:pPr marL="11430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7917DD-4629-1471-D732-C49EF0300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968" y="2483787"/>
            <a:ext cx="7259063" cy="23857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8EF663-60D5-D215-8B58-FD109CDA7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6504" y="1822099"/>
            <a:ext cx="5998800" cy="598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458508-4FBB-AB22-A986-26450B8BA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02" y="514905"/>
            <a:ext cx="6508586" cy="343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118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F48673-A31A-CEAB-30AC-CD9EAE4E5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854" y="2035163"/>
            <a:ext cx="1552611" cy="598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DF3F65-6BA8-7C6B-FABA-78EBB8942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12" y="621438"/>
            <a:ext cx="6336038" cy="340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2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DEC6-BDDF-3139-7182-87E4BD1A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Exist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93C23-7E04-C100-B19C-7E5AD6A24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is used to test for the existence of any record in a subquery.</a:t>
            </a:r>
          </a:p>
          <a:p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returns TRUE if the subquery returns one or more records.</a:t>
            </a:r>
          </a:p>
          <a:p>
            <a:pPr marL="11430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GB" sz="20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2000" b="1" i="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yntax:</a:t>
            </a:r>
          </a:p>
          <a:p>
            <a:pPr marL="11430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1600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column_name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(s)</a:t>
            </a:r>
            <a:b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1600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table_name</a:t>
            </a:r>
            <a:b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EXISTS</a:t>
            </a:r>
            <a:b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1600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column_name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1600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16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GB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11430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365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227D6-CA70-0F19-FA33-84F3CFD22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NULL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2F25E-0E0C-47F6-952A-425D417DA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70012"/>
            <a:ext cx="8520600" cy="416362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GB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3429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800"/>
              <a:buFont typeface="Proxima Nova"/>
              <a:buChar char="●"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Proxima Nova"/>
              </a:rPr>
              <a:t>The IS NULL operator is used to test for empty values (NULL values).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GB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114300" indent="0">
              <a:buNone/>
            </a:pP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column_names</a:t>
            </a:r>
            <a:br>
              <a:rPr lang="en-GB" sz="16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14300" indent="0">
              <a:buNone/>
            </a:pP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SQL lists all customers with a NULL value in the "Address" field:</a:t>
            </a:r>
          </a:p>
          <a:p>
            <a:pPr marL="114300" indent="0">
              <a:buNone/>
            </a:pP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CustomerName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ContactName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Address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Customers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Address </a:t>
            </a: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132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49720-4219-E834-534F-49D9C2CAD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647E-9D40-BC33-A5D1-EC40FA197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NULL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228AC-84B9-3C7E-B2F0-DBA5A007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33996"/>
            <a:ext cx="8520600" cy="3817398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000000"/>
              </a:buClr>
              <a:buSzTx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The IS NOT NULL operator is used to test for non-empty values (NOT NULL values).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GB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114300" indent="0">
              <a:buNone/>
            </a:pP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column_names</a:t>
            </a:r>
            <a:br>
              <a:rPr lang="en-GB" sz="16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14300" indent="0">
              <a:buNone/>
            </a:pP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GB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SQL lists all customers with a value in the "Address" field: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CustomerName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ContactName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Address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Customers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Address </a:t>
            </a: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1600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518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 Task for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Download and open ’</a:t>
            </a:r>
            <a:r>
              <a:rPr lang="en-US"/>
              <a:t>’Lab manual 4” </a:t>
            </a:r>
            <a:r>
              <a:rPr lang="en-US" dirty="0"/>
              <a:t>from Google classroom and start solving it.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5480" y="1731645"/>
            <a:ext cx="5273675" cy="1397000"/>
          </a:xfrm>
        </p:spPr>
        <p:txBody>
          <a:bodyPr/>
          <a:lstStyle/>
          <a:p>
            <a:pPr marL="114300" indent="0" algn="ctr">
              <a:buNone/>
            </a:pPr>
            <a:r>
              <a:rPr lang="en-US"/>
              <a:t>End of Lecture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485</Words>
  <Application>Microsoft Office PowerPoint</Application>
  <PresentationFormat>On-screen Show (16:9)</PresentationFormat>
  <Paragraphs>61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Times New Roman</vt:lpstr>
      <vt:lpstr>Arial</vt:lpstr>
      <vt:lpstr>Consolas</vt:lpstr>
      <vt:lpstr>Proxima Nova</vt:lpstr>
      <vt:lpstr>Wingdings</vt:lpstr>
      <vt:lpstr>Spearmint</vt:lpstr>
      <vt:lpstr>Advanced Database Management Systems </vt:lpstr>
      <vt:lpstr>SQL CLAUSES</vt:lpstr>
      <vt:lpstr>Nested Queries</vt:lpstr>
      <vt:lpstr>Nested Queries - Example 1</vt:lpstr>
      <vt:lpstr>Nested Queries - Example 2</vt:lpstr>
      <vt:lpstr>Nested Queries - Example 3 </vt:lpstr>
      <vt:lpstr>Nested Queries - Example 4 with Select</vt:lpstr>
      <vt:lpstr>PowerPoint Presentation</vt:lpstr>
      <vt:lpstr>PowerPoint Presentation</vt:lpstr>
      <vt:lpstr>Exist Operator</vt:lpstr>
      <vt:lpstr>IS NULL</vt:lpstr>
      <vt:lpstr>IS NOT NULL</vt:lpstr>
      <vt:lpstr>Class Task for Today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 </dc:title>
  <dc:creator/>
  <cp:lastModifiedBy>H. Ahsan Atiq</cp:lastModifiedBy>
  <cp:revision>103</cp:revision>
  <dcterms:created xsi:type="dcterms:W3CDTF">2024-10-23T07:04:44Z</dcterms:created>
  <dcterms:modified xsi:type="dcterms:W3CDTF">2025-03-10T04:57:11Z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